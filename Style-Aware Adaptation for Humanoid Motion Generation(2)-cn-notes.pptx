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4081ece134154" /><Relationship Type="http://schemas.openxmlformats.org/officeDocument/2006/relationships/extended-properties" Target="/docProps/app.xml" Id="R5cd94e5ba6b6466b" /><Relationship Type="http://schemas.openxmlformats.org/officeDocument/2006/relationships/officeDocument" Target="/ppt/presentation.xml" Id="R1d931626e511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cbea7f15846c0"/>
    <p:sldMasterId xmlns:r="http://schemas.openxmlformats.org/officeDocument/2006/relationships" id="2147483660" r:id="R65d488b0f103424b"/>
  </p:sldMasterIdLst>
  <p:notesMasterIdLst>
    <p:notesMasterId xmlns:r="http://schemas.openxmlformats.org/officeDocument/2006/relationships" r:id="R50a4d9c203584c11"/>
  </p:notesMasterIdLst>
  <p:sldIdLst>
    <p:sldId xmlns:r="http://schemas.openxmlformats.org/officeDocument/2006/relationships" id="256" r:id="R427ba0695a5447ad"/>
    <p:sldId xmlns:r="http://schemas.openxmlformats.org/officeDocument/2006/relationships" id="257" r:id="R43859e0bed194e7a"/>
    <p:sldId xmlns:r="http://schemas.openxmlformats.org/officeDocument/2006/relationships" id="258" r:id="R041a9bebb3ba4ec8"/>
    <p:sldId xmlns:r="http://schemas.openxmlformats.org/officeDocument/2006/relationships" id="259" r:id="R9c823404755440af"/>
    <p:sldId xmlns:r="http://schemas.openxmlformats.org/officeDocument/2006/relationships" id="260" r:id="R8c7ea37f39c74aa6"/>
    <p:sldId xmlns:r="http://schemas.openxmlformats.org/officeDocument/2006/relationships" id="261" r:id="R336a2841f3364411"/>
    <p:sldId xmlns:r="http://schemas.openxmlformats.org/officeDocument/2006/relationships" id="262" r:id="Re54d78b59387455e"/>
    <p:sldId xmlns:r="http://schemas.openxmlformats.org/officeDocument/2006/relationships" id="263" r:id="Rf15618f4389140fb"/>
    <p:sldId xmlns:r="http://schemas.openxmlformats.org/officeDocument/2006/relationships" id="264" r:id="R10c964b8b2b840ca"/>
    <p:sldId xmlns:r="http://schemas.openxmlformats.org/officeDocument/2006/relationships" id="265" r:id="R00a900552d3e48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2e4c8444a94f9f" /><Relationship Type="http://schemas.openxmlformats.org/officeDocument/2006/relationships/slideMaster" Target="/ppt/slideMasters/slideMaster1.xml" Id="R6decbea7f15846c0" /><Relationship Type="http://schemas.openxmlformats.org/officeDocument/2006/relationships/slideMaster" Target="/ppt/slideMasters/slideMaster2.xml" Id="R65d488b0f103424b" /><Relationship Type="http://schemas.openxmlformats.org/officeDocument/2006/relationships/notesMaster" Target="/ppt/notesMasters/notesMaster1.xml" Id="R50a4d9c203584c11" /><Relationship Type="http://schemas.openxmlformats.org/officeDocument/2006/relationships/presProps" Target="/ppt/presProps.xml" Id="Rfac53992a2f947fd" /><Relationship Type="http://schemas.openxmlformats.org/officeDocument/2006/relationships/tableStyles" Target="/ppt/tableStyles.xml" Id="R5de3b9da527242f2" /><Relationship Type="http://schemas.openxmlformats.org/officeDocument/2006/relationships/slide" Target="/ppt/slides/slide1.xml" Id="R427ba0695a5447ad" /><Relationship Type="http://schemas.openxmlformats.org/officeDocument/2006/relationships/slide" Target="/ppt/slides/slide2.xml" Id="R43859e0bed194e7a" /><Relationship Type="http://schemas.openxmlformats.org/officeDocument/2006/relationships/slide" Target="/ppt/slides/slide3.xml" Id="R041a9bebb3ba4ec8" /><Relationship Type="http://schemas.openxmlformats.org/officeDocument/2006/relationships/slide" Target="/ppt/slides/slide4.xml" Id="R9c823404755440af" /><Relationship Type="http://schemas.openxmlformats.org/officeDocument/2006/relationships/slide" Target="/ppt/slides/slide5.xml" Id="R8c7ea37f39c74aa6" /><Relationship Type="http://schemas.openxmlformats.org/officeDocument/2006/relationships/slide" Target="/ppt/slides/slide6.xml" Id="R336a2841f3364411" /><Relationship Type="http://schemas.openxmlformats.org/officeDocument/2006/relationships/slide" Target="/ppt/slides/slide7.xml" Id="Re54d78b59387455e" /><Relationship Type="http://schemas.openxmlformats.org/officeDocument/2006/relationships/slide" Target="/ppt/slides/slide8.xml" Id="Rf15618f4389140fb" /><Relationship Type="http://schemas.openxmlformats.org/officeDocument/2006/relationships/slide" Target="/ppt/slides/slide9.xml" Id="R10c964b8b2b840ca" /><Relationship Type="http://schemas.openxmlformats.org/officeDocument/2006/relationships/slide" Target="/ppt/slides/slide10.xml" Id="R00a900552d3e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1718dc2cb1d45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31fa011c74de0" /><Relationship Type="http://schemas.openxmlformats.org/officeDocument/2006/relationships/notesMaster" Target="/ppt/notesMasters/notesMaster1.xml" Id="R47a5da19a5db40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310ea59bcd4a7f" /><Relationship Type="http://schemas.openxmlformats.org/officeDocument/2006/relationships/notesMaster" Target="/ppt/notesMasters/notesMaster1.xml" Id="R841b5520aff44a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51cb5802b49d8" /><Relationship Type="http://schemas.openxmlformats.org/officeDocument/2006/relationships/notesMaster" Target="/ppt/notesMasters/notesMaster1.xml" Id="R5092659a4eb2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81f00fc73c4f6b" /><Relationship Type="http://schemas.openxmlformats.org/officeDocument/2006/relationships/notesMaster" Target="/ppt/notesMasters/notesMaster1.xml" Id="Rc4bed6f1f352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485f3312514573" /><Relationship Type="http://schemas.openxmlformats.org/officeDocument/2006/relationships/notesMaster" Target="/ppt/notesMasters/notesMaster1.xml" Id="R826947788e79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1e2ce6190a4fbd" /><Relationship Type="http://schemas.openxmlformats.org/officeDocument/2006/relationships/notesMaster" Target="/ppt/notesMasters/notesMaster1.xml" Id="Rf16d6922fe8b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529011fac54879" /><Relationship Type="http://schemas.openxmlformats.org/officeDocument/2006/relationships/notesMaster" Target="/ppt/notesMasters/notesMaster1.xml" Id="Rce69a01496d745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f320049bae484e" /><Relationship Type="http://schemas.openxmlformats.org/officeDocument/2006/relationships/notesMaster" Target="/ppt/notesMasters/notesMaster1.xml" Id="R65db0258885d49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43e6f1786482c" /><Relationship Type="http://schemas.openxmlformats.org/officeDocument/2006/relationships/notesMaster" Target="/ppt/notesMasters/notesMaster1.xml" Id="R2e500c8d300541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966b19f1aa42bd" /><Relationship Type="http://schemas.openxmlformats.org/officeDocument/2006/relationships/notesMaster" Target="/ppt/notesMasters/notesMaster1.xml" Id="R0668376572c9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大家好，今天我介绍的项目是“面向语言条件人形动作生成的风格感知适配”。我们的目标是在 MoConVQ 的基础上，让模型不仅能根据文本生成动作，还能理解“慢而谨慎”“有活力”“沉重疲惫”等更细的动作风格。项目中最大的困难是缺少可以直接训练的监督信号：HumanML3D 提供的是连续动作数据，而 MoConVQ 的 GPT 部分需要离散 token。为了解决这个问题，我们采用 LoRA pseudo-token distillation，只训练约 1.97M 个 LoRA 参数，也就是生成器总参数量的大约 1%。在原始 style proxy 评测下，模型有 18/22 个检查项朝预期风格方向变化。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先看研究动机。用自然语言控制人形动作非常直观，但现有模型通常更擅长理解“做什么动作”，不擅长理解“以什么风格做动作”。例如同样是走路，“慢慢地、谨慎地走”和“轻快、有活力地走”在人眼看来差异很明显，但模型未必能稳定区分。我们的目标是在不重新训练整个大模型的前提下，提高这种风格控制能力。因此项目重点放在参数高效适配、LoRA 蒸馏训练，以及用可计算的运动指标评估生成结果。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数据上最大的挑战是格式不匹配。HumanML3D 有文本和连续动作，但 MoConVQ 的文本到动作 GPT 需要的是离散 pseudo-token 作为训练目标。如果强行把 HumanML3D 连续动作转换成 MoConVQ token，流程复杂且容易出错。因此我们使用预训练 MoConVQ GPT 作为 teacher，让 teacher 根据 HumanML3D 的 caption 先生成 pseudo-token，再让带 LoRA 的 student 去模仿这些 token。这样绕开了直接 token 标注缺失的问题。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这页展示完整方法流程。输入首先来自 HumanML3D 的风格 caption；冻结的 MoConVQ teacher 根据 caption 生成 pseudo-token；student 是加入 LoRA adapter 的 MoConVQ GPT，只更新 LoRA 参数；训练目标是让 student 用 cross entropy 学会预测 teacher 选中的 token。训练后，student 生成的 token 会经过冻结的 decoder 和 controller，最终导出 BVH 动作文件。也就是说，HumanML3D 在这里提供文本和真实 motion 参照，teacher 提供可训练的 token 目标，student 学习一个更偏向风格数据的生成分布。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实验设置方面，我们使用官方 MoConVQ 模型，并从 HumanML3D 风格子集中采样 200 条 caption 做 LoRA 蒸馏。LoRA 只训练约 1.97M 参数，训练成本较低。原始实验使用训练 loss、BVH 运动 proxy，以及渲染视频做评估。后续我们又加入了 HumanML motion selection：teacher 不只生成一个 candidate，而是生成多个候选，再根据这些候选和对应 HumanML3D motion 的运动统计距离选择更合适的 teacher 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训练证据主要有两部分。第一，LoRA 训练 loss 持续下降，说明 student 确实在学习 teacher 选出的 pseudo-token。第二，从渲染结果看，某些风格 prompt 下生成动作和 baseline 有明显差异，例如慢走会出现更慢、更收敛的步态。不过需要注意，训练 loss 只说明 student 更像 teacher token，不直接说明动作更符合 HumanML3D 或更符合人类主观风格判断。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量化结果最开始使用 style proxy win rate。这个指标比较 LoRA 生成的 BVH 和 baseline 生成的 BVH，看 LoRA 是否朝预设风格方向变化。例如 slow deliberate 希望速度、关节速度、加速度和 jerk 降低；energetic jump 希望竖直幅度、速度和加速度更高。原始 LoRA 在 22 个检查项里赢了 18 项，结果看起来不错。但这个指标有局限：它奖励方向变化，不一定奖励真实或合理的动作。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关键分析是：原方法在工程上解决了没有 token 标签的问题，也能强化一些具有明显运动学特征的风格，比如速度、平滑度和动作幅度。但它不能创造 teacher 原本不会的动作，也不能保证简单 proxy 等同于人类观感。特别是对于太极、复杂舞蹈、局部手臂动作这类更依赖协调和语义的风格，简单的速度、幅度、jerk 指标是不够的。因此后续需要把评测从“是否朝预设方向变化”进一步扩展到“是否接近 HumanML3D 真实动作”。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这页是更新后的评测结论。旧的 style proxy 是方向性指标，例如 lower-is-better 时，速度降低就可能得分；但如果速度被极端降到接近 0，它仍然可能赢这一项，这并不一定代表动作更好。因此我们新增 HumanML alignment：直接比较 selected teacher candidate 和对应 HumanML3D motion 的运动统计距离。top-k 采样后，第 2、第 3、第 4 个候选合计被选中 86/200 次，说明候选多样性问题解决了；HumanML alignment score 从 deterministic 的 0.1443 略升到 0.1477，但最终 style proxy 下降到 12/22。这说明新方法稍微改善了 teacher 与 HumanML 的接近性，但还没有转化为最终 student 风格指标提升。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最后这页是视觉检查和产物索引。左侧是 slow walk 和 energetic jump 的 baseline、原始 LoRA、HumanML top-k LoRA 渲染预览；完整视频在 outputs/videos_humanml_alignment 目录下。新的 HumanML alignment CSV 在 outputs/humanml_alignment_*_selected_teacher 目录下。总体结论是：top-k 机制确实让 candidate selection 更有效，也让 selected teacher 与 HumanML3D 的距离略微改善；但因为目前评估的是 selected teacher，而不是重新按 HumanML caption 生成的最终 student BVH，下一步应该做 paired HumanML generation evaluation，也就是用 HumanML3D caption 重新生成 baseline 和 LoRA BVH，再和对应 motion_id 的真实 HumanML motion 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c24b6002742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1a18f381148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f65aee28a43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47419db714b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9e49f513647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6480028fa4a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577af26e8436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be096e8e148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46b824a9e46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2ab9e0d8e44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fe17a9b72434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1b807e70be45cc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EE587C1D-2909-42B9-8F8C-738486819F6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E4A620CF-0E4B-4203-86C4-BC42B86342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6F1FD900-6A87-466D-8D4B-B8E9CF5C90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5AF2B34F-FEC0-4878-A78B-89116E314F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6A155F07-C4B2-4E31-A161-D083D64C41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DF6BE7EF-C279-44ED-BACC-E54FF39F2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95AABB20-667D-446A-B382-FEC4FD945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13623196-3933-44EA-A2E0-7F5F200D23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0469F268-1D2A-4742-83DE-8AA2C7AE5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01641ED-5F7A-4B94-AD95-0CAC85F945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173DFF04-F35B-4EAB-A7E5-E567C5BAE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040E1B90-7DB7-41D1-857B-FE675CB279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F479EE2A-1829-4968-AD0B-81E3D2296E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28F6AC96-EF2C-4693-AE3D-BFCF92E3F8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B4B135E1-C231-4762-87CB-5BF3A8871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B7E22EEE-06C7-4C8D-8555-52926664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787BD183-209E-468E-BFD5-B1A72CA70D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0C5213E-81F3-453A-ADB0-3653F408F2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B9C4D848-A311-4E30-AF2E-0995EE2F3F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2A78FB70-4942-4236-AB07-5722B87732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80C5CF0E-CFE4-41B4-B57B-0D24F4A9D0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8EE9F62-8112-4BC6-8ED4-95FD18868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ABBF693-0CEE-4083-A309-3F314AE5B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7A59D2D1-EDAA-4EBB-BA92-1A4434645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BB2D27B-6F1E-4F3C-93AE-35B0618EC0F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2E0BFB6-1AC2-432E-BE9D-26BB154B5B6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FA70895-1438-4417-BC67-F54E66262A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4546504-E71D-41C9-8666-7562A30AF3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F45765E-8865-416E-9398-1E5E7BD821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6F51EB7B-941E-456B-9B8E-0F154A1BC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B56E5FD3-0A7C-4827-91FF-7E4E900C93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AE275F54-BC86-414A-992D-E2C0A26783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4CBBC77A-6A74-4FF4-BED8-D28E2C7967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AB933492-F09C-4032-A156-FC4E62FEC5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E1681359-88EC-42E6-BFF8-749D38E6A3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4D5D8018-1B24-49CE-87ED-E9EC1A7FF6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F17240AB-FD17-425A-9EFE-CD63868EC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D8B42796-3EEB-4094-9009-45F593500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45318324-A536-4317-884F-325792A573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710DB9FD-1144-493C-876F-B46E143E78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D207F36B-7875-40C7-8A04-E48E9E93B6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A119280B-FA15-4C1E-9BD8-0022E14BDE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BFDCBD28-6E2B-4B8B-BACF-4B6FDAC02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23A40715-FD17-498D-B6D4-0813CAA48A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3AA25DC4-7999-4CC2-859C-9FEFFC621D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7B5D50CB-1293-41BC-8101-0DDC8F94F6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02434609-88F3-4F0E-95D6-989A3564A0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D9D00598-B4D9-4256-B11A-E52ABAD1D5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7CCD4DA8-0D2B-4CC8-9D1B-45E2E5D67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B0371635-B3D7-4BFD-9D23-C85E40000A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F2DE7895-6A11-47F9-A7DD-A52196B1E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F81B155F-8DEC-45C3-B14C-F93108CDE1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492895F1-5050-4430-9EA1-F3093FF46E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FFBFB044-E38B-4C5A-82A2-ECACC79C7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D368F8A8-EDE1-4B4A-8EB1-AB3DD977D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7E5D6FDD-1A55-45C6-87F4-2E844C35A9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88FD6B00-6C45-430F-B60D-68D6FF21B1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F557E7C4-8033-41FF-A9F0-DC38AA3EAB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fb7b9365f54a79" /><Relationship Type="http://schemas.openxmlformats.org/officeDocument/2006/relationships/slideLayout" Target="/ppt/slideLayouts/slideLayout1.xml" Id="Rcd6768bbdf0446be" /><Relationship Type="http://schemas.openxmlformats.org/officeDocument/2006/relationships/slideLayout" Target="/ppt/slideLayouts/slideLayout2.xml" Id="R64dc88395d134c48" /><Relationship Type="http://schemas.openxmlformats.org/officeDocument/2006/relationships/slideLayout" Target="/ppt/slideLayouts/slideLayout3.xml" Id="Rc8a46975cbbe430d" /><Relationship Type="http://schemas.openxmlformats.org/officeDocument/2006/relationships/slideLayout" Target="/ppt/slideLayouts/slideLayout4.xml" Id="R07e4945536444eca" /><Relationship Type="http://schemas.openxmlformats.org/officeDocument/2006/relationships/slideLayout" Target="/ppt/slideLayouts/slideLayout5.xml" Id="Rb0e9454baf2d4b67" /><Relationship Type="http://schemas.openxmlformats.org/officeDocument/2006/relationships/slideLayout" Target="/ppt/slideLayouts/slideLayout6.xml" Id="R5be65a1c91f64993" /><Relationship Type="http://schemas.openxmlformats.org/officeDocument/2006/relationships/slideLayout" Target="/ppt/slideLayouts/slideLayout7.xml" Id="R0745f24562cd472f" /><Relationship Type="http://schemas.openxmlformats.org/officeDocument/2006/relationships/slideLayout" Target="/ppt/slideLayouts/slideLayout8.xml" Id="R251b04e4b7e64030" /><Relationship Type="http://schemas.openxmlformats.org/officeDocument/2006/relationships/slideLayout" Target="/ppt/slideLayouts/slideLayout9.xml" Id="Rc04ee57cda864267" /><Relationship Type="http://schemas.openxmlformats.org/officeDocument/2006/relationships/slideLayout" Target="/ppt/slideLayouts/slideLayout10.xml" Id="Rb595da6872ee4744" /><Relationship Type="http://schemas.openxmlformats.org/officeDocument/2006/relationships/slideLayout" Target="/ppt/slideLayouts/slideLayout11.xml" Id="Rf28d2d51fe7c4be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0993d98f8894f93" /><Relationship Type="http://schemas.openxmlformats.org/officeDocument/2006/relationships/slideLayout" Target="/ppt/slideLayouts/slideLayout12.xml" Id="R271352e0e4f84fb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6AD5681B-C04F-46C4-9D0E-A4EC954570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4664AED-9268-43A8-957B-3D99467D8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56C0DCA-6F85-4BD4-9612-D3AFC8F021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4A2D740E-8C31-427C-8A6A-ADA627E2B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CD689E67-8A0C-4CD8-9EA2-B5C5D05738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6768bbdf0446be"/>
    <p:sldLayoutId xmlns:r="http://schemas.openxmlformats.org/officeDocument/2006/relationships" id="2147483650" r:id="R64dc88395d134c48"/>
    <p:sldLayoutId xmlns:r="http://schemas.openxmlformats.org/officeDocument/2006/relationships" id="2147483651" r:id="Rc8a46975cbbe430d"/>
    <p:sldLayoutId xmlns:r="http://schemas.openxmlformats.org/officeDocument/2006/relationships" id="2147483652" r:id="R07e4945536444eca"/>
    <p:sldLayoutId xmlns:r="http://schemas.openxmlformats.org/officeDocument/2006/relationships" id="2147483653" r:id="Rb0e9454baf2d4b67"/>
    <p:sldLayoutId xmlns:r="http://schemas.openxmlformats.org/officeDocument/2006/relationships" id="2147483654" r:id="R5be65a1c91f64993"/>
    <p:sldLayoutId xmlns:r="http://schemas.openxmlformats.org/officeDocument/2006/relationships" id="2147483655" r:id="R0745f24562cd472f"/>
    <p:sldLayoutId xmlns:r="http://schemas.openxmlformats.org/officeDocument/2006/relationships" id="2147483656" r:id="R251b04e4b7e64030"/>
    <p:sldLayoutId xmlns:r="http://schemas.openxmlformats.org/officeDocument/2006/relationships" id="2147483657" r:id="Rc04ee57cda864267"/>
    <p:sldLayoutId xmlns:r="http://schemas.openxmlformats.org/officeDocument/2006/relationships" id="2147483658" r:id="Rb595da6872ee4744"/>
    <p:sldLayoutId xmlns:r="http://schemas.openxmlformats.org/officeDocument/2006/relationships" id="2147483659" r:id="Rf28d2d51fe7c4be1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71352e0e4f84fbd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0456262a704bfc" /><Relationship Type="http://schemas.openxmlformats.org/officeDocument/2006/relationships/notesSlide" Target="/ppt/notesSlides/notesSlide1.xml" Id="R314b53ff6e4543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afb515b9014197" /><Relationship Type="http://schemas.openxmlformats.org/officeDocument/2006/relationships/notesSlide" Target="/ppt/notesSlides/notesSlide2.xml" Id="Rb869cb3201a8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f9be471f4c4b5f" /><Relationship Type="http://schemas.openxmlformats.org/officeDocument/2006/relationships/notesSlide" Target="/ppt/notesSlides/notesSlide3.xml" Id="R04bf65ad490e41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f00bf68ac14c5c" /><Relationship Type="http://schemas.openxmlformats.org/officeDocument/2006/relationships/notesSlide" Target="/ppt/notesSlides/notesSlide4.xml" Id="Rf0c1c12d353248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4cbcc830104310" /><Relationship Type="http://schemas.openxmlformats.org/officeDocument/2006/relationships/notesSlide" Target="/ppt/notesSlides/notesSlide5.xml" Id="R48ce7a0a547e4c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34db177a7a4df0" /><Relationship Type="http://schemas.openxmlformats.org/officeDocument/2006/relationships/image" Target="/ppt/media/image.png" Id="Ra00849a999e945d4" /><Relationship Type="http://schemas.openxmlformats.org/officeDocument/2006/relationships/notesSlide" Target="/ppt/notesSlides/notesSlide6.xml" Id="R96a05c88a195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71d4b17e2c64301" /><Relationship Type="http://schemas.openxmlformats.org/officeDocument/2006/relationships/image" Target="/ppt/media/image2.png" Id="R468bdfd967ea4f24" /><Relationship Type="http://schemas.openxmlformats.org/officeDocument/2006/relationships/notesSlide" Target="/ppt/notesSlides/notesSlide7.xml" Id="R0c176b4149e249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6858774c2f4021" /><Relationship Type="http://schemas.openxmlformats.org/officeDocument/2006/relationships/image" Target="/ppt/media/image3.png" Id="R30275ce67623405a" /><Relationship Type="http://schemas.openxmlformats.org/officeDocument/2006/relationships/notesSlide" Target="/ppt/notesSlides/notesSlide8.xml" Id="R56864bb57d4b4c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9aff2eefd4e7a" /><Relationship Type="http://schemas.openxmlformats.org/officeDocument/2006/relationships/notesSlide" Target="/ppt/notesSlides/notesSlide9.xml" Id="Rcdd529ed38d741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2f4aa65944066" /><Relationship Type="http://schemas.openxmlformats.org/officeDocument/2006/relationships/image" Target="/ppt/media/image4.png" Id="Ra9555ee9979e44a1" /><Relationship Type="http://schemas.openxmlformats.org/officeDocument/2006/relationships/notesSlide" Target="/ppt/notesSlides/notesSlide10.xml" Id="Rfde0435ea13442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FEBA8A2-D777-4117-ACFC-F300197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723455E-047F-4081-BC39-7A13CF82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FEA009A-DEFB-4844-BC25-7780DF7F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PROJECT THESIS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81BCEED-1DF8-4927-AB2E-A7CA07E8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652000" cy="12344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3300"/>
            </a:pPr>
            <a:r>
              <a:rPr sz="33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Style-Aware Adaptation for Language-Conditioned Humanoid Motion Generation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3619F97-45EA-46B1-9ED8-88180B2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273300"/>
            <a:ext cx="81407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>
                <a:solidFill>
                  <a:srgbClr val="5E6975"/>
                </a:solidFill>
                <a:latin typeface="Aptos"/>
                <a:ea typeface="Aptos"/>
                <a:cs typeface="Aptos"/>
              </a:rPr>
              <a:t>R</a:t>
            </a:r>
            <a:r>
              <a:rPr sz="17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eport on </a:t>
            </a:r>
            <a:r>
              <a:rPr sz="17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MoConVQ</a:t>
            </a:r>
            <a:r>
              <a:rPr sz="17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 style steering with </a:t>
            </a:r>
            <a:r>
              <a:rPr sz="17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LoRA</a:t>
            </a:r>
            <a:r>
              <a:rPr sz="17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 distillation.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1A80977-418A-4951-83BC-5153750D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1200"/>
            <a:ext cx="10820400" cy="123317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E3C51DA-21CB-44E7-8659-14FDDA2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530600"/>
            <a:ext cx="9652000" cy="71323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950"/>
            </a:pPr>
            <a:r>
              <a:rPr sz="1950" b="1" i="0" u="none">
                <a:solidFill>
                  <a:srgbClr val="FFFFFF"/>
                </a:solidFill>
                <a:latin typeface="Play"/>
                <a:ea typeface="Play"/>
                <a:cs typeface="Play"/>
              </a:rPr>
              <a:t>When direct HumanML3D-to-MoConVQ supervision was unavailable, the final system switched to pseudo-token distillation and still produced measurable style-direction changes.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7191C947-7078-4114-8D71-B7961529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0000"/>
            <a:ext cx="3162300" cy="863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35E0BCB-9FF5-403C-ABAE-1879CC33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0000"/>
            <a:ext cx="76200" cy="863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D8DBB66-4684-492B-98F9-A4BBE7B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2781300" cy="279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50"/>
            </a:pPr>
            <a:r>
              <a:rPr sz="1850" b="1" i="0" u="none">
                <a:solidFill>
                  <a:srgbClr val="B15A35"/>
                </a:solidFill>
                <a:latin typeface="Play"/>
                <a:ea typeface="Play"/>
                <a:cs typeface="Play"/>
              </a:rPr>
              <a:t>Format pivot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D24554EC-21D0-47A8-99E9-ED84DBC5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3700"/>
            <a:ext cx="2781300" cy="17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No unsupported token labels required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7CDDA98-20FC-43B6-B56B-87FEF25C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4200"/>
            <a:ext cx="27813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Avoids invalid supervision by leveraging pseudo-token distillation method.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38C3EB9-D54C-4550-AD7F-5F43F3B2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5080000"/>
            <a:ext cx="3162300" cy="863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10E1148-6528-4574-BEAD-2BB44D2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5080000"/>
            <a:ext cx="76200" cy="863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D2CABFB-80F9-4BD8-9F6B-F5449869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5181600"/>
            <a:ext cx="2781300" cy="279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50"/>
            </a:pPr>
            <a:r>
              <a:rPr sz="1850" b="1" i="0" u="none">
                <a:solidFill>
                  <a:srgbClr val="2F7DE1"/>
                </a:solidFill>
                <a:latin typeface="Play"/>
                <a:ea typeface="Play"/>
                <a:cs typeface="Play"/>
              </a:rPr>
              <a:t>1.97M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0197160-DE1C-4294-9251-3245ECD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5473700"/>
            <a:ext cx="2781300" cy="17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Trainable LoRA parameters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0C917789-0F8C-46B0-A1DF-38B941B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5664200"/>
            <a:ext cx="27813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Only 1.005% of the total generator parameters are updated.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222BFF8-7457-4F4D-8639-F9636BD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80000"/>
            <a:ext cx="3162300" cy="863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6D5D8619-5940-447F-8132-064AA976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80000"/>
            <a:ext cx="76200" cy="863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918CC6A8-8FC4-465C-AE83-42102FA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81600"/>
            <a:ext cx="2781300" cy="279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50"/>
            </a:pPr>
            <a:r>
              <a:rPr sz="1850" b="1" i="0" u="none">
                <a:solidFill>
                  <a:srgbClr val="167C80"/>
                </a:solidFill>
                <a:latin typeface="Play"/>
                <a:ea typeface="Play"/>
                <a:cs typeface="Play"/>
              </a:rPr>
              <a:t>18/22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C81330A-4C74-4019-8DDD-8C4938B3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3700"/>
            <a:ext cx="2781300" cy="17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Proxy checks improved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2583DA88-F0D2-4EB8-A353-3736F866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4200"/>
            <a:ext cx="27813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81.8% expected-direction proxy win rate.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E1B29D58-6761-4705-9318-E9EDB3E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ADC840B4-E150-4B23-B074-27260FE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Project Report on MoConVQ Style Steering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3B2AE432-2B88-43FC-AC32-2A926F1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1 / 8 - 5-Minute Thesis Report</a:t>
            </a:r>
          </a:p>
        </p:txBody>
      </p:sp>
    </p:spTree>
    <p:extLst>
      <p:ext uri="{BB962C8B-B14F-4D97-AF65-F5344CB8AC3E}">
        <p14:creationId xmlns:p14="http://schemas.microsoft.com/office/powerpoint/2010/main" val="1284977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8AA9465-D3D9-486C-B98C-9DB6F669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7C75221-99A0-40F2-95E9-DB62211C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125C191-23F3-49EC-90DB-747D3FA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RESEARCH MOTIVATION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1227CA9-49FA-4096-9359-965EC10E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65836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500"/>
            </a:pPr>
            <a:r>
              <a:rPr sz="25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Why style control matters for language-guided motion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D0BE226-D222-4B87-AFEA-B1913495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F7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012639D-F704-4246-B80B-0C7230B4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2F7DE1"/>
                </a:solidFill>
                <a:latin typeface="Aptos"/>
                <a:ea typeface="Aptos"/>
                <a:cs typeface="Aptos"/>
              </a:rPr>
              <a:t>BACKGROUND &amp; CORE PROBLEM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11269F7D-31F7-4DBE-975B-1C55341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/>
            </a:pPr>
            <a:r>
              <a:rPr sz="18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Style Understanding Gap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D77749-CE65-45FA-9B9B-7965B62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1D7DC64-BFB8-43FF-ACC8-F1960AB0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Natural language interfaces for humanoid motion control are intuitive but current models like </a:t>
            </a: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MoConVQ</a:t>
            </a: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 lack fine-grained style adaptation.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3EE46DD-281D-43BC-937E-73167453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1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B626A50-0E55-4489-A961-7F75E9CE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5600"/>
            <a:ext cx="24638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Existing systems fail to interpret adjectival style cues (e.g., "slow", "graceful") accurately, limiting expressive motion generation.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1B41C7B-4E18-4147-B60D-7B48961D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E0D5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93AF4A2F-91AE-4747-B486-04DDF3DB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B15A35"/>
                </a:solidFill>
                <a:latin typeface="Aptos"/>
                <a:ea typeface="Aptos"/>
                <a:cs typeface="Aptos"/>
              </a:rPr>
              <a:t>PROJECT OBJECTIVE &amp; CONSTRAINT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7C43C20-9A69-40A9-B61B-D88D9805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/>
            </a:pPr>
            <a:r>
              <a:rPr sz="18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Efficient Style Injection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22FDD0D2-ABE5-4902-AB74-12022BB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DFFE5C0B-42FB-4F18-8BFD-EA4B63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Enhance MoConVQ to generate motions adhering to specific linguistic style cues while preserving baseline capabilities.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7DEC3EA-51DE-413A-8CAF-501A2D66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4241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2ABAEB7-08A1-42AC-B24B-F5F4F1D1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165600"/>
            <a:ext cx="24638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Strict constraint: Use parameter-efficient adaptation (PEFT) with the core model frozen to avoid catastrophic forgetting.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919CCD09-EE66-409B-B22B-2797FF4B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BDD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5D8C3270-287E-4595-945D-7399F5BB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167C80"/>
                </a:solidFill>
                <a:latin typeface="Aptos"/>
                <a:ea typeface="Aptos"/>
                <a:cs typeface="Aptos"/>
              </a:rPr>
              <a:t>KEY METHODOLOGICAL CONTRIBUTIONS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D41BAF1-522B-46E0-92E2-4250AA4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/>
            </a:pPr>
            <a:r>
              <a:rPr sz="18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LoRA Distillation &amp; Validation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F92CECCA-430B-4EE2-9794-EAAE544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83EF2A39-40B3-4FD4-9AA2-8D2B82E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Successfully reproduced MoConVQ’s text-to-BVH pipeline and proposed a robust LoRA distillation approach for style tuning.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E9F8A8B0-D02A-4AB1-B98E-DF34B367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1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16A82BEB-63F6-4760-BDAF-8A7C84E3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65600"/>
            <a:ext cx="24638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Validated the model comprehensively using training loss, visual comparisons, and kinematic proxy metrics for style accuracy.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88BB9865-E973-44B9-BBC9-14D1035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6100"/>
            <a:ext cx="10820400" cy="406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6A4EF0C9-CA11-40CB-93FC-09B81F09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715000"/>
            <a:ext cx="10172700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1" i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Insight: Parameter-efficient LoRA distillation enables fine-grained style control without sacrificing the pre-trained MoConVQ's core performance.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BCE8B3C3-C765-4578-9265-B8DFAEEE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C1F0E9A4-72EA-4ADA-84E5-64B6A12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MoConVQ Baseline Analysis &amp; PEFT Strategy Development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5825A45E-0701-42A2-8A91-D44A253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2 / 8 - Motivation</a:t>
            </a:r>
          </a:p>
        </p:txBody>
      </p:sp>
    </p:spTree>
    <p:extLst>
      <p:ext uri="{BB962C8B-B14F-4D97-AF65-F5344CB8AC3E}">
        <p14:creationId xmlns:p14="http://schemas.microsoft.com/office/powerpoint/2010/main" val="589131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AF7D4DB-C8C3-4A81-9F81-5844FB1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6D3418-530E-4E79-816A-D78513F5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D07E3CD-0C21-48D1-9002-88AD2648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DATA CHALLENGE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E3CAE0-5883-4026-8024-EE795A0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658368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600"/>
            </a:pPr>
            <a:r>
              <a:rPr sz="26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Data mismatch forced a distillation route.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C75BCF2-8E47-4DAF-B4CB-6A4B738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F7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EE2C033-E18F-44C3-90B7-AB6DA8C9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2F7DE1"/>
                </a:solidFill>
                <a:latin typeface="Aptos"/>
                <a:ea typeface="Aptos"/>
                <a:cs typeface="Aptos"/>
              </a:rPr>
              <a:t>DATASET: HUMANML3D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E7E55CF-B6FF-49A6-A3EB-0E917DD5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Curated Motion-Text Data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0C0BD164-F882-4BA8-97AD-A80F245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7749805-2595-48A7-8ECB-E874D1D5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Utilize HumanML3D, a large dataset pairing human motions with descriptive text annotations.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CD925B1-52F2-47AD-B8B9-0173C054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7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8F38D14-E053-48F8-8D9B-1731AD1A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116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Filter a subset using style keywords like "graceful", "energetic", and "heavy" for focus.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08159C72-FA8A-45E6-8868-1FBFF4F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E0D5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4CF7AB4-5B08-4160-9F85-E48238B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B15A35"/>
                </a:solidFill>
                <a:latin typeface="Aptos"/>
                <a:ea typeface="Aptos"/>
                <a:cs typeface="Aptos"/>
              </a:rPr>
              <a:t>CRITICAL MISMATCH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8181D075-E3DE-4E7C-BE5E-27FB248F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Discrete vs. Continuous Gap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D6BDB65-DD20-43B0-A044-94C37921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666B06B-DAD9-4471-A9E7-A8582FC3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MoConVQ</a:t>
            </a: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 expects discrete motion tokens, but HumanML3D only provides continuous motion features.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61EEAEF-AB82-4DBA-BF31-EA9622C6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987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2BCCFD4-F615-4F58-A511-A6FBC225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9116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Directly converting continuous features to discrete tokens is non-trivial and error-prone.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4152A005-E9FE-4B32-ABC7-4CE7F180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BDD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01B99D2-0778-42C3-9E6F-FE010EB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167C80"/>
                </a:solidFill>
                <a:latin typeface="Aptos"/>
                <a:ea typeface="Aptos"/>
                <a:cs typeface="Aptos"/>
              </a:rPr>
              <a:t>SOLUTION: DISTILLATION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873B4DE7-7D3A-45DB-B8C3-DDBA5F78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Pseudo-Token Distillation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AF068232-DC0A-4F61-9DC0-5B73028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F1B5AFB3-1D33-4E85-A62F-6053782C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Use the pre-trained </a:t>
            </a: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MoConVQ</a:t>
            </a: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 model as a "teacher" to generate "pseudo-tokens" for style captions.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459A9AA5-D4EB-4DA0-ADE2-D479D33B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7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62BCDE41-92A8-446E-814D-16214BFC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116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Train a "student" model with </a:t>
            </a: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LoRA</a:t>
            </a: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 adapters to mimic the teacher's outputs.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081E9316-A695-43F2-9CD5-B027B3F8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466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13046E6C-CD0D-406B-B92B-811C9C80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This approach bypasses conversion errors and provides robust training signals.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73B3ED9-73A0-4233-9590-02F2CFF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6100"/>
            <a:ext cx="10820400" cy="406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8B5BE4DC-12DB-4966-B5CB-4677CBE9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715000"/>
            <a:ext cx="10172700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1" i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By leveraging knowledge distillation, we bypass the token conversion barrier and create a robust training signal.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C1E9CD42-44CA-4F0A-B1B5-9573C7F7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63688AD8-FF14-4AA6-B4F3-E14D15DD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HumanML3D Dataset Analysis; Knowledge Distillation Methodology</a:t>
            </a: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41B124E0-0FA6-4D41-A776-0EF2BE1F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3 / 8 - Data Challenge &amp; Solution</a:t>
            </a:r>
          </a:p>
        </p:txBody>
      </p:sp>
    </p:spTree>
    <p:extLst>
      <p:ext uri="{BB962C8B-B14F-4D97-AF65-F5344CB8AC3E}">
        <p14:creationId xmlns:p14="http://schemas.microsoft.com/office/powerpoint/2010/main" val="567492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2ECB10D-80D3-484C-AB67-A010E4D4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7825A9E-7C2C-4BD7-B3C5-3D0E326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680D5DB-8B6C-4FE1-98AD-A3F5A9E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FINAL METHOD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B33EF4F-68EF-4BD2-9CDC-1F435A9E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71323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500"/>
            </a:pPr>
            <a:r>
              <a:rPr sz="25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LoRA distillation adapts the language-to-token interface while motion execution stays frozen.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880E7C0-9868-468E-8CBA-D6E05784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349500"/>
            <a:ext cx="1752600" cy="990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F7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C1D6401-2E59-4F9A-9E1B-27D2F37D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4097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101600" tIns="76200" rIns="101600" bIns="762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HumanML3D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style captions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90273CB4-435C-4203-B8B8-B8B3224A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608" y="2705100"/>
            <a:ext cx="381000" cy="266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BADF95A-D47C-4230-AB4E-A7895DC3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9500"/>
            <a:ext cx="1752600" cy="990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3D6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0C2FDE9F-209A-4CED-8424-4F526998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2552700"/>
            <a:ext cx="14097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101600" tIns="76200" rIns="101600" bIns="762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MoConVQ</a:t>
            </a: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 teacher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pseudo tokens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2D0C096-250B-47E6-8DF4-108846AD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2705100"/>
            <a:ext cx="381000" cy="266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6715F1D-F557-49CB-95D6-A80F26AB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600" y="2349500"/>
            <a:ext cx="1752600" cy="990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BDD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D0666D7-3124-4A48-9E6E-D606FECD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4097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101600" tIns="76200" rIns="101600" bIns="762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Frozen student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+ </a:t>
            </a: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LoRA</a:t>
            </a: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 adapter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08BC0D7-17BB-40AF-BA5B-3C246933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05100"/>
            <a:ext cx="381000" cy="266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E0D4BAB-FBF1-41AD-A0F4-78D134CE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9500"/>
            <a:ext cx="1752600" cy="990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DDF1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3B94537-AF4C-4643-91ED-37A1A1F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552700"/>
            <a:ext cx="14097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101600" tIns="76200" rIns="101600" bIns="762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BVH motion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10E0E12-5482-44C9-80F9-2C6AE81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705100"/>
            <a:ext cx="381000" cy="2667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63A66E6-50BF-40B1-996D-4C63885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100" y="2349500"/>
            <a:ext cx="1752600" cy="990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0DDDA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813C33E6-5D09-44E9-A527-0765A3A3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14097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101600" tIns="76200" rIns="101600" bIns="762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Style proxy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5682A07E-FE49-4A3A-9A72-30F38D0F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606800"/>
            <a:ext cx="254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7A19A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BA0C587-4F5B-441A-B004-12DEA2F7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4267200"/>
            <a:ext cx="2006600" cy="558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B15A35"/>
                </a:solidFill>
                <a:latin typeface="Aptos"/>
                <a:ea typeface="Aptos"/>
                <a:cs typeface="Aptos"/>
              </a:rPr>
              <a:t>distillation target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130C0A37-7615-46A1-9BAD-4C90237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6800"/>
            <a:ext cx="254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7A19A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EFFA243C-DCBF-42A5-B9E5-4141EC9D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67200"/>
            <a:ext cx="2006600" cy="558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167C80"/>
                </a:solidFill>
                <a:latin typeface="Aptos"/>
                <a:ea typeface="Aptos"/>
                <a:cs typeface="Aptos"/>
              </a:rPr>
              <a:t>train low-rank updates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167C80"/>
                </a:solidFill>
                <a:latin typeface="Aptos"/>
                <a:ea typeface="Aptos"/>
                <a:cs typeface="Aptos"/>
              </a:rPr>
              <a:t>freeze decoder/controller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B14FCB3D-7494-4113-B492-53D4421A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606800"/>
            <a:ext cx="254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7A19A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BD580435-CBB5-4481-8135-AC2D9D93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4267200"/>
            <a:ext cx="2006600" cy="558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2F7DE1"/>
                </a:solidFill>
                <a:latin typeface="Aptos"/>
                <a:ea typeface="Aptos"/>
                <a:cs typeface="Aptos"/>
              </a:rPr>
              <a:t>render and parse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2F7DE1"/>
                </a:solidFill>
                <a:latin typeface="Aptos"/>
                <a:ea typeface="Aptos"/>
                <a:cs typeface="Aptos"/>
              </a:rPr>
              <a:t>kinematic motion files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B2CC8C65-DE51-4291-8723-B88B0873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9829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9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Evaluation separates three signals: teacher-token learning, BVH kinematic proxy movement, and qualitative motion inspection.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566AD03D-4ED5-499F-B1B0-EC65ADEC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5E1A6EF9-3291-4ABD-BFAB-8A2430D2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LoRA Adaptation Pipeline Methodology &amp; Evaluation Framework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FA8E2E50-83F7-418B-8D9B-862B6239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4 / 8 - Final Method</a:t>
            </a:r>
          </a:p>
        </p:txBody>
      </p:sp>
    </p:spTree>
    <p:extLst>
      <p:ext uri="{BB962C8B-B14F-4D97-AF65-F5344CB8AC3E}">
        <p14:creationId xmlns:p14="http://schemas.microsoft.com/office/powerpoint/2010/main" val="1062995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BF75816-BA15-4C7A-B0B2-97554C7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7459065-B254-45DD-A460-9A1CD36F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472D84D-727D-4A31-BC9C-80840E16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7CB1D0B-0DA5-44E6-8170-353E3AC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953500" cy="67665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500"/>
            </a:pPr>
            <a:r>
              <a:rPr sz="25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Setup: small LoRA adapter, frozen motion stack, measured proxies.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587492F-A4FD-47AD-8491-C7A045A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8F7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745A083-0C71-4F8B-88EB-5696448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2F7DE1"/>
                </a:solidFill>
                <a:latin typeface="Aptos"/>
                <a:ea typeface="Aptos"/>
                <a:cs typeface="Aptos"/>
              </a:rPr>
              <a:t>IMPLEMENTATION DETAILS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201AF21-F179-4334-9681-3FE5D8AD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Model &amp; Data Config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5495F67A-6516-4EF6-9D73-8263C1F3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E8A1E7B-89D5-4CE0-BEF7-E60165C0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Baseline: Official pre-trained MoConVQ model; Data: 200 curated style captions from HumanML3D subset.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73A1261-1CBD-4CB5-B0D9-706D9685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1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D0CC3C4-0DEE-4E27-8ACA-B8F9258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5600"/>
            <a:ext cx="2463800" cy="82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LoRA: Rank=8, Alpha=16, Dropout=0.05. Only 1.97M params (1.005%) trained for extreme efficiency.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99449DE-790B-43B3-98AE-135C4D62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E0D5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2F57CBD5-32CA-4BD5-A082-381939C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B15A35"/>
                </a:solidFill>
                <a:latin typeface="Aptos"/>
                <a:ea typeface="Aptos"/>
                <a:cs typeface="Aptos"/>
              </a:rPr>
              <a:t>TRAINING PROCEDURE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A1A8D30-7D8C-4CCA-920F-676B1A94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Dual-Phase Optimization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E822CC05-DDAA-466A-BF5A-45D6689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85B8FB3-E93E-459C-B302-A767871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Initial Phase: Train the LoRA adapter for 5 epochs to capture core style patterns from data.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FEEED02-88AC-45C6-894F-1FA420C1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4241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76D917B-526F-4FEF-A8E1-23930DF6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165600"/>
            <a:ext cx="2463800" cy="82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Refinement: Select best checkpoint, then fine-tune for 2 epochs with lower LR for conservative stabilization.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BFC309F1-D50D-4C87-969D-D9450A47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8500"/>
            <a:ext cx="3162300" cy="326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BDD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4394A246-AC4D-475A-BF9F-97BBCB85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7100"/>
            <a:ext cx="2667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167C80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1EAA8A2-D413-4225-905A-66A2E9E5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628900" cy="673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Quantitative &amp; Qualitative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AEC54089-E70A-4C04-BDAF-6B1D4003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1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19CAE0D4-E52F-4088-ADDE-880B3EE2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638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Training Loss: Verify adapter aligns with teacher's distribution; BVH Proxy: 8 kinematic metrics (speed, jerk).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CDA65F32-7448-42DF-B6CE-C97EA27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1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0B65C3BB-F8C5-4EC0-BEBB-505B1D1D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65600"/>
            <a:ext cx="2463800" cy="82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Visual Inspection: Render stick-figure animations to qualitatively assess style transfer and motion coherence.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D1671941-BB72-407A-908D-0780442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6100"/>
            <a:ext cx="10820400" cy="406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5EF96433-EE47-4A73-ADB9-82F49EB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715000"/>
            <a:ext cx="10172700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050"/>
            </a:pPr>
            <a:r>
              <a:rPr sz="1050" b="1" i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Outcome: Efficient LoRA adaptation achieved 1% parameter tuning with robust style capture and measurable motion quality.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D87EC2E-2D02-4A04-9DC5-17E8965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BFFB2010-F3E8-403C-91FC-5451C013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Experimental Protocol; Model Architecture &amp; Evaluation Methods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C99F7503-87C3-4704-B6D1-8358642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5 / 8 - 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1669243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D1FD604-C4ED-4A90-802C-B051468B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73EF10B-FA4B-4A4E-8A83-5D1BE6C0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312FC6-C03B-423F-AC50-FE2AC8B5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TRAINING EVIDENCE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5AB7389-D46A-44F7-AF7D-47B8F883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41280" cy="694944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500"/>
            </a:pPr>
            <a:r>
              <a:rPr sz="25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Held-out pseudo-token loss supports continued LoRA.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9A32D96-B4C4-456A-95F6-813B677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574800"/>
            <a:ext cx="6743700" cy="403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849a999e945d4"/>
          <a:srcRect xmlns:a="http://schemas.openxmlformats.org/drawingml/2006/main" l="0" t="3499" r="0" b="3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" y="1737360"/>
            <a:ext cx="6355080" cy="3630168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B109870-C001-4D78-A414-6CD5E115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1676400"/>
            <a:ext cx="3619500" cy="901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091D16AC-4B14-4A4F-8208-E747C3E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1676400"/>
            <a:ext cx="76200" cy="901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7DE1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8A64449-70F1-458B-A931-DCD9BF9F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1778000"/>
            <a:ext cx="31623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 i="0" u="none">
                <a:solidFill>
                  <a:srgbClr val="2F7DE1"/>
                </a:solidFill>
                <a:latin typeface="Play"/>
                <a:ea typeface="Play"/>
                <a:cs typeface="Play"/>
              </a:rPr>
              <a:t>0.1019 / 0.0693 -&gt; 0.0669 / 0.0669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B886A30-005D-4441-9737-FC37641A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2082800"/>
            <a:ext cx="3162300" cy="17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Train / validation diagnostic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49AB3BF-218D-4AF5-BA49-58EF0504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2295144"/>
            <a:ext cx="31623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Continued LoRA lowers both train and held-out validation loss.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45BFDA-CC98-4C0D-8A87-7267A032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2768600"/>
            <a:ext cx="3619500" cy="901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9FC38649-8EF5-43C7-B831-E57B0A0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2768600"/>
            <a:ext cx="76200" cy="901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BA623E7A-AFC4-4BAF-A94E-F943B113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2857500"/>
            <a:ext cx="31623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 i="0" u="none">
                <a:solidFill>
                  <a:srgbClr val="167C80"/>
                </a:solidFill>
                <a:latin typeface="Play"/>
                <a:ea typeface="Play"/>
                <a:cs typeface="Play"/>
              </a:rPr>
              <a:t>Teacher-token fit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AD75E85-A7FB-4684-A414-AAB45BDB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3144102"/>
            <a:ext cx="3162300" cy="17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What this proves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3B67D2C-F191-4AA7-BDB4-10A99DC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3321902"/>
            <a:ext cx="31623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980"/>
            </a:pPr>
            <a:r>
              <a:rPr sz="98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Adapter better matches teacher pseudo-token targets; not official HumanML3D fidelity.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7D5AF6D-F0DD-48C6-B2A5-E600FFC1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3848100"/>
            <a:ext cx="3619500" cy="901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12A866E-65BE-4BC8-9782-4ED86532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3848100"/>
            <a:ext cx="76200" cy="901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0C86EB2A-C68F-4746-9A7A-9EDE154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3949700"/>
            <a:ext cx="31623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 i="0" u="none">
                <a:solidFill>
                  <a:srgbClr val="B15A35"/>
                </a:solidFill>
                <a:latin typeface="Play"/>
                <a:ea typeface="Play"/>
                <a:cs typeface="Play"/>
              </a:rPr>
              <a:t>Visual check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84C7139-B963-46AD-BB1F-F2CB2F6E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236727"/>
            <a:ext cx="3162300" cy="17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Separate evidence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CAA036B-448C-45C9-AD7D-A1CF6DFE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4403852"/>
            <a:ext cx="3162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Qualitative previews are inspection evidence, not benchmark scores.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FED08491-4A32-45D7-AAEA-FECF2BD5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902200"/>
            <a:ext cx="3619500" cy="749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EFE8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7168A21B-9D68-41BB-9559-7307925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5102352"/>
            <a:ext cx="3200400" cy="469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980"/>
            </a:pPr>
            <a:r>
              <a:rPr sz="980" b="1" i="0" u="none">
                <a:solidFill>
                  <a:srgbClr val="5C3927"/>
                </a:solidFill>
                <a:latin typeface="Aptos"/>
                <a:ea typeface="Aptos"/>
                <a:cs typeface="Aptos"/>
              </a:rPr>
              <a:t>Conclusion: loss supports adapter learning; motion claims rely on BVH proxy checks.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8BDD162A-503F-4E07-A178-463425E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AD9B516-2CC0-44C0-961E-64B10538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LoRA Training Experiments; Loss Analysis; Motion Rendering Previews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1FF91491-E2BC-4B00-AA12-AEB08937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6 / 8 - Training Evidence</a:t>
            </a:r>
          </a:p>
        </p:txBody>
      </p:sp>
    </p:spTree>
    <p:extLst>
      <p:ext uri="{BB962C8B-B14F-4D97-AF65-F5344CB8AC3E}">
        <p14:creationId xmlns:p14="http://schemas.microsoft.com/office/powerpoint/2010/main" val="1458152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407F793-5F30-4CAB-B1A7-83EE2DE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9FB886E-DD22-4367-9110-35E9411E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05CF443-DEFB-4263-BC03-BAB20DC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F164388-B1BE-4454-8663-1628CCB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41280" cy="67665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500"/>
            </a:pPr>
            <a:r>
              <a:rPr sz="25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Proxy metrics show coarse style steering on most prompts.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8529FFD-1A54-4597-8F5F-1AF0EACD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16152"/>
            <a:ext cx="71120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63500" rIns="0" bIns="635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020"/>
            </a:pPr>
            <a:r>
              <a:rPr sz="1020" b="0" i="0" u="none">
                <a:solidFill>
                  <a:srgbClr val="3C414B"/>
                </a:solidFill>
                <a:latin typeface="Noto Sans SC"/>
                <a:ea typeface="Noto Sans SC"/>
                <a:cs typeface="Noto Sans SC"/>
              </a:rPr>
              <a:t>Across 5 style prompts and 22 pre-defined proxy checks, </a:t>
            </a:r>
            <a:r>
              <a:rPr sz="1020" b="0" i="0" u="none">
                <a:solidFill>
                  <a:srgbClr val="3C414B"/>
                </a:solidFill>
                <a:latin typeface="Noto Sans SC"/>
                <a:ea typeface="Noto Sans SC"/>
                <a:cs typeface="Noto Sans SC"/>
              </a:rPr>
              <a:t>LoRA</a:t>
            </a:r>
            <a:r>
              <a:rPr sz="1020" b="0" i="0" u="none">
                <a:solidFill>
                  <a:srgbClr val="3C414B"/>
                </a:solidFill>
                <a:latin typeface="Noto Sans SC"/>
                <a:ea typeface="Noto Sans SC"/>
                <a:cs typeface="Noto Sans SC"/>
              </a:rPr>
              <a:t> moved in the expected style direction for 18 checks.</a:t>
            </a:r>
          </a:p>
        </p:txBody>
      </p:sp>
      <p:pic>
        <p:nvPicPr>
          <p:cNvPr id="3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bdfd967ea4f24"/>
          <a:srcRect xmlns:a="http://schemas.openxmlformats.org/drawingml/2006/main" l="6225" t="0" r="62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729290"/>
            <a:ext cx="7223760" cy="3813048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6ECA24F-7BF7-485C-9A4F-B513374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7831"/>
            <a:ext cx="7112000" cy="101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63500" rIns="0" bIns="635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  <a:defRPr sz="1020"/>
            </a:pPr>
            <a:r>
              <a:rPr sz="1020" b="0" i="0" u="none">
                <a:solidFill>
                  <a:srgbClr val="5E6975"/>
                </a:solidFill>
                <a:latin typeface="Noto Sans SC"/>
                <a:ea typeface="Noto Sans SC"/>
                <a:cs typeface="Noto Sans SC"/>
              </a:rPr>
              <a:t>The scorecard highlights high-confidence cases and the weaker Tai Chi case without claiming official benchmark improvement.</a:t>
            </a:r>
          </a:p>
        </p:txBody>
      </p:sp>
      <p:cxnSp>
        <p:nvCxnSpPr>
          <p:cNvPr id="38" name="Connector 9"/>
          <p:cNvCxnSpPr/>
          <p:nvPr/>
        </p:nvCxnSpPr>
        <p:spPr>
          <a:xfrm xmlns:a="http://schemas.openxmlformats.org/drawingml/2006/main" rot="5389582">
            <a:off x="6286500" y="3867160"/>
            <a:ext cx="4191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D0C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B24FF313-8871-473A-BE74-199C0838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778000"/>
            <a:ext cx="3048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2937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CBA5B91-6A05-4F1A-BE29-97B142E8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91100"/>
            <a:ext cx="2667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825">
                <a:solidFill>
                  <a:srgbClr val="4B5560"/>
                </a:solidFill>
              </a:defRPr>
            </a:pPr>
            <a:r>
              <a:rPr sz="825" b="1" i="0" u="none">
                <a:solidFill>
                  <a:srgbClr val="4B5560"/>
                </a:solidFill>
                <a:latin typeface="Play"/>
                <a:ea typeface="Play"/>
                <a:cs typeface="Play"/>
              </a:rPr>
              <a:t>Top-k fixes candidate diversity and slightly improves teacher-to-HumanML alignment, but it does not yet improve the final student style-proxy result.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70C98E6-C192-441C-9AD2-20A3988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3048000" cy="685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975">
                <a:solidFill>
                  <a:srgbClr val="202832"/>
                </a:solidFill>
              </a:defRPr>
            </a:pPr>
            <a:r>
              <a:rPr sz="975" b="1" i="0" u="none">
                <a:solidFill>
                  <a:srgbClr val="202832"/>
                </a:solidFill>
                <a:latin typeface="Aptos"/>
                <a:ea typeface="Aptos"/>
                <a:cs typeface="Aptos"/>
              </a:rPr>
              <a:t>Metric CSVs: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975">
                <a:solidFill>
                  <a:srgbClr val="202832"/>
                </a:solidFill>
              </a:defRPr>
            </a:pPr>
            <a:r>
              <a:rPr sz="975" b="1" i="0" u="none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humanml_alignment_topk_selected_teacher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  <a:defRPr sz="975">
                <a:solidFill>
                  <a:srgbClr val="202832"/>
                </a:solidFill>
              </a:defRPr>
            </a:pPr>
            <a:r>
              <a:rPr sz="975" b="1" i="0" u="none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humanml_alignment_deterministic_selected_teacher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D8AAE8B-E952-4492-B921-C6E944B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429000"/>
            <a:ext cx="30480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167C8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7407201-1A81-4C6A-88A5-621C9FC6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95275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  <a:defRPr sz="1050">
                <a:solidFill>
                  <a:srgbClr val="202832"/>
                </a:solidFill>
              </a:defRPr>
            </a:pPr>
            <a:r>
              <a:rPr sz="1050" b="1" i="0" u="none">
                <a:solidFill>
                  <a:srgbClr val="202832"/>
                </a:solidFill>
                <a:latin typeface="Aptos"/>
                <a:ea typeface="Aptos"/>
                <a:cs typeface="Aptos"/>
              </a:rPr>
              <a:t>Jump videos: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  <a:defRPr sz="1050">
                <a:solidFill>
                  <a:srgbClr val="202832"/>
                </a:solidFill>
              </a:defRPr>
            </a:pPr>
            <a:r>
              <a:rPr sz="1050" b="1" i="0" u="none">
                <a:solidFill>
                  <a:srgbClr val="202832"/>
                </a:solidFill>
                <a:latin typeface="Aptos"/>
                <a:ea typeface="Aptos"/>
                <a:cs typeface="Aptos"/>
              </a:rPr>
              <a:t>baseline_jump, original_lora_jump, topk_lora_jump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7F542C9E-840D-4A71-B1E8-DBC5DF0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3372"/>
            <a:ext cx="27940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020"/>
            </a:pPr>
            <a:r>
              <a:rPr sz="1020" b="0" i="0" u="none">
                <a:solidFill>
                  <a:srgbClr val="374151"/>
                </a:solidFill>
                <a:latin typeface="Aptos"/>
                <a:ea typeface="Aptos"/>
                <a:cs typeface="Aptos"/>
              </a:rPr>
              <a:t>“Slow deliberate” and “heavy tired” styles achieved 100% alignment, showing strong capture of distinct kinematic signatures.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6F4EEC3-E898-4DB0-857B-A9EB22E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295275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D97706">
                <a:alpha val="5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Slow walk videos:</a:t>
            </a:r>
          </a:p>
          <a:p xmlns:a="http://schemas.openxmlformats.org/drawingml/2006/main">
            <a:pPr algn="ctr"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baseline_slow, original_lora_slow, topk_lora_slow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42BBD2A0-CA2A-44CD-8D41-F0491102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794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020"/>
            </a:pPr>
            <a:r>
              <a:rPr sz="1020" b="1" i="0" u="none">
                <a:solidFill>
                  <a:srgbClr val="B45309"/>
                </a:solidFill>
                <a:latin typeface="Aptos"/>
                <a:ea typeface="Aptos"/>
                <a:cs typeface="Aptos"/>
              </a:rPr>
              <a:t>Key Limitation: Tai Chi</a:t>
            </a:r>
            <a:br/>
            <a:r>
              <a:rPr sz="1020" b="0" i="0" u="none">
                <a:solidFill>
                  <a:srgbClr val="4B5563"/>
                </a:solidFill>
                <a:latin typeface="Aptos"/>
                <a:ea typeface="Aptos"/>
                <a:cs typeface="Aptos"/>
              </a:rPr>
              <a:t>Requires coordinated slow rotation beyond the scope of simple, isolated proxy metrics to fully capture its essence.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F94246A-8E16-4D58-A95E-3BEAD487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38087DC3-A73E-4950-BF93-A77B173F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Quantitative analysis of LoRA adapter on 5 style prompts and 22 proxy metrics.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28AC6CEF-5AED-4ED6-855C-621FB7CA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6200"/>
            <a:ext cx="30480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7 / 8 - Proxy Results</a:t>
            </a:r>
          </a:p>
        </p:txBody>
      </p:sp>
    </p:spTree>
    <p:extLst>
      <p:ext uri="{BB962C8B-B14F-4D97-AF65-F5344CB8AC3E}">
        <p14:creationId xmlns:p14="http://schemas.microsoft.com/office/powerpoint/2010/main" val="1895260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3634CA1-F525-41D0-83D3-A7BB879D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4ED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DE5199F-9CE0-41AD-9133-E92D1BC3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D6F85F2-ECC5-4631-8B78-FF35B145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2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00" b="1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KEY ANALYSIS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5F36AA2-90FA-4E15-A4DD-CC1BEDE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75520" cy="713232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2500"/>
            </a:pPr>
            <a:r>
              <a:rPr sz="2500" b="1" i="0" u="none">
                <a:solidFill>
                  <a:srgbClr val="1E252B"/>
                </a:solidFill>
                <a:latin typeface="Play"/>
                <a:ea typeface="Play"/>
                <a:cs typeface="Play"/>
              </a:rPr>
              <a:t>Interpretation: strong coarse styles, clear benchmark limits.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57BC0CE-6FB3-4F73-98B8-0CF4AEF2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25800" cy="1892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EBDD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4BED9C0-1D2E-4585-8E3B-2714829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781300" cy="368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 i="0" u="none">
                <a:solidFill>
                  <a:srgbClr val="167C80"/>
                </a:solidFill>
                <a:latin typeface="Play"/>
                <a:ea typeface="Play"/>
                <a:cs typeface="Play"/>
              </a:rPr>
              <a:t>What is solid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9A05E9E8-FC15-497C-8F2A-D224B68B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4638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79B0D004-360E-44B6-9316-32987F3D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387600"/>
            <a:ext cx="24257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Kinematic control works for measurable physical styles (speed, smoothness).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65E6868-D2EF-474E-B6B8-DC90C7D0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806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CB897A8-D035-4D85-A7A0-EC3E4D1F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730500"/>
            <a:ext cx="24257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Distillation is a robust workaround for data compatibility challenges.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3A05888-2E9D-44C7-A619-E0C05BF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1496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7C8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E07D188-688F-4E4E-A0B1-9286E04A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3073400"/>
            <a:ext cx="2425700" cy="304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Model consistently moves toward intended style per proxy measurements.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596AC3B1-F68B-4550-A22F-91CF8EA4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5400"/>
            <a:ext cx="3225800" cy="156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E0D5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3053F5E-5BD2-4500-A3EE-E6A47F22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781300" cy="330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B15A35"/>
                </a:solidFill>
                <a:latin typeface="Play"/>
                <a:ea typeface="Play"/>
                <a:cs typeface="Play"/>
              </a:rPr>
              <a:t>What remains limited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1EFE8F5-E593-42D3-A59C-4F2EE1C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5847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87C83A7A-57D8-4876-8AD9-0326C5B5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4368800"/>
            <a:ext cx="24257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No direct token labels force distillation over supervised learning.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A33AB6E1-8C88-4EB5-B11E-DBAF240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48641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C8781577-D33B-475D-9584-7CC02EDB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4699000"/>
            <a:ext cx="24257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Cannot compute official FID/R-Precision due to evaluator limits.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336A0B4E-9940-4FA1-B3A7-EE05FE7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156200"/>
            <a:ext cx="88900" cy="88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5A35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C9DB64C-8E32-434C-B523-FCC7DA2D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5048250"/>
            <a:ext cx="2425700" cy="25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1E252B"/>
                </a:solidFill>
                <a:latin typeface="Aptos"/>
                <a:ea typeface="Aptos"/>
                <a:cs typeface="Aptos"/>
              </a:rPr>
              <a:t>Model can't generate motions the teacher is incapable of producing.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5794DEE2-6C32-426D-9DDC-5497DC4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676400"/>
            <a:ext cx="2616200" cy="3721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3440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E7674B65-95FF-4FDC-8DE2-2DD29C0D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006600"/>
            <a:ext cx="2006600" cy="711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500" b="1" i="0" u="none">
                <a:solidFill>
                  <a:srgbClr val="FFFFFF"/>
                </a:solidFill>
                <a:latin typeface="Play"/>
                <a:ea typeface="Play"/>
                <a:cs typeface="Play"/>
              </a:rPr>
              <a:t>Best next step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3DCC6F89-D037-42B8-8208-36C8988E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895600"/>
            <a:ext cx="2006600" cy="162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76200" tIns="152400" rIns="76200" bIns="1524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1020"/>
            </a:pPr>
            <a:r>
              <a:rPr sz="1600" b="0" i="0" u="none">
                <a:solidFill>
                  <a:srgbClr val="EEF4F5"/>
                </a:solidFill>
                <a:latin typeface="Aptos"/>
                <a:ea typeface="Aptos"/>
                <a:cs typeface="Aptos"/>
              </a:rPr>
              <a:t>Build a verified representation or evaluator bridge so style control can be measured against true motion benchmarks, not only teacher tokens and proxies.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2DCE438B-9FA3-4C6C-A95D-FB7E8098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00" y="1676400"/>
            <a:ext cx="3721100" cy="3721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6CEC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6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75ce67623405a"/>
          <a:srcRect xmlns:a="http://schemas.openxmlformats.org/drawingml/2006/main" l="28364" t="0" r="28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600" y="1676400"/>
            <a:ext cx="3721100" cy="33401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3259846A-3D62-441E-ABFA-CF1FA957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6500"/>
            <a:ext cx="3149600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950"/>
            </a:pPr>
            <a:r>
              <a:rPr sz="950" b="0" i="0" u="none">
                <a:solidFill>
                  <a:srgbClr val="5E6975"/>
                </a:solidFill>
                <a:latin typeface="Aptos"/>
                <a:ea typeface="Aptos"/>
                <a:cs typeface="Aptos"/>
              </a:rPr>
              <a:t>Heatmap: expected-direction proxy changes; blank cells are unused checks.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FDC7F472-7973-40AE-B276-F43C3F0A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00"/>
            <a:ext cx="10820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D0C2">
              <a:alpha val="10000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F726D0EA-E5F3-4EB4-832D-B3628B0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00"/>
            <a:ext cx="59055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Source: Model Evaluation Data; Proxy Metric Analysis; Research Limitations Review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7985D796-FC21-4DFE-B538-C7E9B5CE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6426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700" cmpd="sng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800" b="0" i="0" u="none">
                <a:solidFill>
                  <a:srgbClr val="7A746A"/>
                </a:solidFill>
                <a:latin typeface="Aptos"/>
                <a:ea typeface="Aptos"/>
                <a:cs typeface="Aptos"/>
              </a:rPr>
              <a:t>8 / 8 - Interpretation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32706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E57A2-0D00-43ED-9814-3E4DE90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B40D2AC-DB07-43DC-B425-3D44A63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UPDATED EVALUATION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DCBF4B-5D9F-4DE0-8407-D02B3A5C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HumanML alignment corrects the scoring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34A41-99A3-4303-8FC9-E90B3B0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3AAA863-FDDC-40E4-A7A0-DA0A2F41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 alignment rerun and MoConVQ LoRA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0272CF2-0398-4E9E-99CF-B4D219C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9 / 10 - 5-Minute Thesis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9F7FE-FD3E-437A-B63B-8C87D1CE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0FCBDF2E-6509-43B0-BAD3-25D2661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Old style proxy is directional; the new metric measures closeness to the paired HumanML3D motion.</a:t>
            </a:r>
          </a:p>
        </p:txBody>
      </p:sp>
      <p:sp>
        <p:nvSpPr>
          <p:cNvPr id="9" name="left-title">
            <a:extLst xmlns:a="http://schemas.openxmlformats.org/drawingml/2006/main">
              <a:ext uri="{FF2B5EF4-FFF2-40B4-BE49-F238E27FC236}">
                <a16:creationId xmlns:a16="http://schemas.microsoft.com/office/drawing/2014/main" id="{17F370A2-A08D-4823-963E-39139D2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2832"/>
                </a:solidFill>
              </a:defRPr>
            </a:pPr>
            <a:r>
              <a:rPr sz="1500" b="1">
                <a:solidFill>
                  <a:srgbClr val="202832"/>
                </a:solidFill>
              </a:rPr>
              <a:t>Why the old score can mislead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98555-6711-48E3-A736-DF802099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D6ACACDB-F116-49FF-BDDE-A214C85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</a:defRPr>
            </a:pPr>
            <a:r>
              <a:rPr sz="1200">
                <a:solidFill>
                  <a:srgbClr val="202832"/>
                </a:solidFill>
              </a:rPr>
              <a:t>For a lower-is-better rule, an extreme collapse such as speed near zero can still win that proxy item.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EB826-1558-44FE-80AF-2115FEA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0ED1EE7F-4BBA-48C8-B4CE-1554A8D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</a:defRPr>
            </a:pPr>
            <a:r>
              <a:rPr sz="1200">
                <a:solidFill>
                  <a:srgbClr val="202832"/>
                </a:solidFill>
              </a:rPr>
              <a:t>HumanML alignment instead asks whether generated motion statistics match the paired HumanML3D motion.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5CB83-E7AE-4645-BC4D-3135A8E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5" name="bullet">
            <a:extLst xmlns:a="http://schemas.openxmlformats.org/drawingml/2006/main">
              <a:ext uri="{FF2B5EF4-FFF2-40B4-BE49-F238E27FC236}">
                <a16:creationId xmlns:a16="http://schemas.microsoft.com/office/drawing/2014/main" id="{EFBA6EAB-78FD-4768-91CA-A37612F6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</a:defRPr>
            </a:pPr>
            <a:r>
              <a:rPr sz="1200">
                <a:solidFill>
                  <a:srgbClr val="202832"/>
                </a:solidFill>
              </a:rPr>
              <a:t>Top-k candidate sampling improved teacher diversity, but final style proxy dropped because the targets are different.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3C420EDB-16A8-48C5-93DF-BB4AAE5C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A9E5802-FD1E-43A2-9D18-8419712A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8" name="card-headline">
            <a:extLst xmlns:a="http://schemas.openxmlformats.org/drawingml/2006/main">
              <a:ext uri="{FF2B5EF4-FFF2-40B4-BE49-F238E27FC236}">
                <a16:creationId xmlns:a16="http://schemas.microsoft.com/office/drawing/2014/main" id="{DC5F3187-6DCA-4F47-A5B5-8D9D5A3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9673B"/>
                </a:solidFill>
              </a:defRPr>
            </a:pPr>
            <a:r>
              <a:rPr sz="1800" b="1">
                <a:solidFill>
                  <a:srgbClr val="B9673B"/>
                </a:solidFill>
              </a:rPr>
              <a:t>12/22</a:t>
            </a:r>
          </a:p>
        </p:txBody>
      </p:sp>
      <p:sp>
        <p:nvSpPr>
          <p:cNvPr id="19" name="card-label">
            <a:extLst xmlns:a="http://schemas.openxmlformats.org/drawingml/2006/main">
              <a:ext uri="{FF2B5EF4-FFF2-40B4-BE49-F238E27FC236}">
                <a16:creationId xmlns:a16="http://schemas.microsoft.com/office/drawing/2014/main" id="{924717A4-D741-4A18-BBAD-E3868A88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527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Top-k style proxy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3E02B0FC-A7C5-452F-B8E0-C526D300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528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4B5560"/>
                </a:solidFill>
              </a:defRPr>
            </a:pPr>
            <a:r>
              <a:rPr sz="750">
                <a:solidFill>
                  <a:srgbClr val="4B5560"/>
                </a:solidFill>
              </a:rPr>
              <a:t>54.5% directional win rate; lower than original LoRA 18/22.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B01B31A3-032E-4258-953E-4B03D29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F160F66-6F1F-4412-97F0-75510BBE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3" name="card-headline">
            <a:extLst xmlns:a="http://schemas.openxmlformats.org/drawingml/2006/main">
              <a:ext uri="{FF2B5EF4-FFF2-40B4-BE49-F238E27FC236}">
                <a16:creationId xmlns:a16="http://schemas.microsoft.com/office/drawing/2014/main" id="{44B38E93-4833-4A21-AA71-BF5D2A5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F"/>
                </a:solidFill>
              </a:defRPr>
            </a:pPr>
            <a:r>
              <a:rPr sz="1800" b="1">
                <a:solidFill>
                  <a:srgbClr val="087F7F"/>
                </a:solidFill>
              </a:rPr>
              <a:t>0.1477</a:t>
            </a:r>
          </a:p>
        </p:txBody>
      </p:sp>
      <p:sp>
        <p:nvSpPr>
          <p:cNvPr id="24" name="card-label">
            <a:extLst xmlns:a="http://schemas.openxmlformats.org/drawingml/2006/main">
              <a:ext uri="{FF2B5EF4-FFF2-40B4-BE49-F238E27FC236}">
                <a16:creationId xmlns:a16="http://schemas.microsoft.com/office/drawing/2014/main" id="{0DCFE14D-BE64-4572-932C-4E8F5A21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527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Top-k HumanML score</a:t>
            </a:r>
          </a:p>
        </p:txBody>
      </p:sp>
      <p:sp>
        <p:nvSpPr>
          <p:cNvPr id="25" name="card-body">
            <a:extLst xmlns:a="http://schemas.openxmlformats.org/drawingml/2006/main">
              <a:ext uri="{FF2B5EF4-FFF2-40B4-BE49-F238E27FC236}">
                <a16:creationId xmlns:a16="http://schemas.microsoft.com/office/drawing/2014/main" id="{631CE844-1502-4AB5-8C27-7AEE381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4B5560"/>
                </a:solidFill>
              </a:defRPr>
            </a:pPr>
            <a:r>
              <a:rPr sz="750">
                <a:solidFill>
                  <a:srgbClr val="4B5560"/>
                </a:solidFill>
              </a:rPr>
              <a:t>Selected teacher candidates, 200 paired HumanML samples.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C628CCE7-9164-457E-A559-79FAC159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2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FFB4297-2BF7-47A1-B12E-72F8B736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8" name="card-headline">
            <a:extLst xmlns:a="http://schemas.openxmlformats.org/drawingml/2006/main">
              <a:ext uri="{FF2B5EF4-FFF2-40B4-BE49-F238E27FC236}">
                <a16:creationId xmlns:a16="http://schemas.microsoft.com/office/drawing/2014/main" id="{FB575AE3-5D3C-42AA-B4B6-9F61ACF6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D8BE8"/>
                </a:solidFill>
              </a:defRPr>
            </a:pPr>
            <a:r>
              <a:rPr sz="1800" b="1">
                <a:solidFill>
                  <a:srgbClr val="2D8BE8"/>
                </a:solidFill>
              </a:rPr>
              <a:t>86/200</a:t>
            </a:r>
          </a:p>
        </p:txBody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986AD6E1-AAAF-4681-A41C-F8F4C3E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053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Non-first candidates</a:t>
            </a:r>
          </a:p>
        </p:txBody>
      </p:sp>
      <p:sp>
        <p:nvSpPr>
          <p:cNvPr id="30" name="card-body">
            <a:extLst xmlns:a="http://schemas.openxmlformats.org/drawingml/2006/main">
              <a:ext uri="{FF2B5EF4-FFF2-40B4-BE49-F238E27FC236}">
                <a16:creationId xmlns:a16="http://schemas.microsoft.com/office/drawing/2014/main" id="{06324984-5A18-43A7-8D3B-86112E3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053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4B5560"/>
                </a:solidFill>
              </a:defRPr>
            </a:pPr>
            <a:r>
              <a:rPr sz="750">
                <a:solidFill>
                  <a:srgbClr val="4B5560"/>
                </a:solidFill>
              </a:rPr>
              <a:t>Candidate indices 1/2/3 were selected after stochastic top-k sampling.</a:t>
            </a:r>
          </a:p>
        </p:txBody>
      </p: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637BB65F-8D6C-4749-82D5-0DBADB21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3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9D61E9F-5C1D-4D95-82A5-189AFC52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3" name="card-headline">
            <a:extLst xmlns:a="http://schemas.openxmlformats.org/drawingml/2006/main">
              <a:ext uri="{FF2B5EF4-FFF2-40B4-BE49-F238E27FC236}">
                <a16:creationId xmlns:a16="http://schemas.microsoft.com/office/drawing/2014/main" id="{F75FC5C3-0F34-4F77-9441-CF794885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7F"/>
                </a:solidFill>
              </a:defRPr>
            </a:pPr>
            <a:r>
              <a:rPr sz="1800" b="1">
                <a:solidFill>
                  <a:srgbClr val="087F7F"/>
                </a:solidFill>
              </a:rPr>
              <a:t>-1.3%</a:t>
            </a:r>
          </a:p>
        </p:txBody>
      </p:sp>
      <p:sp>
        <p:nvSpPr>
          <p:cNvPr id="34" name="card-label">
            <a:extLst xmlns:a="http://schemas.openxmlformats.org/drawingml/2006/main">
              <a:ext uri="{FF2B5EF4-FFF2-40B4-BE49-F238E27FC236}">
                <a16:creationId xmlns:a16="http://schemas.microsoft.com/office/drawing/2014/main" id="{29D35A9A-7B12-483F-95AF-F9E1CB77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053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Distance reduction</a:t>
            </a:r>
          </a:p>
        </p:txBody>
      </p:sp>
      <p:sp>
        <p:nvSpPr>
          <p:cNvPr id="35" name="card-body">
            <a:extLst xmlns:a="http://schemas.openxmlformats.org/drawingml/2006/main">
              <a:ext uri="{FF2B5EF4-FFF2-40B4-BE49-F238E27FC236}">
                <a16:creationId xmlns:a16="http://schemas.microsoft.com/office/drawing/2014/main" id="{428B98FD-BBE8-4877-BCFD-FDC5805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4B5560"/>
                </a:solidFill>
              </a:defRPr>
            </a:pPr>
            <a:r>
              <a:rPr sz="750">
                <a:solidFill>
                  <a:srgbClr val="4B5560"/>
                </a:solidFill>
              </a:rPr>
              <a:t>1.9666 to 1.9419 vs deterministic selected teacher.</a:t>
            </a:r>
          </a:p>
        </p:txBody>
      </p:sp>
      <p:sp>
        <p:nvSpPr>
          <p:cNvPr id="36" name="bar-label">
            <a:extLst xmlns:a="http://schemas.openxmlformats.org/drawingml/2006/main">
              <a:ext uri="{FF2B5EF4-FFF2-40B4-BE49-F238E27FC236}">
                <a16:creationId xmlns:a16="http://schemas.microsoft.com/office/drawing/2014/main" id="{9BAB0165-96D3-4D5D-AD12-5C076B6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Original LoRA style proxy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FB598-FC7D-4969-AD89-E0B70581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C7630-2A71-42C3-9225-6E00512E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0262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39" name="bar-note">
            <a:extLst xmlns:a="http://schemas.openxmlformats.org/drawingml/2006/main">
              <a:ext uri="{FF2B5EF4-FFF2-40B4-BE49-F238E27FC236}">
                <a16:creationId xmlns:a16="http://schemas.microsoft.com/office/drawing/2014/main" id="{5E4AE50B-FE75-4477-807E-2B256412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48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18/22</a:t>
            </a:r>
          </a:p>
        </p:txBody>
      </p:sp>
      <p:sp>
        <p:nvSpPr>
          <p:cNvPr id="40" name="bar-label">
            <a:extLst xmlns:a="http://schemas.openxmlformats.org/drawingml/2006/main">
              <a:ext uri="{FF2B5EF4-FFF2-40B4-BE49-F238E27FC236}">
                <a16:creationId xmlns:a16="http://schemas.microsoft.com/office/drawing/2014/main" id="{B33D3B93-1988-44C5-8382-8B0D5CAC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Deterministic selected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1790B-CFC7-4561-95F7-AB7407F2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9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10635-99C8-4650-B112-559F213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95950"/>
            <a:ext cx="16885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43" name="bar-note">
            <a:extLst xmlns:a="http://schemas.openxmlformats.org/drawingml/2006/main">
              <a:ext uri="{FF2B5EF4-FFF2-40B4-BE49-F238E27FC236}">
                <a16:creationId xmlns:a16="http://schemas.microsoft.com/office/drawing/2014/main" id="{C0319682-1A6B-47F0-854C-C318817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48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15/22</a:t>
            </a:r>
          </a:p>
        </p:txBody>
      </p:sp>
      <p:sp>
        <p:nvSpPr>
          <p:cNvPr id="44" name="bar-label">
            <a:extLst xmlns:a="http://schemas.openxmlformats.org/drawingml/2006/main">
              <a:ext uri="{FF2B5EF4-FFF2-40B4-BE49-F238E27FC236}">
                <a16:creationId xmlns:a16="http://schemas.microsoft.com/office/drawing/2014/main" id="{D60690C0-29E3-4465-B0C4-434E82F4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</a:defRPr>
            </a:pPr>
            <a:r>
              <a:rPr sz="900" b="1">
                <a:solidFill>
                  <a:srgbClr val="202832"/>
                </a:solidFill>
              </a:rPr>
              <a:t>Top-k selected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EEA22D-B66C-4319-AF66-007C73B0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9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72234D-6A57-426D-993E-ABFC729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95950"/>
            <a:ext cx="135081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47" name="bar-note">
            <a:extLst xmlns:a="http://schemas.openxmlformats.org/drawingml/2006/main">
              <a:ext uri="{FF2B5EF4-FFF2-40B4-BE49-F238E27FC236}">
                <a16:creationId xmlns:a16="http://schemas.microsoft.com/office/drawing/2014/main" id="{E3EE2780-3318-456E-9445-59148A0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648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12/22</a:t>
            </a:r>
          </a:p>
        </p:txBody>
      </p:sp>
    </p:spTree>
    <p:extLst>
      <p:ext uri="{BB962C8B-B14F-4D97-AF65-F5344CB8AC3E}">
        <p14:creationId xmlns:p14="http://schemas.microsoft.com/office/powerpoint/2010/main" val="2044431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9B8F0-4FAF-4282-A0E7-CDC39DB1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4E7CF03-8B29-4160-8C70-9F4C554A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4F5B63"/>
                </a:solidFill>
              </a:defRPr>
            </a:pPr>
            <a:r>
              <a:rPr sz="900" b="1">
                <a:solidFill>
                  <a:srgbClr val="4F5B63"/>
                </a:solidFill>
              </a:rPr>
              <a:t>VISUAL CHECKPOINT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6098B8-34F7-42B5-9F92-DF895A8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02832"/>
                </a:solidFill>
              </a:defRPr>
            </a:pPr>
            <a:r>
              <a:rPr sz="2550" b="1">
                <a:solidFill>
                  <a:srgbClr val="202832"/>
                </a:solidFill>
              </a:rPr>
              <a:t>Rendered outputs and rerun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A27DA-1DD0-4DF6-A59B-AF4B956B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0032"/>
            <a:ext cx="10820400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9B8CD3C-56D7-42DD-9682-C043FA0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6232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Source: HumanML3D alignment rerun and MoConVQ LoRA experiments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44EA277-85D4-48D9-922E-CB4392D9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26232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C7478"/>
                </a:solidFill>
              </a:defRPr>
            </a:pPr>
            <a:r>
              <a:rPr sz="600">
                <a:solidFill>
                  <a:srgbClr val="6C7478"/>
                </a:solidFill>
              </a:rPr>
              <a:t>10 / 10 - 5-Minute Thesis Report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55ee9979e44a1"/>
          <a:stretch xmlns:a="http://schemas.openxmlformats.org/drawingml/2006/main"/>
        </p:blipFill>
        <p:spPr>
          <a:xfrm xmlns:a="http://schemas.openxmlformats.org/drawingml/2006/main">
            <a:off x="685800" y="1561115"/>
            <a:ext cx="6858000" cy="3831021"/>
          </a:xfrm>
          <a:prstGeom xmlns:a="http://schemas.openxmlformats.org/drawingml/2006/main" prst="rect">
            <a:avLst/>
          </a:prstGeom>
        </p:spPr>
      </p:pic>
      <p:sp>
        <p:nvSpPr>
          <p:cNvPr id="8" name="video-title">
            <a:extLst xmlns:a="http://schemas.openxmlformats.org/drawingml/2006/main">
              <a:ext uri="{FF2B5EF4-FFF2-40B4-BE49-F238E27FC236}">
                <a16:creationId xmlns:a16="http://schemas.microsoft.com/office/drawing/2014/main" id="{7C103E2C-BCB1-4D64-A478-56D9F90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04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2832"/>
                </a:solidFill>
              </a:defRPr>
            </a:pPr>
            <a:r>
              <a:rPr sz="1500" b="1">
                <a:solidFill>
                  <a:srgbClr val="202832"/>
                </a:solidFill>
              </a:rPr>
              <a:t>What to open for motion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3E185-E933-4A81-8AD6-3651BD4C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5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1E60A418-46F1-4978-8CAC-B6AB753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Slow walk videos:</a:t>
            </a:r>
          </a:p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baseline_slow, original_lora_slow, topk_lora_slow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34CF5-7756-4F23-91C2-17336FCB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A728DD2C-6EF2-4461-9EBE-0B3D2094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Jump videos:</a:t>
            </a:r>
          </a:p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baseline_jump, original_lora_jump, topk_lora_jump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8A179-ED77-4651-BD4E-FDB249F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4" name="bullet">
            <a:extLst xmlns:a="http://schemas.openxmlformats.org/drawingml/2006/main">
              <a:ext uri="{FF2B5EF4-FFF2-40B4-BE49-F238E27FC236}">
                <a16:creationId xmlns:a16="http://schemas.microsoft.com/office/drawing/2014/main" id="{B52F4BA7-BF42-48BB-8E0F-917F3E6A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Metric CSVs:</a:t>
            </a:r>
          </a:p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</a:defRPr>
            </a:pPr>
            <a:r>
              <a:rPr sz="1050">
                <a:solidFill>
                  <a:srgbClr val="202832"/>
                </a:solidFill>
              </a:rPr>
              <a:t>see outputs/humanml_alignment_* folders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DE5A2-39CF-4BE0-A45D-E45F84EC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291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5"/>
            </a:solidFill>
            <a:prstDash val="solid"/>
          </a:ln>
        </p:spPr>
      </p:sp>
      <p:sp>
        <p:nvSpPr>
          <p:cNvPr id="16" name="interpretation-title">
            <a:extLst xmlns:a="http://schemas.openxmlformats.org/drawingml/2006/main">
              <a:ext uri="{FF2B5EF4-FFF2-40B4-BE49-F238E27FC236}">
                <a16:creationId xmlns:a16="http://schemas.microsoft.com/office/drawing/2014/main" id="{B5DAAA58-077E-47FA-8336-32F0EFE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</a:defRPr>
            </a:pPr>
            <a:r>
              <a:rPr sz="1050" b="1">
                <a:solidFill>
                  <a:srgbClr val="202832"/>
                </a:solidFill>
              </a:rPr>
              <a:t>Interpretation</a:t>
            </a:r>
          </a:p>
        </p:txBody>
      </p:sp>
      <p:sp>
        <p:nvSpPr>
          <p:cNvPr id="17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C8DE553A-98D9-44D5-A120-84592225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91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4B5560"/>
                </a:solidFill>
              </a:defRPr>
            </a:pPr>
            <a:r>
              <a:rPr sz="825">
                <a:solidFill>
                  <a:srgbClr val="4B5560"/>
                </a:solidFill>
              </a:rPr>
              <a:t>Top-k fixes candidate diversity and slightly improves teacher-to-HumanML alignment, but final student style-proxy still drops.</a:t>
            </a:r>
          </a:p>
        </p:txBody>
      </p:sp>
    </p:spTree>
    <p:extLst>
      <p:ext uri="{BB962C8B-B14F-4D97-AF65-F5344CB8AC3E}">
        <p14:creationId xmlns:p14="http://schemas.microsoft.com/office/powerpoint/2010/main" val="42163247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2026-06-15T11:57:14.5560000Z</dcterms:created>
  <dcterms:modified xsi:type="dcterms:W3CDTF">2026-06-15T11:57:14.5560000Z</dcterms:modified>
</coreProperties>
</file>