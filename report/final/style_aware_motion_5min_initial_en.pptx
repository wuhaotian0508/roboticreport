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c88bc608fe4e19" /><Relationship Type="http://schemas.openxmlformats.org/officeDocument/2006/relationships/extended-properties" Target="/docProps/app.xml" Id="Rc735a5748c984c64" /><Relationship Type="http://schemas.openxmlformats.org/officeDocument/2006/relationships/officeDocument" Target="/ppt/presentation.xml" Id="R1136bd12d61d4266" /></Relationships>
</file>

<file path=ppt/presentation.xml><?xml version="1.0" encoding="utf-8"?>
<p:presentation xmlns:p="http://schemas.openxmlformats.org/presentationml/2006/main">
  <p:sldMasterIdLst>
    <p:sldMasterId xmlns:r="http://schemas.openxmlformats.org/officeDocument/2006/relationships" id="2147483648" r:id="Rc5e67df708224866"/>
  </p:sldMasterIdLst>
  <p:notesMasterIdLst>
    <p:notesMasterId xmlns:r="http://schemas.openxmlformats.org/officeDocument/2006/relationships" r:id="Rc90d86767bea4809"/>
  </p:notesMasterIdLst>
  <p:sldIdLst>
    <p:sldId xmlns:r="http://schemas.openxmlformats.org/officeDocument/2006/relationships" id="256" r:id="Ra97e8a3877114be4"/>
    <p:sldId xmlns:r="http://schemas.openxmlformats.org/officeDocument/2006/relationships" id="257" r:id="R3bfbf8c1fb1d4d4a"/>
    <p:sldId xmlns:r="http://schemas.openxmlformats.org/officeDocument/2006/relationships" id="258" r:id="R636ebc53b52d4658"/>
    <p:sldId xmlns:r="http://schemas.openxmlformats.org/officeDocument/2006/relationships" id="259" r:id="Rf12d8f9d01d142a9"/>
    <p:sldId xmlns:r="http://schemas.openxmlformats.org/officeDocument/2006/relationships" id="260" r:id="R40c4403af8c342ac"/>
    <p:sldId xmlns:r="http://schemas.openxmlformats.org/officeDocument/2006/relationships" id="261" r:id="Rda962f500b6941b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6af0d2f372b44d6" /><Relationship Type="http://schemas.openxmlformats.org/officeDocument/2006/relationships/slideMaster" Target="/ppt/slideMasters/slideMaster1.xml" Id="Rc5e67df708224866" /><Relationship Type="http://schemas.openxmlformats.org/officeDocument/2006/relationships/notesMaster" Target="/ppt/notesMasters/notesMaster1.xml" Id="Rc90d86767bea4809" /><Relationship Type="http://schemas.openxmlformats.org/officeDocument/2006/relationships/presProps" Target="/ppt/presProps.xml" Id="Rb746a551e25643f1" /><Relationship Type="http://schemas.openxmlformats.org/officeDocument/2006/relationships/viewProps" Target="/ppt/viewProps.xml" Id="R91d2f58dac7e49b8" /><Relationship Type="http://schemas.openxmlformats.org/officeDocument/2006/relationships/tableStyles" Target="/ppt/tableStyles.xml" Id="Re847e0d0869d4280" /><Relationship Type="http://schemas.openxmlformats.org/officeDocument/2006/relationships/slide" Target="/ppt/slides/slide1.xml" Id="Ra97e8a3877114be4" /><Relationship Type="http://schemas.openxmlformats.org/officeDocument/2006/relationships/slide" Target="/ppt/slides/slide2.xml" Id="R3bfbf8c1fb1d4d4a" /><Relationship Type="http://schemas.openxmlformats.org/officeDocument/2006/relationships/slide" Target="/ppt/slides/slide3.xml" Id="R636ebc53b52d4658" /><Relationship Type="http://schemas.openxmlformats.org/officeDocument/2006/relationships/slide" Target="/ppt/slides/slide4.xml" Id="Rf12d8f9d01d142a9" /><Relationship Type="http://schemas.openxmlformats.org/officeDocument/2006/relationships/slide" Target="/ppt/slides/slide5.xml" Id="R40c4403af8c342ac" /><Relationship Type="http://schemas.openxmlformats.org/officeDocument/2006/relationships/slide" Target="/ppt/slides/slide6.xml" Id="Rda962f500b6941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83993457514e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4f53b215874861" /><Relationship Type="http://schemas.openxmlformats.org/officeDocument/2006/relationships/notesMaster" Target="/ppt/notesMasters/notesMaster1.xml" Id="Rca171fd5271940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2d035db1d64a3a" /><Relationship Type="http://schemas.openxmlformats.org/officeDocument/2006/relationships/notesMaster" Target="/ppt/notesMasters/notesMaster1.xml" Id="R6507459430bc4d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f9a7db1755469c" /><Relationship Type="http://schemas.openxmlformats.org/officeDocument/2006/relationships/notesMaster" Target="/ppt/notesMasters/notesMaster1.xml" Id="R2a7b628f54e449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46b32577714c96" /><Relationship Type="http://schemas.openxmlformats.org/officeDocument/2006/relationships/notesMaster" Target="/ppt/notesMasters/notesMaster1.xml" Id="R59a28d3d4faa4f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6f8e5d48df43f6" /><Relationship Type="http://schemas.openxmlformats.org/officeDocument/2006/relationships/notesMaster" Target="/ppt/notesMasters/notesMaster1.xml" Id="R910d395786e748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c33ccb5b2e4f24" /><Relationship Type="http://schemas.openxmlformats.org/officeDocument/2006/relationships/notesMaster" Target="/ppt/notesMasters/notesMaster1.xml" Id="R15eb4efbbe0547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pivot: the project did not force invalid supervision. It found a data-format mismatch, used teacher pseudo tokens, trained a small LoRA adapter, and evaluated style changes with BVH proxies.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credibility slide. The original idea stayed intact at the level of frozen-backbone adaptation, but the supervision changed because the available HumanML3D files are not MoConVQ token labels.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teacher supplies targets in MoConVQ's own token space, the student starts from the same pretrained generator, and only LoRA parameters move. The decoder and controller stay stable.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distinction clear: the adapter learns the teacher token distribution and uses only about one percent trainable parameters. This is evidence for controllable adaptation, not a claim of official benchmark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metric protocol. The direction was pre-defined before scoring. Slow and heavy should reduce speed-like measures, energetic jump should increase vertical motion and speed. The total is strong, but tai chi stays weak.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being precise. The project is successful as a reproducible, parameter-efficient style-steering experiment. The remaining scientific work is a verified representation or evaluator bridge for full benchmark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e8b9c2f7d944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2f9d66144d4f01" /><Relationship Type="http://schemas.openxmlformats.org/officeDocument/2006/relationships/slideLayout" Target="/ppt/slideLayouts/slideLayout1.xml" Id="R192c09ce628b48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2c09ce628b48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4fd7fb54784bd8" /><Relationship Type="http://schemas.openxmlformats.org/officeDocument/2006/relationships/notesSlide" Target="/ppt/notesSlides/notesSlide1.xml" Id="Rf8997e15100742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e798d3169644a9" /><Relationship Type="http://schemas.openxmlformats.org/officeDocument/2006/relationships/notesSlide" Target="/ppt/notesSlides/notesSlide2.xml" Id="R2185af99402d47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766e38105214451" /><Relationship Type="http://schemas.openxmlformats.org/officeDocument/2006/relationships/notesSlide" Target="/ppt/notesSlides/notesSlide3.xml" Id="Red257ccbe7ef4e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dd848a89a984d95" /><Relationship Type="http://schemas.openxmlformats.org/officeDocument/2006/relationships/image" Target="/ppt/media/image.png" Id="R0b8b37430001444e" /><Relationship Type="http://schemas.openxmlformats.org/officeDocument/2006/relationships/notesSlide" Target="/ppt/notesSlides/notesSlide4.xml" Id="R3fb06b7fc5784b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db1fefaac04a2e" /><Relationship Type="http://schemas.openxmlformats.org/officeDocument/2006/relationships/notesSlide" Target="/ppt/notesSlides/notesSlide5.xml" Id="R1f71ded48da74e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fa5203f17344921" /><Relationship Type="http://schemas.openxmlformats.org/officeDocument/2006/relationships/image" Target="/ppt/media/image2.png" Id="R5afcacb9d26c4dd4" /><Relationship Type="http://schemas.openxmlformats.org/officeDocument/2006/relationships/notesSlide" Target="/ppt/notesSlides/notesSlide6.xml" Id="Rbf416254a08d40b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slide-1-background">
            <a:extLst xmlns:a="http://schemas.openxmlformats.org/drawingml/2006/main">
              <a:ext uri="{FF2B5EF4-FFF2-40B4-BE49-F238E27FC236}">
                <a16:creationId xmlns:a16="http://schemas.microsoft.com/office/drawing/2014/main" id="{0A3C3EF1-6A8F-4F02-A62D-78A09D75E5A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D"/>
          </a:solidFill>
          <a:ln xmlns:a="http://schemas.openxmlformats.org/drawingml/2006/main" w="0">
            <a:solidFill>
              <a:srgbClr val="000000">
                <a:alpha val="0"/>
              </a:srgbClr>
            </a:solidFill>
            <a:prstDash val="solid"/>
          </a:ln>
        </p:spPr>
      </p:sp>
      <p:sp>
        <p:nvSpPr>
          <p:cNvPr id="2" name="kicker-1-marker">
            <a:extLst xmlns:a="http://schemas.openxmlformats.org/drawingml/2006/main">
              <a:ext uri="{FF2B5EF4-FFF2-40B4-BE49-F238E27FC236}">
                <a16:creationId xmlns:a16="http://schemas.microsoft.com/office/drawing/2014/main" id="{2A802C75-35FB-4368-9283-0C9D3BB10273}"/>
              </a:ext>
            </a:extLst>
          </p:cNvPr>
          <p:cNvSpPr>
            <a:spLocks xmlns:a="http://schemas.openxmlformats.org/drawingml/2006/main" noGrp="1"/>
          </p:cNvSpPr>
          <p:nvPr/>
        </p:nvSpPr>
        <p:spPr>
          <a:xfrm xmlns:a="http://schemas.openxmlformats.org/drawingml/2006/main">
            <a:off x="685800" y="419100"/>
            <a:ext cx="266700" cy="38100"/>
          </a:xfrm>
          <a:prstGeom xmlns:a="http://schemas.openxmlformats.org/drawingml/2006/main" prst="rect">
            <a:avLst/>
          </a:prstGeom>
          <a:solidFill xmlns:a="http://schemas.openxmlformats.org/drawingml/2006/main">
            <a:srgbClr val="167C80"/>
          </a:solidFill>
          <a:ln xmlns:a="http://schemas.openxmlformats.org/drawingml/2006/main" w="0">
            <a:solidFill>
              <a:srgbClr val="000000">
                <a:alpha val="0"/>
              </a:srgbClr>
            </a:solidFill>
            <a:prstDash val="solid"/>
          </a:ln>
        </p:spPr>
      </p:sp>
      <p:sp>
        <p:nvSpPr>
          <p:cNvPr id="3" name="kicker-1-label">
            <a:extLst xmlns:a="http://schemas.openxmlformats.org/drawingml/2006/main">
              <a:ext uri="{FF2B5EF4-FFF2-40B4-BE49-F238E27FC236}">
                <a16:creationId xmlns:a16="http://schemas.microsoft.com/office/drawing/2014/main" id="{1A50D74C-E6DB-4DDE-80FE-E045A56BDF9B}"/>
              </a:ext>
            </a:extLst>
          </p:cNvPr>
          <p:cNvSpPr>
            <a:spLocks xmlns:a="http://schemas.openxmlformats.org/drawingml/2006/main" noGrp="1"/>
          </p:cNvSpPr>
          <p:nvPr/>
        </p:nvSpPr>
        <p:spPr>
          <a:xfrm xmlns:a="http://schemas.openxmlformats.org/drawingml/2006/main">
            <a:off x="1066800" y="323850"/>
            <a:ext cx="495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5E6975"/>
                </a:solidFill>
                <a:latin typeface="Aptos"/>
                <a:ea typeface="Aptos"/>
                <a:cs typeface="Aptos"/>
              </a:defRPr>
            </a:pPr>
            <a:r>
              <a:rPr sz="975" b="1">
                <a:solidFill>
                  <a:srgbClr val="5E6975"/>
                </a:solidFill>
                <a:latin typeface="Aptos"/>
                <a:ea typeface="Aptos"/>
                <a:cs typeface="Aptos"/>
              </a:rPr>
              <a:t>PROJECT THESIS</a:t>
            </a:r>
          </a:p>
        </p:txBody>
      </p:sp>
      <p:sp>
        <p:nvSpPr>
          <p:cNvPr id="4" name="cover-title">
            <a:extLst xmlns:a="http://schemas.openxmlformats.org/drawingml/2006/main">
              <a:ext uri="{FF2B5EF4-FFF2-40B4-BE49-F238E27FC236}">
                <a16:creationId xmlns:a16="http://schemas.microsoft.com/office/drawing/2014/main" id="{DB547E49-05C8-4B29-8F6E-0BC6048CF664}"/>
              </a:ext>
            </a:extLst>
          </p:cNvPr>
          <p:cNvSpPr>
            <a:spLocks xmlns:a="http://schemas.openxmlformats.org/drawingml/2006/main" noGrp="1"/>
          </p:cNvSpPr>
          <p:nvPr/>
        </p:nvSpPr>
        <p:spPr>
          <a:xfrm xmlns:a="http://schemas.openxmlformats.org/drawingml/2006/main">
            <a:off x="685800" y="914400"/>
            <a:ext cx="8953500" cy="1466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450" b="1">
                <a:solidFill>
                  <a:srgbClr val="1E252B"/>
                </a:solidFill>
                <a:latin typeface="Aptos Display"/>
                <a:ea typeface="Aptos Display"/>
                <a:cs typeface="Aptos Display"/>
              </a:defRPr>
            </a:pPr>
            <a:r>
              <a:rPr sz="3450" b="1">
                <a:solidFill>
                  <a:srgbClr val="1E252B"/>
                </a:solidFill>
                <a:latin typeface="Aptos Display"/>
                <a:ea typeface="Aptos Display"/>
                <a:cs typeface="Aptos Display"/>
              </a:rPr>
              <a:t>Style-Aware Adaptation for Language-Conditioned Humanoid Motion Generation</a:t>
            </a:r>
          </a:p>
        </p:txBody>
      </p:sp>
      <p:sp>
        <p:nvSpPr>
          <p:cNvPr id="5" name="cover-subtitle">
            <a:extLst xmlns:a="http://schemas.openxmlformats.org/drawingml/2006/main">
              <a:ext uri="{FF2B5EF4-FFF2-40B4-BE49-F238E27FC236}">
                <a16:creationId xmlns:a16="http://schemas.microsoft.com/office/drawing/2014/main" id="{58FFF6F2-D646-4FF3-B955-04421397F08D}"/>
              </a:ext>
            </a:extLst>
          </p:cNvPr>
          <p:cNvSpPr>
            <a:spLocks xmlns:a="http://schemas.openxmlformats.org/drawingml/2006/main" noGrp="1"/>
          </p:cNvSpPr>
          <p:nvPr/>
        </p:nvSpPr>
        <p:spPr>
          <a:xfrm xmlns:a="http://schemas.openxmlformats.org/drawingml/2006/main">
            <a:off x="704850" y="2514600"/>
            <a:ext cx="75247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5E6975"/>
                </a:solidFill>
                <a:latin typeface="Aptos"/>
                <a:ea typeface="Aptos"/>
                <a:cs typeface="Aptos"/>
              </a:defRPr>
            </a:pPr>
            <a:r>
              <a:rPr sz="1800" b="0">
                <a:solidFill>
                  <a:srgbClr val="5E6975"/>
                </a:solidFill>
                <a:latin typeface="Aptos"/>
                <a:ea typeface="Aptos"/>
                <a:cs typeface="Aptos"/>
              </a:rPr>
              <a:t>A 5-minute report on MoConVQ style steering with LoRA distillation.</a:t>
            </a:r>
          </a:p>
        </p:txBody>
      </p:sp>
      <p:sp>
        <p:nvSpPr>
          <p:cNvPr id="6" name="cover-dark-rail">
            <a:extLst xmlns:a="http://schemas.openxmlformats.org/drawingml/2006/main">
              <a:ext uri="{FF2B5EF4-FFF2-40B4-BE49-F238E27FC236}">
                <a16:creationId xmlns:a16="http://schemas.microsoft.com/office/drawing/2014/main" id="{51BF094B-7D40-4187-85DF-76C48F77C4F8}"/>
              </a:ext>
            </a:extLst>
          </p:cNvPr>
          <p:cNvSpPr>
            <a:spLocks xmlns:a="http://schemas.openxmlformats.org/drawingml/2006/main" noGrp="1"/>
          </p:cNvSpPr>
          <p:nvPr/>
        </p:nvSpPr>
        <p:spPr>
          <a:xfrm xmlns:a="http://schemas.openxmlformats.org/drawingml/2006/main">
            <a:off x="685800" y="3524250"/>
            <a:ext cx="10820400" cy="1638300"/>
          </a:xfrm>
          <a:prstGeom xmlns:a="http://schemas.openxmlformats.org/drawingml/2006/main" prst="rect">
            <a:avLst/>
          </a:prstGeom>
          <a:solidFill xmlns:a="http://schemas.openxmlformats.org/drawingml/2006/main">
            <a:srgbClr val="2D3440"/>
          </a:solidFill>
          <a:ln xmlns:a="http://schemas.openxmlformats.org/drawingml/2006/main" w="0">
            <a:solidFill>
              <a:srgbClr val="000000">
                <a:alpha val="0"/>
              </a:srgbClr>
            </a:solidFill>
            <a:prstDash val="solid"/>
          </a:ln>
        </p:spPr>
      </p:sp>
      <p:sp>
        <p:nvSpPr>
          <p:cNvPr id="7" name="cover-thesis">
            <a:extLst xmlns:a="http://schemas.openxmlformats.org/drawingml/2006/main">
              <a:ext uri="{FF2B5EF4-FFF2-40B4-BE49-F238E27FC236}">
                <a16:creationId xmlns:a16="http://schemas.microsoft.com/office/drawing/2014/main" id="{D2DED8ED-A987-432E-B425-F04B2A0FA794}"/>
              </a:ext>
            </a:extLst>
          </p:cNvPr>
          <p:cNvSpPr>
            <a:spLocks xmlns:a="http://schemas.openxmlformats.org/drawingml/2006/main" noGrp="1"/>
          </p:cNvSpPr>
          <p:nvPr/>
        </p:nvSpPr>
        <p:spPr>
          <a:xfrm xmlns:a="http://schemas.openxmlformats.org/drawingml/2006/main">
            <a:off x="1047750" y="3829050"/>
            <a:ext cx="93345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When direct HumanML3D-to-MoConVQ supervision was unavailable, the final system switched to pseudo-token distillation and still produced measurable style-direction changes.</a:t>
            </a:r>
          </a:p>
        </p:txBody>
      </p:sp>
      <p:sp>
        <p:nvSpPr>
          <p:cNvPr id="8" name="metric-format-panel">
            <a:extLst xmlns:a="http://schemas.openxmlformats.org/drawingml/2006/main">
              <a:ext uri="{FF2B5EF4-FFF2-40B4-BE49-F238E27FC236}">
                <a16:creationId xmlns:a16="http://schemas.microsoft.com/office/drawing/2014/main" id="{2F0E62A9-3471-4259-81A6-D99DF97208D2}"/>
              </a:ext>
            </a:extLst>
          </p:cNvPr>
          <p:cNvSpPr>
            <a:spLocks xmlns:a="http://schemas.openxmlformats.org/drawingml/2006/main" noGrp="1"/>
          </p:cNvSpPr>
          <p:nvPr/>
        </p:nvSpPr>
        <p:spPr>
          <a:xfrm xmlns:a="http://schemas.openxmlformats.org/drawingml/2006/main">
            <a:off x="914400" y="5410200"/>
            <a:ext cx="3162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6CEC0"/>
            </a:solidFill>
            <a:prstDash val="solid"/>
          </a:ln>
        </p:spPr>
      </p:sp>
      <p:sp>
        <p:nvSpPr>
          <p:cNvPr id="9" name="metric-format-accent">
            <a:extLst xmlns:a="http://schemas.openxmlformats.org/drawingml/2006/main">
              <a:ext uri="{FF2B5EF4-FFF2-40B4-BE49-F238E27FC236}">
                <a16:creationId xmlns:a16="http://schemas.microsoft.com/office/drawing/2014/main" id="{1F37C38E-D8FF-4E6D-A3A2-657D0AED51F9}"/>
              </a:ext>
            </a:extLst>
          </p:cNvPr>
          <p:cNvSpPr>
            <a:spLocks xmlns:a="http://schemas.openxmlformats.org/drawingml/2006/main" noGrp="1"/>
          </p:cNvSpPr>
          <p:nvPr/>
        </p:nvSpPr>
        <p:spPr>
          <a:xfrm xmlns:a="http://schemas.openxmlformats.org/drawingml/2006/main">
            <a:off x="914400" y="5410200"/>
            <a:ext cx="76200" cy="742950"/>
          </a:xfrm>
          <a:prstGeom xmlns:a="http://schemas.openxmlformats.org/drawingml/2006/main" prst="rect">
            <a:avLst/>
          </a:prstGeom>
          <a:solidFill xmlns:a="http://schemas.openxmlformats.org/drawingml/2006/main">
            <a:srgbClr val="B15A35"/>
          </a:solidFill>
          <a:ln xmlns:a="http://schemas.openxmlformats.org/drawingml/2006/main" w="0">
            <a:solidFill>
              <a:srgbClr val="000000">
                <a:alpha val="0"/>
              </a:srgbClr>
            </a:solidFill>
            <a:prstDash val="solid"/>
          </a:ln>
        </p:spPr>
      </p:sp>
      <p:sp>
        <p:nvSpPr>
          <p:cNvPr id="10" name="metric-format-value">
            <a:extLst xmlns:a="http://schemas.openxmlformats.org/drawingml/2006/main">
              <a:ext uri="{FF2B5EF4-FFF2-40B4-BE49-F238E27FC236}">
                <a16:creationId xmlns:a16="http://schemas.microsoft.com/office/drawing/2014/main" id="{5F777EBE-E303-4588-A4FB-EA0173B17DDB}"/>
              </a:ext>
            </a:extLst>
          </p:cNvPr>
          <p:cNvSpPr>
            <a:spLocks xmlns:a="http://schemas.openxmlformats.org/drawingml/2006/main" noGrp="1"/>
          </p:cNvSpPr>
          <p:nvPr/>
        </p:nvSpPr>
        <p:spPr>
          <a:xfrm xmlns:a="http://schemas.openxmlformats.org/drawingml/2006/main">
            <a:off x="1143000" y="5505450"/>
            <a:ext cx="27813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B15A35"/>
                </a:solidFill>
                <a:latin typeface="Aptos Display"/>
                <a:ea typeface="Aptos Display"/>
                <a:cs typeface="Aptos Display"/>
              </a:defRPr>
            </a:pPr>
            <a:r>
              <a:rPr sz="1950" b="1">
                <a:solidFill>
                  <a:srgbClr val="B15A35"/>
                </a:solidFill>
                <a:latin typeface="Aptos Display"/>
                <a:ea typeface="Aptos Display"/>
                <a:cs typeface="Aptos Display"/>
              </a:rPr>
              <a:t>format pivot</a:t>
            </a:r>
          </a:p>
        </p:txBody>
      </p:sp>
      <p:sp>
        <p:nvSpPr>
          <p:cNvPr id="11" name="metric-format-label">
            <a:extLst xmlns:a="http://schemas.openxmlformats.org/drawingml/2006/main">
              <a:ext uri="{FF2B5EF4-FFF2-40B4-BE49-F238E27FC236}">
                <a16:creationId xmlns:a16="http://schemas.microsoft.com/office/drawing/2014/main" id="{300A0775-2C48-4E00-A3BF-953454037D4E}"/>
              </a:ext>
            </a:extLst>
          </p:cNvPr>
          <p:cNvSpPr>
            <a:spLocks xmlns:a="http://schemas.openxmlformats.org/drawingml/2006/main" noGrp="1"/>
          </p:cNvSpPr>
          <p:nvPr/>
        </p:nvSpPr>
        <p:spPr>
          <a:xfrm xmlns:a="http://schemas.openxmlformats.org/drawingml/2006/main">
            <a:off x="1143000" y="5810250"/>
            <a:ext cx="2781300"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E252B"/>
                </a:solidFill>
                <a:latin typeface="Aptos"/>
                <a:ea typeface="Aptos"/>
                <a:cs typeface="Aptos"/>
              </a:defRPr>
            </a:pPr>
            <a:r>
              <a:rPr sz="975" b="1">
                <a:solidFill>
                  <a:srgbClr val="1E252B"/>
                </a:solidFill>
                <a:latin typeface="Aptos"/>
                <a:ea typeface="Aptos"/>
                <a:cs typeface="Aptos"/>
              </a:rPr>
              <a:t>No unsupported token labels</a:t>
            </a:r>
          </a:p>
        </p:txBody>
      </p:sp>
      <p:sp>
        <p:nvSpPr>
          <p:cNvPr id="12" name="metric-format-sub">
            <a:extLst xmlns:a="http://schemas.openxmlformats.org/drawingml/2006/main">
              <a:ext uri="{FF2B5EF4-FFF2-40B4-BE49-F238E27FC236}">
                <a16:creationId xmlns:a16="http://schemas.microsoft.com/office/drawing/2014/main" id="{51D64FC6-707B-42FE-AE5C-89188BAB3A27}"/>
              </a:ext>
            </a:extLst>
          </p:cNvPr>
          <p:cNvSpPr>
            <a:spLocks xmlns:a="http://schemas.openxmlformats.org/drawingml/2006/main" noGrp="1"/>
          </p:cNvSpPr>
          <p:nvPr/>
        </p:nvSpPr>
        <p:spPr>
          <a:xfrm xmlns:a="http://schemas.openxmlformats.org/drawingml/2006/main">
            <a:off x="1143000" y="5981700"/>
            <a:ext cx="2781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E6975"/>
                </a:solidFill>
                <a:latin typeface="Aptos"/>
                <a:ea typeface="Aptos"/>
                <a:cs typeface="Aptos"/>
              </a:defRPr>
            </a:pPr>
            <a:r>
              <a:rPr sz="788" b="0">
                <a:solidFill>
                  <a:srgbClr val="5E6975"/>
                </a:solidFill>
                <a:latin typeface="Aptos"/>
                <a:ea typeface="Aptos"/>
                <a:cs typeface="Aptos"/>
              </a:rPr>
              <a:t>HumanML3D parquet gives 263-D features, not MoConVQ tokens.</a:t>
            </a:r>
          </a:p>
        </p:txBody>
      </p:sp>
      <p:sp>
        <p:nvSpPr>
          <p:cNvPr id="13" name="metric-params-panel">
            <a:extLst xmlns:a="http://schemas.openxmlformats.org/drawingml/2006/main">
              <a:ext uri="{FF2B5EF4-FFF2-40B4-BE49-F238E27FC236}">
                <a16:creationId xmlns:a16="http://schemas.microsoft.com/office/drawing/2014/main" id="{038AFA6A-255A-40F0-9C9B-AFF2B289C7DB}"/>
              </a:ext>
            </a:extLst>
          </p:cNvPr>
          <p:cNvSpPr>
            <a:spLocks xmlns:a="http://schemas.openxmlformats.org/drawingml/2006/main" noGrp="1"/>
          </p:cNvSpPr>
          <p:nvPr/>
        </p:nvSpPr>
        <p:spPr>
          <a:xfrm xmlns:a="http://schemas.openxmlformats.org/drawingml/2006/main">
            <a:off x="4514850" y="5410200"/>
            <a:ext cx="3162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6CEC0"/>
            </a:solidFill>
            <a:prstDash val="solid"/>
          </a:ln>
        </p:spPr>
      </p:sp>
      <p:sp>
        <p:nvSpPr>
          <p:cNvPr id="14" name="metric-params-accent">
            <a:extLst xmlns:a="http://schemas.openxmlformats.org/drawingml/2006/main">
              <a:ext uri="{FF2B5EF4-FFF2-40B4-BE49-F238E27FC236}">
                <a16:creationId xmlns:a16="http://schemas.microsoft.com/office/drawing/2014/main" id="{2B4DF803-25B2-41F7-B908-A66037167D83}"/>
              </a:ext>
            </a:extLst>
          </p:cNvPr>
          <p:cNvSpPr>
            <a:spLocks xmlns:a="http://schemas.openxmlformats.org/drawingml/2006/main" noGrp="1"/>
          </p:cNvSpPr>
          <p:nvPr/>
        </p:nvSpPr>
        <p:spPr>
          <a:xfrm xmlns:a="http://schemas.openxmlformats.org/drawingml/2006/main">
            <a:off x="4514850" y="5410200"/>
            <a:ext cx="76200" cy="742950"/>
          </a:xfrm>
          <a:prstGeom xmlns:a="http://schemas.openxmlformats.org/drawingml/2006/main" prst="rect">
            <a:avLst/>
          </a:prstGeom>
          <a:solidFill xmlns:a="http://schemas.openxmlformats.org/drawingml/2006/main">
            <a:srgbClr val="2F7DE1"/>
          </a:solidFill>
          <a:ln xmlns:a="http://schemas.openxmlformats.org/drawingml/2006/main" w="0">
            <a:solidFill>
              <a:srgbClr val="000000">
                <a:alpha val="0"/>
              </a:srgbClr>
            </a:solidFill>
            <a:prstDash val="solid"/>
          </a:ln>
        </p:spPr>
      </p:sp>
      <p:sp>
        <p:nvSpPr>
          <p:cNvPr id="15" name="metric-params-value">
            <a:extLst xmlns:a="http://schemas.openxmlformats.org/drawingml/2006/main">
              <a:ext uri="{FF2B5EF4-FFF2-40B4-BE49-F238E27FC236}">
                <a16:creationId xmlns:a16="http://schemas.microsoft.com/office/drawing/2014/main" id="{04A7EA44-719D-47D2-A596-EC9B98D1DE3A}"/>
              </a:ext>
            </a:extLst>
          </p:cNvPr>
          <p:cNvSpPr>
            <a:spLocks xmlns:a="http://schemas.openxmlformats.org/drawingml/2006/main" noGrp="1"/>
          </p:cNvSpPr>
          <p:nvPr/>
        </p:nvSpPr>
        <p:spPr>
          <a:xfrm xmlns:a="http://schemas.openxmlformats.org/drawingml/2006/main">
            <a:off x="4743450" y="5505450"/>
            <a:ext cx="27813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2F7DE1"/>
                </a:solidFill>
                <a:latin typeface="Aptos Display"/>
                <a:ea typeface="Aptos Display"/>
                <a:cs typeface="Aptos Display"/>
              </a:defRPr>
            </a:pPr>
            <a:r>
              <a:rPr sz="1950" b="1">
                <a:solidFill>
                  <a:srgbClr val="2F7DE1"/>
                </a:solidFill>
                <a:latin typeface="Aptos Display"/>
                <a:ea typeface="Aptos Display"/>
                <a:cs typeface="Aptos Display"/>
              </a:rPr>
              <a:t>1.97M</a:t>
            </a:r>
          </a:p>
        </p:txBody>
      </p:sp>
      <p:sp>
        <p:nvSpPr>
          <p:cNvPr id="16" name="metric-params-label">
            <a:extLst xmlns:a="http://schemas.openxmlformats.org/drawingml/2006/main">
              <a:ext uri="{FF2B5EF4-FFF2-40B4-BE49-F238E27FC236}">
                <a16:creationId xmlns:a16="http://schemas.microsoft.com/office/drawing/2014/main" id="{31270A09-9AD7-4B73-995C-84744EF2DC0E}"/>
              </a:ext>
            </a:extLst>
          </p:cNvPr>
          <p:cNvSpPr>
            <a:spLocks xmlns:a="http://schemas.openxmlformats.org/drawingml/2006/main" noGrp="1"/>
          </p:cNvSpPr>
          <p:nvPr/>
        </p:nvSpPr>
        <p:spPr>
          <a:xfrm xmlns:a="http://schemas.openxmlformats.org/drawingml/2006/main">
            <a:off x="4743450" y="5810250"/>
            <a:ext cx="2781300"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E252B"/>
                </a:solidFill>
                <a:latin typeface="Aptos"/>
                <a:ea typeface="Aptos"/>
                <a:cs typeface="Aptos"/>
              </a:defRPr>
            </a:pPr>
            <a:r>
              <a:rPr sz="975" b="1">
                <a:solidFill>
                  <a:srgbClr val="1E252B"/>
                </a:solidFill>
                <a:latin typeface="Aptos"/>
                <a:ea typeface="Aptos"/>
                <a:cs typeface="Aptos"/>
              </a:rPr>
              <a:t>Trainable LoRA params</a:t>
            </a:r>
          </a:p>
        </p:txBody>
      </p:sp>
      <p:sp>
        <p:nvSpPr>
          <p:cNvPr id="17" name="metric-params-sub">
            <a:extLst xmlns:a="http://schemas.openxmlformats.org/drawingml/2006/main">
              <a:ext uri="{FF2B5EF4-FFF2-40B4-BE49-F238E27FC236}">
                <a16:creationId xmlns:a16="http://schemas.microsoft.com/office/drawing/2014/main" id="{D19B0A71-EE6E-4B0E-B14D-47F4C0D1B8E4}"/>
              </a:ext>
            </a:extLst>
          </p:cNvPr>
          <p:cNvSpPr>
            <a:spLocks xmlns:a="http://schemas.openxmlformats.org/drawingml/2006/main" noGrp="1"/>
          </p:cNvSpPr>
          <p:nvPr/>
        </p:nvSpPr>
        <p:spPr>
          <a:xfrm xmlns:a="http://schemas.openxmlformats.org/drawingml/2006/main">
            <a:off x="4743450" y="5981700"/>
            <a:ext cx="2781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E6975"/>
                </a:solidFill>
                <a:latin typeface="Aptos"/>
                <a:ea typeface="Aptos"/>
                <a:cs typeface="Aptos"/>
              </a:defRPr>
            </a:pPr>
            <a:r>
              <a:rPr sz="788" b="0">
                <a:solidFill>
                  <a:srgbClr val="5E6975"/>
                </a:solidFill>
                <a:latin typeface="Aptos"/>
                <a:ea typeface="Aptos"/>
                <a:cs typeface="Aptos"/>
              </a:rPr>
              <a:t>Only 1.005% of the wrapped generator is updated.</a:t>
            </a:r>
          </a:p>
        </p:txBody>
      </p:sp>
      <p:sp>
        <p:nvSpPr>
          <p:cNvPr id="18" name="metric-proxy-panel">
            <a:extLst xmlns:a="http://schemas.openxmlformats.org/drawingml/2006/main">
              <a:ext uri="{FF2B5EF4-FFF2-40B4-BE49-F238E27FC236}">
                <a16:creationId xmlns:a16="http://schemas.microsoft.com/office/drawing/2014/main" id="{4ED7B297-5BA9-484F-B93C-EA1DE9010498}"/>
              </a:ext>
            </a:extLst>
          </p:cNvPr>
          <p:cNvSpPr>
            <a:spLocks xmlns:a="http://schemas.openxmlformats.org/drawingml/2006/main" noGrp="1"/>
          </p:cNvSpPr>
          <p:nvPr/>
        </p:nvSpPr>
        <p:spPr>
          <a:xfrm xmlns:a="http://schemas.openxmlformats.org/drawingml/2006/main">
            <a:off x="8115300" y="5410200"/>
            <a:ext cx="3162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6CEC0"/>
            </a:solidFill>
            <a:prstDash val="solid"/>
          </a:ln>
        </p:spPr>
      </p:sp>
      <p:sp>
        <p:nvSpPr>
          <p:cNvPr id="19" name="metric-proxy-accent">
            <a:extLst xmlns:a="http://schemas.openxmlformats.org/drawingml/2006/main">
              <a:ext uri="{FF2B5EF4-FFF2-40B4-BE49-F238E27FC236}">
                <a16:creationId xmlns:a16="http://schemas.microsoft.com/office/drawing/2014/main" id="{2547433E-CEA5-4039-9F82-61F9702F1C31}"/>
              </a:ext>
            </a:extLst>
          </p:cNvPr>
          <p:cNvSpPr>
            <a:spLocks xmlns:a="http://schemas.openxmlformats.org/drawingml/2006/main" noGrp="1"/>
          </p:cNvSpPr>
          <p:nvPr/>
        </p:nvSpPr>
        <p:spPr>
          <a:xfrm xmlns:a="http://schemas.openxmlformats.org/drawingml/2006/main">
            <a:off x="8115300" y="5410200"/>
            <a:ext cx="76200" cy="742950"/>
          </a:xfrm>
          <a:prstGeom xmlns:a="http://schemas.openxmlformats.org/drawingml/2006/main" prst="rect">
            <a:avLst/>
          </a:prstGeom>
          <a:solidFill xmlns:a="http://schemas.openxmlformats.org/drawingml/2006/main">
            <a:srgbClr val="167C80"/>
          </a:solidFill>
          <a:ln xmlns:a="http://schemas.openxmlformats.org/drawingml/2006/main" w="0">
            <a:solidFill>
              <a:srgbClr val="000000">
                <a:alpha val="0"/>
              </a:srgbClr>
            </a:solidFill>
            <a:prstDash val="solid"/>
          </a:ln>
        </p:spPr>
      </p:sp>
      <p:sp>
        <p:nvSpPr>
          <p:cNvPr id="20" name="metric-proxy-value">
            <a:extLst xmlns:a="http://schemas.openxmlformats.org/drawingml/2006/main">
              <a:ext uri="{FF2B5EF4-FFF2-40B4-BE49-F238E27FC236}">
                <a16:creationId xmlns:a16="http://schemas.microsoft.com/office/drawing/2014/main" id="{E1ED0034-F13B-43E9-B303-1BACCFA18351}"/>
              </a:ext>
            </a:extLst>
          </p:cNvPr>
          <p:cNvSpPr>
            <a:spLocks xmlns:a="http://schemas.openxmlformats.org/drawingml/2006/main" noGrp="1"/>
          </p:cNvSpPr>
          <p:nvPr/>
        </p:nvSpPr>
        <p:spPr>
          <a:xfrm xmlns:a="http://schemas.openxmlformats.org/drawingml/2006/main">
            <a:off x="8343900" y="5505450"/>
            <a:ext cx="27813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67C80"/>
                </a:solidFill>
                <a:latin typeface="Aptos Display"/>
                <a:ea typeface="Aptos Display"/>
                <a:cs typeface="Aptos Display"/>
              </a:defRPr>
            </a:pPr>
            <a:r>
              <a:rPr sz="1950" b="1">
                <a:solidFill>
                  <a:srgbClr val="167C80"/>
                </a:solidFill>
                <a:latin typeface="Aptos Display"/>
                <a:ea typeface="Aptos Display"/>
                <a:cs typeface="Aptos Display"/>
              </a:rPr>
              <a:t>18 / 22</a:t>
            </a:r>
          </a:p>
        </p:txBody>
      </p:sp>
      <p:sp>
        <p:nvSpPr>
          <p:cNvPr id="21" name="metric-proxy-label">
            <a:extLst xmlns:a="http://schemas.openxmlformats.org/drawingml/2006/main">
              <a:ext uri="{FF2B5EF4-FFF2-40B4-BE49-F238E27FC236}">
                <a16:creationId xmlns:a16="http://schemas.microsoft.com/office/drawing/2014/main" id="{8C4601BA-2D1A-4F77-A3F3-71C6F16CF451}"/>
              </a:ext>
            </a:extLst>
          </p:cNvPr>
          <p:cNvSpPr>
            <a:spLocks xmlns:a="http://schemas.openxmlformats.org/drawingml/2006/main" noGrp="1"/>
          </p:cNvSpPr>
          <p:nvPr/>
        </p:nvSpPr>
        <p:spPr>
          <a:xfrm xmlns:a="http://schemas.openxmlformats.org/drawingml/2006/main">
            <a:off x="8343900" y="5810250"/>
            <a:ext cx="2781300"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E252B"/>
                </a:solidFill>
                <a:latin typeface="Aptos"/>
                <a:ea typeface="Aptos"/>
                <a:cs typeface="Aptos"/>
              </a:defRPr>
            </a:pPr>
            <a:r>
              <a:rPr sz="975" b="1">
                <a:solidFill>
                  <a:srgbClr val="1E252B"/>
                </a:solidFill>
                <a:latin typeface="Aptos"/>
                <a:ea typeface="Aptos"/>
                <a:cs typeface="Aptos"/>
              </a:rPr>
              <a:t>Proxy checks improved</a:t>
            </a:r>
          </a:p>
        </p:txBody>
      </p:sp>
      <p:sp>
        <p:nvSpPr>
          <p:cNvPr id="22" name="metric-proxy-sub">
            <a:extLst xmlns:a="http://schemas.openxmlformats.org/drawingml/2006/main">
              <a:ext uri="{FF2B5EF4-FFF2-40B4-BE49-F238E27FC236}">
                <a16:creationId xmlns:a16="http://schemas.microsoft.com/office/drawing/2014/main" id="{179A2D4F-F655-46EB-B353-30626513191E}"/>
              </a:ext>
            </a:extLst>
          </p:cNvPr>
          <p:cNvSpPr>
            <a:spLocks xmlns:a="http://schemas.openxmlformats.org/drawingml/2006/main" noGrp="1"/>
          </p:cNvSpPr>
          <p:nvPr/>
        </p:nvSpPr>
        <p:spPr>
          <a:xfrm xmlns:a="http://schemas.openxmlformats.org/drawingml/2006/main">
            <a:off x="8343900" y="5981700"/>
            <a:ext cx="2781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E6975"/>
                </a:solidFill>
                <a:latin typeface="Aptos"/>
                <a:ea typeface="Aptos"/>
                <a:cs typeface="Aptos"/>
              </a:defRPr>
            </a:pPr>
            <a:r>
              <a:rPr sz="788" b="0">
                <a:solidFill>
                  <a:srgbClr val="5E6975"/>
                </a:solidFill>
                <a:latin typeface="Aptos"/>
                <a:ea typeface="Aptos"/>
                <a:cs typeface="Aptos"/>
              </a:rPr>
              <a:t>Pre-defined BVH style-direction comparisons.</a:t>
            </a:r>
          </a:p>
        </p:txBody>
      </p:sp>
      <p:sp>
        <p:nvSpPr>
          <p:cNvPr id="23" name="footer-1-rule">
            <a:extLst xmlns:a="http://schemas.openxmlformats.org/drawingml/2006/main">
              <a:ext uri="{FF2B5EF4-FFF2-40B4-BE49-F238E27FC236}">
                <a16:creationId xmlns:a16="http://schemas.microsoft.com/office/drawing/2014/main" id="{7F9F1975-E928-4D42-8468-F341674CAD89}"/>
              </a:ext>
            </a:extLst>
          </p:cNvPr>
          <p:cNvSpPr>
            <a:spLocks xmlns:a="http://schemas.openxmlformats.org/drawingml/2006/main" noGrp="1"/>
          </p:cNvSpPr>
          <p:nvPr/>
        </p:nvSpPr>
        <p:spPr>
          <a:xfrm xmlns:a="http://schemas.openxmlformats.org/drawingml/2006/main">
            <a:off x="685800" y="6343650"/>
            <a:ext cx="108204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24" name="footer-1-source">
            <a:extLst xmlns:a="http://schemas.openxmlformats.org/drawingml/2006/main">
              <a:ext uri="{FF2B5EF4-FFF2-40B4-BE49-F238E27FC236}">
                <a16:creationId xmlns:a16="http://schemas.microsoft.com/office/drawing/2014/main" id="{4209AF17-610D-47FF-AD65-B338BDC8563D}"/>
              </a:ext>
            </a:extLst>
          </p:cNvPr>
          <p:cNvSpPr>
            <a:spLocks xmlns:a="http://schemas.openxmlformats.org/drawingml/2006/main" noGrp="1"/>
          </p:cNvSpPr>
          <p:nvPr/>
        </p:nvSpPr>
        <p:spPr>
          <a:xfrm xmlns:a="http://schemas.openxmlformats.org/drawingml/2006/main">
            <a:off x="685800" y="6419850"/>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7A746A"/>
                </a:solidFill>
                <a:latin typeface="Aptos"/>
                <a:ea typeface="Aptos"/>
                <a:cs typeface="Aptos"/>
              </a:defRPr>
            </a:pPr>
            <a:r>
              <a:rPr sz="750" b="0">
                <a:solidFill>
                  <a:srgbClr val="7A746A"/>
                </a:solidFill>
                <a:latin typeface="Aptos"/>
                <a:ea typeface="Aptos"/>
                <a:cs typeface="Aptos"/>
              </a:rPr>
              <a:t>Source: final_report.pdf, Abstract and Conclusion</a:t>
            </a:r>
          </a:p>
        </p:txBody>
      </p:sp>
      <p:sp>
        <p:nvSpPr>
          <p:cNvPr id="25" name="footer-1-page">
            <a:extLst xmlns:a="http://schemas.openxmlformats.org/drawingml/2006/main">
              <a:ext uri="{FF2B5EF4-FFF2-40B4-BE49-F238E27FC236}">
                <a16:creationId xmlns:a16="http://schemas.microsoft.com/office/drawing/2014/main" id="{3B2E831B-C112-4059-8127-44BDB85F9F14}"/>
              </a:ext>
            </a:extLst>
          </p:cNvPr>
          <p:cNvSpPr>
            <a:spLocks xmlns:a="http://schemas.openxmlformats.org/drawingml/2006/main" noGrp="1"/>
          </p:cNvSpPr>
          <p:nvPr/>
        </p:nvSpPr>
        <p:spPr>
          <a:xfrm xmlns:a="http://schemas.openxmlformats.org/drawingml/2006/main">
            <a:off x="9620250" y="6419850"/>
            <a:ext cx="1885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7A746A"/>
                </a:solidFill>
                <a:latin typeface="Aptos"/>
                <a:ea typeface="Aptos"/>
                <a:cs typeface="Aptos"/>
              </a:defRPr>
            </a:pPr>
            <a:r>
              <a:rPr sz="750" b="0">
                <a:solidFill>
                  <a:srgbClr val="7A746A"/>
                </a:solidFill>
                <a:latin typeface="Aptos"/>
                <a:ea typeface="Aptos"/>
                <a:cs typeface="Aptos"/>
              </a:rPr>
              <a:t>1 / 6 - Initial 5-minute report</a:t>
            </a:r>
          </a:p>
        </p:txBody>
      </p:sp>
    </p:spTree>
    <p:extLst>
      <p:ext uri="{BB962C8B-B14F-4D97-AF65-F5344CB8AC3E}">
        <p14:creationId xmlns:p14="http://schemas.microsoft.com/office/powerpoint/2010/main" val="1824236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slide-2-background">
            <a:extLst xmlns:a="http://schemas.openxmlformats.org/drawingml/2006/main">
              <a:ext uri="{FF2B5EF4-FFF2-40B4-BE49-F238E27FC236}">
                <a16:creationId xmlns:a16="http://schemas.microsoft.com/office/drawing/2014/main" id="{237B2DFC-4223-4A83-B08B-DA9ED1D370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D"/>
          </a:solidFill>
          <a:ln xmlns:a="http://schemas.openxmlformats.org/drawingml/2006/main" w="0">
            <a:solidFill>
              <a:srgbClr val="000000">
                <a:alpha val="0"/>
              </a:srgbClr>
            </a:solidFill>
            <a:prstDash val="solid"/>
          </a:ln>
        </p:spPr>
      </p:sp>
      <p:sp>
        <p:nvSpPr>
          <p:cNvPr id="2" name="kicker-2-marker">
            <a:extLst xmlns:a="http://schemas.openxmlformats.org/drawingml/2006/main">
              <a:ext uri="{FF2B5EF4-FFF2-40B4-BE49-F238E27FC236}">
                <a16:creationId xmlns:a16="http://schemas.microsoft.com/office/drawing/2014/main" id="{F854A38C-987A-4A29-80BA-527A9723C99D}"/>
              </a:ext>
            </a:extLst>
          </p:cNvPr>
          <p:cNvSpPr>
            <a:spLocks xmlns:a="http://schemas.openxmlformats.org/drawingml/2006/main" noGrp="1"/>
          </p:cNvSpPr>
          <p:nvPr/>
        </p:nvSpPr>
        <p:spPr>
          <a:xfrm xmlns:a="http://schemas.openxmlformats.org/drawingml/2006/main">
            <a:off x="685800" y="419100"/>
            <a:ext cx="266700" cy="38100"/>
          </a:xfrm>
          <a:prstGeom xmlns:a="http://schemas.openxmlformats.org/drawingml/2006/main" prst="rect">
            <a:avLst/>
          </a:prstGeom>
          <a:solidFill xmlns:a="http://schemas.openxmlformats.org/drawingml/2006/main">
            <a:srgbClr val="167C80"/>
          </a:solidFill>
          <a:ln xmlns:a="http://schemas.openxmlformats.org/drawingml/2006/main" w="0">
            <a:solidFill>
              <a:srgbClr val="000000">
                <a:alpha val="0"/>
              </a:srgbClr>
            </a:solidFill>
            <a:prstDash val="solid"/>
          </a:ln>
        </p:spPr>
      </p:sp>
      <p:sp>
        <p:nvSpPr>
          <p:cNvPr id="3" name="kicker-2-label">
            <a:extLst xmlns:a="http://schemas.openxmlformats.org/drawingml/2006/main">
              <a:ext uri="{FF2B5EF4-FFF2-40B4-BE49-F238E27FC236}">
                <a16:creationId xmlns:a16="http://schemas.microsoft.com/office/drawing/2014/main" id="{285BC322-77C7-446B-8AB4-8199D1E23527}"/>
              </a:ext>
            </a:extLst>
          </p:cNvPr>
          <p:cNvSpPr>
            <a:spLocks xmlns:a="http://schemas.openxmlformats.org/drawingml/2006/main" noGrp="1"/>
          </p:cNvSpPr>
          <p:nvPr/>
        </p:nvSpPr>
        <p:spPr>
          <a:xfrm xmlns:a="http://schemas.openxmlformats.org/drawingml/2006/main">
            <a:off x="1066800" y="323850"/>
            <a:ext cx="495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5E6975"/>
                </a:solidFill>
                <a:latin typeface="Aptos"/>
                <a:ea typeface="Aptos"/>
                <a:cs typeface="Aptos"/>
              </a:defRPr>
            </a:pPr>
            <a:r>
              <a:rPr sz="975" b="1">
                <a:solidFill>
                  <a:srgbClr val="5E6975"/>
                </a:solidFill>
                <a:latin typeface="Aptos"/>
                <a:ea typeface="Aptos"/>
                <a:cs typeface="Aptos"/>
              </a:rPr>
              <a:t>ENGINEERING PIVOT</a:t>
            </a:r>
          </a:p>
        </p:txBody>
      </p:sp>
      <p:sp>
        <p:nvSpPr>
          <p:cNvPr id="4" name="title-2">
            <a:extLst xmlns:a="http://schemas.openxmlformats.org/drawingml/2006/main">
              <a:ext uri="{FF2B5EF4-FFF2-40B4-BE49-F238E27FC236}">
                <a16:creationId xmlns:a16="http://schemas.microsoft.com/office/drawing/2014/main" id="{D29CC521-240A-4A21-99DD-71E3C177D2A7}"/>
              </a:ext>
            </a:extLst>
          </p:cNvPr>
          <p:cNvSpPr>
            <a:spLocks xmlns:a="http://schemas.openxmlformats.org/drawingml/2006/main" noGrp="1"/>
          </p:cNvSpPr>
          <p:nvPr/>
        </p:nvSpPr>
        <p:spPr>
          <a:xfrm xmlns:a="http://schemas.openxmlformats.org/drawingml/2006/main">
            <a:off x="685800" y="723900"/>
            <a:ext cx="89535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1E252B"/>
                </a:solidFill>
                <a:latin typeface="Aptos Display"/>
                <a:ea typeface="Aptos Display"/>
                <a:cs typeface="Aptos Display"/>
              </a:defRPr>
            </a:pPr>
            <a:r>
              <a:rPr sz="3150" b="1">
                <a:solidFill>
                  <a:srgbClr val="1E252B"/>
                </a:solidFill>
                <a:latin typeface="Aptos Display"/>
                <a:ea typeface="Aptos Display"/>
                <a:cs typeface="Aptos Display"/>
              </a:rPr>
              <a:t>The key decision was to avoid invalid supervision.</a:t>
            </a:r>
          </a:p>
        </p:txBody>
      </p:sp>
      <p:sp>
        <p:nvSpPr>
          <p:cNvPr id="5" name="pivot-1-panel">
            <a:extLst xmlns:a="http://schemas.openxmlformats.org/drawingml/2006/main">
              <a:ext uri="{FF2B5EF4-FFF2-40B4-BE49-F238E27FC236}">
                <a16:creationId xmlns:a16="http://schemas.microsoft.com/office/drawing/2014/main" id="{7C9F4FA7-EB67-4C16-809A-DBC03742FB87}"/>
              </a:ext>
            </a:extLst>
          </p:cNvPr>
          <p:cNvSpPr>
            <a:spLocks xmlns:a="http://schemas.openxmlformats.org/drawingml/2006/main" noGrp="1"/>
          </p:cNvSpPr>
          <p:nvPr/>
        </p:nvSpPr>
        <p:spPr>
          <a:xfrm xmlns:a="http://schemas.openxmlformats.org/drawingml/2006/main">
            <a:off x="685800" y="1962150"/>
            <a:ext cx="3162300" cy="3257550"/>
          </a:xfrm>
          <a:prstGeom xmlns:a="http://schemas.openxmlformats.org/drawingml/2006/main" prst="rect">
            <a:avLst/>
          </a:prstGeom>
          <a:solidFill xmlns:a="http://schemas.openxmlformats.org/drawingml/2006/main">
            <a:srgbClr val="DDE8F7"/>
          </a:solidFill>
          <a:ln xmlns:a="http://schemas.openxmlformats.org/drawingml/2006/main" w="9525">
            <a:solidFill>
              <a:srgbClr val="D6CEC0"/>
            </a:solidFill>
            <a:prstDash val="solid"/>
          </a:ln>
        </p:spPr>
      </p:sp>
      <p:sp>
        <p:nvSpPr>
          <p:cNvPr id="6" name="pivot-1-label">
            <a:extLst xmlns:a="http://schemas.openxmlformats.org/drawingml/2006/main">
              <a:ext uri="{FF2B5EF4-FFF2-40B4-BE49-F238E27FC236}">
                <a16:creationId xmlns:a16="http://schemas.microsoft.com/office/drawing/2014/main" id="{4EC1548D-AA23-4D65-831F-70BC91C74D8C}"/>
              </a:ext>
            </a:extLst>
          </p:cNvPr>
          <p:cNvSpPr>
            <a:spLocks xmlns:a="http://schemas.openxmlformats.org/drawingml/2006/main" noGrp="1"/>
          </p:cNvSpPr>
          <p:nvPr/>
        </p:nvSpPr>
        <p:spPr>
          <a:xfrm xmlns:a="http://schemas.openxmlformats.org/drawingml/2006/main">
            <a:off x="914400" y="2190750"/>
            <a:ext cx="2667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F7DE1"/>
                </a:solidFill>
                <a:latin typeface="Aptos"/>
                <a:ea typeface="Aptos"/>
                <a:cs typeface="Aptos"/>
              </a:defRPr>
            </a:pPr>
            <a:r>
              <a:rPr sz="900" b="1">
                <a:solidFill>
                  <a:srgbClr val="2F7DE1"/>
                </a:solidFill>
                <a:latin typeface="Aptos"/>
                <a:ea typeface="Aptos"/>
                <a:cs typeface="Aptos"/>
              </a:rPr>
              <a:t>ORIGINAL PLAN</a:t>
            </a:r>
          </a:p>
        </p:txBody>
      </p:sp>
      <p:sp>
        <p:nvSpPr>
          <p:cNvPr id="7" name="pivot-1-head">
            <a:extLst xmlns:a="http://schemas.openxmlformats.org/drawingml/2006/main">
              <a:ext uri="{FF2B5EF4-FFF2-40B4-BE49-F238E27FC236}">
                <a16:creationId xmlns:a16="http://schemas.microsoft.com/office/drawing/2014/main" id="{54E210B9-B60D-4CF1-8C44-5869BB6F833C}"/>
              </a:ext>
            </a:extLst>
          </p:cNvPr>
          <p:cNvSpPr>
            <a:spLocks xmlns:a="http://schemas.openxmlformats.org/drawingml/2006/main" noGrp="1"/>
          </p:cNvSpPr>
          <p:nvPr/>
        </p:nvSpPr>
        <p:spPr>
          <a:xfrm xmlns:a="http://schemas.openxmlformats.org/drawingml/2006/main">
            <a:off x="914400" y="2514600"/>
            <a:ext cx="26289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E252B"/>
                </a:solidFill>
                <a:latin typeface="Aptos Display"/>
                <a:ea typeface="Aptos Display"/>
                <a:cs typeface="Aptos Display"/>
              </a:defRPr>
            </a:pPr>
            <a:r>
              <a:rPr sz="2025" b="1">
                <a:solidFill>
                  <a:srgbClr val="1E252B"/>
                </a:solidFill>
                <a:latin typeface="Aptos Display"/>
                <a:ea typeface="Aptos Display"/>
                <a:cs typeface="Aptos Display"/>
              </a:rPr>
              <a:t>Fine-tune style control</a:t>
            </a:r>
          </a:p>
        </p:txBody>
      </p:sp>
      <p:sp>
        <p:nvSpPr>
          <p:cNvPr id="8" name="pivot-1-bullets-1-dot">
            <a:extLst xmlns:a="http://schemas.openxmlformats.org/drawingml/2006/main">
              <a:ext uri="{FF2B5EF4-FFF2-40B4-BE49-F238E27FC236}">
                <a16:creationId xmlns:a16="http://schemas.microsoft.com/office/drawing/2014/main" id="{6D3665CD-7971-4DBE-B3F0-E3B1DD4BBEFD}"/>
              </a:ext>
            </a:extLst>
          </p:cNvPr>
          <p:cNvSpPr>
            <a:spLocks xmlns:a="http://schemas.openxmlformats.org/drawingml/2006/main" noGrp="1"/>
          </p:cNvSpPr>
          <p:nvPr/>
        </p:nvSpPr>
        <p:spPr>
          <a:xfrm xmlns:a="http://schemas.openxmlformats.org/drawingml/2006/main">
            <a:off x="914400" y="3438525"/>
            <a:ext cx="85725" cy="85725"/>
          </a:xfrm>
          <a:prstGeom xmlns:a="http://schemas.openxmlformats.org/drawingml/2006/main" prst="rect">
            <a:avLst/>
          </a:prstGeom>
          <a:solidFill xmlns:a="http://schemas.openxmlformats.org/drawingml/2006/main">
            <a:srgbClr val="2F7DE1"/>
          </a:solidFill>
          <a:ln xmlns:a="http://schemas.openxmlformats.org/drawingml/2006/main" w="0">
            <a:solidFill>
              <a:srgbClr val="000000">
                <a:alpha val="0"/>
              </a:srgbClr>
            </a:solidFill>
            <a:prstDash val="solid"/>
          </a:ln>
        </p:spPr>
      </p:sp>
      <p:sp>
        <p:nvSpPr>
          <p:cNvPr id="9" name="pivot-1-bullets-1-text">
            <a:extLst xmlns:a="http://schemas.openxmlformats.org/drawingml/2006/main">
              <a:ext uri="{FF2B5EF4-FFF2-40B4-BE49-F238E27FC236}">
                <a16:creationId xmlns:a16="http://schemas.microsoft.com/office/drawing/2014/main" id="{27F60D76-D61B-4D63-B972-68710A32E4C1}"/>
              </a:ext>
            </a:extLst>
          </p:cNvPr>
          <p:cNvSpPr>
            <a:spLocks xmlns:a="http://schemas.openxmlformats.org/drawingml/2006/main" noGrp="1"/>
          </p:cNvSpPr>
          <p:nvPr/>
        </p:nvSpPr>
        <p:spPr>
          <a:xfrm xmlns:a="http://schemas.openxmlformats.org/drawingml/2006/main">
            <a:off x="1143000" y="3352800"/>
            <a:ext cx="24574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E252B"/>
                </a:solidFill>
                <a:latin typeface="Aptos"/>
                <a:ea typeface="Aptos"/>
                <a:cs typeface="Aptos"/>
              </a:defRPr>
            </a:pPr>
            <a:r>
              <a:rPr sz="1275" b="0">
                <a:solidFill>
                  <a:srgbClr val="1E252B"/>
                </a:solidFill>
                <a:latin typeface="Aptos"/>
                <a:ea typeface="Aptos"/>
                <a:cs typeface="Aptos"/>
              </a:rPr>
              <a:t>Keep MoConVQ representation, decoder, and controller frozen.</a:t>
            </a:r>
          </a:p>
        </p:txBody>
      </p:sp>
      <p:sp>
        <p:nvSpPr>
          <p:cNvPr id="10" name="pivot-1-bullets-2-dot">
            <a:extLst xmlns:a="http://schemas.openxmlformats.org/drawingml/2006/main">
              <a:ext uri="{FF2B5EF4-FFF2-40B4-BE49-F238E27FC236}">
                <a16:creationId xmlns:a16="http://schemas.microsoft.com/office/drawing/2014/main" id="{8C596235-4449-4FDF-85F9-952CC626B60C}"/>
              </a:ext>
            </a:extLst>
          </p:cNvPr>
          <p:cNvSpPr>
            <a:spLocks xmlns:a="http://schemas.openxmlformats.org/drawingml/2006/main" noGrp="1"/>
          </p:cNvSpPr>
          <p:nvPr/>
        </p:nvSpPr>
        <p:spPr>
          <a:xfrm xmlns:a="http://schemas.openxmlformats.org/drawingml/2006/main">
            <a:off x="914400" y="3990975"/>
            <a:ext cx="85725" cy="85725"/>
          </a:xfrm>
          <a:prstGeom xmlns:a="http://schemas.openxmlformats.org/drawingml/2006/main" prst="rect">
            <a:avLst/>
          </a:prstGeom>
          <a:solidFill xmlns:a="http://schemas.openxmlformats.org/drawingml/2006/main">
            <a:srgbClr val="2F7DE1"/>
          </a:solidFill>
          <a:ln xmlns:a="http://schemas.openxmlformats.org/drawingml/2006/main" w="0">
            <a:solidFill>
              <a:srgbClr val="000000">
                <a:alpha val="0"/>
              </a:srgbClr>
            </a:solidFill>
            <a:prstDash val="solid"/>
          </a:ln>
        </p:spPr>
      </p:sp>
      <p:sp>
        <p:nvSpPr>
          <p:cNvPr id="11" name="pivot-1-bullets-2-text">
            <a:extLst xmlns:a="http://schemas.openxmlformats.org/drawingml/2006/main">
              <a:ext uri="{FF2B5EF4-FFF2-40B4-BE49-F238E27FC236}">
                <a16:creationId xmlns:a16="http://schemas.microsoft.com/office/drawing/2014/main" id="{08C17142-6591-4418-9AE4-7115172163E4}"/>
              </a:ext>
            </a:extLst>
          </p:cNvPr>
          <p:cNvSpPr>
            <a:spLocks xmlns:a="http://schemas.openxmlformats.org/drawingml/2006/main" noGrp="1"/>
          </p:cNvSpPr>
          <p:nvPr/>
        </p:nvSpPr>
        <p:spPr>
          <a:xfrm xmlns:a="http://schemas.openxmlformats.org/drawingml/2006/main">
            <a:off x="1143000" y="3905250"/>
            <a:ext cx="24574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E252B"/>
                </a:solidFill>
                <a:latin typeface="Aptos"/>
                <a:ea typeface="Aptos"/>
                <a:cs typeface="Aptos"/>
              </a:defRPr>
            </a:pPr>
            <a:r>
              <a:rPr sz="1275" b="0">
                <a:solidFill>
                  <a:srgbClr val="1E252B"/>
                </a:solidFill>
                <a:latin typeface="Aptos"/>
                <a:ea typeface="Aptos"/>
                <a:cs typeface="Aptos"/>
              </a:rPr>
              <a:t>Adapt the language-conditioned generator for style prompts.</a:t>
            </a:r>
          </a:p>
        </p:txBody>
      </p:sp>
      <p:sp>
        <p:nvSpPr>
          <p:cNvPr id="12" name="pivot-2-panel">
            <a:extLst xmlns:a="http://schemas.openxmlformats.org/drawingml/2006/main">
              <a:ext uri="{FF2B5EF4-FFF2-40B4-BE49-F238E27FC236}">
                <a16:creationId xmlns:a16="http://schemas.microsoft.com/office/drawing/2014/main" id="{44F03D18-2A7D-4259-A9F1-CE24FC3FA9D8}"/>
              </a:ext>
            </a:extLst>
          </p:cNvPr>
          <p:cNvSpPr>
            <a:spLocks xmlns:a="http://schemas.openxmlformats.org/drawingml/2006/main" noGrp="1"/>
          </p:cNvSpPr>
          <p:nvPr/>
        </p:nvSpPr>
        <p:spPr>
          <a:xfrm xmlns:a="http://schemas.openxmlformats.org/drawingml/2006/main">
            <a:off x="4514850" y="1962150"/>
            <a:ext cx="3162300" cy="3257550"/>
          </a:xfrm>
          <a:prstGeom xmlns:a="http://schemas.openxmlformats.org/drawingml/2006/main" prst="rect">
            <a:avLst/>
          </a:prstGeom>
          <a:solidFill xmlns:a="http://schemas.openxmlformats.org/drawingml/2006/main">
            <a:srgbClr val="F3E0D5"/>
          </a:solidFill>
          <a:ln xmlns:a="http://schemas.openxmlformats.org/drawingml/2006/main" w="9525">
            <a:solidFill>
              <a:srgbClr val="D6CEC0"/>
            </a:solidFill>
            <a:prstDash val="solid"/>
          </a:ln>
        </p:spPr>
      </p:sp>
      <p:sp>
        <p:nvSpPr>
          <p:cNvPr id="13" name="pivot-2-label">
            <a:extLst xmlns:a="http://schemas.openxmlformats.org/drawingml/2006/main">
              <a:ext uri="{FF2B5EF4-FFF2-40B4-BE49-F238E27FC236}">
                <a16:creationId xmlns:a16="http://schemas.microsoft.com/office/drawing/2014/main" id="{F968F7FB-3584-4F9C-A871-41F48AED2292}"/>
              </a:ext>
            </a:extLst>
          </p:cNvPr>
          <p:cNvSpPr>
            <a:spLocks xmlns:a="http://schemas.openxmlformats.org/drawingml/2006/main" noGrp="1"/>
          </p:cNvSpPr>
          <p:nvPr/>
        </p:nvSpPr>
        <p:spPr>
          <a:xfrm xmlns:a="http://schemas.openxmlformats.org/drawingml/2006/main">
            <a:off x="4743450" y="2190750"/>
            <a:ext cx="2667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15A35"/>
                </a:solidFill>
                <a:latin typeface="Aptos"/>
                <a:ea typeface="Aptos"/>
                <a:cs typeface="Aptos"/>
              </a:defRPr>
            </a:pPr>
            <a:r>
              <a:rPr sz="900" b="1">
                <a:solidFill>
                  <a:srgbClr val="B15A35"/>
                </a:solidFill>
                <a:latin typeface="Aptos"/>
                <a:ea typeface="Aptos"/>
                <a:cs typeface="Aptos"/>
              </a:rPr>
              <a:t>DISCOVERED CONSTRAINT</a:t>
            </a:r>
          </a:p>
        </p:txBody>
      </p:sp>
      <p:sp>
        <p:nvSpPr>
          <p:cNvPr id="14" name="pivot-2-head">
            <a:extLst xmlns:a="http://schemas.openxmlformats.org/drawingml/2006/main">
              <a:ext uri="{FF2B5EF4-FFF2-40B4-BE49-F238E27FC236}">
                <a16:creationId xmlns:a16="http://schemas.microsoft.com/office/drawing/2014/main" id="{50202D7E-061C-4DA9-9FEA-6A1ADD676167}"/>
              </a:ext>
            </a:extLst>
          </p:cNvPr>
          <p:cNvSpPr>
            <a:spLocks xmlns:a="http://schemas.openxmlformats.org/drawingml/2006/main" noGrp="1"/>
          </p:cNvSpPr>
          <p:nvPr/>
        </p:nvSpPr>
        <p:spPr>
          <a:xfrm xmlns:a="http://schemas.openxmlformats.org/drawingml/2006/main">
            <a:off x="4743450" y="2514600"/>
            <a:ext cx="26289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E252B"/>
                </a:solidFill>
                <a:latin typeface="Aptos Display"/>
                <a:ea typeface="Aptos Display"/>
                <a:cs typeface="Aptos Display"/>
              </a:defRPr>
            </a:pPr>
            <a:r>
              <a:rPr sz="2025" b="1">
                <a:solidFill>
                  <a:srgbClr val="1E252B"/>
                </a:solidFill>
                <a:latin typeface="Aptos Display"/>
                <a:ea typeface="Aptos Display"/>
                <a:cs typeface="Aptos Display"/>
              </a:rPr>
              <a:t>No direct token labels</a:t>
            </a:r>
          </a:p>
        </p:txBody>
      </p:sp>
      <p:sp>
        <p:nvSpPr>
          <p:cNvPr id="15" name="pivot-2-bullets-1-dot">
            <a:extLst xmlns:a="http://schemas.openxmlformats.org/drawingml/2006/main">
              <a:ext uri="{FF2B5EF4-FFF2-40B4-BE49-F238E27FC236}">
                <a16:creationId xmlns:a16="http://schemas.microsoft.com/office/drawing/2014/main" id="{E19961DD-9E12-4EA1-AABA-7F6440F6D4DC}"/>
              </a:ext>
            </a:extLst>
          </p:cNvPr>
          <p:cNvSpPr>
            <a:spLocks xmlns:a="http://schemas.openxmlformats.org/drawingml/2006/main" noGrp="1"/>
          </p:cNvSpPr>
          <p:nvPr/>
        </p:nvSpPr>
        <p:spPr>
          <a:xfrm xmlns:a="http://schemas.openxmlformats.org/drawingml/2006/main">
            <a:off x="4743450" y="3438525"/>
            <a:ext cx="85725" cy="85725"/>
          </a:xfrm>
          <a:prstGeom xmlns:a="http://schemas.openxmlformats.org/drawingml/2006/main" prst="rect">
            <a:avLst/>
          </a:prstGeom>
          <a:solidFill xmlns:a="http://schemas.openxmlformats.org/drawingml/2006/main">
            <a:srgbClr val="B15A35"/>
          </a:solidFill>
          <a:ln xmlns:a="http://schemas.openxmlformats.org/drawingml/2006/main" w="0">
            <a:solidFill>
              <a:srgbClr val="000000">
                <a:alpha val="0"/>
              </a:srgbClr>
            </a:solidFill>
            <a:prstDash val="solid"/>
          </a:ln>
        </p:spPr>
      </p:sp>
      <p:sp>
        <p:nvSpPr>
          <p:cNvPr id="16" name="pivot-2-bullets-1-text">
            <a:extLst xmlns:a="http://schemas.openxmlformats.org/drawingml/2006/main">
              <a:ext uri="{FF2B5EF4-FFF2-40B4-BE49-F238E27FC236}">
                <a16:creationId xmlns:a16="http://schemas.microsoft.com/office/drawing/2014/main" id="{55DBC340-2C57-46B2-AEA3-CCE100B28667}"/>
              </a:ext>
            </a:extLst>
          </p:cNvPr>
          <p:cNvSpPr>
            <a:spLocks xmlns:a="http://schemas.openxmlformats.org/drawingml/2006/main" noGrp="1"/>
          </p:cNvSpPr>
          <p:nvPr/>
        </p:nvSpPr>
        <p:spPr>
          <a:xfrm xmlns:a="http://schemas.openxmlformats.org/drawingml/2006/main">
            <a:off x="4972050" y="3352800"/>
            <a:ext cx="24574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E252B"/>
                </a:solidFill>
                <a:latin typeface="Aptos"/>
                <a:ea typeface="Aptos"/>
                <a:cs typeface="Aptos"/>
              </a:defRPr>
            </a:pPr>
            <a:r>
              <a:rPr sz="1275" b="0">
                <a:solidFill>
                  <a:srgbClr val="1E252B"/>
                </a:solidFill>
                <a:latin typeface="Aptos"/>
                <a:ea typeface="Aptos"/>
                <a:cs typeface="Aptos"/>
              </a:rPr>
              <a:t>Local HumanML3D export provides processed 263-D motion features.</a:t>
            </a:r>
          </a:p>
        </p:txBody>
      </p:sp>
      <p:sp>
        <p:nvSpPr>
          <p:cNvPr id="17" name="pivot-2-bullets-2-dot">
            <a:extLst xmlns:a="http://schemas.openxmlformats.org/drawingml/2006/main">
              <a:ext uri="{FF2B5EF4-FFF2-40B4-BE49-F238E27FC236}">
                <a16:creationId xmlns:a16="http://schemas.microsoft.com/office/drawing/2014/main" id="{8E2F7291-C1AB-41C8-A04C-D152DA5E17AF}"/>
              </a:ext>
            </a:extLst>
          </p:cNvPr>
          <p:cNvSpPr>
            <a:spLocks xmlns:a="http://schemas.openxmlformats.org/drawingml/2006/main" noGrp="1"/>
          </p:cNvSpPr>
          <p:nvPr/>
        </p:nvSpPr>
        <p:spPr>
          <a:xfrm xmlns:a="http://schemas.openxmlformats.org/drawingml/2006/main">
            <a:off x="4743450" y="3990975"/>
            <a:ext cx="85725" cy="85725"/>
          </a:xfrm>
          <a:prstGeom xmlns:a="http://schemas.openxmlformats.org/drawingml/2006/main" prst="rect">
            <a:avLst/>
          </a:prstGeom>
          <a:solidFill xmlns:a="http://schemas.openxmlformats.org/drawingml/2006/main">
            <a:srgbClr val="B15A35"/>
          </a:solidFill>
          <a:ln xmlns:a="http://schemas.openxmlformats.org/drawingml/2006/main" w="0">
            <a:solidFill>
              <a:srgbClr val="000000">
                <a:alpha val="0"/>
              </a:srgbClr>
            </a:solidFill>
            <a:prstDash val="solid"/>
          </a:ln>
        </p:spPr>
      </p:sp>
      <p:sp>
        <p:nvSpPr>
          <p:cNvPr id="18" name="pivot-2-bullets-2-text">
            <a:extLst xmlns:a="http://schemas.openxmlformats.org/drawingml/2006/main">
              <a:ext uri="{FF2B5EF4-FFF2-40B4-BE49-F238E27FC236}">
                <a16:creationId xmlns:a16="http://schemas.microsoft.com/office/drawing/2014/main" id="{ECEF64EB-AEF1-45C4-8AB6-61A40843A979}"/>
              </a:ext>
            </a:extLst>
          </p:cNvPr>
          <p:cNvSpPr>
            <a:spLocks xmlns:a="http://schemas.openxmlformats.org/drawingml/2006/main" noGrp="1"/>
          </p:cNvSpPr>
          <p:nvPr/>
        </p:nvSpPr>
        <p:spPr>
          <a:xfrm xmlns:a="http://schemas.openxmlformats.org/drawingml/2006/main">
            <a:off x="4972050" y="3905250"/>
            <a:ext cx="24574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E252B"/>
                </a:solidFill>
                <a:latin typeface="Aptos"/>
                <a:ea typeface="Aptos"/>
                <a:cs typeface="Aptos"/>
              </a:defRPr>
            </a:pPr>
            <a:r>
              <a:rPr sz="1275" b="0">
                <a:solidFill>
                  <a:srgbClr val="1E252B"/>
                </a:solidFill>
                <a:latin typeface="Aptos"/>
                <a:ea typeface="Aptos"/>
                <a:cs typeface="Aptos"/>
              </a:rPr>
              <a:t>A reliable bridge to MoConVQ BVH/token labels is not available.</a:t>
            </a:r>
          </a:p>
        </p:txBody>
      </p:sp>
      <p:sp>
        <p:nvSpPr>
          <p:cNvPr id="19" name="pivot-3-panel">
            <a:extLst xmlns:a="http://schemas.openxmlformats.org/drawingml/2006/main">
              <a:ext uri="{FF2B5EF4-FFF2-40B4-BE49-F238E27FC236}">
                <a16:creationId xmlns:a16="http://schemas.microsoft.com/office/drawing/2014/main" id="{A7C4C3CC-EA26-4727-9C40-CA5B94AC23E4}"/>
              </a:ext>
            </a:extLst>
          </p:cNvPr>
          <p:cNvSpPr>
            <a:spLocks xmlns:a="http://schemas.openxmlformats.org/drawingml/2006/main" noGrp="1"/>
          </p:cNvSpPr>
          <p:nvPr/>
        </p:nvSpPr>
        <p:spPr>
          <a:xfrm xmlns:a="http://schemas.openxmlformats.org/drawingml/2006/main">
            <a:off x="8343900" y="1962150"/>
            <a:ext cx="3162300" cy="3257550"/>
          </a:xfrm>
          <a:prstGeom xmlns:a="http://schemas.openxmlformats.org/drawingml/2006/main" prst="rect">
            <a:avLst/>
          </a:prstGeom>
          <a:solidFill xmlns:a="http://schemas.openxmlformats.org/drawingml/2006/main">
            <a:srgbClr val="DDEBDD"/>
          </a:solidFill>
          <a:ln xmlns:a="http://schemas.openxmlformats.org/drawingml/2006/main" w="9525">
            <a:solidFill>
              <a:srgbClr val="D6CEC0"/>
            </a:solidFill>
            <a:prstDash val="solid"/>
          </a:ln>
        </p:spPr>
      </p:sp>
      <p:sp>
        <p:nvSpPr>
          <p:cNvPr id="20" name="pivot-3-label">
            <a:extLst xmlns:a="http://schemas.openxmlformats.org/drawingml/2006/main">
              <a:ext uri="{FF2B5EF4-FFF2-40B4-BE49-F238E27FC236}">
                <a16:creationId xmlns:a16="http://schemas.microsoft.com/office/drawing/2014/main" id="{1ABB67C0-4FBA-4048-B852-7C8674CF6B8E}"/>
              </a:ext>
            </a:extLst>
          </p:cNvPr>
          <p:cNvSpPr>
            <a:spLocks xmlns:a="http://schemas.openxmlformats.org/drawingml/2006/main" noGrp="1"/>
          </p:cNvSpPr>
          <p:nvPr/>
        </p:nvSpPr>
        <p:spPr>
          <a:xfrm xmlns:a="http://schemas.openxmlformats.org/drawingml/2006/main">
            <a:off x="8572500" y="2190750"/>
            <a:ext cx="2667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67C80"/>
                </a:solidFill>
                <a:latin typeface="Aptos"/>
                <a:ea typeface="Aptos"/>
                <a:cs typeface="Aptos"/>
              </a:defRPr>
            </a:pPr>
            <a:r>
              <a:rPr sz="900" b="1">
                <a:solidFill>
                  <a:srgbClr val="167C80"/>
                </a:solidFill>
                <a:latin typeface="Aptos"/>
                <a:ea typeface="Aptos"/>
                <a:cs typeface="Aptos"/>
              </a:rPr>
              <a:t>FINAL ROUTE</a:t>
            </a:r>
          </a:p>
        </p:txBody>
      </p:sp>
      <p:sp>
        <p:nvSpPr>
          <p:cNvPr id="21" name="pivot-3-head">
            <a:extLst xmlns:a="http://schemas.openxmlformats.org/drawingml/2006/main">
              <a:ext uri="{FF2B5EF4-FFF2-40B4-BE49-F238E27FC236}">
                <a16:creationId xmlns:a16="http://schemas.microsoft.com/office/drawing/2014/main" id="{D5500BDD-170F-4229-B0B0-DE40EEB9E504}"/>
              </a:ext>
            </a:extLst>
          </p:cNvPr>
          <p:cNvSpPr>
            <a:spLocks xmlns:a="http://schemas.openxmlformats.org/drawingml/2006/main" noGrp="1"/>
          </p:cNvSpPr>
          <p:nvPr/>
        </p:nvSpPr>
        <p:spPr>
          <a:xfrm xmlns:a="http://schemas.openxmlformats.org/drawingml/2006/main">
            <a:off x="8572500" y="2514600"/>
            <a:ext cx="26289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E252B"/>
                </a:solidFill>
                <a:latin typeface="Aptos Display"/>
                <a:ea typeface="Aptos Display"/>
                <a:cs typeface="Aptos Display"/>
              </a:defRPr>
            </a:pPr>
            <a:r>
              <a:rPr sz="2025" b="1">
                <a:solidFill>
                  <a:srgbClr val="1E252B"/>
                </a:solidFill>
                <a:latin typeface="Aptos Display"/>
                <a:ea typeface="Aptos Display"/>
                <a:cs typeface="Aptos Display"/>
              </a:rPr>
              <a:t>LoRA distillation</a:t>
            </a:r>
          </a:p>
        </p:txBody>
      </p:sp>
      <p:sp>
        <p:nvSpPr>
          <p:cNvPr id="22" name="pivot-3-bullets-1-dot">
            <a:extLst xmlns:a="http://schemas.openxmlformats.org/drawingml/2006/main">
              <a:ext uri="{FF2B5EF4-FFF2-40B4-BE49-F238E27FC236}">
                <a16:creationId xmlns:a16="http://schemas.microsoft.com/office/drawing/2014/main" id="{C4158848-79E8-4DF3-AF01-8D138953599E}"/>
              </a:ext>
            </a:extLst>
          </p:cNvPr>
          <p:cNvSpPr>
            <a:spLocks xmlns:a="http://schemas.openxmlformats.org/drawingml/2006/main" noGrp="1"/>
          </p:cNvSpPr>
          <p:nvPr/>
        </p:nvSpPr>
        <p:spPr>
          <a:xfrm xmlns:a="http://schemas.openxmlformats.org/drawingml/2006/main">
            <a:off x="8572500" y="3438525"/>
            <a:ext cx="85725" cy="85725"/>
          </a:xfrm>
          <a:prstGeom xmlns:a="http://schemas.openxmlformats.org/drawingml/2006/main" prst="rect">
            <a:avLst/>
          </a:prstGeom>
          <a:solidFill xmlns:a="http://schemas.openxmlformats.org/drawingml/2006/main">
            <a:srgbClr val="167C80"/>
          </a:solidFill>
          <a:ln xmlns:a="http://schemas.openxmlformats.org/drawingml/2006/main" w="0">
            <a:solidFill>
              <a:srgbClr val="000000">
                <a:alpha val="0"/>
              </a:srgbClr>
            </a:solidFill>
            <a:prstDash val="solid"/>
          </a:ln>
        </p:spPr>
      </p:sp>
      <p:sp>
        <p:nvSpPr>
          <p:cNvPr id="23" name="pivot-3-bullets-1-text">
            <a:extLst xmlns:a="http://schemas.openxmlformats.org/drawingml/2006/main">
              <a:ext uri="{FF2B5EF4-FFF2-40B4-BE49-F238E27FC236}">
                <a16:creationId xmlns:a16="http://schemas.microsoft.com/office/drawing/2014/main" id="{4F7C0549-7DC5-4DA2-B4E6-4D7452CF4D1F}"/>
              </a:ext>
            </a:extLst>
          </p:cNvPr>
          <p:cNvSpPr>
            <a:spLocks xmlns:a="http://schemas.openxmlformats.org/drawingml/2006/main" noGrp="1"/>
          </p:cNvSpPr>
          <p:nvPr/>
        </p:nvSpPr>
        <p:spPr>
          <a:xfrm xmlns:a="http://schemas.openxmlformats.org/drawingml/2006/main">
            <a:off x="8801100" y="3352800"/>
            <a:ext cx="24574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E252B"/>
                </a:solidFill>
                <a:latin typeface="Aptos"/>
                <a:ea typeface="Aptos"/>
                <a:cs typeface="Aptos"/>
              </a:defRPr>
            </a:pPr>
            <a:r>
              <a:rPr sz="1275" b="0">
                <a:solidFill>
                  <a:srgbClr val="1E252B"/>
                </a:solidFill>
                <a:latin typeface="Aptos"/>
                <a:ea typeface="Aptos"/>
                <a:cs typeface="Aptos"/>
              </a:rPr>
              <a:t>Filter style captions from HumanML3D.</a:t>
            </a:r>
          </a:p>
        </p:txBody>
      </p:sp>
      <p:sp>
        <p:nvSpPr>
          <p:cNvPr id="24" name="pivot-3-bullets-2-dot">
            <a:extLst xmlns:a="http://schemas.openxmlformats.org/drawingml/2006/main">
              <a:ext uri="{FF2B5EF4-FFF2-40B4-BE49-F238E27FC236}">
                <a16:creationId xmlns:a16="http://schemas.microsoft.com/office/drawing/2014/main" id="{4029BA96-0D4A-463D-BA42-6CA321E96CC1}"/>
              </a:ext>
            </a:extLst>
          </p:cNvPr>
          <p:cNvSpPr>
            <a:spLocks xmlns:a="http://schemas.openxmlformats.org/drawingml/2006/main" noGrp="1"/>
          </p:cNvSpPr>
          <p:nvPr/>
        </p:nvSpPr>
        <p:spPr>
          <a:xfrm xmlns:a="http://schemas.openxmlformats.org/drawingml/2006/main">
            <a:off x="8572500" y="3990975"/>
            <a:ext cx="85725" cy="85725"/>
          </a:xfrm>
          <a:prstGeom xmlns:a="http://schemas.openxmlformats.org/drawingml/2006/main" prst="rect">
            <a:avLst/>
          </a:prstGeom>
          <a:solidFill xmlns:a="http://schemas.openxmlformats.org/drawingml/2006/main">
            <a:srgbClr val="167C80"/>
          </a:solidFill>
          <a:ln xmlns:a="http://schemas.openxmlformats.org/drawingml/2006/main" w="0">
            <a:solidFill>
              <a:srgbClr val="000000">
                <a:alpha val="0"/>
              </a:srgbClr>
            </a:solidFill>
            <a:prstDash val="solid"/>
          </a:ln>
        </p:spPr>
      </p:sp>
      <p:sp>
        <p:nvSpPr>
          <p:cNvPr id="25" name="pivot-3-bullets-2-text">
            <a:extLst xmlns:a="http://schemas.openxmlformats.org/drawingml/2006/main">
              <a:ext uri="{FF2B5EF4-FFF2-40B4-BE49-F238E27FC236}">
                <a16:creationId xmlns:a16="http://schemas.microsoft.com/office/drawing/2014/main" id="{2D2EA169-A83C-4AF2-989C-5A87B6ADB093}"/>
              </a:ext>
            </a:extLst>
          </p:cNvPr>
          <p:cNvSpPr>
            <a:spLocks xmlns:a="http://schemas.openxmlformats.org/drawingml/2006/main" noGrp="1"/>
          </p:cNvSpPr>
          <p:nvPr/>
        </p:nvSpPr>
        <p:spPr>
          <a:xfrm xmlns:a="http://schemas.openxmlformats.org/drawingml/2006/main">
            <a:off x="8801100" y="3905250"/>
            <a:ext cx="24574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E252B"/>
                </a:solidFill>
                <a:latin typeface="Aptos"/>
                <a:ea typeface="Aptos"/>
                <a:cs typeface="Aptos"/>
              </a:defRPr>
            </a:pPr>
            <a:r>
              <a:rPr sz="1275" b="0">
                <a:solidFill>
                  <a:srgbClr val="1E252B"/>
                </a:solidFill>
                <a:latin typeface="Aptos"/>
                <a:ea typeface="Aptos"/>
                <a:cs typeface="Aptos"/>
              </a:rPr>
              <a:t>Use pretrained MoConVQ teacher outputs as pseudo-token targets.</a:t>
            </a:r>
          </a:p>
        </p:txBody>
      </p:sp>
      <p:sp>
        <p:nvSpPr>
          <p:cNvPr id="26" name="pivot-3-bullets-3-dot">
            <a:extLst xmlns:a="http://schemas.openxmlformats.org/drawingml/2006/main">
              <a:ext uri="{FF2B5EF4-FFF2-40B4-BE49-F238E27FC236}">
                <a16:creationId xmlns:a16="http://schemas.microsoft.com/office/drawing/2014/main" id="{8E4871EA-1EAE-4BEF-8BBB-C9131F2EC0B7}"/>
              </a:ext>
            </a:extLst>
          </p:cNvPr>
          <p:cNvSpPr>
            <a:spLocks xmlns:a="http://schemas.openxmlformats.org/drawingml/2006/main" noGrp="1"/>
          </p:cNvSpPr>
          <p:nvPr/>
        </p:nvSpPr>
        <p:spPr>
          <a:xfrm xmlns:a="http://schemas.openxmlformats.org/drawingml/2006/main">
            <a:off x="8572500" y="4543425"/>
            <a:ext cx="85725" cy="85725"/>
          </a:xfrm>
          <a:prstGeom xmlns:a="http://schemas.openxmlformats.org/drawingml/2006/main" prst="rect">
            <a:avLst/>
          </a:prstGeom>
          <a:solidFill xmlns:a="http://schemas.openxmlformats.org/drawingml/2006/main">
            <a:srgbClr val="167C80"/>
          </a:solidFill>
          <a:ln xmlns:a="http://schemas.openxmlformats.org/drawingml/2006/main" w="0">
            <a:solidFill>
              <a:srgbClr val="000000">
                <a:alpha val="0"/>
              </a:srgbClr>
            </a:solidFill>
            <a:prstDash val="solid"/>
          </a:ln>
        </p:spPr>
      </p:sp>
      <p:sp>
        <p:nvSpPr>
          <p:cNvPr id="27" name="pivot-3-bullets-3-text">
            <a:extLst xmlns:a="http://schemas.openxmlformats.org/drawingml/2006/main">
              <a:ext uri="{FF2B5EF4-FFF2-40B4-BE49-F238E27FC236}">
                <a16:creationId xmlns:a16="http://schemas.microsoft.com/office/drawing/2014/main" id="{3DDC21FC-0234-40F9-B290-B0E7E109D42F}"/>
              </a:ext>
            </a:extLst>
          </p:cNvPr>
          <p:cNvSpPr>
            <a:spLocks xmlns:a="http://schemas.openxmlformats.org/drawingml/2006/main" noGrp="1"/>
          </p:cNvSpPr>
          <p:nvPr/>
        </p:nvSpPr>
        <p:spPr>
          <a:xfrm xmlns:a="http://schemas.openxmlformats.org/drawingml/2006/main">
            <a:off x="8801100" y="4457700"/>
            <a:ext cx="24574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E252B"/>
                </a:solidFill>
                <a:latin typeface="Aptos"/>
                <a:ea typeface="Aptos"/>
                <a:cs typeface="Aptos"/>
              </a:defRPr>
            </a:pPr>
            <a:r>
              <a:rPr sz="1275" b="0">
                <a:solidFill>
                  <a:srgbClr val="1E252B"/>
                </a:solidFill>
                <a:latin typeface="Aptos"/>
                <a:ea typeface="Aptos"/>
                <a:cs typeface="Aptos"/>
              </a:rPr>
              <a:t>Train only low-rank LoRA updates.</a:t>
            </a:r>
          </a:p>
        </p:txBody>
      </p:sp>
      <p:sp>
        <p:nvSpPr>
          <p:cNvPr id="28" name="decision-strip">
            <a:extLst xmlns:a="http://schemas.openxmlformats.org/drawingml/2006/main">
              <a:ext uri="{FF2B5EF4-FFF2-40B4-BE49-F238E27FC236}">
                <a16:creationId xmlns:a16="http://schemas.microsoft.com/office/drawing/2014/main" id="{9F4FDE5B-68EC-4156-9107-3EF1B251BF78}"/>
              </a:ext>
            </a:extLst>
          </p:cNvPr>
          <p:cNvSpPr>
            <a:spLocks xmlns:a="http://schemas.openxmlformats.org/drawingml/2006/main" noGrp="1"/>
          </p:cNvSpPr>
          <p:nvPr/>
        </p:nvSpPr>
        <p:spPr>
          <a:xfrm xmlns:a="http://schemas.openxmlformats.org/drawingml/2006/main">
            <a:off x="685800" y="5619750"/>
            <a:ext cx="10820400" cy="400050"/>
          </a:xfrm>
          <a:prstGeom xmlns:a="http://schemas.openxmlformats.org/drawingml/2006/main" prst="rect">
            <a:avLst/>
          </a:prstGeom>
          <a:solidFill xmlns:a="http://schemas.openxmlformats.org/drawingml/2006/main">
            <a:srgbClr val="2D3440"/>
          </a:solidFill>
          <a:ln xmlns:a="http://schemas.openxmlformats.org/drawingml/2006/main" w="0">
            <a:solidFill>
              <a:srgbClr val="000000">
                <a:alpha val="0"/>
              </a:srgbClr>
            </a:solidFill>
            <a:prstDash val="solid"/>
          </a:ln>
        </p:spPr>
      </p:sp>
      <p:sp>
        <p:nvSpPr>
          <p:cNvPr id="29" name="decision-strip-text">
            <a:extLst xmlns:a="http://schemas.openxmlformats.org/drawingml/2006/main">
              <a:ext uri="{FF2B5EF4-FFF2-40B4-BE49-F238E27FC236}">
                <a16:creationId xmlns:a16="http://schemas.microsoft.com/office/drawing/2014/main" id="{3E164ACD-6B41-476A-BC1F-56B2EEB3BE83}"/>
              </a:ext>
            </a:extLst>
          </p:cNvPr>
          <p:cNvSpPr>
            <a:spLocks xmlns:a="http://schemas.openxmlformats.org/drawingml/2006/main" noGrp="1"/>
          </p:cNvSpPr>
          <p:nvPr/>
        </p:nvSpPr>
        <p:spPr>
          <a:xfrm xmlns:a="http://schemas.openxmlformats.org/drawingml/2006/main">
            <a:off x="971550" y="5715000"/>
            <a:ext cx="10172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ptos"/>
                <a:ea typeface="Aptos"/>
                <a:cs typeface="Aptos"/>
              </a:defRPr>
            </a:pPr>
            <a:r>
              <a:rPr sz="1425" b="1">
                <a:solidFill>
                  <a:srgbClr val="FFFFFF"/>
                </a:solidFill>
                <a:latin typeface="Aptos"/>
                <a:ea typeface="Aptos"/>
                <a:cs typeface="Aptos"/>
              </a:rPr>
              <a:t>Decision rule: report only claims supported by available representations and measured artifacts.</a:t>
            </a:r>
          </a:p>
        </p:txBody>
      </p:sp>
      <p:sp>
        <p:nvSpPr>
          <p:cNvPr id="30" name="footer-2-rule">
            <a:extLst xmlns:a="http://schemas.openxmlformats.org/drawingml/2006/main">
              <a:ext uri="{FF2B5EF4-FFF2-40B4-BE49-F238E27FC236}">
                <a16:creationId xmlns:a16="http://schemas.microsoft.com/office/drawing/2014/main" id="{1FB990E9-5282-4925-A0F0-C95D20F29EE6}"/>
              </a:ext>
            </a:extLst>
          </p:cNvPr>
          <p:cNvSpPr>
            <a:spLocks xmlns:a="http://schemas.openxmlformats.org/drawingml/2006/main" noGrp="1"/>
          </p:cNvSpPr>
          <p:nvPr/>
        </p:nvSpPr>
        <p:spPr>
          <a:xfrm xmlns:a="http://schemas.openxmlformats.org/drawingml/2006/main">
            <a:off x="685800" y="6343650"/>
            <a:ext cx="108204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31" name="footer-2-source">
            <a:extLst xmlns:a="http://schemas.openxmlformats.org/drawingml/2006/main">
              <a:ext uri="{FF2B5EF4-FFF2-40B4-BE49-F238E27FC236}">
                <a16:creationId xmlns:a16="http://schemas.microsoft.com/office/drawing/2014/main" id="{E38C3665-56B9-445D-AE36-43FEF47BBF8B}"/>
              </a:ext>
            </a:extLst>
          </p:cNvPr>
          <p:cNvSpPr>
            <a:spLocks xmlns:a="http://schemas.openxmlformats.org/drawingml/2006/main" noGrp="1"/>
          </p:cNvSpPr>
          <p:nvPr/>
        </p:nvSpPr>
        <p:spPr>
          <a:xfrm xmlns:a="http://schemas.openxmlformats.org/drawingml/2006/main">
            <a:off x="685800" y="6419850"/>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7A746A"/>
                </a:solidFill>
                <a:latin typeface="Aptos"/>
                <a:ea typeface="Aptos"/>
                <a:cs typeface="Aptos"/>
              </a:defRPr>
            </a:pPr>
            <a:r>
              <a:rPr sz="750" b="0">
                <a:solidFill>
                  <a:srgbClr val="7A746A"/>
                </a:solidFill>
                <a:latin typeface="Aptos"/>
                <a:ea typeface="Aptos"/>
                <a:cs typeface="Aptos"/>
              </a:rPr>
              <a:t>Source: Data and Format Constraint; Method</a:t>
            </a:r>
          </a:p>
        </p:txBody>
      </p:sp>
      <p:sp>
        <p:nvSpPr>
          <p:cNvPr id="32" name="footer-2-page">
            <a:extLst xmlns:a="http://schemas.openxmlformats.org/drawingml/2006/main">
              <a:ext uri="{FF2B5EF4-FFF2-40B4-BE49-F238E27FC236}">
                <a16:creationId xmlns:a16="http://schemas.microsoft.com/office/drawing/2014/main" id="{9BC84224-F234-4417-9E98-EAD7536B5EB1}"/>
              </a:ext>
            </a:extLst>
          </p:cNvPr>
          <p:cNvSpPr>
            <a:spLocks xmlns:a="http://schemas.openxmlformats.org/drawingml/2006/main" noGrp="1"/>
          </p:cNvSpPr>
          <p:nvPr/>
        </p:nvSpPr>
        <p:spPr>
          <a:xfrm xmlns:a="http://schemas.openxmlformats.org/drawingml/2006/main">
            <a:off x="9620250" y="6419850"/>
            <a:ext cx="1885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7A746A"/>
                </a:solidFill>
                <a:latin typeface="Aptos"/>
                <a:ea typeface="Aptos"/>
                <a:cs typeface="Aptos"/>
              </a:defRPr>
            </a:pPr>
            <a:r>
              <a:rPr sz="750" b="0">
                <a:solidFill>
                  <a:srgbClr val="7A746A"/>
                </a:solidFill>
                <a:latin typeface="Aptos"/>
                <a:ea typeface="Aptos"/>
                <a:cs typeface="Aptos"/>
              </a:rPr>
              <a:t>2 / 6 - Initial 5-minute report</a:t>
            </a:r>
          </a:p>
        </p:txBody>
      </p:sp>
    </p:spTree>
    <p:extLst>
      <p:ext uri="{BB962C8B-B14F-4D97-AF65-F5344CB8AC3E}">
        <p14:creationId xmlns:p14="http://schemas.microsoft.com/office/powerpoint/2010/main" val="103599710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slide-3-background">
            <a:extLst xmlns:a="http://schemas.openxmlformats.org/drawingml/2006/main">
              <a:ext uri="{FF2B5EF4-FFF2-40B4-BE49-F238E27FC236}">
                <a16:creationId xmlns:a16="http://schemas.microsoft.com/office/drawing/2014/main" id="{CD0DD405-E66C-4553-8A02-17500C9E41E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D"/>
          </a:solidFill>
          <a:ln xmlns:a="http://schemas.openxmlformats.org/drawingml/2006/main" w="0">
            <a:solidFill>
              <a:srgbClr val="000000">
                <a:alpha val="0"/>
              </a:srgbClr>
            </a:solidFill>
            <a:prstDash val="solid"/>
          </a:ln>
        </p:spPr>
      </p:sp>
      <p:sp>
        <p:nvSpPr>
          <p:cNvPr id="2" name="kicker-3-marker">
            <a:extLst xmlns:a="http://schemas.openxmlformats.org/drawingml/2006/main">
              <a:ext uri="{FF2B5EF4-FFF2-40B4-BE49-F238E27FC236}">
                <a16:creationId xmlns:a16="http://schemas.microsoft.com/office/drawing/2014/main" id="{B990D30B-180B-4E8E-8F4C-296EA87CC7DC}"/>
              </a:ext>
            </a:extLst>
          </p:cNvPr>
          <p:cNvSpPr>
            <a:spLocks xmlns:a="http://schemas.openxmlformats.org/drawingml/2006/main" noGrp="1"/>
          </p:cNvSpPr>
          <p:nvPr/>
        </p:nvSpPr>
        <p:spPr>
          <a:xfrm xmlns:a="http://schemas.openxmlformats.org/drawingml/2006/main">
            <a:off x="685800" y="419100"/>
            <a:ext cx="266700" cy="38100"/>
          </a:xfrm>
          <a:prstGeom xmlns:a="http://schemas.openxmlformats.org/drawingml/2006/main" prst="rect">
            <a:avLst/>
          </a:prstGeom>
          <a:solidFill xmlns:a="http://schemas.openxmlformats.org/drawingml/2006/main">
            <a:srgbClr val="167C80"/>
          </a:solidFill>
          <a:ln xmlns:a="http://schemas.openxmlformats.org/drawingml/2006/main" w="0">
            <a:solidFill>
              <a:srgbClr val="000000">
                <a:alpha val="0"/>
              </a:srgbClr>
            </a:solidFill>
            <a:prstDash val="solid"/>
          </a:ln>
        </p:spPr>
      </p:sp>
      <p:sp>
        <p:nvSpPr>
          <p:cNvPr id="3" name="kicker-3-label">
            <a:extLst xmlns:a="http://schemas.openxmlformats.org/drawingml/2006/main">
              <a:ext uri="{FF2B5EF4-FFF2-40B4-BE49-F238E27FC236}">
                <a16:creationId xmlns:a16="http://schemas.microsoft.com/office/drawing/2014/main" id="{78C1F10D-2C51-42A5-A966-C1EEEFA880E1}"/>
              </a:ext>
            </a:extLst>
          </p:cNvPr>
          <p:cNvSpPr>
            <a:spLocks xmlns:a="http://schemas.openxmlformats.org/drawingml/2006/main" noGrp="1"/>
          </p:cNvSpPr>
          <p:nvPr/>
        </p:nvSpPr>
        <p:spPr>
          <a:xfrm xmlns:a="http://schemas.openxmlformats.org/drawingml/2006/main">
            <a:off x="1066800" y="323850"/>
            <a:ext cx="495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5E6975"/>
                </a:solidFill>
                <a:latin typeface="Aptos"/>
                <a:ea typeface="Aptos"/>
                <a:cs typeface="Aptos"/>
              </a:defRPr>
            </a:pPr>
            <a:r>
              <a:rPr sz="975" b="1">
                <a:solidFill>
                  <a:srgbClr val="5E6975"/>
                </a:solidFill>
                <a:latin typeface="Aptos"/>
                <a:ea typeface="Aptos"/>
                <a:cs typeface="Aptos"/>
              </a:rPr>
              <a:t>FINAL METHOD</a:t>
            </a:r>
          </a:p>
        </p:txBody>
      </p:sp>
      <p:sp>
        <p:nvSpPr>
          <p:cNvPr id="4" name="title-3">
            <a:extLst xmlns:a="http://schemas.openxmlformats.org/drawingml/2006/main">
              <a:ext uri="{FF2B5EF4-FFF2-40B4-BE49-F238E27FC236}">
                <a16:creationId xmlns:a16="http://schemas.microsoft.com/office/drawing/2014/main" id="{16785765-27E1-4485-A839-74A4F58093B8}"/>
              </a:ext>
            </a:extLst>
          </p:cNvPr>
          <p:cNvSpPr>
            <a:spLocks xmlns:a="http://schemas.openxmlformats.org/drawingml/2006/main" noGrp="1"/>
          </p:cNvSpPr>
          <p:nvPr/>
        </p:nvSpPr>
        <p:spPr>
          <a:xfrm xmlns:a="http://schemas.openxmlformats.org/drawingml/2006/main">
            <a:off x="685800" y="723900"/>
            <a:ext cx="89535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625" b="1">
                <a:solidFill>
                  <a:srgbClr val="1E252B"/>
                </a:solidFill>
                <a:latin typeface="Aptos Display"/>
                <a:ea typeface="Aptos Display"/>
                <a:cs typeface="Aptos Display"/>
              </a:defRPr>
            </a:pPr>
            <a:r>
              <a:rPr sz="2625" b="1">
                <a:solidFill>
                  <a:srgbClr val="1E252B"/>
                </a:solidFill>
                <a:latin typeface="Aptos Display"/>
                <a:ea typeface="Aptos Display"/>
                <a:cs typeface="Aptos Display"/>
              </a:rPr>
              <a:t>LoRA distillation adapts the language-to-token interface while motion execution stays frozen.</a:t>
            </a:r>
          </a:p>
        </p:txBody>
      </p:sp>
      <p:sp>
        <p:nvSpPr>
          <p:cNvPr id="5" name="pipeline-stage-1-box">
            <a:extLst xmlns:a="http://schemas.openxmlformats.org/drawingml/2006/main">
              <a:ext uri="{FF2B5EF4-FFF2-40B4-BE49-F238E27FC236}">
                <a16:creationId xmlns:a16="http://schemas.microsoft.com/office/drawing/2014/main" id="{0FA8A5AF-BF79-4E7C-8BD7-488F29853073}"/>
              </a:ext>
            </a:extLst>
          </p:cNvPr>
          <p:cNvSpPr>
            <a:spLocks xmlns:a="http://schemas.openxmlformats.org/drawingml/2006/main" noGrp="1"/>
          </p:cNvSpPr>
          <p:nvPr/>
        </p:nvSpPr>
        <p:spPr>
          <a:xfrm xmlns:a="http://schemas.openxmlformats.org/drawingml/2006/main">
            <a:off x="666750" y="2343150"/>
            <a:ext cx="1752600" cy="990600"/>
          </a:xfrm>
          <a:prstGeom xmlns:a="http://schemas.openxmlformats.org/drawingml/2006/main" prst="rect">
            <a:avLst/>
          </a:prstGeom>
          <a:solidFill xmlns:a="http://schemas.openxmlformats.org/drawingml/2006/main">
            <a:srgbClr val="DDE8F7"/>
          </a:solidFill>
          <a:ln xmlns:a="http://schemas.openxmlformats.org/drawingml/2006/main" w="9525">
            <a:solidFill>
              <a:srgbClr val="D6CEC0"/>
            </a:solidFill>
            <a:prstDash val="solid"/>
          </a:ln>
        </p:spPr>
      </p:sp>
      <p:sp>
        <p:nvSpPr>
          <p:cNvPr id="6" name="pipeline-stage-1-label">
            <a:extLst xmlns:a="http://schemas.openxmlformats.org/drawingml/2006/main">
              <a:ext uri="{FF2B5EF4-FFF2-40B4-BE49-F238E27FC236}">
                <a16:creationId xmlns:a16="http://schemas.microsoft.com/office/drawing/2014/main" id="{5CF4CE9A-A917-40A5-B0F6-311072FA6F93}"/>
              </a:ext>
            </a:extLst>
          </p:cNvPr>
          <p:cNvSpPr>
            <a:spLocks xmlns:a="http://schemas.openxmlformats.org/drawingml/2006/main" noGrp="1"/>
          </p:cNvSpPr>
          <p:nvPr/>
        </p:nvSpPr>
        <p:spPr>
          <a:xfrm xmlns:a="http://schemas.openxmlformats.org/drawingml/2006/main">
            <a:off x="838200" y="2552700"/>
            <a:ext cx="14097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ctr">
              <a:defRPr sz="1650" b="1">
                <a:solidFill>
                  <a:srgbClr val="1E252B"/>
                </a:solidFill>
                <a:latin typeface="Aptos"/>
                <a:ea typeface="Aptos"/>
                <a:cs typeface="Aptos"/>
              </a:defRPr>
            </a:pPr>
            <a:r>
              <a:rPr sz="1650" b="1">
                <a:solidFill>
                  <a:srgbClr val="1E252B"/>
                </a:solidFill>
                <a:latin typeface="Aptos"/>
                <a:ea typeface="Aptos"/>
                <a:cs typeface="Aptos"/>
              </a:rPr>
              <a:t>HumanML3D</a:t>
            </a:r>
          </a:p>
          <a:p xmlns:a="http://schemas.openxmlformats.org/drawingml/2006/main">
            <a:pPr algn="ctr">
              <a:defRPr sz="1650" b="1">
                <a:solidFill>
                  <a:srgbClr val="1E252B"/>
                </a:solidFill>
                <a:latin typeface="Aptos"/>
                <a:ea typeface="Aptos"/>
                <a:cs typeface="Aptos"/>
              </a:defRPr>
            </a:pPr>
            <a:r>
              <a:rPr sz="1650" b="1">
                <a:solidFill>
                  <a:srgbClr val="1E252B"/>
                </a:solidFill>
                <a:latin typeface="Aptos"/>
                <a:ea typeface="Aptos"/>
                <a:cs typeface="Aptos"/>
              </a:rPr>
              <a:t>style captions</a:t>
            </a:r>
          </a:p>
        </p:txBody>
      </p:sp>
      <p:sp>
        <p:nvSpPr>
          <p:cNvPr id="7" name="pipeline-arrow-1">
            <a:extLst xmlns:a="http://schemas.openxmlformats.org/drawingml/2006/main">
              <a:ext uri="{FF2B5EF4-FFF2-40B4-BE49-F238E27FC236}">
                <a16:creationId xmlns:a16="http://schemas.microsoft.com/office/drawing/2014/main" id="{FE71E455-276E-4914-9A1B-B204F75BE4E5}"/>
              </a:ext>
            </a:extLst>
          </p:cNvPr>
          <p:cNvSpPr>
            <a:spLocks xmlns:a="http://schemas.openxmlformats.org/drawingml/2006/main" noGrp="1"/>
          </p:cNvSpPr>
          <p:nvPr/>
        </p:nvSpPr>
        <p:spPr>
          <a:xfrm xmlns:a="http://schemas.openxmlformats.org/drawingml/2006/main">
            <a:off x="2571750" y="2705100"/>
            <a:ext cx="381000" cy="266700"/>
          </a:xfrm>
          <a:prstGeom xmlns:a="http://schemas.openxmlformats.org/drawingml/2006/main" prst="rightArrow">
            <a:avLst/>
          </a:prstGeom>
          <a:solidFill xmlns:a="http://schemas.openxmlformats.org/drawingml/2006/main">
            <a:srgbClr val="2D3440"/>
          </a:solidFill>
          <a:ln xmlns:a="http://schemas.openxmlformats.org/drawingml/2006/main" w="0">
            <a:solidFill>
              <a:srgbClr val="000000">
                <a:alpha val="0"/>
              </a:srgbClr>
            </a:solidFill>
            <a:prstDash val="solid"/>
          </a:ln>
        </p:spPr>
      </p:sp>
      <p:sp>
        <p:nvSpPr>
          <p:cNvPr id="8" name="pipeline-stage-2-box">
            <a:extLst xmlns:a="http://schemas.openxmlformats.org/drawingml/2006/main">
              <a:ext uri="{FF2B5EF4-FFF2-40B4-BE49-F238E27FC236}">
                <a16:creationId xmlns:a16="http://schemas.microsoft.com/office/drawing/2014/main" id="{5A172487-1B5C-4436-B7E2-E8F3130F3430}"/>
              </a:ext>
            </a:extLst>
          </p:cNvPr>
          <p:cNvSpPr>
            <a:spLocks xmlns:a="http://schemas.openxmlformats.org/drawingml/2006/main" noGrp="1"/>
          </p:cNvSpPr>
          <p:nvPr/>
        </p:nvSpPr>
        <p:spPr>
          <a:xfrm xmlns:a="http://schemas.openxmlformats.org/drawingml/2006/main">
            <a:off x="2857500" y="2343150"/>
            <a:ext cx="1752600" cy="990600"/>
          </a:xfrm>
          <a:prstGeom xmlns:a="http://schemas.openxmlformats.org/drawingml/2006/main" prst="rect">
            <a:avLst/>
          </a:prstGeom>
          <a:solidFill xmlns:a="http://schemas.openxmlformats.org/drawingml/2006/main">
            <a:srgbClr val="F2E3D6"/>
          </a:solidFill>
          <a:ln xmlns:a="http://schemas.openxmlformats.org/drawingml/2006/main" w="9525">
            <a:solidFill>
              <a:srgbClr val="D6CEC0"/>
            </a:solidFill>
            <a:prstDash val="solid"/>
          </a:ln>
        </p:spPr>
      </p:sp>
      <p:sp>
        <p:nvSpPr>
          <p:cNvPr id="9" name="pipeline-stage-2-label">
            <a:extLst xmlns:a="http://schemas.openxmlformats.org/drawingml/2006/main">
              <a:ext uri="{FF2B5EF4-FFF2-40B4-BE49-F238E27FC236}">
                <a16:creationId xmlns:a16="http://schemas.microsoft.com/office/drawing/2014/main" id="{C2DA7D06-F54B-4E81-9785-B20262EF2FDD}"/>
              </a:ext>
            </a:extLst>
          </p:cNvPr>
          <p:cNvSpPr>
            <a:spLocks xmlns:a="http://schemas.openxmlformats.org/drawingml/2006/main" noGrp="1"/>
          </p:cNvSpPr>
          <p:nvPr/>
        </p:nvSpPr>
        <p:spPr>
          <a:xfrm xmlns:a="http://schemas.openxmlformats.org/drawingml/2006/main">
            <a:off x="3028950" y="2552700"/>
            <a:ext cx="14097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ctr">
              <a:defRPr sz="1650" b="1">
                <a:solidFill>
                  <a:srgbClr val="1E252B"/>
                </a:solidFill>
                <a:latin typeface="Aptos"/>
                <a:ea typeface="Aptos"/>
                <a:cs typeface="Aptos"/>
              </a:defRPr>
            </a:pPr>
            <a:r>
              <a:rPr sz="1650" b="1">
                <a:solidFill>
                  <a:srgbClr val="1E252B"/>
                </a:solidFill>
                <a:latin typeface="Aptos"/>
                <a:ea typeface="Aptos"/>
                <a:cs typeface="Aptos"/>
              </a:rPr>
              <a:t>MoConVQ teacher</a:t>
            </a:r>
          </a:p>
          <a:p xmlns:a="http://schemas.openxmlformats.org/drawingml/2006/main">
            <a:pPr algn="ctr">
              <a:defRPr sz="1650" b="1">
                <a:solidFill>
                  <a:srgbClr val="1E252B"/>
                </a:solidFill>
                <a:latin typeface="Aptos"/>
                <a:ea typeface="Aptos"/>
                <a:cs typeface="Aptos"/>
              </a:defRPr>
            </a:pPr>
            <a:r>
              <a:rPr sz="1650" b="1">
                <a:solidFill>
                  <a:srgbClr val="1E252B"/>
                </a:solidFill>
                <a:latin typeface="Aptos"/>
                <a:ea typeface="Aptos"/>
                <a:cs typeface="Aptos"/>
              </a:rPr>
              <a:t>pseudo tokens</a:t>
            </a:r>
          </a:p>
        </p:txBody>
      </p:sp>
      <p:sp>
        <p:nvSpPr>
          <p:cNvPr id="10" name="pipeline-arrow-2">
            <a:extLst xmlns:a="http://schemas.openxmlformats.org/drawingml/2006/main">
              <a:ext uri="{FF2B5EF4-FFF2-40B4-BE49-F238E27FC236}">
                <a16:creationId xmlns:a16="http://schemas.microsoft.com/office/drawing/2014/main" id="{95F88E79-9570-4171-B3E7-B2EF748D11F5}"/>
              </a:ext>
            </a:extLst>
          </p:cNvPr>
          <p:cNvSpPr>
            <a:spLocks xmlns:a="http://schemas.openxmlformats.org/drawingml/2006/main" noGrp="1"/>
          </p:cNvSpPr>
          <p:nvPr/>
        </p:nvSpPr>
        <p:spPr>
          <a:xfrm xmlns:a="http://schemas.openxmlformats.org/drawingml/2006/main">
            <a:off x="4762500" y="2705100"/>
            <a:ext cx="381000" cy="266700"/>
          </a:xfrm>
          <a:prstGeom xmlns:a="http://schemas.openxmlformats.org/drawingml/2006/main" prst="rightArrow">
            <a:avLst/>
          </a:prstGeom>
          <a:solidFill xmlns:a="http://schemas.openxmlformats.org/drawingml/2006/main">
            <a:srgbClr val="2D3440"/>
          </a:solidFill>
          <a:ln xmlns:a="http://schemas.openxmlformats.org/drawingml/2006/main" w="0">
            <a:solidFill>
              <a:srgbClr val="000000">
                <a:alpha val="0"/>
              </a:srgbClr>
            </a:solidFill>
            <a:prstDash val="solid"/>
          </a:ln>
        </p:spPr>
      </p:sp>
      <p:sp>
        <p:nvSpPr>
          <p:cNvPr id="11" name="pipeline-stage-3-box">
            <a:extLst xmlns:a="http://schemas.openxmlformats.org/drawingml/2006/main">
              <a:ext uri="{FF2B5EF4-FFF2-40B4-BE49-F238E27FC236}">
                <a16:creationId xmlns:a16="http://schemas.microsoft.com/office/drawing/2014/main" id="{EB89B295-12C3-448D-9A25-18FB0B049CCB}"/>
              </a:ext>
            </a:extLst>
          </p:cNvPr>
          <p:cNvSpPr>
            <a:spLocks xmlns:a="http://schemas.openxmlformats.org/drawingml/2006/main" noGrp="1"/>
          </p:cNvSpPr>
          <p:nvPr/>
        </p:nvSpPr>
        <p:spPr>
          <a:xfrm xmlns:a="http://schemas.openxmlformats.org/drawingml/2006/main">
            <a:off x="5048250" y="2343150"/>
            <a:ext cx="1752600" cy="990600"/>
          </a:xfrm>
          <a:prstGeom xmlns:a="http://schemas.openxmlformats.org/drawingml/2006/main" prst="rect">
            <a:avLst/>
          </a:prstGeom>
          <a:solidFill xmlns:a="http://schemas.openxmlformats.org/drawingml/2006/main">
            <a:srgbClr val="DDEBDD"/>
          </a:solidFill>
          <a:ln xmlns:a="http://schemas.openxmlformats.org/drawingml/2006/main" w="9525">
            <a:solidFill>
              <a:srgbClr val="D6CEC0"/>
            </a:solidFill>
            <a:prstDash val="solid"/>
          </a:ln>
        </p:spPr>
      </p:sp>
      <p:sp>
        <p:nvSpPr>
          <p:cNvPr id="12" name="pipeline-stage-3-label">
            <a:extLst xmlns:a="http://schemas.openxmlformats.org/drawingml/2006/main">
              <a:ext uri="{FF2B5EF4-FFF2-40B4-BE49-F238E27FC236}">
                <a16:creationId xmlns:a16="http://schemas.microsoft.com/office/drawing/2014/main" id="{298CD528-25E7-4BB8-8321-4A2729666292}"/>
              </a:ext>
            </a:extLst>
          </p:cNvPr>
          <p:cNvSpPr>
            <a:spLocks xmlns:a="http://schemas.openxmlformats.org/drawingml/2006/main" noGrp="1"/>
          </p:cNvSpPr>
          <p:nvPr/>
        </p:nvSpPr>
        <p:spPr>
          <a:xfrm xmlns:a="http://schemas.openxmlformats.org/drawingml/2006/main">
            <a:off x="5219700" y="2552700"/>
            <a:ext cx="14097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ctr">
              <a:defRPr sz="1650" b="1">
                <a:solidFill>
                  <a:srgbClr val="1E252B"/>
                </a:solidFill>
                <a:latin typeface="Aptos"/>
                <a:ea typeface="Aptos"/>
                <a:cs typeface="Aptos"/>
              </a:defRPr>
            </a:pPr>
            <a:r>
              <a:rPr sz="1650" b="1">
                <a:solidFill>
                  <a:srgbClr val="1E252B"/>
                </a:solidFill>
                <a:latin typeface="Aptos"/>
                <a:ea typeface="Aptos"/>
                <a:cs typeface="Aptos"/>
              </a:rPr>
              <a:t>Frozen student</a:t>
            </a:r>
          </a:p>
          <a:p xmlns:a="http://schemas.openxmlformats.org/drawingml/2006/main">
            <a:pPr algn="ctr">
              <a:defRPr sz="1650" b="1">
                <a:solidFill>
                  <a:srgbClr val="1E252B"/>
                </a:solidFill>
                <a:latin typeface="Aptos"/>
                <a:ea typeface="Aptos"/>
                <a:cs typeface="Aptos"/>
              </a:defRPr>
            </a:pPr>
            <a:r>
              <a:rPr sz="1650" b="1">
                <a:solidFill>
                  <a:srgbClr val="1E252B"/>
                </a:solidFill>
                <a:latin typeface="Aptos"/>
                <a:ea typeface="Aptos"/>
                <a:cs typeface="Aptos"/>
              </a:rPr>
              <a:t>+ LoRA adapter</a:t>
            </a:r>
          </a:p>
        </p:txBody>
      </p:sp>
      <p:sp>
        <p:nvSpPr>
          <p:cNvPr id="13" name="pipeline-arrow-3">
            <a:extLst xmlns:a="http://schemas.openxmlformats.org/drawingml/2006/main">
              <a:ext uri="{FF2B5EF4-FFF2-40B4-BE49-F238E27FC236}">
                <a16:creationId xmlns:a16="http://schemas.microsoft.com/office/drawing/2014/main" id="{0952488C-1D24-4159-89A6-696E07593913}"/>
              </a:ext>
            </a:extLst>
          </p:cNvPr>
          <p:cNvSpPr>
            <a:spLocks xmlns:a="http://schemas.openxmlformats.org/drawingml/2006/main" noGrp="1"/>
          </p:cNvSpPr>
          <p:nvPr/>
        </p:nvSpPr>
        <p:spPr>
          <a:xfrm xmlns:a="http://schemas.openxmlformats.org/drawingml/2006/main">
            <a:off x="6953250" y="2705100"/>
            <a:ext cx="381000" cy="266700"/>
          </a:xfrm>
          <a:prstGeom xmlns:a="http://schemas.openxmlformats.org/drawingml/2006/main" prst="rightArrow">
            <a:avLst/>
          </a:prstGeom>
          <a:solidFill xmlns:a="http://schemas.openxmlformats.org/drawingml/2006/main">
            <a:srgbClr val="2D3440"/>
          </a:solidFill>
          <a:ln xmlns:a="http://schemas.openxmlformats.org/drawingml/2006/main" w="0">
            <a:solidFill>
              <a:srgbClr val="000000">
                <a:alpha val="0"/>
              </a:srgbClr>
            </a:solidFill>
            <a:prstDash val="solid"/>
          </a:ln>
        </p:spPr>
      </p:sp>
      <p:sp>
        <p:nvSpPr>
          <p:cNvPr id="14" name="pipeline-stage-4-box">
            <a:extLst xmlns:a="http://schemas.openxmlformats.org/drawingml/2006/main">
              <a:ext uri="{FF2B5EF4-FFF2-40B4-BE49-F238E27FC236}">
                <a16:creationId xmlns:a16="http://schemas.microsoft.com/office/drawing/2014/main" id="{B6166750-9D5E-4064-ADC1-F08B34D19425}"/>
              </a:ext>
            </a:extLst>
          </p:cNvPr>
          <p:cNvSpPr>
            <a:spLocks xmlns:a="http://schemas.openxmlformats.org/drawingml/2006/main" noGrp="1"/>
          </p:cNvSpPr>
          <p:nvPr/>
        </p:nvSpPr>
        <p:spPr>
          <a:xfrm xmlns:a="http://schemas.openxmlformats.org/drawingml/2006/main">
            <a:off x="7239000" y="2343150"/>
            <a:ext cx="1752600" cy="990600"/>
          </a:xfrm>
          <a:prstGeom xmlns:a="http://schemas.openxmlformats.org/drawingml/2006/main" prst="rect">
            <a:avLst/>
          </a:prstGeom>
          <a:solidFill xmlns:a="http://schemas.openxmlformats.org/drawingml/2006/main">
            <a:srgbClr val="E7DDF1"/>
          </a:solidFill>
          <a:ln xmlns:a="http://schemas.openxmlformats.org/drawingml/2006/main" w="9525">
            <a:solidFill>
              <a:srgbClr val="D6CEC0"/>
            </a:solidFill>
            <a:prstDash val="solid"/>
          </a:ln>
        </p:spPr>
      </p:sp>
      <p:sp>
        <p:nvSpPr>
          <p:cNvPr id="15" name="pipeline-stage-4-label">
            <a:extLst xmlns:a="http://schemas.openxmlformats.org/drawingml/2006/main">
              <a:ext uri="{FF2B5EF4-FFF2-40B4-BE49-F238E27FC236}">
                <a16:creationId xmlns:a16="http://schemas.microsoft.com/office/drawing/2014/main" id="{71D13A99-7944-4445-B258-8A56B031EB75}"/>
              </a:ext>
            </a:extLst>
          </p:cNvPr>
          <p:cNvSpPr>
            <a:spLocks xmlns:a="http://schemas.openxmlformats.org/drawingml/2006/main" noGrp="1"/>
          </p:cNvSpPr>
          <p:nvPr/>
        </p:nvSpPr>
        <p:spPr>
          <a:xfrm xmlns:a="http://schemas.openxmlformats.org/drawingml/2006/main">
            <a:off x="7410450" y="2552700"/>
            <a:ext cx="14097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ctr">
              <a:defRPr sz="1650" b="1">
                <a:solidFill>
                  <a:srgbClr val="1E252B"/>
                </a:solidFill>
                <a:latin typeface="Aptos"/>
                <a:ea typeface="Aptos"/>
                <a:cs typeface="Aptos"/>
              </a:defRPr>
            </a:pPr>
            <a:r>
              <a:rPr sz="1650" b="1">
                <a:solidFill>
                  <a:srgbClr val="1E252B"/>
                </a:solidFill>
                <a:latin typeface="Aptos"/>
                <a:ea typeface="Aptos"/>
                <a:cs typeface="Aptos"/>
              </a:rPr>
              <a:t>BVH motion</a:t>
            </a:r>
          </a:p>
          <a:p xmlns:a="http://schemas.openxmlformats.org/drawingml/2006/main">
            <a:pPr algn="ctr">
              <a:defRPr sz="1650" b="1">
                <a:solidFill>
                  <a:srgbClr val="1E252B"/>
                </a:solidFill>
                <a:latin typeface="Aptos"/>
                <a:ea typeface="Aptos"/>
                <a:cs typeface="Aptos"/>
              </a:defRPr>
            </a:pPr>
            <a:r>
              <a:rPr sz="1650" b="1">
                <a:solidFill>
                  <a:srgbClr val="1E252B"/>
                </a:solidFill>
                <a:latin typeface="Aptos"/>
                <a:ea typeface="Aptos"/>
                <a:cs typeface="Aptos"/>
              </a:rPr>
              <a:t>outputs</a:t>
            </a:r>
          </a:p>
        </p:txBody>
      </p:sp>
      <p:sp>
        <p:nvSpPr>
          <p:cNvPr id="16" name="pipeline-arrow-4">
            <a:extLst xmlns:a="http://schemas.openxmlformats.org/drawingml/2006/main">
              <a:ext uri="{FF2B5EF4-FFF2-40B4-BE49-F238E27FC236}">
                <a16:creationId xmlns:a16="http://schemas.microsoft.com/office/drawing/2014/main" id="{931F76EC-A8F8-459D-87C0-CA5B40E10E0F}"/>
              </a:ext>
            </a:extLst>
          </p:cNvPr>
          <p:cNvSpPr>
            <a:spLocks xmlns:a="http://schemas.openxmlformats.org/drawingml/2006/main" noGrp="1"/>
          </p:cNvSpPr>
          <p:nvPr/>
        </p:nvSpPr>
        <p:spPr>
          <a:xfrm xmlns:a="http://schemas.openxmlformats.org/drawingml/2006/main">
            <a:off x="9144000" y="2705100"/>
            <a:ext cx="381000" cy="266700"/>
          </a:xfrm>
          <a:prstGeom xmlns:a="http://schemas.openxmlformats.org/drawingml/2006/main" prst="rightArrow">
            <a:avLst/>
          </a:prstGeom>
          <a:solidFill xmlns:a="http://schemas.openxmlformats.org/drawingml/2006/main">
            <a:srgbClr val="2D3440"/>
          </a:solidFill>
          <a:ln xmlns:a="http://schemas.openxmlformats.org/drawingml/2006/main" w="0">
            <a:solidFill>
              <a:srgbClr val="000000">
                <a:alpha val="0"/>
              </a:srgbClr>
            </a:solidFill>
            <a:prstDash val="solid"/>
          </a:ln>
        </p:spPr>
      </p:sp>
      <p:sp>
        <p:nvSpPr>
          <p:cNvPr id="17" name="pipeline-stage-5-box">
            <a:extLst xmlns:a="http://schemas.openxmlformats.org/drawingml/2006/main">
              <a:ext uri="{FF2B5EF4-FFF2-40B4-BE49-F238E27FC236}">
                <a16:creationId xmlns:a16="http://schemas.microsoft.com/office/drawing/2014/main" id="{EC7039BB-0EA6-421F-B5CD-7BBFA7D9959E}"/>
              </a:ext>
            </a:extLst>
          </p:cNvPr>
          <p:cNvSpPr>
            <a:spLocks xmlns:a="http://schemas.openxmlformats.org/drawingml/2006/main" noGrp="1"/>
          </p:cNvSpPr>
          <p:nvPr/>
        </p:nvSpPr>
        <p:spPr>
          <a:xfrm xmlns:a="http://schemas.openxmlformats.org/drawingml/2006/main">
            <a:off x="9429750" y="2343150"/>
            <a:ext cx="1752600" cy="990600"/>
          </a:xfrm>
          <a:prstGeom xmlns:a="http://schemas.openxmlformats.org/drawingml/2006/main" prst="rect">
            <a:avLst/>
          </a:prstGeom>
          <a:solidFill xmlns:a="http://schemas.openxmlformats.org/drawingml/2006/main">
            <a:srgbClr val="F0DDDA"/>
          </a:solidFill>
          <a:ln xmlns:a="http://schemas.openxmlformats.org/drawingml/2006/main" w="9525">
            <a:solidFill>
              <a:srgbClr val="D6CEC0"/>
            </a:solidFill>
            <a:prstDash val="solid"/>
          </a:ln>
        </p:spPr>
      </p:sp>
      <p:sp>
        <p:nvSpPr>
          <p:cNvPr id="18" name="pipeline-stage-5-label">
            <a:extLst xmlns:a="http://schemas.openxmlformats.org/drawingml/2006/main">
              <a:ext uri="{FF2B5EF4-FFF2-40B4-BE49-F238E27FC236}">
                <a16:creationId xmlns:a16="http://schemas.microsoft.com/office/drawing/2014/main" id="{3CD58AC3-D53D-4029-88BA-66EE56963A98}"/>
              </a:ext>
            </a:extLst>
          </p:cNvPr>
          <p:cNvSpPr>
            <a:spLocks xmlns:a="http://schemas.openxmlformats.org/drawingml/2006/main" noGrp="1"/>
          </p:cNvSpPr>
          <p:nvPr/>
        </p:nvSpPr>
        <p:spPr>
          <a:xfrm xmlns:a="http://schemas.openxmlformats.org/drawingml/2006/main">
            <a:off x="9601200" y="2552700"/>
            <a:ext cx="14097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ctr">
              <a:defRPr sz="1650" b="1">
                <a:solidFill>
                  <a:srgbClr val="1E252B"/>
                </a:solidFill>
                <a:latin typeface="Aptos"/>
                <a:ea typeface="Aptos"/>
                <a:cs typeface="Aptos"/>
              </a:defRPr>
            </a:pPr>
            <a:r>
              <a:rPr sz="1650" b="1">
                <a:solidFill>
                  <a:srgbClr val="1E252B"/>
                </a:solidFill>
                <a:latin typeface="Aptos"/>
                <a:ea typeface="Aptos"/>
                <a:cs typeface="Aptos"/>
              </a:rPr>
              <a:t>Style proxy</a:t>
            </a:r>
          </a:p>
          <a:p xmlns:a="http://schemas.openxmlformats.org/drawingml/2006/main">
            <a:pPr algn="ctr">
              <a:defRPr sz="1650" b="1">
                <a:solidFill>
                  <a:srgbClr val="1E252B"/>
                </a:solidFill>
                <a:latin typeface="Aptos"/>
                <a:ea typeface="Aptos"/>
                <a:cs typeface="Aptos"/>
              </a:defRPr>
            </a:pPr>
            <a:r>
              <a:rPr sz="1650" b="1">
                <a:solidFill>
                  <a:srgbClr val="1E252B"/>
                </a:solidFill>
                <a:latin typeface="Aptos"/>
                <a:ea typeface="Aptos"/>
                <a:cs typeface="Aptos"/>
              </a:rPr>
              <a:t>metrics</a:t>
            </a:r>
          </a:p>
        </p:txBody>
      </p:sp>
      <p:sp>
        <p:nvSpPr>
          <p:cNvPr id="19" name="pipeline-note-1-stem">
            <a:extLst xmlns:a="http://schemas.openxmlformats.org/drawingml/2006/main">
              <a:ext uri="{FF2B5EF4-FFF2-40B4-BE49-F238E27FC236}">
                <a16:creationId xmlns:a16="http://schemas.microsoft.com/office/drawing/2014/main" id="{726E6B84-9C33-4BA1-83DF-67A48E16D3C0}"/>
              </a:ext>
            </a:extLst>
          </p:cNvPr>
          <p:cNvSpPr>
            <a:spLocks xmlns:a="http://schemas.openxmlformats.org/drawingml/2006/main" noGrp="1"/>
          </p:cNvSpPr>
          <p:nvPr/>
        </p:nvSpPr>
        <p:spPr>
          <a:xfrm xmlns:a="http://schemas.openxmlformats.org/drawingml/2006/main">
            <a:off x="3371850" y="3600450"/>
            <a:ext cx="19050" cy="533400"/>
          </a:xfrm>
          <a:prstGeom xmlns:a="http://schemas.openxmlformats.org/drawingml/2006/main" prst="rect">
            <a:avLst/>
          </a:prstGeom>
          <a:solidFill xmlns:a="http://schemas.openxmlformats.org/drawingml/2006/main">
            <a:srgbClr val="A7A19A"/>
          </a:solidFill>
          <a:ln xmlns:a="http://schemas.openxmlformats.org/drawingml/2006/main" w="0">
            <a:solidFill>
              <a:srgbClr val="000000">
                <a:alpha val="0"/>
              </a:srgbClr>
            </a:solidFill>
            <a:prstDash val="solid"/>
          </a:ln>
        </p:spPr>
      </p:sp>
      <p:sp>
        <p:nvSpPr>
          <p:cNvPr id="20" name="pipeline-note-1-text">
            <a:extLst xmlns:a="http://schemas.openxmlformats.org/drawingml/2006/main">
              <a:ext uri="{FF2B5EF4-FFF2-40B4-BE49-F238E27FC236}">
                <a16:creationId xmlns:a16="http://schemas.microsoft.com/office/drawing/2014/main" id="{BA7D0239-19DB-4751-86DE-B6AA518CD39E}"/>
              </a:ext>
            </a:extLst>
          </p:cNvPr>
          <p:cNvSpPr>
            <a:spLocks xmlns:a="http://schemas.openxmlformats.org/drawingml/2006/main" noGrp="1"/>
          </p:cNvSpPr>
          <p:nvPr/>
        </p:nvSpPr>
        <p:spPr>
          <a:xfrm xmlns:a="http://schemas.openxmlformats.org/drawingml/2006/main">
            <a:off x="2686050" y="4267200"/>
            <a:ext cx="2000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B15A35"/>
                </a:solidFill>
                <a:latin typeface="Aptos"/>
                <a:ea typeface="Aptos"/>
                <a:cs typeface="Aptos"/>
              </a:defRPr>
            </a:pPr>
            <a:r>
              <a:rPr sz="1350" b="0">
                <a:solidFill>
                  <a:srgbClr val="B15A35"/>
                </a:solidFill>
                <a:latin typeface="Aptos"/>
                <a:ea typeface="Aptos"/>
                <a:cs typeface="Aptos"/>
              </a:rPr>
              <a:t>distillation target</a:t>
            </a:r>
          </a:p>
        </p:txBody>
      </p:sp>
      <p:sp>
        <p:nvSpPr>
          <p:cNvPr id="21" name="pipeline-note-2-stem">
            <a:extLst xmlns:a="http://schemas.openxmlformats.org/drawingml/2006/main">
              <a:ext uri="{FF2B5EF4-FFF2-40B4-BE49-F238E27FC236}">
                <a16:creationId xmlns:a16="http://schemas.microsoft.com/office/drawing/2014/main" id="{A092A492-436D-4E7C-9D31-08E0E991DDA1}"/>
              </a:ext>
            </a:extLst>
          </p:cNvPr>
          <p:cNvSpPr>
            <a:spLocks xmlns:a="http://schemas.openxmlformats.org/drawingml/2006/main" noGrp="1"/>
          </p:cNvSpPr>
          <p:nvPr/>
        </p:nvSpPr>
        <p:spPr>
          <a:xfrm xmlns:a="http://schemas.openxmlformats.org/drawingml/2006/main">
            <a:off x="5600700" y="3600450"/>
            <a:ext cx="19050" cy="533400"/>
          </a:xfrm>
          <a:prstGeom xmlns:a="http://schemas.openxmlformats.org/drawingml/2006/main" prst="rect">
            <a:avLst/>
          </a:prstGeom>
          <a:solidFill xmlns:a="http://schemas.openxmlformats.org/drawingml/2006/main">
            <a:srgbClr val="A7A19A"/>
          </a:solidFill>
          <a:ln xmlns:a="http://schemas.openxmlformats.org/drawingml/2006/main" w="0">
            <a:solidFill>
              <a:srgbClr val="000000">
                <a:alpha val="0"/>
              </a:srgbClr>
            </a:solidFill>
            <a:prstDash val="solid"/>
          </a:ln>
        </p:spPr>
      </p:sp>
      <p:sp>
        <p:nvSpPr>
          <p:cNvPr id="22" name="pipeline-note-2-text">
            <a:extLst xmlns:a="http://schemas.openxmlformats.org/drawingml/2006/main">
              <a:ext uri="{FF2B5EF4-FFF2-40B4-BE49-F238E27FC236}">
                <a16:creationId xmlns:a16="http://schemas.microsoft.com/office/drawing/2014/main" id="{EAB89F3D-1CC1-4739-BBD2-1BF5F2528ACE}"/>
              </a:ext>
            </a:extLst>
          </p:cNvPr>
          <p:cNvSpPr>
            <a:spLocks xmlns:a="http://schemas.openxmlformats.org/drawingml/2006/main" noGrp="1"/>
          </p:cNvSpPr>
          <p:nvPr/>
        </p:nvSpPr>
        <p:spPr>
          <a:xfrm xmlns:a="http://schemas.openxmlformats.org/drawingml/2006/main">
            <a:off x="4914900" y="4267200"/>
            <a:ext cx="2000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167C80"/>
                </a:solidFill>
                <a:latin typeface="Aptos"/>
                <a:ea typeface="Aptos"/>
                <a:cs typeface="Aptos"/>
              </a:defRPr>
            </a:pPr>
            <a:r>
              <a:rPr sz="1350" b="0">
                <a:solidFill>
                  <a:srgbClr val="167C80"/>
                </a:solidFill>
                <a:latin typeface="Aptos"/>
                <a:ea typeface="Aptos"/>
                <a:cs typeface="Aptos"/>
              </a:rPr>
              <a:t>train low-rank updates</a:t>
            </a:r>
          </a:p>
          <a:p xmlns:a="http://schemas.openxmlformats.org/drawingml/2006/main">
            <a:pPr algn="ctr">
              <a:defRPr sz="1350" b="0">
                <a:solidFill>
                  <a:srgbClr val="167C80"/>
                </a:solidFill>
                <a:latin typeface="Aptos"/>
                <a:ea typeface="Aptos"/>
                <a:cs typeface="Aptos"/>
              </a:defRPr>
            </a:pPr>
            <a:r>
              <a:rPr sz="1350" b="0">
                <a:solidFill>
                  <a:srgbClr val="167C80"/>
                </a:solidFill>
                <a:latin typeface="Aptos"/>
                <a:ea typeface="Aptos"/>
                <a:cs typeface="Aptos"/>
              </a:rPr>
              <a:t>freeze decoder/controller</a:t>
            </a:r>
          </a:p>
        </p:txBody>
      </p:sp>
      <p:sp>
        <p:nvSpPr>
          <p:cNvPr id="23" name="pipeline-note-3-stem">
            <a:extLst xmlns:a="http://schemas.openxmlformats.org/drawingml/2006/main">
              <a:ext uri="{FF2B5EF4-FFF2-40B4-BE49-F238E27FC236}">
                <a16:creationId xmlns:a16="http://schemas.microsoft.com/office/drawing/2014/main" id="{AF498F2F-17EC-47C4-B235-496A38DC942D}"/>
              </a:ext>
            </a:extLst>
          </p:cNvPr>
          <p:cNvSpPr>
            <a:spLocks xmlns:a="http://schemas.openxmlformats.org/drawingml/2006/main" noGrp="1"/>
          </p:cNvSpPr>
          <p:nvPr/>
        </p:nvSpPr>
        <p:spPr>
          <a:xfrm xmlns:a="http://schemas.openxmlformats.org/drawingml/2006/main">
            <a:off x="8286750" y="3600450"/>
            <a:ext cx="19050" cy="533400"/>
          </a:xfrm>
          <a:prstGeom xmlns:a="http://schemas.openxmlformats.org/drawingml/2006/main" prst="rect">
            <a:avLst/>
          </a:prstGeom>
          <a:solidFill xmlns:a="http://schemas.openxmlformats.org/drawingml/2006/main">
            <a:srgbClr val="A7A19A"/>
          </a:solidFill>
          <a:ln xmlns:a="http://schemas.openxmlformats.org/drawingml/2006/main" w="0">
            <a:solidFill>
              <a:srgbClr val="000000">
                <a:alpha val="0"/>
              </a:srgbClr>
            </a:solidFill>
            <a:prstDash val="solid"/>
          </a:ln>
        </p:spPr>
      </p:sp>
      <p:sp>
        <p:nvSpPr>
          <p:cNvPr id="24" name="pipeline-note-3-text">
            <a:extLst xmlns:a="http://schemas.openxmlformats.org/drawingml/2006/main">
              <a:ext uri="{FF2B5EF4-FFF2-40B4-BE49-F238E27FC236}">
                <a16:creationId xmlns:a16="http://schemas.microsoft.com/office/drawing/2014/main" id="{657A36C9-48AA-4E55-9E52-6667FB13635D}"/>
              </a:ext>
            </a:extLst>
          </p:cNvPr>
          <p:cNvSpPr>
            <a:spLocks xmlns:a="http://schemas.openxmlformats.org/drawingml/2006/main" noGrp="1"/>
          </p:cNvSpPr>
          <p:nvPr/>
        </p:nvSpPr>
        <p:spPr>
          <a:xfrm xmlns:a="http://schemas.openxmlformats.org/drawingml/2006/main">
            <a:off x="7600950" y="4267200"/>
            <a:ext cx="2000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2F7DE1"/>
                </a:solidFill>
                <a:latin typeface="Aptos"/>
                <a:ea typeface="Aptos"/>
                <a:cs typeface="Aptos"/>
              </a:defRPr>
            </a:pPr>
            <a:r>
              <a:rPr sz="1350" b="0">
                <a:solidFill>
                  <a:srgbClr val="2F7DE1"/>
                </a:solidFill>
                <a:latin typeface="Aptos"/>
                <a:ea typeface="Aptos"/>
                <a:cs typeface="Aptos"/>
              </a:rPr>
              <a:t>render and parse</a:t>
            </a:r>
          </a:p>
          <a:p xmlns:a="http://schemas.openxmlformats.org/drawingml/2006/main">
            <a:pPr algn="ctr">
              <a:defRPr sz="1350" b="0">
                <a:solidFill>
                  <a:srgbClr val="2F7DE1"/>
                </a:solidFill>
                <a:latin typeface="Aptos"/>
                <a:ea typeface="Aptos"/>
                <a:cs typeface="Aptos"/>
              </a:defRPr>
            </a:pPr>
            <a:r>
              <a:rPr sz="1350" b="0">
                <a:solidFill>
                  <a:srgbClr val="2F7DE1"/>
                </a:solidFill>
                <a:latin typeface="Aptos"/>
                <a:ea typeface="Aptos"/>
                <a:cs typeface="Aptos"/>
              </a:rPr>
              <a:t>kinematic motion files</a:t>
            </a:r>
          </a:p>
        </p:txBody>
      </p:sp>
      <p:sp>
        <p:nvSpPr>
          <p:cNvPr id="25" name="pipeline-summary">
            <a:extLst xmlns:a="http://schemas.openxmlformats.org/drawingml/2006/main">
              <a:ext uri="{FF2B5EF4-FFF2-40B4-BE49-F238E27FC236}">
                <a16:creationId xmlns:a16="http://schemas.microsoft.com/office/drawing/2014/main" id="{163A8455-DF51-4724-AC6A-D3CC8B4794A0}"/>
              </a:ext>
            </a:extLst>
          </p:cNvPr>
          <p:cNvSpPr>
            <a:spLocks xmlns:a="http://schemas.openxmlformats.org/drawingml/2006/main" noGrp="1"/>
          </p:cNvSpPr>
          <p:nvPr/>
        </p:nvSpPr>
        <p:spPr>
          <a:xfrm xmlns:a="http://schemas.openxmlformats.org/drawingml/2006/main">
            <a:off x="1181100" y="5257800"/>
            <a:ext cx="98298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1E252B"/>
                </a:solidFill>
                <a:latin typeface="Aptos Display"/>
                <a:ea typeface="Aptos Display"/>
                <a:cs typeface="Aptos Display"/>
              </a:defRPr>
            </a:pPr>
            <a:r>
              <a:rPr sz="1875" b="1">
                <a:solidFill>
                  <a:srgbClr val="1E252B"/>
                </a:solidFill>
                <a:latin typeface="Aptos Display"/>
                <a:ea typeface="Aptos Display"/>
                <a:cs typeface="Aptos Display"/>
              </a:rPr>
              <a:t>Evaluation separates three signals: teacher-token learning, BVH kinematic proxy movement, and qualitative motion inspection.</a:t>
            </a:r>
          </a:p>
        </p:txBody>
      </p:sp>
      <p:sp>
        <p:nvSpPr>
          <p:cNvPr id="26" name="footer-3-rule">
            <a:extLst xmlns:a="http://schemas.openxmlformats.org/drawingml/2006/main">
              <a:ext uri="{FF2B5EF4-FFF2-40B4-BE49-F238E27FC236}">
                <a16:creationId xmlns:a16="http://schemas.microsoft.com/office/drawing/2014/main" id="{0BF4259D-4AA1-4640-99E7-D15255E80CB9}"/>
              </a:ext>
            </a:extLst>
          </p:cNvPr>
          <p:cNvSpPr>
            <a:spLocks xmlns:a="http://schemas.openxmlformats.org/drawingml/2006/main" noGrp="1"/>
          </p:cNvSpPr>
          <p:nvPr/>
        </p:nvSpPr>
        <p:spPr>
          <a:xfrm xmlns:a="http://schemas.openxmlformats.org/drawingml/2006/main">
            <a:off x="685800" y="6343650"/>
            <a:ext cx="108204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27" name="footer-3-source">
            <a:extLst xmlns:a="http://schemas.openxmlformats.org/drawingml/2006/main">
              <a:ext uri="{FF2B5EF4-FFF2-40B4-BE49-F238E27FC236}">
                <a16:creationId xmlns:a16="http://schemas.microsoft.com/office/drawing/2014/main" id="{6E128AF5-F407-482A-BB09-2B35A38724D2}"/>
              </a:ext>
            </a:extLst>
          </p:cNvPr>
          <p:cNvSpPr>
            <a:spLocks xmlns:a="http://schemas.openxmlformats.org/drawingml/2006/main" noGrp="1"/>
          </p:cNvSpPr>
          <p:nvPr/>
        </p:nvSpPr>
        <p:spPr>
          <a:xfrm xmlns:a="http://schemas.openxmlformats.org/drawingml/2006/main">
            <a:off x="685800" y="6419850"/>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7A746A"/>
                </a:solidFill>
                <a:latin typeface="Aptos"/>
                <a:ea typeface="Aptos"/>
                <a:cs typeface="Aptos"/>
              </a:defRPr>
            </a:pPr>
            <a:r>
              <a:rPr sz="750" b="0">
                <a:solidFill>
                  <a:srgbClr val="7A746A"/>
                </a:solidFill>
                <a:latin typeface="Aptos"/>
                <a:ea typeface="Aptos"/>
                <a:cs typeface="Aptos"/>
              </a:rPr>
              <a:t>Source: Fig. 2 and Method section</a:t>
            </a:r>
          </a:p>
        </p:txBody>
      </p:sp>
      <p:sp>
        <p:nvSpPr>
          <p:cNvPr id="28" name="footer-3-page">
            <a:extLst xmlns:a="http://schemas.openxmlformats.org/drawingml/2006/main">
              <a:ext uri="{FF2B5EF4-FFF2-40B4-BE49-F238E27FC236}">
                <a16:creationId xmlns:a16="http://schemas.microsoft.com/office/drawing/2014/main" id="{4B99847E-D68E-49B5-9B27-3AB9C52390D3}"/>
              </a:ext>
            </a:extLst>
          </p:cNvPr>
          <p:cNvSpPr>
            <a:spLocks xmlns:a="http://schemas.openxmlformats.org/drawingml/2006/main" noGrp="1"/>
          </p:cNvSpPr>
          <p:nvPr/>
        </p:nvSpPr>
        <p:spPr>
          <a:xfrm xmlns:a="http://schemas.openxmlformats.org/drawingml/2006/main">
            <a:off x="9620250" y="6419850"/>
            <a:ext cx="1885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7A746A"/>
                </a:solidFill>
                <a:latin typeface="Aptos"/>
                <a:ea typeface="Aptos"/>
                <a:cs typeface="Aptos"/>
              </a:defRPr>
            </a:pPr>
            <a:r>
              <a:rPr sz="750" b="0">
                <a:solidFill>
                  <a:srgbClr val="7A746A"/>
                </a:solidFill>
                <a:latin typeface="Aptos"/>
                <a:ea typeface="Aptos"/>
                <a:cs typeface="Aptos"/>
              </a:rPr>
              <a:t>3 / 6 - Initial 5-minute report</a:t>
            </a:r>
          </a:p>
        </p:txBody>
      </p:sp>
    </p:spTree>
    <p:extLst>
      <p:ext uri="{BB962C8B-B14F-4D97-AF65-F5344CB8AC3E}">
        <p14:creationId xmlns:p14="http://schemas.microsoft.com/office/powerpoint/2010/main" val="20485906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slide-4-background">
            <a:extLst xmlns:a="http://schemas.openxmlformats.org/drawingml/2006/main">
              <a:ext uri="{FF2B5EF4-FFF2-40B4-BE49-F238E27FC236}">
                <a16:creationId xmlns:a16="http://schemas.microsoft.com/office/drawing/2014/main" id="{8CE268B1-AFC0-4529-9209-8234A1C14F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D"/>
          </a:solidFill>
          <a:ln xmlns:a="http://schemas.openxmlformats.org/drawingml/2006/main" w="0">
            <a:solidFill>
              <a:srgbClr val="000000">
                <a:alpha val="0"/>
              </a:srgbClr>
            </a:solidFill>
            <a:prstDash val="solid"/>
          </a:ln>
        </p:spPr>
      </p:sp>
      <p:sp>
        <p:nvSpPr>
          <p:cNvPr id="2" name="kicker-4-marker">
            <a:extLst xmlns:a="http://schemas.openxmlformats.org/drawingml/2006/main">
              <a:ext uri="{FF2B5EF4-FFF2-40B4-BE49-F238E27FC236}">
                <a16:creationId xmlns:a16="http://schemas.microsoft.com/office/drawing/2014/main" id="{3522A2FA-40F9-438F-A241-A747FCE4B8CC}"/>
              </a:ext>
            </a:extLst>
          </p:cNvPr>
          <p:cNvSpPr>
            <a:spLocks xmlns:a="http://schemas.openxmlformats.org/drawingml/2006/main" noGrp="1"/>
          </p:cNvSpPr>
          <p:nvPr/>
        </p:nvSpPr>
        <p:spPr>
          <a:xfrm xmlns:a="http://schemas.openxmlformats.org/drawingml/2006/main">
            <a:off x="685800" y="419100"/>
            <a:ext cx="266700" cy="38100"/>
          </a:xfrm>
          <a:prstGeom xmlns:a="http://schemas.openxmlformats.org/drawingml/2006/main" prst="rect">
            <a:avLst/>
          </a:prstGeom>
          <a:solidFill xmlns:a="http://schemas.openxmlformats.org/drawingml/2006/main">
            <a:srgbClr val="167C80"/>
          </a:solidFill>
          <a:ln xmlns:a="http://schemas.openxmlformats.org/drawingml/2006/main" w="0">
            <a:solidFill>
              <a:srgbClr val="000000">
                <a:alpha val="0"/>
              </a:srgbClr>
            </a:solidFill>
            <a:prstDash val="solid"/>
          </a:ln>
        </p:spPr>
      </p:sp>
      <p:sp>
        <p:nvSpPr>
          <p:cNvPr id="3" name="kicker-4-label">
            <a:extLst xmlns:a="http://schemas.openxmlformats.org/drawingml/2006/main">
              <a:ext uri="{FF2B5EF4-FFF2-40B4-BE49-F238E27FC236}">
                <a16:creationId xmlns:a16="http://schemas.microsoft.com/office/drawing/2014/main" id="{00D7DF97-4025-4DA3-B4B4-15C7C70597A3}"/>
              </a:ext>
            </a:extLst>
          </p:cNvPr>
          <p:cNvSpPr>
            <a:spLocks xmlns:a="http://schemas.openxmlformats.org/drawingml/2006/main" noGrp="1"/>
          </p:cNvSpPr>
          <p:nvPr/>
        </p:nvSpPr>
        <p:spPr>
          <a:xfrm xmlns:a="http://schemas.openxmlformats.org/drawingml/2006/main">
            <a:off x="1066800" y="323850"/>
            <a:ext cx="495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5E6975"/>
                </a:solidFill>
                <a:latin typeface="Aptos"/>
                <a:ea typeface="Aptos"/>
                <a:cs typeface="Aptos"/>
              </a:defRPr>
            </a:pPr>
            <a:r>
              <a:rPr sz="975" b="1">
                <a:solidFill>
                  <a:srgbClr val="5E6975"/>
                </a:solidFill>
                <a:latin typeface="Aptos"/>
                <a:ea typeface="Aptos"/>
                <a:cs typeface="Aptos"/>
              </a:rPr>
              <a:t>TRAINING EVIDENCE</a:t>
            </a:r>
          </a:p>
        </p:txBody>
      </p:sp>
      <p:sp>
        <p:nvSpPr>
          <p:cNvPr id="4" name="title-4">
            <a:extLst xmlns:a="http://schemas.openxmlformats.org/drawingml/2006/main">
              <a:ext uri="{FF2B5EF4-FFF2-40B4-BE49-F238E27FC236}">
                <a16:creationId xmlns:a16="http://schemas.microsoft.com/office/drawing/2014/main" id="{AFE32E4C-53C9-4FC1-AFA6-E2DC477480E5}"/>
              </a:ext>
            </a:extLst>
          </p:cNvPr>
          <p:cNvSpPr>
            <a:spLocks xmlns:a="http://schemas.openxmlformats.org/drawingml/2006/main" noGrp="1"/>
          </p:cNvSpPr>
          <p:nvPr/>
        </p:nvSpPr>
        <p:spPr>
          <a:xfrm xmlns:a="http://schemas.openxmlformats.org/drawingml/2006/main">
            <a:off x="685800" y="723900"/>
            <a:ext cx="89535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1E252B"/>
                </a:solidFill>
                <a:latin typeface="Aptos Display"/>
                <a:ea typeface="Aptos Display"/>
                <a:cs typeface="Aptos Display"/>
              </a:defRPr>
            </a:pPr>
            <a:r>
              <a:rPr sz="2700" b="1">
                <a:solidFill>
                  <a:srgbClr val="1E252B"/>
                </a:solidFill>
                <a:latin typeface="Aptos Display"/>
                <a:ea typeface="Aptos Display"/>
                <a:cs typeface="Aptos Display"/>
              </a:rPr>
              <a:t>A tiny adapter learns the teacher distribution while the motion stack stays frozen.</a:t>
            </a:r>
          </a:p>
        </p:txBody>
      </p:sp>
      <p:sp>
        <p:nvSpPr>
          <p:cNvPr id="5" name="loss-figure-panel">
            <a:extLst xmlns:a="http://schemas.openxmlformats.org/drawingml/2006/main">
              <a:ext uri="{FF2B5EF4-FFF2-40B4-BE49-F238E27FC236}">
                <a16:creationId xmlns:a16="http://schemas.microsoft.com/office/drawing/2014/main" id="{6D51B767-27E4-4EB6-9707-8ECFF48851E1}"/>
              </a:ext>
            </a:extLst>
          </p:cNvPr>
          <p:cNvSpPr>
            <a:spLocks xmlns:a="http://schemas.openxmlformats.org/drawingml/2006/main" noGrp="1"/>
          </p:cNvSpPr>
          <p:nvPr/>
        </p:nvSpPr>
        <p:spPr>
          <a:xfrm xmlns:a="http://schemas.openxmlformats.org/drawingml/2006/main">
            <a:off x="685800" y="1657350"/>
            <a:ext cx="66675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D6CEC0"/>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b8b37430001444e"/>
          <a:stretch xmlns:a="http://schemas.openxmlformats.org/drawingml/2006/main"/>
        </p:blipFill>
        <p:spPr>
          <a:xfrm xmlns:a="http://schemas.openxmlformats.org/drawingml/2006/main">
            <a:off x="895350" y="1862818"/>
            <a:ext cx="6248400" cy="3570514"/>
          </a:xfrm>
          <a:prstGeom xmlns:a="http://schemas.openxmlformats.org/drawingml/2006/main" prst="rect">
            <a:avLst/>
          </a:prstGeom>
        </p:spPr>
      </p:pic>
      <p:sp>
        <p:nvSpPr>
          <p:cNvPr id="7" name="config-data-panel">
            <a:extLst xmlns:a="http://schemas.openxmlformats.org/drawingml/2006/main">
              <a:ext uri="{FF2B5EF4-FFF2-40B4-BE49-F238E27FC236}">
                <a16:creationId xmlns:a16="http://schemas.microsoft.com/office/drawing/2014/main" id="{AF56E9B5-B742-4B6C-B558-A5668D5CCDBC}"/>
              </a:ext>
            </a:extLst>
          </p:cNvPr>
          <p:cNvSpPr>
            <a:spLocks xmlns:a="http://schemas.openxmlformats.org/drawingml/2006/main" noGrp="1"/>
          </p:cNvSpPr>
          <p:nvPr/>
        </p:nvSpPr>
        <p:spPr>
          <a:xfrm xmlns:a="http://schemas.openxmlformats.org/drawingml/2006/main">
            <a:off x="7734300" y="1676400"/>
            <a:ext cx="327660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D6CEC0"/>
            </a:solidFill>
            <a:prstDash val="solid"/>
          </a:ln>
        </p:spPr>
      </p:sp>
      <p:sp>
        <p:nvSpPr>
          <p:cNvPr id="8" name="config-data-accent">
            <a:extLst xmlns:a="http://schemas.openxmlformats.org/drawingml/2006/main">
              <a:ext uri="{FF2B5EF4-FFF2-40B4-BE49-F238E27FC236}">
                <a16:creationId xmlns:a16="http://schemas.microsoft.com/office/drawing/2014/main" id="{5B61D1FF-7FE4-4F51-9825-72B249BDEC27}"/>
              </a:ext>
            </a:extLst>
          </p:cNvPr>
          <p:cNvSpPr>
            <a:spLocks xmlns:a="http://schemas.openxmlformats.org/drawingml/2006/main" noGrp="1"/>
          </p:cNvSpPr>
          <p:nvPr/>
        </p:nvSpPr>
        <p:spPr>
          <a:xfrm xmlns:a="http://schemas.openxmlformats.org/drawingml/2006/main">
            <a:off x="7734300" y="1676400"/>
            <a:ext cx="76200" cy="895350"/>
          </a:xfrm>
          <a:prstGeom xmlns:a="http://schemas.openxmlformats.org/drawingml/2006/main" prst="rect">
            <a:avLst/>
          </a:prstGeom>
          <a:solidFill xmlns:a="http://schemas.openxmlformats.org/drawingml/2006/main">
            <a:srgbClr val="2F7DE1"/>
          </a:solidFill>
          <a:ln xmlns:a="http://schemas.openxmlformats.org/drawingml/2006/main" w="0">
            <a:solidFill>
              <a:srgbClr val="000000">
                <a:alpha val="0"/>
              </a:srgbClr>
            </a:solidFill>
            <a:prstDash val="solid"/>
          </a:ln>
        </p:spPr>
      </p:sp>
      <p:sp>
        <p:nvSpPr>
          <p:cNvPr id="9" name="config-data-value">
            <a:extLst xmlns:a="http://schemas.openxmlformats.org/drawingml/2006/main">
              <a:ext uri="{FF2B5EF4-FFF2-40B4-BE49-F238E27FC236}">
                <a16:creationId xmlns:a16="http://schemas.microsoft.com/office/drawing/2014/main" id="{32FCC1AF-0009-45D6-BEDB-D13300E95CE3}"/>
              </a:ext>
            </a:extLst>
          </p:cNvPr>
          <p:cNvSpPr>
            <a:spLocks xmlns:a="http://schemas.openxmlformats.org/drawingml/2006/main" noGrp="1"/>
          </p:cNvSpPr>
          <p:nvPr/>
        </p:nvSpPr>
        <p:spPr>
          <a:xfrm xmlns:a="http://schemas.openxmlformats.org/drawingml/2006/main">
            <a:off x="7962900" y="1771650"/>
            <a:ext cx="2895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2F7DE1"/>
                </a:solidFill>
                <a:latin typeface="Aptos Display"/>
                <a:ea typeface="Aptos Display"/>
                <a:cs typeface="Aptos Display"/>
              </a:defRPr>
            </a:pPr>
            <a:r>
              <a:rPr sz="1950" b="1">
                <a:solidFill>
                  <a:srgbClr val="2F7DE1"/>
                </a:solidFill>
                <a:latin typeface="Aptos Display"/>
                <a:ea typeface="Aptos Display"/>
                <a:cs typeface="Aptos Display"/>
              </a:rPr>
              <a:t>200</a:t>
            </a:r>
          </a:p>
        </p:txBody>
      </p:sp>
      <p:sp>
        <p:nvSpPr>
          <p:cNvPr id="10" name="config-data-label">
            <a:extLst xmlns:a="http://schemas.openxmlformats.org/drawingml/2006/main">
              <a:ext uri="{FF2B5EF4-FFF2-40B4-BE49-F238E27FC236}">
                <a16:creationId xmlns:a16="http://schemas.microsoft.com/office/drawing/2014/main" id="{D08F35BB-417F-4985-883D-D5EACF361443}"/>
              </a:ext>
            </a:extLst>
          </p:cNvPr>
          <p:cNvSpPr>
            <a:spLocks xmlns:a="http://schemas.openxmlformats.org/drawingml/2006/main" noGrp="1"/>
          </p:cNvSpPr>
          <p:nvPr/>
        </p:nvSpPr>
        <p:spPr>
          <a:xfrm xmlns:a="http://schemas.openxmlformats.org/drawingml/2006/main">
            <a:off x="7962900" y="2076450"/>
            <a:ext cx="2895600"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E252B"/>
                </a:solidFill>
                <a:latin typeface="Aptos"/>
                <a:ea typeface="Aptos"/>
                <a:cs typeface="Aptos"/>
              </a:defRPr>
            </a:pPr>
            <a:r>
              <a:rPr sz="975" b="1">
                <a:solidFill>
                  <a:srgbClr val="1E252B"/>
                </a:solidFill>
                <a:latin typeface="Aptos"/>
                <a:ea typeface="Aptos"/>
                <a:cs typeface="Aptos"/>
              </a:rPr>
              <a:t>Distilled style captions</a:t>
            </a:r>
          </a:p>
        </p:txBody>
      </p:sp>
      <p:sp>
        <p:nvSpPr>
          <p:cNvPr id="11" name="config-data-sub">
            <a:extLst xmlns:a="http://schemas.openxmlformats.org/drawingml/2006/main">
              <a:ext uri="{FF2B5EF4-FFF2-40B4-BE49-F238E27FC236}">
                <a16:creationId xmlns:a16="http://schemas.microsoft.com/office/drawing/2014/main" id="{27D08779-CDFF-4072-B8BE-131D038011D5}"/>
              </a:ext>
            </a:extLst>
          </p:cNvPr>
          <p:cNvSpPr>
            <a:spLocks xmlns:a="http://schemas.openxmlformats.org/drawingml/2006/main" noGrp="1"/>
          </p:cNvSpPr>
          <p:nvPr/>
        </p:nvSpPr>
        <p:spPr>
          <a:xfrm xmlns:a="http://schemas.openxmlformats.org/drawingml/2006/main">
            <a:off x="7962900" y="2247900"/>
            <a:ext cx="28956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E6975"/>
                </a:solidFill>
                <a:latin typeface="Aptos"/>
                <a:ea typeface="Aptos"/>
                <a:cs typeface="Aptos"/>
              </a:defRPr>
            </a:pPr>
            <a:r>
              <a:rPr sz="788" b="0">
                <a:solidFill>
                  <a:srgbClr val="5E6975"/>
                </a:solidFill>
                <a:latin typeface="Aptos"/>
                <a:ea typeface="Aptos"/>
                <a:cs typeface="Aptos"/>
              </a:rPr>
              <a:t>Small, reproducible teacher-token cache.</a:t>
            </a:r>
          </a:p>
        </p:txBody>
      </p:sp>
      <p:sp>
        <p:nvSpPr>
          <p:cNvPr id="12" name="config-params-panel">
            <a:extLst xmlns:a="http://schemas.openxmlformats.org/drawingml/2006/main">
              <a:ext uri="{FF2B5EF4-FFF2-40B4-BE49-F238E27FC236}">
                <a16:creationId xmlns:a16="http://schemas.microsoft.com/office/drawing/2014/main" id="{5C4A1345-F9F1-4273-989A-24C35B8EBE69}"/>
              </a:ext>
            </a:extLst>
          </p:cNvPr>
          <p:cNvSpPr>
            <a:spLocks xmlns:a="http://schemas.openxmlformats.org/drawingml/2006/main" noGrp="1"/>
          </p:cNvSpPr>
          <p:nvPr/>
        </p:nvSpPr>
        <p:spPr>
          <a:xfrm xmlns:a="http://schemas.openxmlformats.org/drawingml/2006/main">
            <a:off x="7734300" y="2762250"/>
            <a:ext cx="327660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D6CEC0"/>
            </a:solidFill>
            <a:prstDash val="solid"/>
          </a:ln>
        </p:spPr>
      </p:sp>
      <p:sp>
        <p:nvSpPr>
          <p:cNvPr id="13" name="config-params-accent">
            <a:extLst xmlns:a="http://schemas.openxmlformats.org/drawingml/2006/main">
              <a:ext uri="{FF2B5EF4-FFF2-40B4-BE49-F238E27FC236}">
                <a16:creationId xmlns:a16="http://schemas.microsoft.com/office/drawing/2014/main" id="{624AABAB-CD6B-4A55-A065-80DFB7164754}"/>
              </a:ext>
            </a:extLst>
          </p:cNvPr>
          <p:cNvSpPr>
            <a:spLocks xmlns:a="http://schemas.openxmlformats.org/drawingml/2006/main" noGrp="1"/>
          </p:cNvSpPr>
          <p:nvPr/>
        </p:nvSpPr>
        <p:spPr>
          <a:xfrm xmlns:a="http://schemas.openxmlformats.org/drawingml/2006/main">
            <a:off x="7734300" y="2762250"/>
            <a:ext cx="76200" cy="895350"/>
          </a:xfrm>
          <a:prstGeom xmlns:a="http://schemas.openxmlformats.org/drawingml/2006/main" prst="rect">
            <a:avLst/>
          </a:prstGeom>
          <a:solidFill xmlns:a="http://schemas.openxmlformats.org/drawingml/2006/main">
            <a:srgbClr val="167C80"/>
          </a:solidFill>
          <a:ln xmlns:a="http://schemas.openxmlformats.org/drawingml/2006/main" w="0">
            <a:solidFill>
              <a:srgbClr val="000000">
                <a:alpha val="0"/>
              </a:srgbClr>
            </a:solidFill>
            <a:prstDash val="solid"/>
          </a:ln>
        </p:spPr>
      </p:sp>
      <p:sp>
        <p:nvSpPr>
          <p:cNvPr id="14" name="config-params-value">
            <a:extLst xmlns:a="http://schemas.openxmlformats.org/drawingml/2006/main">
              <a:ext uri="{FF2B5EF4-FFF2-40B4-BE49-F238E27FC236}">
                <a16:creationId xmlns:a16="http://schemas.microsoft.com/office/drawing/2014/main" id="{1FDBA8BF-B5FA-41E3-AD0D-25F02C4FB47F}"/>
              </a:ext>
            </a:extLst>
          </p:cNvPr>
          <p:cNvSpPr>
            <a:spLocks xmlns:a="http://schemas.openxmlformats.org/drawingml/2006/main" noGrp="1"/>
          </p:cNvSpPr>
          <p:nvPr/>
        </p:nvSpPr>
        <p:spPr>
          <a:xfrm xmlns:a="http://schemas.openxmlformats.org/drawingml/2006/main">
            <a:off x="7962900" y="2857500"/>
            <a:ext cx="2895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67C80"/>
                </a:solidFill>
                <a:latin typeface="Aptos Display"/>
                <a:ea typeface="Aptos Display"/>
                <a:cs typeface="Aptos Display"/>
              </a:defRPr>
            </a:pPr>
            <a:r>
              <a:rPr sz="1950" b="1">
                <a:solidFill>
                  <a:srgbClr val="167C80"/>
                </a:solidFill>
                <a:latin typeface="Aptos Display"/>
                <a:ea typeface="Aptos Display"/>
                <a:cs typeface="Aptos Display"/>
              </a:rPr>
              <a:t>1.005%</a:t>
            </a:r>
          </a:p>
        </p:txBody>
      </p:sp>
      <p:sp>
        <p:nvSpPr>
          <p:cNvPr id="15" name="config-params-label">
            <a:extLst xmlns:a="http://schemas.openxmlformats.org/drawingml/2006/main">
              <a:ext uri="{FF2B5EF4-FFF2-40B4-BE49-F238E27FC236}">
                <a16:creationId xmlns:a16="http://schemas.microsoft.com/office/drawing/2014/main" id="{0F321DB7-1B06-45C0-988A-21D77F7A5F0B}"/>
              </a:ext>
            </a:extLst>
          </p:cNvPr>
          <p:cNvSpPr>
            <a:spLocks xmlns:a="http://schemas.openxmlformats.org/drawingml/2006/main" noGrp="1"/>
          </p:cNvSpPr>
          <p:nvPr/>
        </p:nvSpPr>
        <p:spPr>
          <a:xfrm xmlns:a="http://schemas.openxmlformats.org/drawingml/2006/main">
            <a:off x="7962900" y="3162300"/>
            <a:ext cx="2895600"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E252B"/>
                </a:solidFill>
                <a:latin typeface="Aptos"/>
                <a:ea typeface="Aptos"/>
                <a:cs typeface="Aptos"/>
              </a:defRPr>
            </a:pPr>
            <a:r>
              <a:rPr sz="975" b="1">
                <a:solidFill>
                  <a:srgbClr val="1E252B"/>
                </a:solidFill>
                <a:latin typeface="Aptos"/>
                <a:ea typeface="Aptos"/>
                <a:cs typeface="Aptos"/>
              </a:rPr>
              <a:t>Generator parameters updated</a:t>
            </a:r>
          </a:p>
        </p:txBody>
      </p:sp>
      <p:sp>
        <p:nvSpPr>
          <p:cNvPr id="16" name="config-params-sub">
            <a:extLst xmlns:a="http://schemas.openxmlformats.org/drawingml/2006/main">
              <a:ext uri="{FF2B5EF4-FFF2-40B4-BE49-F238E27FC236}">
                <a16:creationId xmlns:a16="http://schemas.microsoft.com/office/drawing/2014/main" id="{32F92E00-9FB9-4E76-AFB4-3B124EA57ADF}"/>
              </a:ext>
            </a:extLst>
          </p:cNvPr>
          <p:cNvSpPr>
            <a:spLocks xmlns:a="http://schemas.openxmlformats.org/drawingml/2006/main" noGrp="1"/>
          </p:cNvSpPr>
          <p:nvPr/>
        </p:nvSpPr>
        <p:spPr>
          <a:xfrm xmlns:a="http://schemas.openxmlformats.org/drawingml/2006/main">
            <a:off x="7962900" y="3333750"/>
            <a:ext cx="28956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E6975"/>
                </a:solidFill>
                <a:latin typeface="Aptos"/>
                <a:ea typeface="Aptos"/>
                <a:cs typeface="Aptos"/>
              </a:defRPr>
            </a:pPr>
            <a:r>
              <a:rPr sz="788" b="0">
                <a:solidFill>
                  <a:srgbClr val="5E6975"/>
                </a:solidFill>
                <a:latin typeface="Aptos"/>
                <a:ea typeface="Aptos"/>
                <a:cs typeface="Aptos"/>
              </a:rPr>
              <a:t>1.97M trainable out of 195.59M.</a:t>
            </a:r>
          </a:p>
        </p:txBody>
      </p:sp>
      <p:sp>
        <p:nvSpPr>
          <p:cNvPr id="17" name="config-loss-panel">
            <a:extLst xmlns:a="http://schemas.openxmlformats.org/drawingml/2006/main">
              <a:ext uri="{FF2B5EF4-FFF2-40B4-BE49-F238E27FC236}">
                <a16:creationId xmlns:a16="http://schemas.microsoft.com/office/drawing/2014/main" id="{35EACEF9-5AEC-41A5-BB77-DA8BD426F019}"/>
              </a:ext>
            </a:extLst>
          </p:cNvPr>
          <p:cNvSpPr>
            <a:spLocks xmlns:a="http://schemas.openxmlformats.org/drawingml/2006/main" noGrp="1"/>
          </p:cNvSpPr>
          <p:nvPr/>
        </p:nvSpPr>
        <p:spPr>
          <a:xfrm xmlns:a="http://schemas.openxmlformats.org/drawingml/2006/main">
            <a:off x="7734300" y="3848100"/>
            <a:ext cx="327660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D6CEC0"/>
            </a:solidFill>
            <a:prstDash val="solid"/>
          </a:ln>
        </p:spPr>
      </p:sp>
      <p:sp>
        <p:nvSpPr>
          <p:cNvPr id="18" name="config-loss-accent">
            <a:extLst xmlns:a="http://schemas.openxmlformats.org/drawingml/2006/main">
              <a:ext uri="{FF2B5EF4-FFF2-40B4-BE49-F238E27FC236}">
                <a16:creationId xmlns:a16="http://schemas.microsoft.com/office/drawing/2014/main" id="{7E19D68D-19D0-490D-8618-2C29CD059607}"/>
              </a:ext>
            </a:extLst>
          </p:cNvPr>
          <p:cNvSpPr>
            <a:spLocks xmlns:a="http://schemas.openxmlformats.org/drawingml/2006/main" noGrp="1"/>
          </p:cNvSpPr>
          <p:nvPr/>
        </p:nvSpPr>
        <p:spPr>
          <a:xfrm xmlns:a="http://schemas.openxmlformats.org/drawingml/2006/main">
            <a:off x="7734300" y="3848100"/>
            <a:ext cx="76200" cy="895350"/>
          </a:xfrm>
          <a:prstGeom xmlns:a="http://schemas.openxmlformats.org/drawingml/2006/main" prst="rect">
            <a:avLst/>
          </a:prstGeom>
          <a:solidFill xmlns:a="http://schemas.openxmlformats.org/drawingml/2006/main">
            <a:srgbClr val="B15A35"/>
          </a:solidFill>
          <a:ln xmlns:a="http://schemas.openxmlformats.org/drawingml/2006/main" w="0">
            <a:solidFill>
              <a:srgbClr val="000000">
                <a:alpha val="0"/>
              </a:srgbClr>
            </a:solidFill>
            <a:prstDash val="solid"/>
          </a:ln>
        </p:spPr>
      </p:sp>
      <p:sp>
        <p:nvSpPr>
          <p:cNvPr id="19" name="config-loss-value">
            <a:extLst xmlns:a="http://schemas.openxmlformats.org/drawingml/2006/main">
              <a:ext uri="{FF2B5EF4-FFF2-40B4-BE49-F238E27FC236}">
                <a16:creationId xmlns:a16="http://schemas.microsoft.com/office/drawing/2014/main" id="{38C178F0-45A5-4177-8F89-2CD6DB85B47F}"/>
              </a:ext>
            </a:extLst>
          </p:cNvPr>
          <p:cNvSpPr>
            <a:spLocks xmlns:a="http://schemas.openxmlformats.org/drawingml/2006/main" noGrp="1"/>
          </p:cNvSpPr>
          <p:nvPr/>
        </p:nvSpPr>
        <p:spPr>
          <a:xfrm xmlns:a="http://schemas.openxmlformats.org/drawingml/2006/main">
            <a:off x="7962900" y="3943350"/>
            <a:ext cx="2895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B15A35"/>
                </a:solidFill>
                <a:latin typeface="Aptos Display"/>
                <a:ea typeface="Aptos Display"/>
                <a:cs typeface="Aptos Display"/>
              </a:defRPr>
            </a:pPr>
            <a:r>
              <a:rPr sz="1950" b="1">
                <a:solidFill>
                  <a:srgbClr val="B15A35"/>
                </a:solidFill>
                <a:latin typeface="Aptos Display"/>
                <a:ea typeface="Aptos Display"/>
                <a:cs typeface="Aptos Display"/>
              </a:rPr>
              <a:t>0.0669</a:t>
            </a:r>
          </a:p>
        </p:txBody>
      </p:sp>
      <p:sp>
        <p:nvSpPr>
          <p:cNvPr id="20" name="config-loss-label">
            <a:extLst xmlns:a="http://schemas.openxmlformats.org/drawingml/2006/main">
              <a:ext uri="{FF2B5EF4-FFF2-40B4-BE49-F238E27FC236}">
                <a16:creationId xmlns:a16="http://schemas.microsoft.com/office/drawing/2014/main" id="{2DDD52DB-2EEE-4836-A7B0-ED4302CE4E66}"/>
              </a:ext>
            </a:extLst>
          </p:cNvPr>
          <p:cNvSpPr>
            <a:spLocks xmlns:a="http://schemas.openxmlformats.org/drawingml/2006/main" noGrp="1"/>
          </p:cNvSpPr>
          <p:nvPr/>
        </p:nvSpPr>
        <p:spPr>
          <a:xfrm xmlns:a="http://schemas.openxmlformats.org/drawingml/2006/main">
            <a:off x="7962900" y="4248150"/>
            <a:ext cx="2895600"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E252B"/>
                </a:solidFill>
                <a:latin typeface="Aptos"/>
                <a:ea typeface="Aptos"/>
                <a:cs typeface="Aptos"/>
              </a:defRPr>
            </a:pPr>
            <a:r>
              <a:rPr sz="975" b="1">
                <a:solidFill>
                  <a:srgbClr val="1E252B"/>
                </a:solidFill>
                <a:latin typeface="Aptos"/>
                <a:ea typeface="Aptos"/>
                <a:cs typeface="Aptos"/>
              </a:rPr>
              <a:t>Final train / val diagnostic</a:t>
            </a:r>
          </a:p>
        </p:txBody>
      </p:sp>
      <p:sp>
        <p:nvSpPr>
          <p:cNvPr id="21" name="config-loss-sub">
            <a:extLst xmlns:a="http://schemas.openxmlformats.org/drawingml/2006/main">
              <a:ext uri="{FF2B5EF4-FFF2-40B4-BE49-F238E27FC236}">
                <a16:creationId xmlns:a16="http://schemas.microsoft.com/office/drawing/2014/main" id="{71FEA7DA-8455-4989-98ED-3C01A2558B1D}"/>
              </a:ext>
            </a:extLst>
          </p:cNvPr>
          <p:cNvSpPr>
            <a:spLocks xmlns:a="http://schemas.openxmlformats.org/drawingml/2006/main" noGrp="1"/>
          </p:cNvSpPr>
          <p:nvPr/>
        </p:nvSpPr>
        <p:spPr>
          <a:xfrm xmlns:a="http://schemas.openxmlformats.org/drawingml/2006/main">
            <a:off x="7962900" y="4419600"/>
            <a:ext cx="28956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E6975"/>
                </a:solidFill>
                <a:latin typeface="Aptos"/>
                <a:ea typeface="Aptos"/>
                <a:cs typeface="Aptos"/>
              </a:defRPr>
            </a:pPr>
            <a:r>
              <a:rPr sz="788" b="0">
                <a:solidFill>
                  <a:srgbClr val="5E6975"/>
                </a:solidFill>
                <a:latin typeface="Aptos"/>
                <a:ea typeface="Aptos"/>
                <a:cs typeface="Aptos"/>
              </a:rPr>
              <a:t>Continued checkpoint ends at matched pseudo-token loss.</a:t>
            </a:r>
          </a:p>
        </p:txBody>
      </p:sp>
      <p:sp>
        <p:nvSpPr>
          <p:cNvPr id="22" name="training-caveat-panel">
            <a:extLst xmlns:a="http://schemas.openxmlformats.org/drawingml/2006/main">
              <a:ext uri="{FF2B5EF4-FFF2-40B4-BE49-F238E27FC236}">
                <a16:creationId xmlns:a16="http://schemas.microsoft.com/office/drawing/2014/main" id="{8743CD31-0B5F-474D-A79E-47DEB06012C0}"/>
              </a:ext>
            </a:extLst>
          </p:cNvPr>
          <p:cNvSpPr>
            <a:spLocks xmlns:a="http://schemas.openxmlformats.org/drawingml/2006/main" noGrp="1"/>
          </p:cNvSpPr>
          <p:nvPr/>
        </p:nvSpPr>
        <p:spPr>
          <a:xfrm xmlns:a="http://schemas.openxmlformats.org/drawingml/2006/main">
            <a:off x="7734300" y="5029200"/>
            <a:ext cx="3276600" cy="628650"/>
          </a:xfrm>
          <a:prstGeom xmlns:a="http://schemas.openxmlformats.org/drawingml/2006/main" prst="rect">
            <a:avLst/>
          </a:prstGeom>
          <a:solidFill xmlns:a="http://schemas.openxmlformats.org/drawingml/2006/main">
            <a:srgbClr val="2D3440"/>
          </a:solidFill>
          <a:ln xmlns:a="http://schemas.openxmlformats.org/drawingml/2006/main" w="0">
            <a:solidFill>
              <a:srgbClr val="000000">
                <a:alpha val="0"/>
              </a:srgbClr>
            </a:solidFill>
            <a:prstDash val="solid"/>
          </a:ln>
        </p:spPr>
      </p:sp>
      <p:sp>
        <p:nvSpPr>
          <p:cNvPr id="23" name="training-caveat-text">
            <a:extLst xmlns:a="http://schemas.openxmlformats.org/drawingml/2006/main">
              <a:ext uri="{FF2B5EF4-FFF2-40B4-BE49-F238E27FC236}">
                <a16:creationId xmlns:a16="http://schemas.microsoft.com/office/drawing/2014/main" id="{DBE871FE-3280-4F9D-829C-694783DB5985}"/>
              </a:ext>
            </a:extLst>
          </p:cNvPr>
          <p:cNvSpPr>
            <a:spLocks xmlns:a="http://schemas.openxmlformats.org/drawingml/2006/main" noGrp="1"/>
          </p:cNvSpPr>
          <p:nvPr/>
        </p:nvSpPr>
        <p:spPr>
          <a:xfrm xmlns:a="http://schemas.openxmlformats.org/drawingml/2006/main">
            <a:off x="7943850" y="5162550"/>
            <a:ext cx="2857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This proves adapter learning against teacher tokens, not official HumanML3D motion fidelity.</a:t>
            </a:r>
          </a:p>
        </p:txBody>
      </p:sp>
      <p:sp>
        <p:nvSpPr>
          <p:cNvPr id="24" name="footer-4-rule">
            <a:extLst xmlns:a="http://schemas.openxmlformats.org/drawingml/2006/main">
              <a:ext uri="{FF2B5EF4-FFF2-40B4-BE49-F238E27FC236}">
                <a16:creationId xmlns:a16="http://schemas.microsoft.com/office/drawing/2014/main" id="{6BA04596-1446-4BD6-886C-DAC5EB0E36ED}"/>
              </a:ext>
            </a:extLst>
          </p:cNvPr>
          <p:cNvSpPr>
            <a:spLocks xmlns:a="http://schemas.openxmlformats.org/drawingml/2006/main" noGrp="1"/>
          </p:cNvSpPr>
          <p:nvPr/>
        </p:nvSpPr>
        <p:spPr>
          <a:xfrm xmlns:a="http://schemas.openxmlformats.org/drawingml/2006/main">
            <a:off x="685800" y="6343650"/>
            <a:ext cx="108204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25" name="footer-4-source">
            <a:extLst xmlns:a="http://schemas.openxmlformats.org/drawingml/2006/main">
              <a:ext uri="{FF2B5EF4-FFF2-40B4-BE49-F238E27FC236}">
                <a16:creationId xmlns:a16="http://schemas.microsoft.com/office/drawing/2014/main" id="{A2312665-7581-45FA-8D8E-3E2FA508A987}"/>
              </a:ext>
            </a:extLst>
          </p:cNvPr>
          <p:cNvSpPr>
            <a:spLocks xmlns:a="http://schemas.openxmlformats.org/drawingml/2006/main" noGrp="1"/>
          </p:cNvSpPr>
          <p:nvPr/>
        </p:nvSpPr>
        <p:spPr>
          <a:xfrm xmlns:a="http://schemas.openxmlformats.org/drawingml/2006/main">
            <a:off x="685800" y="6419850"/>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7A746A"/>
                </a:solidFill>
                <a:latin typeface="Aptos"/>
                <a:ea typeface="Aptos"/>
                <a:cs typeface="Aptos"/>
              </a:defRPr>
            </a:pPr>
            <a:r>
              <a:rPr sz="750" b="0">
                <a:solidFill>
                  <a:srgbClr val="7A746A"/>
                </a:solidFill>
                <a:latin typeface="Aptos"/>
                <a:ea typeface="Aptos"/>
                <a:cs typeface="Aptos"/>
              </a:rPr>
              <a:t>Source: Experiments; Results; eval_distill_loss_comparison.png</a:t>
            </a:r>
          </a:p>
        </p:txBody>
      </p:sp>
      <p:sp>
        <p:nvSpPr>
          <p:cNvPr id="26" name="footer-4-page">
            <a:extLst xmlns:a="http://schemas.openxmlformats.org/drawingml/2006/main">
              <a:ext uri="{FF2B5EF4-FFF2-40B4-BE49-F238E27FC236}">
                <a16:creationId xmlns:a16="http://schemas.microsoft.com/office/drawing/2014/main" id="{99B398F7-0D81-403B-8386-8276D0F0B4DF}"/>
              </a:ext>
            </a:extLst>
          </p:cNvPr>
          <p:cNvSpPr>
            <a:spLocks xmlns:a="http://schemas.openxmlformats.org/drawingml/2006/main" noGrp="1"/>
          </p:cNvSpPr>
          <p:nvPr/>
        </p:nvSpPr>
        <p:spPr>
          <a:xfrm xmlns:a="http://schemas.openxmlformats.org/drawingml/2006/main">
            <a:off x="9620250" y="6419850"/>
            <a:ext cx="1885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7A746A"/>
                </a:solidFill>
                <a:latin typeface="Aptos"/>
                <a:ea typeface="Aptos"/>
                <a:cs typeface="Aptos"/>
              </a:defRPr>
            </a:pPr>
            <a:r>
              <a:rPr sz="750" b="0">
                <a:solidFill>
                  <a:srgbClr val="7A746A"/>
                </a:solidFill>
                <a:latin typeface="Aptos"/>
                <a:ea typeface="Aptos"/>
                <a:cs typeface="Aptos"/>
              </a:rPr>
              <a:t>4 / 6 - Initial 5-minute report</a:t>
            </a:r>
          </a:p>
        </p:txBody>
      </p:sp>
    </p:spTree>
    <p:extLst>
      <p:ext uri="{BB962C8B-B14F-4D97-AF65-F5344CB8AC3E}">
        <p14:creationId xmlns:p14="http://schemas.microsoft.com/office/powerpoint/2010/main" val="96568193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slide-5-background">
            <a:extLst xmlns:a="http://schemas.openxmlformats.org/drawingml/2006/main">
              <a:ext uri="{FF2B5EF4-FFF2-40B4-BE49-F238E27FC236}">
                <a16:creationId xmlns:a16="http://schemas.microsoft.com/office/drawing/2014/main" id="{4A67BD52-EED9-4F39-8B5F-0541A455FD8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D"/>
          </a:solidFill>
          <a:ln xmlns:a="http://schemas.openxmlformats.org/drawingml/2006/main" w="0">
            <a:solidFill>
              <a:srgbClr val="000000">
                <a:alpha val="0"/>
              </a:srgbClr>
            </a:solidFill>
            <a:prstDash val="solid"/>
          </a:ln>
        </p:spPr>
      </p:sp>
      <p:sp>
        <p:nvSpPr>
          <p:cNvPr id="2" name="kicker-5-marker">
            <a:extLst xmlns:a="http://schemas.openxmlformats.org/drawingml/2006/main">
              <a:ext uri="{FF2B5EF4-FFF2-40B4-BE49-F238E27FC236}">
                <a16:creationId xmlns:a16="http://schemas.microsoft.com/office/drawing/2014/main" id="{207821F7-52FB-43D3-B1BC-1F360FBD99D6}"/>
              </a:ext>
            </a:extLst>
          </p:cNvPr>
          <p:cNvSpPr>
            <a:spLocks xmlns:a="http://schemas.openxmlformats.org/drawingml/2006/main" noGrp="1"/>
          </p:cNvSpPr>
          <p:nvPr/>
        </p:nvSpPr>
        <p:spPr>
          <a:xfrm xmlns:a="http://schemas.openxmlformats.org/drawingml/2006/main">
            <a:off x="685800" y="419100"/>
            <a:ext cx="266700" cy="38100"/>
          </a:xfrm>
          <a:prstGeom xmlns:a="http://schemas.openxmlformats.org/drawingml/2006/main" prst="rect">
            <a:avLst/>
          </a:prstGeom>
          <a:solidFill xmlns:a="http://schemas.openxmlformats.org/drawingml/2006/main">
            <a:srgbClr val="167C80"/>
          </a:solidFill>
          <a:ln xmlns:a="http://schemas.openxmlformats.org/drawingml/2006/main" w="0">
            <a:solidFill>
              <a:srgbClr val="000000">
                <a:alpha val="0"/>
              </a:srgbClr>
            </a:solidFill>
            <a:prstDash val="solid"/>
          </a:ln>
        </p:spPr>
      </p:sp>
      <p:sp>
        <p:nvSpPr>
          <p:cNvPr id="3" name="kicker-5-label">
            <a:extLst xmlns:a="http://schemas.openxmlformats.org/drawingml/2006/main">
              <a:ext uri="{FF2B5EF4-FFF2-40B4-BE49-F238E27FC236}">
                <a16:creationId xmlns:a16="http://schemas.microsoft.com/office/drawing/2014/main" id="{2098E669-421F-44DE-8E9F-7F52BC7192F0}"/>
              </a:ext>
            </a:extLst>
          </p:cNvPr>
          <p:cNvSpPr>
            <a:spLocks xmlns:a="http://schemas.openxmlformats.org/drawingml/2006/main" noGrp="1"/>
          </p:cNvSpPr>
          <p:nvPr/>
        </p:nvSpPr>
        <p:spPr>
          <a:xfrm xmlns:a="http://schemas.openxmlformats.org/drawingml/2006/main">
            <a:off x="1066800" y="323850"/>
            <a:ext cx="495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5E6975"/>
                </a:solidFill>
                <a:latin typeface="Aptos"/>
                <a:ea typeface="Aptos"/>
                <a:cs typeface="Aptos"/>
              </a:defRPr>
            </a:pPr>
            <a:r>
              <a:rPr sz="975" b="1">
                <a:solidFill>
                  <a:srgbClr val="5E6975"/>
                </a:solidFill>
                <a:latin typeface="Aptos"/>
                <a:ea typeface="Aptos"/>
                <a:cs typeface="Aptos"/>
              </a:rPr>
              <a:t>RESULTS</a:t>
            </a:r>
          </a:p>
        </p:txBody>
      </p:sp>
      <p:sp>
        <p:nvSpPr>
          <p:cNvPr id="4" name="title-5">
            <a:extLst xmlns:a="http://schemas.openxmlformats.org/drawingml/2006/main">
              <a:ext uri="{FF2B5EF4-FFF2-40B4-BE49-F238E27FC236}">
                <a16:creationId xmlns:a16="http://schemas.microsoft.com/office/drawing/2014/main" id="{CCB92E08-D71E-4B9F-85BF-A13AB795AAF4}"/>
              </a:ext>
            </a:extLst>
          </p:cNvPr>
          <p:cNvSpPr>
            <a:spLocks xmlns:a="http://schemas.openxmlformats.org/drawingml/2006/main" noGrp="1"/>
          </p:cNvSpPr>
          <p:nvPr/>
        </p:nvSpPr>
        <p:spPr>
          <a:xfrm xmlns:a="http://schemas.openxmlformats.org/drawingml/2006/main">
            <a:off x="685800" y="723900"/>
            <a:ext cx="89535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E252B"/>
                </a:solidFill>
                <a:latin typeface="Aptos Display"/>
                <a:ea typeface="Aptos Display"/>
                <a:cs typeface="Aptos Display"/>
              </a:defRPr>
            </a:pPr>
            <a:r>
              <a:rPr sz="3000" b="1">
                <a:solidFill>
                  <a:srgbClr val="1E252B"/>
                </a:solidFill>
                <a:latin typeface="Aptos Display"/>
                <a:ea typeface="Aptos Display"/>
                <a:cs typeface="Aptos Display"/>
              </a:rPr>
              <a:t>Proxy metrics show style steering on most tested prompts.</a:t>
            </a:r>
          </a:p>
        </p:txBody>
      </p:sp>
      <p:sp>
        <p:nvSpPr>
          <p:cNvPr id="5" name="proxy-chart-caption">
            <a:extLst xmlns:a="http://schemas.openxmlformats.org/drawingml/2006/main">
              <a:ext uri="{FF2B5EF4-FFF2-40B4-BE49-F238E27FC236}">
                <a16:creationId xmlns:a16="http://schemas.microsoft.com/office/drawing/2014/main" id="{75BADF81-E8C5-41A5-BE3F-D3CF7DFF43B1}"/>
              </a:ext>
            </a:extLst>
          </p:cNvPr>
          <p:cNvSpPr>
            <a:spLocks xmlns:a="http://schemas.openxmlformats.org/drawingml/2006/main" noGrp="1"/>
          </p:cNvSpPr>
          <p:nvPr/>
        </p:nvSpPr>
        <p:spPr>
          <a:xfrm xmlns:a="http://schemas.openxmlformats.org/drawingml/2006/main">
            <a:off x="1047750" y="1524000"/>
            <a:ext cx="790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E6975"/>
                </a:solidFill>
                <a:latin typeface="Aptos"/>
                <a:ea typeface="Aptos"/>
                <a:cs typeface="Aptos"/>
              </a:defRPr>
            </a:pPr>
            <a:r>
              <a:rPr sz="1125" b="1">
                <a:solidFill>
                  <a:srgbClr val="5E6975"/>
                </a:solidFill>
                <a:latin typeface="Aptos"/>
                <a:ea typeface="Aptos"/>
                <a:cs typeface="Aptos"/>
              </a:rPr>
              <a:t>Expected-direction BVH proxy win rate</a:t>
            </a:r>
          </a:p>
        </p:txBody>
      </p:sp>
      <p:sp>
        <p:nvSpPr>
          <p:cNvPr id="6" name="proxy-label-1">
            <a:extLst xmlns:a="http://schemas.openxmlformats.org/drawingml/2006/main">
              <a:ext uri="{FF2B5EF4-FFF2-40B4-BE49-F238E27FC236}">
                <a16:creationId xmlns:a16="http://schemas.microsoft.com/office/drawing/2014/main" id="{21415077-B327-4708-807A-DF38F28BE741}"/>
              </a:ext>
            </a:extLst>
          </p:cNvPr>
          <p:cNvSpPr>
            <a:spLocks xmlns:a="http://schemas.openxmlformats.org/drawingml/2006/main" noGrp="1"/>
          </p:cNvSpPr>
          <p:nvPr/>
        </p:nvSpPr>
        <p:spPr>
          <a:xfrm xmlns:a="http://schemas.openxmlformats.org/drawingml/2006/main">
            <a:off x="1047750" y="1781175"/>
            <a:ext cx="1714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1350" b="0">
                <a:solidFill>
                  <a:srgbClr val="1E252B"/>
                </a:solidFill>
                <a:latin typeface="Aptos"/>
                <a:ea typeface="Aptos"/>
                <a:cs typeface="Aptos"/>
              </a:defRPr>
            </a:pPr>
            <a:r>
              <a:rPr sz="1350" b="0">
                <a:solidFill>
                  <a:srgbClr val="1E252B"/>
                </a:solidFill>
                <a:latin typeface="Aptos"/>
                <a:ea typeface="Aptos"/>
                <a:cs typeface="Aptos"/>
              </a:rPr>
              <a:t>Slow deliberate</a:t>
            </a:r>
          </a:p>
        </p:txBody>
      </p:sp>
      <p:sp>
        <p:nvSpPr>
          <p:cNvPr id="7" name="proxy-bar-1-track">
            <a:extLst xmlns:a="http://schemas.openxmlformats.org/drawingml/2006/main">
              <a:ext uri="{FF2B5EF4-FFF2-40B4-BE49-F238E27FC236}">
                <a16:creationId xmlns:a16="http://schemas.microsoft.com/office/drawing/2014/main" id="{EFDFCDD8-CA41-4CF9-A5B9-425BCDB1D400}"/>
              </a:ext>
            </a:extLst>
          </p:cNvPr>
          <p:cNvSpPr>
            <a:spLocks xmlns:a="http://schemas.openxmlformats.org/drawingml/2006/main" noGrp="1"/>
          </p:cNvSpPr>
          <p:nvPr/>
        </p:nvSpPr>
        <p:spPr>
          <a:xfrm xmlns:a="http://schemas.openxmlformats.org/drawingml/2006/main">
            <a:off x="3028950" y="1790700"/>
            <a:ext cx="5715000" cy="285750"/>
          </a:xfrm>
          <a:prstGeom xmlns:a="http://schemas.openxmlformats.org/drawingml/2006/main" prst="rect">
            <a:avLst/>
          </a:prstGeom>
          <a:solidFill xmlns:a="http://schemas.openxmlformats.org/drawingml/2006/main">
            <a:srgbClr val="E9E2D7"/>
          </a:solidFill>
          <a:ln xmlns:a="http://schemas.openxmlformats.org/drawingml/2006/main" w="0">
            <a:solidFill>
              <a:srgbClr val="000000">
                <a:alpha val="0"/>
              </a:srgbClr>
            </a:solidFill>
            <a:prstDash val="solid"/>
          </a:ln>
        </p:spPr>
      </p:sp>
      <p:sp>
        <p:nvSpPr>
          <p:cNvPr id="8" name="proxy-bar-1-fill">
            <a:extLst xmlns:a="http://schemas.openxmlformats.org/drawingml/2006/main">
              <a:ext uri="{FF2B5EF4-FFF2-40B4-BE49-F238E27FC236}">
                <a16:creationId xmlns:a16="http://schemas.microsoft.com/office/drawing/2014/main" id="{7852A9FA-24B4-4EE2-BB84-DF1C09442C3A}"/>
              </a:ext>
            </a:extLst>
          </p:cNvPr>
          <p:cNvSpPr>
            <a:spLocks xmlns:a="http://schemas.openxmlformats.org/drawingml/2006/main" noGrp="1"/>
          </p:cNvSpPr>
          <p:nvPr/>
        </p:nvSpPr>
        <p:spPr>
          <a:xfrm xmlns:a="http://schemas.openxmlformats.org/drawingml/2006/main">
            <a:off x="3028950" y="1790700"/>
            <a:ext cx="5715000" cy="285750"/>
          </a:xfrm>
          <a:prstGeom xmlns:a="http://schemas.openxmlformats.org/drawingml/2006/main" prst="rect">
            <a:avLst/>
          </a:prstGeom>
          <a:solidFill xmlns:a="http://schemas.openxmlformats.org/drawingml/2006/main">
            <a:srgbClr val="167C80"/>
          </a:solidFill>
          <a:ln xmlns:a="http://schemas.openxmlformats.org/drawingml/2006/main" w="0">
            <a:solidFill>
              <a:srgbClr val="000000">
                <a:alpha val="0"/>
              </a:srgbClr>
            </a:solidFill>
            <a:prstDash val="solid"/>
          </a:ln>
        </p:spPr>
      </p:sp>
      <p:sp>
        <p:nvSpPr>
          <p:cNvPr id="9" name="proxy-value-1">
            <a:extLst xmlns:a="http://schemas.openxmlformats.org/drawingml/2006/main">
              <a:ext uri="{FF2B5EF4-FFF2-40B4-BE49-F238E27FC236}">
                <a16:creationId xmlns:a16="http://schemas.microsoft.com/office/drawing/2014/main" id="{D5469D11-7C8B-46B4-ABA3-9C531D9D4AF4}"/>
              </a:ext>
            </a:extLst>
          </p:cNvPr>
          <p:cNvSpPr>
            <a:spLocks xmlns:a="http://schemas.openxmlformats.org/drawingml/2006/main" noGrp="1"/>
          </p:cNvSpPr>
          <p:nvPr/>
        </p:nvSpPr>
        <p:spPr>
          <a:xfrm xmlns:a="http://schemas.openxmlformats.org/drawingml/2006/main">
            <a:off x="8915400" y="1771650"/>
            <a:ext cx="666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67C80"/>
                </a:solidFill>
                <a:latin typeface="Aptos"/>
                <a:ea typeface="Aptos"/>
                <a:cs typeface="Aptos"/>
              </a:defRPr>
            </a:pPr>
            <a:r>
              <a:rPr sz="1500" b="1">
                <a:solidFill>
                  <a:srgbClr val="167C80"/>
                </a:solidFill>
                <a:latin typeface="Aptos"/>
                <a:ea typeface="Aptos"/>
                <a:cs typeface="Aptos"/>
              </a:rPr>
              <a:t>4/4</a:t>
            </a:r>
          </a:p>
        </p:txBody>
      </p:sp>
      <p:sp>
        <p:nvSpPr>
          <p:cNvPr id="10" name="proxy-label-2">
            <a:extLst xmlns:a="http://schemas.openxmlformats.org/drawingml/2006/main">
              <a:ext uri="{FF2B5EF4-FFF2-40B4-BE49-F238E27FC236}">
                <a16:creationId xmlns:a16="http://schemas.microsoft.com/office/drawing/2014/main" id="{6E170A45-7F8D-44D4-8FA6-F0679AD5FB1D}"/>
              </a:ext>
            </a:extLst>
          </p:cNvPr>
          <p:cNvSpPr>
            <a:spLocks xmlns:a="http://schemas.openxmlformats.org/drawingml/2006/main" noGrp="1"/>
          </p:cNvSpPr>
          <p:nvPr/>
        </p:nvSpPr>
        <p:spPr>
          <a:xfrm xmlns:a="http://schemas.openxmlformats.org/drawingml/2006/main">
            <a:off x="1047750" y="2314575"/>
            <a:ext cx="1714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1350" b="0">
                <a:solidFill>
                  <a:srgbClr val="1E252B"/>
                </a:solidFill>
                <a:latin typeface="Aptos"/>
                <a:ea typeface="Aptos"/>
                <a:cs typeface="Aptos"/>
              </a:defRPr>
            </a:pPr>
            <a:r>
              <a:rPr sz="1350" b="0">
                <a:solidFill>
                  <a:srgbClr val="1E252B"/>
                </a:solidFill>
                <a:latin typeface="Aptos"/>
                <a:ea typeface="Aptos"/>
                <a:cs typeface="Aptos"/>
              </a:rPr>
              <a:t>Graceful dance</a:t>
            </a:r>
          </a:p>
        </p:txBody>
      </p:sp>
      <p:sp>
        <p:nvSpPr>
          <p:cNvPr id="11" name="proxy-bar-2-track">
            <a:extLst xmlns:a="http://schemas.openxmlformats.org/drawingml/2006/main">
              <a:ext uri="{FF2B5EF4-FFF2-40B4-BE49-F238E27FC236}">
                <a16:creationId xmlns:a16="http://schemas.microsoft.com/office/drawing/2014/main" id="{6373DBDA-50A5-4047-AF2D-1F4D731281D2}"/>
              </a:ext>
            </a:extLst>
          </p:cNvPr>
          <p:cNvSpPr>
            <a:spLocks xmlns:a="http://schemas.openxmlformats.org/drawingml/2006/main" noGrp="1"/>
          </p:cNvSpPr>
          <p:nvPr/>
        </p:nvSpPr>
        <p:spPr>
          <a:xfrm xmlns:a="http://schemas.openxmlformats.org/drawingml/2006/main">
            <a:off x="3028950" y="2324100"/>
            <a:ext cx="5715000" cy="285750"/>
          </a:xfrm>
          <a:prstGeom xmlns:a="http://schemas.openxmlformats.org/drawingml/2006/main" prst="rect">
            <a:avLst/>
          </a:prstGeom>
          <a:solidFill xmlns:a="http://schemas.openxmlformats.org/drawingml/2006/main">
            <a:srgbClr val="E9E2D7"/>
          </a:solidFill>
          <a:ln xmlns:a="http://schemas.openxmlformats.org/drawingml/2006/main" w="0">
            <a:solidFill>
              <a:srgbClr val="000000">
                <a:alpha val="0"/>
              </a:srgbClr>
            </a:solidFill>
            <a:prstDash val="solid"/>
          </a:ln>
        </p:spPr>
      </p:sp>
      <p:sp>
        <p:nvSpPr>
          <p:cNvPr id="12" name="proxy-bar-2-fill">
            <a:extLst xmlns:a="http://schemas.openxmlformats.org/drawingml/2006/main">
              <a:ext uri="{FF2B5EF4-FFF2-40B4-BE49-F238E27FC236}">
                <a16:creationId xmlns:a16="http://schemas.microsoft.com/office/drawing/2014/main" id="{EA6DFC29-98AC-4619-9694-63ACB9F2F2EB}"/>
              </a:ext>
            </a:extLst>
          </p:cNvPr>
          <p:cNvSpPr>
            <a:spLocks xmlns:a="http://schemas.openxmlformats.org/drawingml/2006/main" noGrp="1"/>
          </p:cNvSpPr>
          <p:nvPr/>
        </p:nvSpPr>
        <p:spPr>
          <a:xfrm xmlns:a="http://schemas.openxmlformats.org/drawingml/2006/main">
            <a:off x="3028950" y="2324100"/>
            <a:ext cx="4286250" cy="285750"/>
          </a:xfrm>
          <a:prstGeom xmlns:a="http://schemas.openxmlformats.org/drawingml/2006/main" prst="rect">
            <a:avLst/>
          </a:prstGeom>
          <a:solidFill xmlns:a="http://schemas.openxmlformats.org/drawingml/2006/main">
            <a:srgbClr val="2F7DE1"/>
          </a:solidFill>
          <a:ln xmlns:a="http://schemas.openxmlformats.org/drawingml/2006/main" w="0">
            <a:solidFill>
              <a:srgbClr val="000000">
                <a:alpha val="0"/>
              </a:srgbClr>
            </a:solidFill>
            <a:prstDash val="solid"/>
          </a:ln>
        </p:spPr>
      </p:sp>
      <p:sp>
        <p:nvSpPr>
          <p:cNvPr id="13" name="proxy-value-2">
            <a:extLst xmlns:a="http://schemas.openxmlformats.org/drawingml/2006/main">
              <a:ext uri="{FF2B5EF4-FFF2-40B4-BE49-F238E27FC236}">
                <a16:creationId xmlns:a16="http://schemas.microsoft.com/office/drawing/2014/main" id="{5FC0D88A-2FE9-4DB1-851D-81E2BF58DAB4}"/>
              </a:ext>
            </a:extLst>
          </p:cNvPr>
          <p:cNvSpPr>
            <a:spLocks xmlns:a="http://schemas.openxmlformats.org/drawingml/2006/main" noGrp="1"/>
          </p:cNvSpPr>
          <p:nvPr/>
        </p:nvSpPr>
        <p:spPr>
          <a:xfrm xmlns:a="http://schemas.openxmlformats.org/drawingml/2006/main">
            <a:off x="8915400" y="2305050"/>
            <a:ext cx="666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2F7DE1"/>
                </a:solidFill>
                <a:latin typeface="Aptos"/>
                <a:ea typeface="Aptos"/>
                <a:cs typeface="Aptos"/>
              </a:defRPr>
            </a:pPr>
            <a:r>
              <a:rPr sz="1500" b="1">
                <a:solidFill>
                  <a:srgbClr val="2F7DE1"/>
                </a:solidFill>
                <a:latin typeface="Aptos"/>
                <a:ea typeface="Aptos"/>
                <a:cs typeface="Aptos"/>
              </a:rPr>
              <a:t>3/4</a:t>
            </a:r>
          </a:p>
        </p:txBody>
      </p:sp>
      <p:sp>
        <p:nvSpPr>
          <p:cNvPr id="14" name="proxy-label-3">
            <a:extLst xmlns:a="http://schemas.openxmlformats.org/drawingml/2006/main">
              <a:ext uri="{FF2B5EF4-FFF2-40B4-BE49-F238E27FC236}">
                <a16:creationId xmlns:a16="http://schemas.microsoft.com/office/drawing/2014/main" id="{200E7246-FBAA-40DF-ACD5-968F12482CBF}"/>
              </a:ext>
            </a:extLst>
          </p:cNvPr>
          <p:cNvSpPr>
            <a:spLocks xmlns:a="http://schemas.openxmlformats.org/drawingml/2006/main" noGrp="1"/>
          </p:cNvSpPr>
          <p:nvPr/>
        </p:nvSpPr>
        <p:spPr>
          <a:xfrm xmlns:a="http://schemas.openxmlformats.org/drawingml/2006/main">
            <a:off x="1047750" y="2847975"/>
            <a:ext cx="1714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1350" b="0">
                <a:solidFill>
                  <a:srgbClr val="1E252B"/>
                </a:solidFill>
                <a:latin typeface="Aptos"/>
                <a:ea typeface="Aptos"/>
                <a:cs typeface="Aptos"/>
              </a:defRPr>
            </a:pPr>
            <a:r>
              <a:rPr sz="1350" b="0">
                <a:solidFill>
                  <a:srgbClr val="1E252B"/>
                </a:solidFill>
                <a:latin typeface="Aptos"/>
                <a:ea typeface="Aptos"/>
                <a:cs typeface="Aptos"/>
              </a:rPr>
              <a:t>Tai chi</a:t>
            </a:r>
          </a:p>
        </p:txBody>
      </p:sp>
      <p:sp>
        <p:nvSpPr>
          <p:cNvPr id="15" name="proxy-bar-3-track">
            <a:extLst xmlns:a="http://schemas.openxmlformats.org/drawingml/2006/main">
              <a:ext uri="{FF2B5EF4-FFF2-40B4-BE49-F238E27FC236}">
                <a16:creationId xmlns:a16="http://schemas.microsoft.com/office/drawing/2014/main" id="{91DC1146-5DB5-4302-B0D6-CE5BBC587A3B}"/>
              </a:ext>
            </a:extLst>
          </p:cNvPr>
          <p:cNvSpPr>
            <a:spLocks xmlns:a="http://schemas.openxmlformats.org/drawingml/2006/main" noGrp="1"/>
          </p:cNvSpPr>
          <p:nvPr/>
        </p:nvSpPr>
        <p:spPr>
          <a:xfrm xmlns:a="http://schemas.openxmlformats.org/drawingml/2006/main">
            <a:off x="3028950" y="2857500"/>
            <a:ext cx="5715000" cy="285750"/>
          </a:xfrm>
          <a:prstGeom xmlns:a="http://schemas.openxmlformats.org/drawingml/2006/main" prst="rect">
            <a:avLst/>
          </a:prstGeom>
          <a:solidFill xmlns:a="http://schemas.openxmlformats.org/drawingml/2006/main">
            <a:srgbClr val="E9E2D7"/>
          </a:solidFill>
          <a:ln xmlns:a="http://schemas.openxmlformats.org/drawingml/2006/main" w="0">
            <a:solidFill>
              <a:srgbClr val="000000">
                <a:alpha val="0"/>
              </a:srgbClr>
            </a:solidFill>
            <a:prstDash val="solid"/>
          </a:ln>
        </p:spPr>
      </p:sp>
      <p:sp>
        <p:nvSpPr>
          <p:cNvPr id="16" name="proxy-bar-3-fill">
            <a:extLst xmlns:a="http://schemas.openxmlformats.org/drawingml/2006/main">
              <a:ext uri="{FF2B5EF4-FFF2-40B4-BE49-F238E27FC236}">
                <a16:creationId xmlns:a16="http://schemas.microsoft.com/office/drawing/2014/main" id="{6AD2E83C-86D1-45CD-B1AC-C56E88A42190}"/>
              </a:ext>
            </a:extLst>
          </p:cNvPr>
          <p:cNvSpPr>
            <a:spLocks xmlns:a="http://schemas.openxmlformats.org/drawingml/2006/main" noGrp="1"/>
          </p:cNvSpPr>
          <p:nvPr/>
        </p:nvSpPr>
        <p:spPr>
          <a:xfrm xmlns:a="http://schemas.openxmlformats.org/drawingml/2006/main">
            <a:off x="3028950" y="2857500"/>
            <a:ext cx="2857500" cy="285750"/>
          </a:xfrm>
          <a:prstGeom xmlns:a="http://schemas.openxmlformats.org/drawingml/2006/main" prst="rect">
            <a:avLst/>
          </a:prstGeom>
          <a:solidFill xmlns:a="http://schemas.openxmlformats.org/drawingml/2006/main">
            <a:srgbClr val="B15A35"/>
          </a:solidFill>
          <a:ln xmlns:a="http://schemas.openxmlformats.org/drawingml/2006/main" w="0">
            <a:solidFill>
              <a:srgbClr val="000000">
                <a:alpha val="0"/>
              </a:srgbClr>
            </a:solidFill>
            <a:prstDash val="solid"/>
          </a:ln>
        </p:spPr>
      </p:sp>
      <p:sp>
        <p:nvSpPr>
          <p:cNvPr id="17" name="proxy-value-3">
            <a:extLst xmlns:a="http://schemas.openxmlformats.org/drawingml/2006/main">
              <a:ext uri="{FF2B5EF4-FFF2-40B4-BE49-F238E27FC236}">
                <a16:creationId xmlns:a16="http://schemas.microsoft.com/office/drawing/2014/main" id="{91E3BD38-EFFD-49E8-B459-44D73C4FB211}"/>
              </a:ext>
            </a:extLst>
          </p:cNvPr>
          <p:cNvSpPr>
            <a:spLocks xmlns:a="http://schemas.openxmlformats.org/drawingml/2006/main" noGrp="1"/>
          </p:cNvSpPr>
          <p:nvPr/>
        </p:nvSpPr>
        <p:spPr>
          <a:xfrm xmlns:a="http://schemas.openxmlformats.org/drawingml/2006/main">
            <a:off x="8915400" y="2838450"/>
            <a:ext cx="666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B15A35"/>
                </a:solidFill>
                <a:latin typeface="Aptos"/>
                <a:ea typeface="Aptos"/>
                <a:cs typeface="Aptos"/>
              </a:defRPr>
            </a:pPr>
            <a:r>
              <a:rPr sz="1500" b="1">
                <a:solidFill>
                  <a:srgbClr val="B15A35"/>
                </a:solidFill>
                <a:latin typeface="Aptos"/>
                <a:ea typeface="Aptos"/>
                <a:cs typeface="Aptos"/>
              </a:rPr>
              <a:t>2/4</a:t>
            </a:r>
          </a:p>
        </p:txBody>
      </p:sp>
      <p:sp>
        <p:nvSpPr>
          <p:cNvPr id="18" name="proxy-label-4">
            <a:extLst xmlns:a="http://schemas.openxmlformats.org/drawingml/2006/main">
              <a:ext uri="{FF2B5EF4-FFF2-40B4-BE49-F238E27FC236}">
                <a16:creationId xmlns:a16="http://schemas.microsoft.com/office/drawing/2014/main" id="{098D5EEE-D7D8-46CB-A9E4-625243FA193C}"/>
              </a:ext>
            </a:extLst>
          </p:cNvPr>
          <p:cNvSpPr>
            <a:spLocks xmlns:a="http://schemas.openxmlformats.org/drawingml/2006/main" noGrp="1"/>
          </p:cNvSpPr>
          <p:nvPr/>
        </p:nvSpPr>
        <p:spPr>
          <a:xfrm xmlns:a="http://schemas.openxmlformats.org/drawingml/2006/main">
            <a:off x="1047750" y="3381375"/>
            <a:ext cx="1714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1350" b="0">
                <a:solidFill>
                  <a:srgbClr val="1E252B"/>
                </a:solidFill>
                <a:latin typeface="Aptos"/>
                <a:ea typeface="Aptos"/>
                <a:cs typeface="Aptos"/>
              </a:defRPr>
            </a:pPr>
            <a:r>
              <a:rPr sz="1350" b="0">
                <a:solidFill>
                  <a:srgbClr val="1E252B"/>
                </a:solidFill>
                <a:latin typeface="Aptos"/>
                <a:ea typeface="Aptos"/>
                <a:cs typeface="Aptos"/>
              </a:rPr>
              <a:t>Energetic jump</a:t>
            </a:r>
          </a:p>
        </p:txBody>
      </p:sp>
      <p:sp>
        <p:nvSpPr>
          <p:cNvPr id="19" name="proxy-bar-4-track">
            <a:extLst xmlns:a="http://schemas.openxmlformats.org/drawingml/2006/main">
              <a:ext uri="{FF2B5EF4-FFF2-40B4-BE49-F238E27FC236}">
                <a16:creationId xmlns:a16="http://schemas.microsoft.com/office/drawing/2014/main" id="{2315E661-9D96-478A-BA7A-5EF1B52A9473}"/>
              </a:ext>
            </a:extLst>
          </p:cNvPr>
          <p:cNvSpPr>
            <a:spLocks xmlns:a="http://schemas.openxmlformats.org/drawingml/2006/main" noGrp="1"/>
          </p:cNvSpPr>
          <p:nvPr/>
        </p:nvSpPr>
        <p:spPr>
          <a:xfrm xmlns:a="http://schemas.openxmlformats.org/drawingml/2006/main">
            <a:off x="3028950" y="3390900"/>
            <a:ext cx="5715000" cy="285750"/>
          </a:xfrm>
          <a:prstGeom xmlns:a="http://schemas.openxmlformats.org/drawingml/2006/main" prst="rect">
            <a:avLst/>
          </a:prstGeom>
          <a:solidFill xmlns:a="http://schemas.openxmlformats.org/drawingml/2006/main">
            <a:srgbClr val="E9E2D7"/>
          </a:solidFill>
          <a:ln xmlns:a="http://schemas.openxmlformats.org/drawingml/2006/main" w="0">
            <a:solidFill>
              <a:srgbClr val="000000">
                <a:alpha val="0"/>
              </a:srgbClr>
            </a:solidFill>
            <a:prstDash val="solid"/>
          </a:ln>
        </p:spPr>
      </p:sp>
      <p:sp>
        <p:nvSpPr>
          <p:cNvPr id="20" name="proxy-bar-4-fill">
            <a:extLst xmlns:a="http://schemas.openxmlformats.org/drawingml/2006/main">
              <a:ext uri="{FF2B5EF4-FFF2-40B4-BE49-F238E27FC236}">
                <a16:creationId xmlns:a16="http://schemas.microsoft.com/office/drawing/2014/main" id="{AEC2FA22-8AC9-486D-BA9F-9F0C9B9BB311}"/>
              </a:ext>
            </a:extLst>
          </p:cNvPr>
          <p:cNvSpPr>
            <a:spLocks xmlns:a="http://schemas.openxmlformats.org/drawingml/2006/main" noGrp="1"/>
          </p:cNvSpPr>
          <p:nvPr/>
        </p:nvSpPr>
        <p:spPr>
          <a:xfrm xmlns:a="http://schemas.openxmlformats.org/drawingml/2006/main">
            <a:off x="3028950" y="3390900"/>
            <a:ext cx="4762500" cy="285750"/>
          </a:xfrm>
          <a:prstGeom xmlns:a="http://schemas.openxmlformats.org/drawingml/2006/main" prst="rect">
            <a:avLst/>
          </a:prstGeom>
          <a:solidFill xmlns:a="http://schemas.openxmlformats.org/drawingml/2006/main">
            <a:srgbClr val="2F7DE1"/>
          </a:solidFill>
          <a:ln xmlns:a="http://schemas.openxmlformats.org/drawingml/2006/main" w="0">
            <a:solidFill>
              <a:srgbClr val="000000">
                <a:alpha val="0"/>
              </a:srgbClr>
            </a:solidFill>
            <a:prstDash val="solid"/>
          </a:ln>
        </p:spPr>
      </p:sp>
      <p:sp>
        <p:nvSpPr>
          <p:cNvPr id="21" name="proxy-value-4">
            <a:extLst xmlns:a="http://schemas.openxmlformats.org/drawingml/2006/main">
              <a:ext uri="{FF2B5EF4-FFF2-40B4-BE49-F238E27FC236}">
                <a16:creationId xmlns:a16="http://schemas.microsoft.com/office/drawing/2014/main" id="{378ABBC3-CB90-4212-A056-F871664856CA}"/>
              </a:ext>
            </a:extLst>
          </p:cNvPr>
          <p:cNvSpPr>
            <a:spLocks xmlns:a="http://schemas.openxmlformats.org/drawingml/2006/main" noGrp="1"/>
          </p:cNvSpPr>
          <p:nvPr/>
        </p:nvSpPr>
        <p:spPr>
          <a:xfrm xmlns:a="http://schemas.openxmlformats.org/drawingml/2006/main">
            <a:off x="8915400" y="3371850"/>
            <a:ext cx="666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2F7DE1"/>
                </a:solidFill>
                <a:latin typeface="Aptos"/>
                <a:ea typeface="Aptos"/>
                <a:cs typeface="Aptos"/>
              </a:defRPr>
            </a:pPr>
            <a:r>
              <a:rPr sz="1500" b="1">
                <a:solidFill>
                  <a:srgbClr val="2F7DE1"/>
                </a:solidFill>
                <a:latin typeface="Aptos"/>
                <a:ea typeface="Aptos"/>
                <a:cs typeface="Aptos"/>
              </a:rPr>
              <a:t>5/6</a:t>
            </a:r>
          </a:p>
        </p:txBody>
      </p:sp>
      <p:sp>
        <p:nvSpPr>
          <p:cNvPr id="22" name="proxy-label-5">
            <a:extLst xmlns:a="http://schemas.openxmlformats.org/drawingml/2006/main">
              <a:ext uri="{FF2B5EF4-FFF2-40B4-BE49-F238E27FC236}">
                <a16:creationId xmlns:a16="http://schemas.microsoft.com/office/drawing/2014/main" id="{FB34C14E-E208-4259-8A3F-E0E6EBBDF2BC}"/>
              </a:ext>
            </a:extLst>
          </p:cNvPr>
          <p:cNvSpPr>
            <a:spLocks xmlns:a="http://schemas.openxmlformats.org/drawingml/2006/main" noGrp="1"/>
          </p:cNvSpPr>
          <p:nvPr/>
        </p:nvSpPr>
        <p:spPr>
          <a:xfrm xmlns:a="http://schemas.openxmlformats.org/drawingml/2006/main">
            <a:off x="1047750" y="3914775"/>
            <a:ext cx="1714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1350" b="0">
                <a:solidFill>
                  <a:srgbClr val="1E252B"/>
                </a:solidFill>
                <a:latin typeface="Aptos"/>
                <a:ea typeface="Aptos"/>
                <a:cs typeface="Aptos"/>
              </a:defRPr>
            </a:pPr>
            <a:r>
              <a:rPr sz="1350" b="0">
                <a:solidFill>
                  <a:srgbClr val="1E252B"/>
                </a:solidFill>
                <a:latin typeface="Aptos"/>
                <a:ea typeface="Aptos"/>
                <a:cs typeface="Aptos"/>
              </a:rPr>
              <a:t>Heavy tired</a:t>
            </a:r>
          </a:p>
        </p:txBody>
      </p:sp>
      <p:sp>
        <p:nvSpPr>
          <p:cNvPr id="23" name="proxy-bar-5-track">
            <a:extLst xmlns:a="http://schemas.openxmlformats.org/drawingml/2006/main">
              <a:ext uri="{FF2B5EF4-FFF2-40B4-BE49-F238E27FC236}">
                <a16:creationId xmlns:a16="http://schemas.microsoft.com/office/drawing/2014/main" id="{674CF976-0428-4105-B897-23829DC712A8}"/>
              </a:ext>
            </a:extLst>
          </p:cNvPr>
          <p:cNvSpPr>
            <a:spLocks xmlns:a="http://schemas.openxmlformats.org/drawingml/2006/main" noGrp="1"/>
          </p:cNvSpPr>
          <p:nvPr/>
        </p:nvSpPr>
        <p:spPr>
          <a:xfrm xmlns:a="http://schemas.openxmlformats.org/drawingml/2006/main">
            <a:off x="3028950" y="3924300"/>
            <a:ext cx="5715000" cy="285750"/>
          </a:xfrm>
          <a:prstGeom xmlns:a="http://schemas.openxmlformats.org/drawingml/2006/main" prst="rect">
            <a:avLst/>
          </a:prstGeom>
          <a:solidFill xmlns:a="http://schemas.openxmlformats.org/drawingml/2006/main">
            <a:srgbClr val="E9E2D7"/>
          </a:solidFill>
          <a:ln xmlns:a="http://schemas.openxmlformats.org/drawingml/2006/main" w="0">
            <a:solidFill>
              <a:srgbClr val="000000">
                <a:alpha val="0"/>
              </a:srgbClr>
            </a:solidFill>
            <a:prstDash val="solid"/>
          </a:ln>
        </p:spPr>
      </p:sp>
      <p:sp>
        <p:nvSpPr>
          <p:cNvPr id="24" name="proxy-bar-5-fill">
            <a:extLst xmlns:a="http://schemas.openxmlformats.org/drawingml/2006/main">
              <a:ext uri="{FF2B5EF4-FFF2-40B4-BE49-F238E27FC236}">
                <a16:creationId xmlns:a16="http://schemas.microsoft.com/office/drawing/2014/main" id="{9A939E69-42DA-4CDA-AD85-C309394A76B9}"/>
              </a:ext>
            </a:extLst>
          </p:cNvPr>
          <p:cNvSpPr>
            <a:spLocks xmlns:a="http://schemas.openxmlformats.org/drawingml/2006/main" noGrp="1"/>
          </p:cNvSpPr>
          <p:nvPr/>
        </p:nvSpPr>
        <p:spPr>
          <a:xfrm xmlns:a="http://schemas.openxmlformats.org/drawingml/2006/main">
            <a:off x="3028950" y="3924300"/>
            <a:ext cx="5715000" cy="285750"/>
          </a:xfrm>
          <a:prstGeom xmlns:a="http://schemas.openxmlformats.org/drawingml/2006/main" prst="rect">
            <a:avLst/>
          </a:prstGeom>
          <a:solidFill xmlns:a="http://schemas.openxmlformats.org/drawingml/2006/main">
            <a:srgbClr val="167C80"/>
          </a:solidFill>
          <a:ln xmlns:a="http://schemas.openxmlformats.org/drawingml/2006/main" w="0">
            <a:solidFill>
              <a:srgbClr val="000000">
                <a:alpha val="0"/>
              </a:srgbClr>
            </a:solidFill>
            <a:prstDash val="solid"/>
          </a:ln>
        </p:spPr>
      </p:sp>
      <p:sp>
        <p:nvSpPr>
          <p:cNvPr id="25" name="proxy-value-5">
            <a:extLst xmlns:a="http://schemas.openxmlformats.org/drawingml/2006/main">
              <a:ext uri="{FF2B5EF4-FFF2-40B4-BE49-F238E27FC236}">
                <a16:creationId xmlns:a16="http://schemas.microsoft.com/office/drawing/2014/main" id="{F04F2A5D-2C15-409A-97B0-FBDE18F6401B}"/>
              </a:ext>
            </a:extLst>
          </p:cNvPr>
          <p:cNvSpPr>
            <a:spLocks xmlns:a="http://schemas.openxmlformats.org/drawingml/2006/main" noGrp="1"/>
          </p:cNvSpPr>
          <p:nvPr/>
        </p:nvSpPr>
        <p:spPr>
          <a:xfrm xmlns:a="http://schemas.openxmlformats.org/drawingml/2006/main">
            <a:off x="8915400" y="3905250"/>
            <a:ext cx="666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67C80"/>
                </a:solidFill>
                <a:latin typeface="Aptos"/>
                <a:ea typeface="Aptos"/>
                <a:cs typeface="Aptos"/>
              </a:defRPr>
            </a:pPr>
            <a:r>
              <a:rPr sz="1500" b="1">
                <a:solidFill>
                  <a:srgbClr val="167C80"/>
                </a:solidFill>
                <a:latin typeface="Aptos"/>
                <a:ea typeface="Aptos"/>
                <a:cs typeface="Aptos"/>
              </a:rPr>
              <a:t>4/4</a:t>
            </a:r>
          </a:p>
        </p:txBody>
      </p:sp>
      <p:sp>
        <p:nvSpPr>
          <p:cNvPr id="26" name="proxy-total-panel">
            <a:extLst xmlns:a="http://schemas.openxmlformats.org/drawingml/2006/main">
              <a:ext uri="{FF2B5EF4-FFF2-40B4-BE49-F238E27FC236}">
                <a16:creationId xmlns:a16="http://schemas.microsoft.com/office/drawing/2014/main" id="{21F56D4A-472D-41CE-9CF4-2C3E358FCC1A}"/>
              </a:ext>
            </a:extLst>
          </p:cNvPr>
          <p:cNvSpPr>
            <a:spLocks xmlns:a="http://schemas.openxmlformats.org/drawingml/2006/main" noGrp="1"/>
          </p:cNvSpPr>
          <p:nvPr/>
        </p:nvSpPr>
        <p:spPr>
          <a:xfrm xmlns:a="http://schemas.openxmlformats.org/drawingml/2006/main">
            <a:off x="9334500" y="1809750"/>
            <a:ext cx="1714500" cy="1371600"/>
          </a:xfrm>
          <a:prstGeom xmlns:a="http://schemas.openxmlformats.org/drawingml/2006/main" prst="rect">
            <a:avLst/>
          </a:prstGeom>
          <a:solidFill xmlns:a="http://schemas.openxmlformats.org/drawingml/2006/main">
            <a:srgbClr val="2D3440"/>
          </a:solidFill>
          <a:ln xmlns:a="http://schemas.openxmlformats.org/drawingml/2006/main" w="0">
            <a:solidFill>
              <a:srgbClr val="000000">
                <a:alpha val="0"/>
              </a:srgbClr>
            </a:solidFill>
            <a:prstDash val="solid"/>
          </a:ln>
        </p:spPr>
      </p:sp>
      <p:sp>
        <p:nvSpPr>
          <p:cNvPr id="27" name="proxy-total-value">
            <a:extLst xmlns:a="http://schemas.openxmlformats.org/drawingml/2006/main">
              <a:ext uri="{FF2B5EF4-FFF2-40B4-BE49-F238E27FC236}">
                <a16:creationId xmlns:a16="http://schemas.microsoft.com/office/drawing/2014/main" id="{CE82780C-8BF9-43B0-9F99-C59007430AB3}"/>
              </a:ext>
            </a:extLst>
          </p:cNvPr>
          <p:cNvSpPr>
            <a:spLocks xmlns:a="http://schemas.openxmlformats.org/drawingml/2006/main" noGrp="1"/>
          </p:cNvSpPr>
          <p:nvPr/>
        </p:nvSpPr>
        <p:spPr>
          <a:xfrm xmlns:a="http://schemas.openxmlformats.org/drawingml/2006/main">
            <a:off x="9525000" y="2038350"/>
            <a:ext cx="1333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925" b="1">
                <a:solidFill>
                  <a:srgbClr val="FFFFFF"/>
                </a:solidFill>
                <a:latin typeface="Aptos Display"/>
                <a:ea typeface="Aptos Display"/>
                <a:cs typeface="Aptos Display"/>
              </a:defRPr>
            </a:pPr>
            <a:r>
              <a:rPr sz="2925" b="1">
                <a:solidFill>
                  <a:srgbClr val="FFFFFF"/>
                </a:solidFill>
                <a:latin typeface="Aptos Display"/>
                <a:ea typeface="Aptos Display"/>
                <a:cs typeface="Aptos Display"/>
              </a:rPr>
              <a:t>18 / 22</a:t>
            </a:r>
          </a:p>
        </p:txBody>
      </p:sp>
      <p:sp>
        <p:nvSpPr>
          <p:cNvPr id="28" name="proxy-total-label">
            <a:extLst xmlns:a="http://schemas.openxmlformats.org/drawingml/2006/main">
              <a:ext uri="{FF2B5EF4-FFF2-40B4-BE49-F238E27FC236}">
                <a16:creationId xmlns:a16="http://schemas.microsoft.com/office/drawing/2014/main" id="{2B6D975D-C910-4B39-A0E0-0AD996C40E3A}"/>
              </a:ext>
            </a:extLst>
          </p:cNvPr>
          <p:cNvSpPr>
            <a:spLocks xmlns:a="http://schemas.openxmlformats.org/drawingml/2006/main" noGrp="1"/>
          </p:cNvSpPr>
          <p:nvPr/>
        </p:nvSpPr>
        <p:spPr>
          <a:xfrm xmlns:a="http://schemas.openxmlformats.org/drawingml/2006/main">
            <a:off x="9601200" y="2647950"/>
            <a:ext cx="11811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E9EEF4"/>
                </a:solidFill>
                <a:latin typeface="Aptos"/>
                <a:ea typeface="Aptos"/>
                <a:cs typeface="Aptos"/>
              </a:defRPr>
            </a:pPr>
            <a:r>
              <a:rPr sz="1050" b="1">
                <a:solidFill>
                  <a:srgbClr val="E9EEF4"/>
                </a:solidFill>
                <a:latin typeface="Aptos"/>
                <a:ea typeface="Aptos"/>
                <a:cs typeface="Aptos"/>
              </a:rPr>
              <a:t>pre-defined checks improved</a:t>
            </a:r>
          </a:p>
        </p:txBody>
      </p:sp>
      <p:sp>
        <p:nvSpPr>
          <p:cNvPr id="29" name="proxy-interpretation-panel">
            <a:extLst xmlns:a="http://schemas.openxmlformats.org/drawingml/2006/main">
              <a:ext uri="{FF2B5EF4-FFF2-40B4-BE49-F238E27FC236}">
                <a16:creationId xmlns:a16="http://schemas.microsoft.com/office/drawing/2014/main" id="{2D704E63-E158-4817-B965-BBCC4C95AFDB}"/>
              </a:ext>
            </a:extLst>
          </p:cNvPr>
          <p:cNvSpPr>
            <a:spLocks xmlns:a="http://schemas.openxmlformats.org/drawingml/2006/main" noGrp="1"/>
          </p:cNvSpPr>
          <p:nvPr/>
        </p:nvSpPr>
        <p:spPr>
          <a:xfrm xmlns:a="http://schemas.openxmlformats.org/drawingml/2006/main">
            <a:off x="9334500" y="3486150"/>
            <a:ext cx="17145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D6CEC0"/>
            </a:solidFill>
            <a:prstDash val="solid"/>
          </a:ln>
        </p:spPr>
      </p:sp>
      <p:sp>
        <p:nvSpPr>
          <p:cNvPr id="30" name="proxy-strong-head">
            <a:extLst xmlns:a="http://schemas.openxmlformats.org/drawingml/2006/main">
              <a:ext uri="{FF2B5EF4-FFF2-40B4-BE49-F238E27FC236}">
                <a16:creationId xmlns:a16="http://schemas.microsoft.com/office/drawing/2014/main" id="{B77FC5FF-8865-4183-82EC-640B3CE8AD10}"/>
              </a:ext>
            </a:extLst>
          </p:cNvPr>
          <p:cNvSpPr>
            <a:spLocks xmlns:a="http://schemas.openxmlformats.org/drawingml/2006/main" noGrp="1"/>
          </p:cNvSpPr>
          <p:nvPr/>
        </p:nvSpPr>
        <p:spPr>
          <a:xfrm xmlns:a="http://schemas.openxmlformats.org/drawingml/2006/main">
            <a:off x="9544050" y="3676650"/>
            <a:ext cx="12954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167C80"/>
                </a:solidFill>
                <a:latin typeface="Aptos"/>
                <a:ea typeface="Aptos"/>
                <a:cs typeface="Aptos"/>
              </a:defRPr>
            </a:pPr>
            <a:r>
              <a:rPr sz="1125" b="1">
                <a:solidFill>
                  <a:srgbClr val="167C80"/>
                </a:solidFill>
                <a:latin typeface="Aptos"/>
                <a:ea typeface="Aptos"/>
                <a:cs typeface="Aptos"/>
              </a:rPr>
              <a:t>Strongest</a:t>
            </a:r>
          </a:p>
        </p:txBody>
      </p:sp>
      <p:sp>
        <p:nvSpPr>
          <p:cNvPr id="31" name="proxy-strong-text">
            <a:extLst xmlns:a="http://schemas.openxmlformats.org/drawingml/2006/main">
              <a:ext uri="{FF2B5EF4-FFF2-40B4-BE49-F238E27FC236}">
                <a16:creationId xmlns:a16="http://schemas.microsoft.com/office/drawing/2014/main" id="{762FD85E-EF72-4224-8C30-B3D2B66F5630}"/>
              </a:ext>
            </a:extLst>
          </p:cNvPr>
          <p:cNvSpPr>
            <a:spLocks xmlns:a="http://schemas.openxmlformats.org/drawingml/2006/main" noGrp="1"/>
          </p:cNvSpPr>
          <p:nvPr/>
        </p:nvSpPr>
        <p:spPr>
          <a:xfrm xmlns:a="http://schemas.openxmlformats.org/drawingml/2006/main">
            <a:off x="9525000" y="4000500"/>
            <a:ext cx="1333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1E252B"/>
                </a:solidFill>
                <a:latin typeface="Aptos"/>
                <a:ea typeface="Aptos"/>
                <a:cs typeface="Aptos"/>
              </a:defRPr>
            </a:pPr>
            <a:r>
              <a:rPr sz="1200" b="0">
                <a:solidFill>
                  <a:srgbClr val="1E252B"/>
                </a:solidFill>
                <a:latin typeface="Aptos"/>
                <a:ea typeface="Aptos"/>
                <a:cs typeface="Aptos"/>
              </a:rPr>
              <a:t>slow deliberate</a:t>
            </a:r>
          </a:p>
          <a:p xmlns:a="http://schemas.openxmlformats.org/drawingml/2006/main">
            <a:pPr algn="ctr">
              <a:defRPr sz="1200" b="0">
                <a:solidFill>
                  <a:srgbClr val="1E252B"/>
                </a:solidFill>
                <a:latin typeface="Aptos"/>
                <a:ea typeface="Aptos"/>
                <a:cs typeface="Aptos"/>
              </a:defRPr>
            </a:pPr>
            <a:r>
              <a:rPr sz="1200" b="0">
                <a:solidFill>
                  <a:srgbClr val="1E252B"/>
                </a:solidFill>
                <a:latin typeface="Aptos"/>
                <a:ea typeface="Aptos"/>
                <a:cs typeface="Aptos"/>
              </a:rPr>
              <a:t>heavy tired</a:t>
            </a:r>
          </a:p>
        </p:txBody>
      </p:sp>
      <p:sp>
        <p:nvSpPr>
          <p:cNvPr id="32" name="proxy-weak-panel">
            <a:extLst xmlns:a="http://schemas.openxmlformats.org/drawingml/2006/main">
              <a:ext uri="{FF2B5EF4-FFF2-40B4-BE49-F238E27FC236}">
                <a16:creationId xmlns:a16="http://schemas.microsoft.com/office/drawing/2014/main" id="{E28C43F0-13D1-4F4A-8FF3-D33779D5BE89}"/>
              </a:ext>
            </a:extLst>
          </p:cNvPr>
          <p:cNvSpPr>
            <a:spLocks xmlns:a="http://schemas.openxmlformats.org/drawingml/2006/main" noGrp="1"/>
          </p:cNvSpPr>
          <p:nvPr/>
        </p:nvSpPr>
        <p:spPr>
          <a:xfrm xmlns:a="http://schemas.openxmlformats.org/drawingml/2006/main">
            <a:off x="9334500" y="4857750"/>
            <a:ext cx="1714500" cy="685800"/>
          </a:xfrm>
          <a:prstGeom xmlns:a="http://schemas.openxmlformats.org/drawingml/2006/main" prst="rect">
            <a:avLst/>
          </a:prstGeom>
          <a:solidFill xmlns:a="http://schemas.openxmlformats.org/drawingml/2006/main">
            <a:srgbClr val="F3E0D5"/>
          </a:solidFill>
          <a:ln xmlns:a="http://schemas.openxmlformats.org/drawingml/2006/main" w="0">
            <a:solidFill>
              <a:srgbClr val="000000">
                <a:alpha val="0"/>
              </a:srgbClr>
            </a:solidFill>
            <a:prstDash val="solid"/>
          </a:ln>
        </p:spPr>
      </p:sp>
      <p:sp>
        <p:nvSpPr>
          <p:cNvPr id="33" name="proxy-weak-text">
            <a:extLst xmlns:a="http://schemas.openxmlformats.org/drawingml/2006/main">
              <a:ext uri="{FF2B5EF4-FFF2-40B4-BE49-F238E27FC236}">
                <a16:creationId xmlns:a16="http://schemas.microsoft.com/office/drawing/2014/main" id="{02ED71FE-B581-484D-B538-98A16565581C}"/>
              </a:ext>
            </a:extLst>
          </p:cNvPr>
          <p:cNvSpPr>
            <a:spLocks xmlns:a="http://schemas.openxmlformats.org/drawingml/2006/main" noGrp="1"/>
          </p:cNvSpPr>
          <p:nvPr/>
        </p:nvSpPr>
        <p:spPr>
          <a:xfrm xmlns:a="http://schemas.openxmlformats.org/drawingml/2006/main">
            <a:off x="9505950" y="5010150"/>
            <a:ext cx="13716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1E252B"/>
                </a:solidFill>
                <a:latin typeface="Aptos"/>
                <a:ea typeface="Aptos"/>
                <a:cs typeface="Aptos"/>
              </a:defRPr>
            </a:pPr>
            <a:r>
              <a:rPr sz="975" b="1">
                <a:solidFill>
                  <a:srgbClr val="1E252B"/>
                </a:solidFill>
                <a:latin typeface="Aptos"/>
                <a:ea typeface="Aptos"/>
                <a:cs typeface="Aptos"/>
              </a:rPr>
              <a:t>Weakest case: tai chi needs coordinated slow rotation beyond these simple proxies.</a:t>
            </a:r>
          </a:p>
        </p:txBody>
      </p:sp>
      <p:sp>
        <p:nvSpPr>
          <p:cNvPr id="34" name="footer-5-rule">
            <a:extLst xmlns:a="http://schemas.openxmlformats.org/drawingml/2006/main">
              <a:ext uri="{FF2B5EF4-FFF2-40B4-BE49-F238E27FC236}">
                <a16:creationId xmlns:a16="http://schemas.microsoft.com/office/drawing/2014/main" id="{347DBAA7-DC10-43EA-9AF0-21CE1D7D696C}"/>
              </a:ext>
            </a:extLst>
          </p:cNvPr>
          <p:cNvSpPr>
            <a:spLocks xmlns:a="http://schemas.openxmlformats.org/drawingml/2006/main" noGrp="1"/>
          </p:cNvSpPr>
          <p:nvPr/>
        </p:nvSpPr>
        <p:spPr>
          <a:xfrm xmlns:a="http://schemas.openxmlformats.org/drawingml/2006/main">
            <a:off x="685800" y="6343650"/>
            <a:ext cx="108204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35" name="footer-5-source">
            <a:extLst xmlns:a="http://schemas.openxmlformats.org/drawingml/2006/main">
              <a:ext uri="{FF2B5EF4-FFF2-40B4-BE49-F238E27FC236}">
                <a16:creationId xmlns:a16="http://schemas.microsoft.com/office/drawing/2014/main" id="{84C4D76A-4E99-4DF2-BD70-E32FE863D1E9}"/>
              </a:ext>
            </a:extLst>
          </p:cNvPr>
          <p:cNvSpPr>
            <a:spLocks xmlns:a="http://schemas.openxmlformats.org/drawingml/2006/main" noGrp="1"/>
          </p:cNvSpPr>
          <p:nvPr/>
        </p:nvSpPr>
        <p:spPr>
          <a:xfrm xmlns:a="http://schemas.openxmlformats.org/drawingml/2006/main">
            <a:off x="685800" y="6419850"/>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7A746A"/>
                </a:solidFill>
                <a:latin typeface="Aptos"/>
                <a:ea typeface="Aptos"/>
                <a:cs typeface="Aptos"/>
              </a:defRPr>
            </a:pPr>
            <a:r>
              <a:rPr sz="750" b="0">
                <a:solidFill>
                  <a:srgbClr val="7A746A"/>
                </a:solidFill>
                <a:latin typeface="Aptos"/>
                <a:ea typeface="Aptos"/>
                <a:cs typeface="Aptos"/>
              </a:rPr>
              <a:t>Source: Table IV; evaluation_summary.csv</a:t>
            </a:r>
          </a:p>
        </p:txBody>
      </p:sp>
      <p:sp>
        <p:nvSpPr>
          <p:cNvPr id="36" name="footer-5-page">
            <a:extLst xmlns:a="http://schemas.openxmlformats.org/drawingml/2006/main">
              <a:ext uri="{FF2B5EF4-FFF2-40B4-BE49-F238E27FC236}">
                <a16:creationId xmlns:a16="http://schemas.microsoft.com/office/drawing/2014/main" id="{D152173F-5EF9-47F4-926E-95EEDC3109CD}"/>
              </a:ext>
            </a:extLst>
          </p:cNvPr>
          <p:cNvSpPr>
            <a:spLocks xmlns:a="http://schemas.openxmlformats.org/drawingml/2006/main" noGrp="1"/>
          </p:cNvSpPr>
          <p:nvPr/>
        </p:nvSpPr>
        <p:spPr>
          <a:xfrm xmlns:a="http://schemas.openxmlformats.org/drawingml/2006/main">
            <a:off x="9620250" y="6419850"/>
            <a:ext cx="1885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7A746A"/>
                </a:solidFill>
                <a:latin typeface="Aptos"/>
                <a:ea typeface="Aptos"/>
                <a:cs typeface="Aptos"/>
              </a:defRPr>
            </a:pPr>
            <a:r>
              <a:rPr sz="750" b="0">
                <a:solidFill>
                  <a:srgbClr val="7A746A"/>
                </a:solidFill>
                <a:latin typeface="Aptos"/>
                <a:ea typeface="Aptos"/>
                <a:cs typeface="Aptos"/>
              </a:rPr>
              <a:t>5 / 6 - Initial 5-minute report</a:t>
            </a:r>
          </a:p>
        </p:txBody>
      </p:sp>
    </p:spTree>
    <p:extLst>
      <p:ext uri="{BB962C8B-B14F-4D97-AF65-F5344CB8AC3E}">
        <p14:creationId xmlns:p14="http://schemas.microsoft.com/office/powerpoint/2010/main" val="88567526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slide-6-background">
            <a:extLst xmlns:a="http://schemas.openxmlformats.org/drawingml/2006/main">
              <a:ext uri="{FF2B5EF4-FFF2-40B4-BE49-F238E27FC236}">
                <a16:creationId xmlns:a16="http://schemas.microsoft.com/office/drawing/2014/main" id="{518B8415-525A-4910-A373-8985C882C8C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D"/>
          </a:solidFill>
          <a:ln xmlns:a="http://schemas.openxmlformats.org/drawingml/2006/main" w="0">
            <a:solidFill>
              <a:srgbClr val="000000">
                <a:alpha val="0"/>
              </a:srgbClr>
            </a:solidFill>
            <a:prstDash val="solid"/>
          </a:ln>
        </p:spPr>
      </p:sp>
      <p:sp>
        <p:nvSpPr>
          <p:cNvPr id="2" name="kicker-6-marker">
            <a:extLst xmlns:a="http://schemas.openxmlformats.org/drawingml/2006/main">
              <a:ext uri="{FF2B5EF4-FFF2-40B4-BE49-F238E27FC236}">
                <a16:creationId xmlns:a16="http://schemas.microsoft.com/office/drawing/2014/main" id="{BED8046E-8D72-474E-B8B8-7F4187DFB8C1}"/>
              </a:ext>
            </a:extLst>
          </p:cNvPr>
          <p:cNvSpPr>
            <a:spLocks xmlns:a="http://schemas.openxmlformats.org/drawingml/2006/main" noGrp="1"/>
          </p:cNvSpPr>
          <p:nvPr/>
        </p:nvSpPr>
        <p:spPr>
          <a:xfrm xmlns:a="http://schemas.openxmlformats.org/drawingml/2006/main">
            <a:off x="685800" y="419100"/>
            <a:ext cx="266700" cy="38100"/>
          </a:xfrm>
          <a:prstGeom xmlns:a="http://schemas.openxmlformats.org/drawingml/2006/main" prst="rect">
            <a:avLst/>
          </a:prstGeom>
          <a:solidFill xmlns:a="http://schemas.openxmlformats.org/drawingml/2006/main">
            <a:srgbClr val="167C80"/>
          </a:solidFill>
          <a:ln xmlns:a="http://schemas.openxmlformats.org/drawingml/2006/main" w="0">
            <a:solidFill>
              <a:srgbClr val="000000">
                <a:alpha val="0"/>
              </a:srgbClr>
            </a:solidFill>
            <a:prstDash val="solid"/>
          </a:ln>
        </p:spPr>
      </p:sp>
      <p:sp>
        <p:nvSpPr>
          <p:cNvPr id="3" name="kicker-6-label">
            <a:extLst xmlns:a="http://schemas.openxmlformats.org/drawingml/2006/main">
              <a:ext uri="{FF2B5EF4-FFF2-40B4-BE49-F238E27FC236}">
                <a16:creationId xmlns:a16="http://schemas.microsoft.com/office/drawing/2014/main" id="{E1EF5F7C-BA11-463B-A725-12ABB9F330AC}"/>
              </a:ext>
            </a:extLst>
          </p:cNvPr>
          <p:cNvSpPr>
            <a:spLocks xmlns:a="http://schemas.openxmlformats.org/drawingml/2006/main" noGrp="1"/>
          </p:cNvSpPr>
          <p:nvPr/>
        </p:nvSpPr>
        <p:spPr>
          <a:xfrm xmlns:a="http://schemas.openxmlformats.org/drawingml/2006/main">
            <a:off x="1066800" y="323850"/>
            <a:ext cx="495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5E6975"/>
                </a:solidFill>
                <a:latin typeface="Aptos"/>
                <a:ea typeface="Aptos"/>
                <a:cs typeface="Aptos"/>
              </a:defRPr>
            </a:pPr>
            <a:r>
              <a:rPr sz="975" b="1">
                <a:solidFill>
                  <a:srgbClr val="5E6975"/>
                </a:solidFill>
                <a:latin typeface="Aptos"/>
                <a:ea typeface="Aptos"/>
                <a:cs typeface="Aptos"/>
              </a:rPr>
              <a:t>TAKEAWAY</a:t>
            </a:r>
          </a:p>
        </p:txBody>
      </p:sp>
      <p:sp>
        <p:nvSpPr>
          <p:cNvPr id="4" name="title-6">
            <a:extLst xmlns:a="http://schemas.openxmlformats.org/drawingml/2006/main">
              <a:ext uri="{FF2B5EF4-FFF2-40B4-BE49-F238E27FC236}">
                <a16:creationId xmlns:a16="http://schemas.microsoft.com/office/drawing/2014/main" id="{5DD4C9E2-9107-4743-9EBE-837356BC3AA8}"/>
              </a:ext>
            </a:extLst>
          </p:cNvPr>
          <p:cNvSpPr>
            <a:spLocks xmlns:a="http://schemas.openxmlformats.org/drawingml/2006/main" noGrp="1"/>
          </p:cNvSpPr>
          <p:nvPr/>
        </p:nvSpPr>
        <p:spPr>
          <a:xfrm xmlns:a="http://schemas.openxmlformats.org/drawingml/2006/main">
            <a:off x="685800" y="723900"/>
            <a:ext cx="89535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925" b="1">
                <a:solidFill>
                  <a:srgbClr val="1E252B"/>
                </a:solidFill>
                <a:latin typeface="Aptos Display"/>
                <a:ea typeface="Aptos Display"/>
                <a:cs typeface="Aptos Display"/>
              </a:defRPr>
            </a:pPr>
            <a:r>
              <a:rPr sz="2925" b="1">
                <a:solidFill>
                  <a:srgbClr val="1E252B"/>
                </a:solidFill>
                <a:latin typeface="Aptos Display"/>
                <a:ea typeface="Aptos Display"/>
                <a:cs typeface="Aptos Display"/>
              </a:rPr>
              <a:t>The result is defensible style steering, not a full benchmark win.</a:t>
            </a:r>
          </a:p>
        </p:txBody>
      </p:sp>
      <p:sp>
        <p:nvSpPr>
          <p:cNvPr id="5" name="solid-panel">
            <a:extLst xmlns:a="http://schemas.openxmlformats.org/drawingml/2006/main">
              <a:ext uri="{FF2B5EF4-FFF2-40B4-BE49-F238E27FC236}">
                <a16:creationId xmlns:a16="http://schemas.microsoft.com/office/drawing/2014/main" id="{5F661581-3B50-4F32-896B-76BF8C63BF55}"/>
              </a:ext>
            </a:extLst>
          </p:cNvPr>
          <p:cNvSpPr>
            <a:spLocks xmlns:a="http://schemas.openxmlformats.org/drawingml/2006/main" noGrp="1"/>
          </p:cNvSpPr>
          <p:nvPr/>
        </p:nvSpPr>
        <p:spPr>
          <a:xfrm xmlns:a="http://schemas.openxmlformats.org/drawingml/2006/main">
            <a:off x="685800" y="1676400"/>
            <a:ext cx="3219450" cy="1885950"/>
          </a:xfrm>
          <a:prstGeom xmlns:a="http://schemas.openxmlformats.org/drawingml/2006/main" prst="rect">
            <a:avLst/>
          </a:prstGeom>
          <a:solidFill xmlns:a="http://schemas.openxmlformats.org/drawingml/2006/main">
            <a:srgbClr val="DDEBDD"/>
          </a:solidFill>
          <a:ln xmlns:a="http://schemas.openxmlformats.org/drawingml/2006/main" w="9525">
            <a:solidFill>
              <a:srgbClr val="D6CEC0"/>
            </a:solidFill>
            <a:prstDash val="solid"/>
          </a:ln>
        </p:spPr>
      </p:sp>
      <p:sp>
        <p:nvSpPr>
          <p:cNvPr id="6" name="solid-title">
            <a:extLst xmlns:a="http://schemas.openxmlformats.org/drawingml/2006/main">
              <a:ext uri="{FF2B5EF4-FFF2-40B4-BE49-F238E27FC236}">
                <a16:creationId xmlns:a16="http://schemas.microsoft.com/office/drawing/2014/main" id="{875E97B2-2EA3-4937-A0D3-056E879AA405}"/>
              </a:ext>
            </a:extLst>
          </p:cNvPr>
          <p:cNvSpPr>
            <a:spLocks xmlns:a="http://schemas.openxmlformats.org/drawingml/2006/main" noGrp="1"/>
          </p:cNvSpPr>
          <p:nvPr/>
        </p:nvSpPr>
        <p:spPr>
          <a:xfrm xmlns:a="http://schemas.openxmlformats.org/drawingml/2006/main">
            <a:off x="914400" y="1905000"/>
            <a:ext cx="27813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67C80"/>
                </a:solidFill>
                <a:latin typeface="Aptos Display"/>
                <a:ea typeface="Aptos Display"/>
                <a:cs typeface="Aptos Display"/>
              </a:defRPr>
            </a:pPr>
            <a:r>
              <a:rPr sz="1875" b="1">
                <a:solidFill>
                  <a:srgbClr val="167C80"/>
                </a:solidFill>
                <a:latin typeface="Aptos Display"/>
                <a:ea typeface="Aptos Display"/>
                <a:cs typeface="Aptos Display"/>
              </a:rPr>
              <a:t>What is solid</a:t>
            </a:r>
          </a:p>
        </p:txBody>
      </p:sp>
      <p:sp>
        <p:nvSpPr>
          <p:cNvPr id="7" name="solid-1-dot">
            <a:extLst xmlns:a="http://schemas.openxmlformats.org/drawingml/2006/main">
              <a:ext uri="{FF2B5EF4-FFF2-40B4-BE49-F238E27FC236}">
                <a16:creationId xmlns:a16="http://schemas.microsoft.com/office/drawing/2014/main" id="{997D8F68-E962-4C4E-9F32-6E9D4A8B96B3}"/>
              </a:ext>
            </a:extLst>
          </p:cNvPr>
          <p:cNvSpPr>
            <a:spLocks xmlns:a="http://schemas.openxmlformats.org/drawingml/2006/main" noGrp="1"/>
          </p:cNvSpPr>
          <p:nvPr/>
        </p:nvSpPr>
        <p:spPr>
          <a:xfrm xmlns:a="http://schemas.openxmlformats.org/drawingml/2006/main">
            <a:off x="933450" y="2466975"/>
            <a:ext cx="85725" cy="85725"/>
          </a:xfrm>
          <a:prstGeom xmlns:a="http://schemas.openxmlformats.org/drawingml/2006/main" prst="rect">
            <a:avLst/>
          </a:prstGeom>
          <a:solidFill xmlns:a="http://schemas.openxmlformats.org/drawingml/2006/main">
            <a:srgbClr val="167C80"/>
          </a:solidFill>
          <a:ln xmlns:a="http://schemas.openxmlformats.org/drawingml/2006/main" w="0">
            <a:solidFill>
              <a:srgbClr val="000000">
                <a:alpha val="0"/>
              </a:srgbClr>
            </a:solidFill>
            <a:prstDash val="solid"/>
          </a:ln>
        </p:spPr>
      </p:sp>
      <p:sp>
        <p:nvSpPr>
          <p:cNvPr id="8" name="solid-1-text">
            <a:extLst xmlns:a="http://schemas.openxmlformats.org/drawingml/2006/main">
              <a:ext uri="{FF2B5EF4-FFF2-40B4-BE49-F238E27FC236}">
                <a16:creationId xmlns:a16="http://schemas.microsoft.com/office/drawing/2014/main" id="{D5D29809-2772-49AA-8B17-7D0FF1A8753F}"/>
              </a:ext>
            </a:extLst>
          </p:cNvPr>
          <p:cNvSpPr>
            <a:spLocks xmlns:a="http://schemas.openxmlformats.org/drawingml/2006/main" noGrp="1"/>
          </p:cNvSpPr>
          <p:nvPr/>
        </p:nvSpPr>
        <p:spPr>
          <a:xfrm xmlns:a="http://schemas.openxmlformats.org/drawingml/2006/main">
            <a:off x="1162050" y="2381250"/>
            <a:ext cx="24193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E252B"/>
                </a:solidFill>
                <a:latin typeface="Aptos"/>
                <a:ea typeface="Aptos"/>
                <a:cs typeface="Aptos"/>
              </a:defRPr>
            </a:pPr>
            <a:r>
              <a:rPr sz="1200" b="0">
                <a:solidFill>
                  <a:srgbClr val="1E252B"/>
                </a:solidFill>
                <a:latin typeface="Aptos"/>
                <a:ea typeface="Aptos"/>
                <a:cs typeface="Aptos"/>
              </a:rPr>
              <a:t>MoConVQ inference path reproduced.</a:t>
            </a:r>
          </a:p>
        </p:txBody>
      </p:sp>
      <p:sp>
        <p:nvSpPr>
          <p:cNvPr id="9" name="solid-2-dot">
            <a:extLst xmlns:a="http://schemas.openxmlformats.org/drawingml/2006/main">
              <a:ext uri="{FF2B5EF4-FFF2-40B4-BE49-F238E27FC236}">
                <a16:creationId xmlns:a16="http://schemas.microsoft.com/office/drawing/2014/main" id="{24D7FD5D-10E0-48E8-BCB8-A8EFB3E0BC82}"/>
              </a:ext>
            </a:extLst>
          </p:cNvPr>
          <p:cNvSpPr>
            <a:spLocks xmlns:a="http://schemas.openxmlformats.org/drawingml/2006/main" noGrp="1"/>
          </p:cNvSpPr>
          <p:nvPr/>
        </p:nvSpPr>
        <p:spPr>
          <a:xfrm xmlns:a="http://schemas.openxmlformats.org/drawingml/2006/main">
            <a:off x="933450" y="2809875"/>
            <a:ext cx="85725" cy="85725"/>
          </a:xfrm>
          <a:prstGeom xmlns:a="http://schemas.openxmlformats.org/drawingml/2006/main" prst="rect">
            <a:avLst/>
          </a:prstGeom>
          <a:solidFill xmlns:a="http://schemas.openxmlformats.org/drawingml/2006/main">
            <a:srgbClr val="167C80"/>
          </a:solidFill>
          <a:ln xmlns:a="http://schemas.openxmlformats.org/drawingml/2006/main" w="0">
            <a:solidFill>
              <a:srgbClr val="000000">
                <a:alpha val="0"/>
              </a:srgbClr>
            </a:solidFill>
            <a:prstDash val="solid"/>
          </a:ln>
        </p:spPr>
      </p:sp>
      <p:sp>
        <p:nvSpPr>
          <p:cNvPr id="10" name="solid-2-text">
            <a:extLst xmlns:a="http://schemas.openxmlformats.org/drawingml/2006/main">
              <a:ext uri="{FF2B5EF4-FFF2-40B4-BE49-F238E27FC236}">
                <a16:creationId xmlns:a16="http://schemas.microsoft.com/office/drawing/2014/main" id="{53953DA8-1269-4963-AEA1-41BB3784B461}"/>
              </a:ext>
            </a:extLst>
          </p:cNvPr>
          <p:cNvSpPr>
            <a:spLocks xmlns:a="http://schemas.openxmlformats.org/drawingml/2006/main" noGrp="1"/>
          </p:cNvSpPr>
          <p:nvPr/>
        </p:nvSpPr>
        <p:spPr>
          <a:xfrm xmlns:a="http://schemas.openxmlformats.org/drawingml/2006/main">
            <a:off x="1162050" y="2724150"/>
            <a:ext cx="24193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E252B"/>
                </a:solidFill>
                <a:latin typeface="Aptos"/>
                <a:ea typeface="Aptos"/>
                <a:cs typeface="Aptos"/>
              </a:defRPr>
            </a:pPr>
            <a:r>
              <a:rPr sz="1200" b="0">
                <a:solidFill>
                  <a:srgbClr val="1E252B"/>
                </a:solidFill>
                <a:latin typeface="Aptos"/>
                <a:ea typeface="Aptos"/>
                <a:cs typeface="Aptos"/>
              </a:rPr>
              <a:t>LoRA distillation pipeline is reproducible.</a:t>
            </a:r>
          </a:p>
        </p:txBody>
      </p:sp>
      <p:sp>
        <p:nvSpPr>
          <p:cNvPr id="11" name="solid-3-dot">
            <a:extLst xmlns:a="http://schemas.openxmlformats.org/drawingml/2006/main">
              <a:ext uri="{FF2B5EF4-FFF2-40B4-BE49-F238E27FC236}">
                <a16:creationId xmlns:a16="http://schemas.microsoft.com/office/drawing/2014/main" id="{5B563751-ED23-407B-9AD9-D8A6501A7B88}"/>
              </a:ext>
            </a:extLst>
          </p:cNvPr>
          <p:cNvSpPr>
            <a:spLocks xmlns:a="http://schemas.openxmlformats.org/drawingml/2006/main" noGrp="1"/>
          </p:cNvSpPr>
          <p:nvPr/>
        </p:nvSpPr>
        <p:spPr>
          <a:xfrm xmlns:a="http://schemas.openxmlformats.org/drawingml/2006/main">
            <a:off x="933450" y="3152775"/>
            <a:ext cx="85725" cy="85725"/>
          </a:xfrm>
          <a:prstGeom xmlns:a="http://schemas.openxmlformats.org/drawingml/2006/main" prst="rect">
            <a:avLst/>
          </a:prstGeom>
          <a:solidFill xmlns:a="http://schemas.openxmlformats.org/drawingml/2006/main">
            <a:srgbClr val="167C80"/>
          </a:solidFill>
          <a:ln xmlns:a="http://schemas.openxmlformats.org/drawingml/2006/main" w="0">
            <a:solidFill>
              <a:srgbClr val="000000">
                <a:alpha val="0"/>
              </a:srgbClr>
            </a:solidFill>
            <a:prstDash val="solid"/>
          </a:ln>
        </p:spPr>
      </p:sp>
      <p:sp>
        <p:nvSpPr>
          <p:cNvPr id="12" name="solid-3-text">
            <a:extLst xmlns:a="http://schemas.openxmlformats.org/drawingml/2006/main">
              <a:ext uri="{FF2B5EF4-FFF2-40B4-BE49-F238E27FC236}">
                <a16:creationId xmlns:a16="http://schemas.microsoft.com/office/drawing/2014/main" id="{FC4F9CCF-3947-4E62-95F8-5956DF657A2B}"/>
              </a:ext>
            </a:extLst>
          </p:cNvPr>
          <p:cNvSpPr>
            <a:spLocks xmlns:a="http://schemas.openxmlformats.org/drawingml/2006/main" noGrp="1"/>
          </p:cNvSpPr>
          <p:nvPr/>
        </p:nvSpPr>
        <p:spPr>
          <a:xfrm xmlns:a="http://schemas.openxmlformats.org/drawingml/2006/main">
            <a:off x="1162050" y="3067050"/>
            <a:ext cx="24193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E252B"/>
                </a:solidFill>
                <a:latin typeface="Aptos"/>
                <a:ea typeface="Aptos"/>
                <a:cs typeface="Aptos"/>
              </a:defRPr>
            </a:pPr>
            <a:r>
              <a:rPr sz="1200" b="0">
                <a:solidFill>
                  <a:srgbClr val="1E252B"/>
                </a:solidFill>
                <a:latin typeface="Aptos"/>
                <a:ea typeface="Aptos"/>
                <a:cs typeface="Aptos"/>
              </a:rPr>
              <a:t>BVH proxy checks support most coarse style directions.</a:t>
            </a:r>
          </a:p>
        </p:txBody>
      </p:sp>
      <p:sp>
        <p:nvSpPr>
          <p:cNvPr id="13" name="limited-panel">
            <a:extLst xmlns:a="http://schemas.openxmlformats.org/drawingml/2006/main">
              <a:ext uri="{FF2B5EF4-FFF2-40B4-BE49-F238E27FC236}">
                <a16:creationId xmlns:a16="http://schemas.microsoft.com/office/drawing/2014/main" id="{0EA09B29-E8B7-4C27-BE75-7C4020466438}"/>
              </a:ext>
            </a:extLst>
          </p:cNvPr>
          <p:cNvSpPr>
            <a:spLocks xmlns:a="http://schemas.openxmlformats.org/drawingml/2006/main" noGrp="1"/>
          </p:cNvSpPr>
          <p:nvPr/>
        </p:nvSpPr>
        <p:spPr>
          <a:xfrm xmlns:a="http://schemas.openxmlformats.org/drawingml/2006/main">
            <a:off x="685800" y="3829050"/>
            <a:ext cx="3219450" cy="1562100"/>
          </a:xfrm>
          <a:prstGeom xmlns:a="http://schemas.openxmlformats.org/drawingml/2006/main" prst="rect">
            <a:avLst/>
          </a:prstGeom>
          <a:solidFill xmlns:a="http://schemas.openxmlformats.org/drawingml/2006/main">
            <a:srgbClr val="F3E0D5"/>
          </a:solidFill>
          <a:ln xmlns:a="http://schemas.openxmlformats.org/drawingml/2006/main" w="9525">
            <a:solidFill>
              <a:srgbClr val="D6CEC0"/>
            </a:solidFill>
            <a:prstDash val="solid"/>
          </a:ln>
        </p:spPr>
      </p:sp>
      <p:sp>
        <p:nvSpPr>
          <p:cNvPr id="14" name="limited-title">
            <a:extLst xmlns:a="http://schemas.openxmlformats.org/drawingml/2006/main">
              <a:ext uri="{FF2B5EF4-FFF2-40B4-BE49-F238E27FC236}">
                <a16:creationId xmlns:a16="http://schemas.microsoft.com/office/drawing/2014/main" id="{327EA57D-18B7-451B-AF3E-A842299FFC49}"/>
              </a:ext>
            </a:extLst>
          </p:cNvPr>
          <p:cNvSpPr>
            <a:spLocks xmlns:a="http://schemas.openxmlformats.org/drawingml/2006/main" noGrp="1"/>
          </p:cNvSpPr>
          <p:nvPr/>
        </p:nvSpPr>
        <p:spPr>
          <a:xfrm xmlns:a="http://schemas.openxmlformats.org/drawingml/2006/main">
            <a:off x="914400" y="4038600"/>
            <a:ext cx="2781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B15A35"/>
                </a:solidFill>
                <a:latin typeface="Aptos Display"/>
                <a:ea typeface="Aptos Display"/>
                <a:cs typeface="Aptos Display"/>
              </a:defRPr>
            </a:pPr>
            <a:r>
              <a:rPr sz="1800" b="1">
                <a:solidFill>
                  <a:srgbClr val="B15A35"/>
                </a:solidFill>
                <a:latin typeface="Aptos Display"/>
                <a:ea typeface="Aptos Display"/>
                <a:cs typeface="Aptos Display"/>
              </a:rPr>
              <a:t>What remains limited</a:t>
            </a:r>
          </a:p>
        </p:txBody>
      </p:sp>
      <p:sp>
        <p:nvSpPr>
          <p:cNvPr id="15" name="limited-1-dot">
            <a:extLst xmlns:a="http://schemas.openxmlformats.org/drawingml/2006/main">
              <a:ext uri="{FF2B5EF4-FFF2-40B4-BE49-F238E27FC236}">
                <a16:creationId xmlns:a16="http://schemas.microsoft.com/office/drawing/2014/main" id="{7A6BB6C4-00CA-4F59-9BD4-013F6BD77862}"/>
              </a:ext>
            </a:extLst>
          </p:cNvPr>
          <p:cNvSpPr>
            <a:spLocks xmlns:a="http://schemas.openxmlformats.org/drawingml/2006/main" noGrp="1"/>
          </p:cNvSpPr>
          <p:nvPr/>
        </p:nvSpPr>
        <p:spPr>
          <a:xfrm xmlns:a="http://schemas.openxmlformats.org/drawingml/2006/main">
            <a:off x="933450" y="4581525"/>
            <a:ext cx="85725" cy="85725"/>
          </a:xfrm>
          <a:prstGeom xmlns:a="http://schemas.openxmlformats.org/drawingml/2006/main" prst="rect">
            <a:avLst/>
          </a:prstGeom>
          <a:solidFill xmlns:a="http://schemas.openxmlformats.org/drawingml/2006/main">
            <a:srgbClr val="B15A35"/>
          </a:solidFill>
          <a:ln xmlns:a="http://schemas.openxmlformats.org/drawingml/2006/main" w="0">
            <a:solidFill>
              <a:srgbClr val="000000">
                <a:alpha val="0"/>
              </a:srgbClr>
            </a:solidFill>
            <a:prstDash val="solid"/>
          </a:ln>
        </p:spPr>
      </p:sp>
      <p:sp>
        <p:nvSpPr>
          <p:cNvPr id="16" name="limited-1-text">
            <a:extLst xmlns:a="http://schemas.openxmlformats.org/drawingml/2006/main">
              <a:ext uri="{FF2B5EF4-FFF2-40B4-BE49-F238E27FC236}">
                <a16:creationId xmlns:a16="http://schemas.microsoft.com/office/drawing/2014/main" id="{21C679E1-84CC-4D29-BD72-FE6FD74D9A81}"/>
              </a:ext>
            </a:extLst>
          </p:cNvPr>
          <p:cNvSpPr>
            <a:spLocks xmlns:a="http://schemas.openxmlformats.org/drawingml/2006/main" noGrp="1"/>
          </p:cNvSpPr>
          <p:nvPr/>
        </p:nvSpPr>
        <p:spPr>
          <a:xfrm xmlns:a="http://schemas.openxmlformats.org/drawingml/2006/main">
            <a:off x="1162050" y="4495800"/>
            <a:ext cx="24193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E252B"/>
                </a:solidFill>
                <a:latin typeface="Aptos"/>
                <a:ea typeface="Aptos"/>
                <a:cs typeface="Aptos"/>
              </a:defRPr>
            </a:pPr>
            <a:r>
              <a:rPr sz="1125" b="0">
                <a:solidFill>
                  <a:srgbClr val="1E252B"/>
                </a:solidFill>
                <a:latin typeface="Aptos"/>
                <a:ea typeface="Aptos"/>
                <a:cs typeface="Aptos"/>
              </a:rPr>
              <a:t>No official FID or R-Precision bridge.</a:t>
            </a:r>
          </a:p>
        </p:txBody>
      </p:sp>
      <p:sp>
        <p:nvSpPr>
          <p:cNvPr id="17" name="limited-2-dot">
            <a:extLst xmlns:a="http://schemas.openxmlformats.org/drawingml/2006/main">
              <a:ext uri="{FF2B5EF4-FFF2-40B4-BE49-F238E27FC236}">
                <a16:creationId xmlns:a16="http://schemas.microsoft.com/office/drawing/2014/main" id="{5FC830A7-25F7-4126-87DA-2A97F5B6D8D7}"/>
              </a:ext>
            </a:extLst>
          </p:cNvPr>
          <p:cNvSpPr>
            <a:spLocks xmlns:a="http://schemas.openxmlformats.org/drawingml/2006/main" noGrp="1"/>
          </p:cNvSpPr>
          <p:nvPr/>
        </p:nvSpPr>
        <p:spPr>
          <a:xfrm xmlns:a="http://schemas.openxmlformats.org/drawingml/2006/main">
            <a:off x="933450" y="4867275"/>
            <a:ext cx="85725" cy="85725"/>
          </a:xfrm>
          <a:prstGeom xmlns:a="http://schemas.openxmlformats.org/drawingml/2006/main" prst="rect">
            <a:avLst/>
          </a:prstGeom>
          <a:solidFill xmlns:a="http://schemas.openxmlformats.org/drawingml/2006/main">
            <a:srgbClr val="B15A35"/>
          </a:solidFill>
          <a:ln xmlns:a="http://schemas.openxmlformats.org/drawingml/2006/main" w="0">
            <a:solidFill>
              <a:srgbClr val="000000">
                <a:alpha val="0"/>
              </a:srgbClr>
            </a:solidFill>
            <a:prstDash val="solid"/>
          </a:ln>
        </p:spPr>
      </p:sp>
      <p:sp>
        <p:nvSpPr>
          <p:cNvPr id="18" name="limited-2-text">
            <a:extLst xmlns:a="http://schemas.openxmlformats.org/drawingml/2006/main">
              <a:ext uri="{FF2B5EF4-FFF2-40B4-BE49-F238E27FC236}">
                <a16:creationId xmlns:a16="http://schemas.microsoft.com/office/drawing/2014/main" id="{907C2E76-DA6C-49CA-AA48-70B9181D9AAB}"/>
              </a:ext>
            </a:extLst>
          </p:cNvPr>
          <p:cNvSpPr>
            <a:spLocks xmlns:a="http://schemas.openxmlformats.org/drawingml/2006/main" noGrp="1"/>
          </p:cNvSpPr>
          <p:nvPr/>
        </p:nvSpPr>
        <p:spPr>
          <a:xfrm xmlns:a="http://schemas.openxmlformats.org/drawingml/2006/main">
            <a:off x="1162050" y="4781550"/>
            <a:ext cx="24193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E252B"/>
                </a:solidFill>
                <a:latin typeface="Aptos"/>
                <a:ea typeface="Aptos"/>
                <a:cs typeface="Aptos"/>
              </a:defRPr>
            </a:pPr>
            <a:r>
              <a:rPr sz="1125" b="0">
                <a:solidFill>
                  <a:srgbClr val="1E252B"/>
                </a:solidFill>
                <a:latin typeface="Aptos"/>
                <a:ea typeface="Aptos"/>
                <a:cs typeface="Aptos"/>
              </a:rPr>
              <a:t>Small prompt-level proxy evaluation.</a:t>
            </a:r>
          </a:p>
        </p:txBody>
      </p:sp>
      <p:sp>
        <p:nvSpPr>
          <p:cNvPr id="19" name="limited-3-dot">
            <a:extLst xmlns:a="http://schemas.openxmlformats.org/drawingml/2006/main">
              <a:ext uri="{FF2B5EF4-FFF2-40B4-BE49-F238E27FC236}">
                <a16:creationId xmlns:a16="http://schemas.microsoft.com/office/drawing/2014/main" id="{07E80982-3459-4817-8EF6-0DB56DDF32ED}"/>
              </a:ext>
            </a:extLst>
          </p:cNvPr>
          <p:cNvSpPr>
            <a:spLocks xmlns:a="http://schemas.openxmlformats.org/drawingml/2006/main" noGrp="1"/>
          </p:cNvSpPr>
          <p:nvPr/>
        </p:nvSpPr>
        <p:spPr>
          <a:xfrm xmlns:a="http://schemas.openxmlformats.org/drawingml/2006/main">
            <a:off x="933450" y="5153025"/>
            <a:ext cx="85725" cy="85725"/>
          </a:xfrm>
          <a:prstGeom xmlns:a="http://schemas.openxmlformats.org/drawingml/2006/main" prst="rect">
            <a:avLst/>
          </a:prstGeom>
          <a:solidFill xmlns:a="http://schemas.openxmlformats.org/drawingml/2006/main">
            <a:srgbClr val="B15A35"/>
          </a:solidFill>
          <a:ln xmlns:a="http://schemas.openxmlformats.org/drawingml/2006/main" w="0">
            <a:solidFill>
              <a:srgbClr val="000000">
                <a:alpha val="0"/>
              </a:srgbClr>
            </a:solidFill>
            <a:prstDash val="solid"/>
          </a:ln>
        </p:spPr>
      </p:sp>
      <p:sp>
        <p:nvSpPr>
          <p:cNvPr id="20" name="limited-3-text">
            <a:extLst xmlns:a="http://schemas.openxmlformats.org/drawingml/2006/main">
              <a:ext uri="{FF2B5EF4-FFF2-40B4-BE49-F238E27FC236}">
                <a16:creationId xmlns:a16="http://schemas.microsoft.com/office/drawing/2014/main" id="{3CFDE6C9-1794-4A69-A13C-278D2A8390E6}"/>
              </a:ext>
            </a:extLst>
          </p:cNvPr>
          <p:cNvSpPr>
            <a:spLocks xmlns:a="http://schemas.openxmlformats.org/drawingml/2006/main" noGrp="1"/>
          </p:cNvSpPr>
          <p:nvPr/>
        </p:nvSpPr>
        <p:spPr>
          <a:xfrm xmlns:a="http://schemas.openxmlformats.org/drawingml/2006/main">
            <a:off x="1162050" y="5067300"/>
            <a:ext cx="24193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E252B"/>
                </a:solidFill>
                <a:latin typeface="Aptos"/>
                <a:ea typeface="Aptos"/>
                <a:cs typeface="Aptos"/>
              </a:defRPr>
            </a:pPr>
            <a:r>
              <a:rPr sz="1125" b="0">
                <a:solidFill>
                  <a:srgbClr val="1E252B"/>
                </a:solidFill>
                <a:latin typeface="Aptos"/>
                <a:ea typeface="Aptos"/>
                <a:cs typeface="Aptos"/>
              </a:rPr>
              <a:t>Teacher distillation cannot add new motion knowledge.</a:t>
            </a:r>
          </a:p>
        </p:txBody>
      </p:sp>
      <p:sp>
        <p:nvSpPr>
          <p:cNvPr id="21" name="next-step-panel">
            <a:extLst xmlns:a="http://schemas.openxmlformats.org/drawingml/2006/main">
              <a:ext uri="{FF2B5EF4-FFF2-40B4-BE49-F238E27FC236}">
                <a16:creationId xmlns:a16="http://schemas.microsoft.com/office/drawing/2014/main" id="{4CF6B7ED-2C28-4BDC-ABD7-46EE2CC98B8F}"/>
              </a:ext>
            </a:extLst>
          </p:cNvPr>
          <p:cNvSpPr>
            <a:spLocks xmlns:a="http://schemas.openxmlformats.org/drawingml/2006/main" noGrp="1"/>
          </p:cNvSpPr>
          <p:nvPr/>
        </p:nvSpPr>
        <p:spPr>
          <a:xfrm xmlns:a="http://schemas.openxmlformats.org/drawingml/2006/main">
            <a:off x="4324350" y="1676400"/>
            <a:ext cx="2609850" cy="3714750"/>
          </a:xfrm>
          <a:prstGeom xmlns:a="http://schemas.openxmlformats.org/drawingml/2006/main" prst="rect">
            <a:avLst/>
          </a:prstGeom>
          <a:solidFill xmlns:a="http://schemas.openxmlformats.org/drawingml/2006/main">
            <a:srgbClr val="2D3440"/>
          </a:solidFill>
          <a:ln xmlns:a="http://schemas.openxmlformats.org/drawingml/2006/main" w="0">
            <a:solidFill>
              <a:srgbClr val="000000">
                <a:alpha val="0"/>
              </a:srgbClr>
            </a:solidFill>
            <a:prstDash val="solid"/>
          </a:ln>
        </p:spPr>
      </p:sp>
      <p:sp>
        <p:nvSpPr>
          <p:cNvPr id="22" name="next-step-title">
            <a:extLst xmlns:a="http://schemas.openxmlformats.org/drawingml/2006/main">
              <a:ext uri="{FF2B5EF4-FFF2-40B4-BE49-F238E27FC236}">
                <a16:creationId xmlns:a16="http://schemas.microsoft.com/office/drawing/2014/main" id="{F72F71D2-0AA5-46CF-B808-DDA287BBCE2F}"/>
              </a:ext>
            </a:extLst>
          </p:cNvPr>
          <p:cNvSpPr>
            <a:spLocks xmlns:a="http://schemas.openxmlformats.org/drawingml/2006/main" noGrp="1"/>
          </p:cNvSpPr>
          <p:nvPr/>
        </p:nvSpPr>
        <p:spPr>
          <a:xfrm xmlns:a="http://schemas.openxmlformats.org/drawingml/2006/main">
            <a:off x="4629150" y="2000250"/>
            <a:ext cx="20002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75" b="1">
                <a:solidFill>
                  <a:srgbClr val="FFFFFF"/>
                </a:solidFill>
                <a:latin typeface="Aptos Display"/>
                <a:ea typeface="Aptos Display"/>
                <a:cs typeface="Aptos Display"/>
              </a:defRPr>
            </a:pPr>
            <a:r>
              <a:rPr sz="2475" b="1">
                <a:solidFill>
                  <a:srgbClr val="FFFFFF"/>
                </a:solidFill>
                <a:latin typeface="Aptos Display"/>
                <a:ea typeface="Aptos Display"/>
                <a:cs typeface="Aptos Display"/>
              </a:rPr>
              <a:t>Best next step</a:t>
            </a:r>
          </a:p>
        </p:txBody>
      </p:sp>
      <p:sp>
        <p:nvSpPr>
          <p:cNvPr id="23" name="next-step-body">
            <a:extLst xmlns:a="http://schemas.openxmlformats.org/drawingml/2006/main">
              <a:ext uri="{FF2B5EF4-FFF2-40B4-BE49-F238E27FC236}">
                <a16:creationId xmlns:a16="http://schemas.microsoft.com/office/drawing/2014/main" id="{7972B18F-682B-4476-AA2C-DE52B26F5C8F}"/>
              </a:ext>
            </a:extLst>
          </p:cNvPr>
          <p:cNvSpPr>
            <a:spLocks xmlns:a="http://schemas.openxmlformats.org/drawingml/2006/main" noGrp="1"/>
          </p:cNvSpPr>
          <p:nvPr/>
        </p:nvSpPr>
        <p:spPr>
          <a:xfrm xmlns:a="http://schemas.openxmlformats.org/drawingml/2006/main">
            <a:off x="4629150" y="2895600"/>
            <a:ext cx="2000250" cy="1619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152400" rIns="76200" bIns="152400" anchor="ctr"/>
          <a:lstStyle xmlns:a="http://schemas.openxmlformats.org/drawingml/2006/main"/>
          <a:p xmlns:a="http://schemas.openxmlformats.org/drawingml/2006/main">
            <a:pPr algn="ctr">
              <a:defRPr sz="1500" b="0">
                <a:solidFill>
                  <a:srgbClr val="EEF4F5"/>
                </a:solidFill>
                <a:latin typeface="Aptos"/>
                <a:ea typeface="Aptos"/>
                <a:cs typeface="Aptos"/>
              </a:defRPr>
            </a:pPr>
            <a:r>
              <a:rPr sz="1500" b="0">
                <a:solidFill>
                  <a:srgbClr val="EEF4F5"/>
                </a:solidFill>
                <a:latin typeface="Aptos"/>
                <a:ea typeface="Aptos"/>
                <a:cs typeface="Aptos"/>
              </a:rPr>
              <a:t>Build a verified representation or evaluator bridge so style control can be measured against true motion benchmarks, not only teacher tokens and proxies.</a:t>
            </a:r>
          </a:p>
        </p:txBody>
      </p:sp>
      <p:sp>
        <p:nvSpPr>
          <p:cNvPr id="24" name="qual-panel">
            <a:extLst xmlns:a="http://schemas.openxmlformats.org/drawingml/2006/main">
              <a:ext uri="{FF2B5EF4-FFF2-40B4-BE49-F238E27FC236}">
                <a16:creationId xmlns:a16="http://schemas.microsoft.com/office/drawing/2014/main" id="{13AD519C-0A2F-4451-A341-1124DE75E33B}"/>
              </a:ext>
            </a:extLst>
          </p:cNvPr>
          <p:cNvSpPr>
            <a:spLocks xmlns:a="http://schemas.openxmlformats.org/drawingml/2006/main" noGrp="1"/>
          </p:cNvSpPr>
          <p:nvPr/>
        </p:nvSpPr>
        <p:spPr>
          <a:xfrm xmlns:a="http://schemas.openxmlformats.org/drawingml/2006/main">
            <a:off x="7334250" y="1676400"/>
            <a:ext cx="3714750" cy="3714750"/>
          </a:xfrm>
          <a:prstGeom xmlns:a="http://schemas.openxmlformats.org/drawingml/2006/main" prst="rect">
            <a:avLst/>
          </a:prstGeom>
          <a:solidFill xmlns:a="http://schemas.openxmlformats.org/drawingml/2006/main">
            <a:srgbClr val="FFFFFF"/>
          </a:solidFill>
          <a:ln xmlns:a="http://schemas.openxmlformats.org/drawingml/2006/main" w="9525">
            <a:solidFill>
              <a:srgbClr val="D6CEC0"/>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5afcacb9d26c4dd4"/>
          <a:stretch xmlns:a="http://schemas.openxmlformats.org/drawingml/2006/main"/>
        </p:blipFill>
        <p:spPr>
          <a:xfrm xmlns:a="http://schemas.openxmlformats.org/drawingml/2006/main">
            <a:off x="7674622" y="1885950"/>
            <a:ext cx="3034007" cy="3028950"/>
          </a:xfrm>
          <a:prstGeom xmlns:a="http://schemas.openxmlformats.org/drawingml/2006/main" prst="rect">
            <a:avLst/>
          </a:prstGeom>
        </p:spPr>
      </p:pic>
      <p:sp>
        <p:nvSpPr>
          <p:cNvPr id="26" name="qualitative-caption">
            <a:extLst xmlns:a="http://schemas.openxmlformats.org/drawingml/2006/main">
              <a:ext uri="{FF2B5EF4-FFF2-40B4-BE49-F238E27FC236}">
                <a16:creationId xmlns:a16="http://schemas.microsoft.com/office/drawing/2014/main" id="{39E68430-2F1C-49F8-A4AD-DF7A9AF1A80F}"/>
              </a:ext>
            </a:extLst>
          </p:cNvPr>
          <p:cNvSpPr>
            <a:spLocks xmlns:a="http://schemas.openxmlformats.org/drawingml/2006/main" noGrp="1"/>
          </p:cNvSpPr>
          <p:nvPr/>
        </p:nvSpPr>
        <p:spPr>
          <a:xfrm xmlns:a="http://schemas.openxmlformats.org/drawingml/2006/main">
            <a:off x="7620000" y="5010150"/>
            <a:ext cx="3143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E6975"/>
                </a:solidFill>
                <a:latin typeface="Aptos"/>
                <a:ea typeface="Aptos"/>
                <a:cs typeface="Aptos"/>
              </a:defRPr>
            </a:pPr>
            <a:r>
              <a:rPr sz="975" b="0">
                <a:solidFill>
                  <a:srgbClr val="5E6975"/>
                </a:solidFill>
                <a:latin typeface="Aptos"/>
                <a:ea typeface="Aptos"/>
                <a:cs typeface="Aptos"/>
              </a:rPr>
              <a:t>Qualitative previews are inspection evidence, not benchmark scores.</a:t>
            </a:r>
          </a:p>
        </p:txBody>
      </p:sp>
      <p:sp>
        <p:nvSpPr>
          <p:cNvPr id="27" name="footer-6-rule">
            <a:extLst xmlns:a="http://schemas.openxmlformats.org/drawingml/2006/main">
              <a:ext uri="{FF2B5EF4-FFF2-40B4-BE49-F238E27FC236}">
                <a16:creationId xmlns:a16="http://schemas.microsoft.com/office/drawing/2014/main" id="{D5329A25-5234-4A9A-B61D-09B868088471}"/>
              </a:ext>
            </a:extLst>
          </p:cNvPr>
          <p:cNvSpPr>
            <a:spLocks xmlns:a="http://schemas.openxmlformats.org/drawingml/2006/main" noGrp="1"/>
          </p:cNvSpPr>
          <p:nvPr/>
        </p:nvSpPr>
        <p:spPr>
          <a:xfrm xmlns:a="http://schemas.openxmlformats.org/drawingml/2006/main">
            <a:off x="685800" y="6343650"/>
            <a:ext cx="108204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28" name="footer-6-source">
            <a:extLst xmlns:a="http://schemas.openxmlformats.org/drawingml/2006/main">
              <a:ext uri="{FF2B5EF4-FFF2-40B4-BE49-F238E27FC236}">
                <a16:creationId xmlns:a16="http://schemas.microsoft.com/office/drawing/2014/main" id="{7259A68A-A5D1-4E62-9BBC-041445ED92B7}"/>
              </a:ext>
            </a:extLst>
          </p:cNvPr>
          <p:cNvSpPr>
            <a:spLocks xmlns:a="http://schemas.openxmlformats.org/drawingml/2006/main" noGrp="1"/>
          </p:cNvSpPr>
          <p:nvPr/>
        </p:nvSpPr>
        <p:spPr>
          <a:xfrm xmlns:a="http://schemas.openxmlformats.org/drawingml/2006/main">
            <a:off x="685800" y="6419850"/>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7A746A"/>
                </a:solidFill>
                <a:latin typeface="Aptos"/>
                <a:ea typeface="Aptos"/>
                <a:cs typeface="Aptos"/>
              </a:defRPr>
            </a:pPr>
            <a:r>
              <a:rPr sz="750" b="0">
                <a:solidFill>
                  <a:srgbClr val="7A746A"/>
                </a:solidFill>
                <a:latin typeface="Aptos"/>
                <a:ea typeface="Aptos"/>
                <a:cs typeface="Aptos"/>
              </a:rPr>
              <a:t>Source: Limitations; Result Interpretation; Conclusion</a:t>
            </a:r>
          </a:p>
        </p:txBody>
      </p:sp>
      <p:sp>
        <p:nvSpPr>
          <p:cNvPr id="29" name="footer-6-page">
            <a:extLst xmlns:a="http://schemas.openxmlformats.org/drawingml/2006/main">
              <a:ext uri="{FF2B5EF4-FFF2-40B4-BE49-F238E27FC236}">
                <a16:creationId xmlns:a16="http://schemas.microsoft.com/office/drawing/2014/main" id="{BEDE3932-64F1-452F-A2CB-02428194B49E}"/>
              </a:ext>
            </a:extLst>
          </p:cNvPr>
          <p:cNvSpPr>
            <a:spLocks xmlns:a="http://schemas.openxmlformats.org/drawingml/2006/main" noGrp="1"/>
          </p:cNvSpPr>
          <p:nvPr/>
        </p:nvSpPr>
        <p:spPr>
          <a:xfrm xmlns:a="http://schemas.openxmlformats.org/drawingml/2006/main">
            <a:off x="9620250" y="6419850"/>
            <a:ext cx="1885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7A746A"/>
                </a:solidFill>
                <a:latin typeface="Aptos"/>
                <a:ea typeface="Aptos"/>
                <a:cs typeface="Aptos"/>
              </a:defRPr>
            </a:pPr>
            <a:r>
              <a:rPr sz="750" b="0">
                <a:solidFill>
                  <a:srgbClr val="7A746A"/>
                </a:solidFill>
                <a:latin typeface="Aptos"/>
                <a:ea typeface="Aptos"/>
                <a:cs typeface="Aptos"/>
              </a:rPr>
              <a:t>6 / 6 - Initial 5-minute report</a:t>
            </a:r>
          </a:p>
        </p:txBody>
      </p:sp>
    </p:spTree>
    <p:extLst>
      <p:ext uri="{BB962C8B-B14F-4D97-AF65-F5344CB8AC3E}">
        <p14:creationId xmlns:p14="http://schemas.microsoft.com/office/powerpoint/2010/main" val="19144739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2026-06-09T13:35:09.8340000Z</dcterms:created>
  <dcterms:modified xsi:type="dcterms:W3CDTF">2026-06-09T13:35:09.8340000Z</dcterms:modified>
</coreProperties>
</file>