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111c54b8443fc" /><Relationship Type="http://schemas.openxmlformats.org/officeDocument/2006/relationships/extended-properties" Target="/docProps/app.xml" Id="Rc22518dcbf234e79" /><Relationship Type="http://schemas.openxmlformats.org/officeDocument/2006/relationships/officeDocument" Target="/ppt/presentation.xml" Id="R3117da6619214a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4942df3c904178"/>
  </p:sldMasterIdLst>
  <p:notesMasterIdLst>
    <p:notesMasterId xmlns:r="http://schemas.openxmlformats.org/officeDocument/2006/relationships" r:id="R20ffc2900ec642de"/>
  </p:notesMasterIdLst>
  <p:sldIdLst>
    <p:sldId xmlns:r="http://schemas.openxmlformats.org/officeDocument/2006/relationships" id="256" r:id="R046f9f0d2305402c"/>
    <p:sldId xmlns:r="http://schemas.openxmlformats.org/officeDocument/2006/relationships" id="257" r:id="Rc181993291404729"/>
    <p:sldId xmlns:r="http://schemas.openxmlformats.org/officeDocument/2006/relationships" id="258" r:id="Rf8727e624c82438b"/>
    <p:sldId xmlns:r="http://schemas.openxmlformats.org/officeDocument/2006/relationships" id="259" r:id="R3e4b1a6189df44b6"/>
    <p:sldId xmlns:r="http://schemas.openxmlformats.org/officeDocument/2006/relationships" id="260" r:id="Rd55e54b1ffe14bec"/>
    <p:sldId xmlns:r="http://schemas.openxmlformats.org/officeDocument/2006/relationships" id="261" r:id="Rb133d457aac54a9e"/>
    <p:sldId xmlns:r="http://schemas.openxmlformats.org/officeDocument/2006/relationships" id="262" r:id="Rc7ed0592bc6a4042"/>
    <p:sldId xmlns:r="http://schemas.openxmlformats.org/officeDocument/2006/relationships" id="263" r:id="R7a96b6b5149b4a0a"/>
    <p:sldId xmlns:r="http://schemas.openxmlformats.org/officeDocument/2006/relationships" id="264" r:id="R0d0a150bf73b4f96"/>
    <p:sldId xmlns:r="http://schemas.openxmlformats.org/officeDocument/2006/relationships" id="265" r:id="R40031ed8eb1f48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38e94114be4bb7" /><Relationship Type="http://schemas.openxmlformats.org/officeDocument/2006/relationships/slideMaster" Target="/ppt/slideMasters/slideMaster1.xml" Id="R534942df3c904178" /><Relationship Type="http://schemas.openxmlformats.org/officeDocument/2006/relationships/notesMaster" Target="/ppt/notesMasters/notesMaster1.xml" Id="R20ffc2900ec642de" /><Relationship Type="http://schemas.openxmlformats.org/officeDocument/2006/relationships/presProps" Target="/ppt/presProps.xml" Id="R0782b9d17a274308" /><Relationship Type="http://schemas.openxmlformats.org/officeDocument/2006/relationships/tableStyles" Target="/ppt/tableStyles.xml" Id="Rd9178ad17f4d4648" /><Relationship Type="http://schemas.openxmlformats.org/officeDocument/2006/relationships/slide" Target="/ppt/slides/slide1.xml" Id="R046f9f0d2305402c" /><Relationship Type="http://schemas.openxmlformats.org/officeDocument/2006/relationships/slide" Target="/ppt/slides/slide2.xml" Id="Rc181993291404729" /><Relationship Type="http://schemas.openxmlformats.org/officeDocument/2006/relationships/slide" Target="/ppt/slides/slide3.xml" Id="Rf8727e624c82438b" /><Relationship Type="http://schemas.openxmlformats.org/officeDocument/2006/relationships/slide" Target="/ppt/slides/slide4.xml" Id="R3e4b1a6189df44b6" /><Relationship Type="http://schemas.openxmlformats.org/officeDocument/2006/relationships/slide" Target="/ppt/slides/slide5.xml" Id="Rd55e54b1ffe14bec" /><Relationship Type="http://schemas.openxmlformats.org/officeDocument/2006/relationships/slide" Target="/ppt/slides/slide6.xml" Id="Rb133d457aac54a9e" /><Relationship Type="http://schemas.openxmlformats.org/officeDocument/2006/relationships/slide" Target="/ppt/slides/slide7.xml" Id="Rc7ed0592bc6a4042" /><Relationship Type="http://schemas.openxmlformats.org/officeDocument/2006/relationships/slide" Target="/ppt/slides/slide8.xml" Id="R7a96b6b5149b4a0a" /><Relationship Type="http://schemas.openxmlformats.org/officeDocument/2006/relationships/slide" Target="/ppt/slides/slide9.xml" Id="R0d0a150bf73b4f96" /><Relationship Type="http://schemas.openxmlformats.org/officeDocument/2006/relationships/slide" Target="/ppt/slides/slide10.xml" Id="R40031ed8eb1f48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90be6b542747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0a5c5a59d044ac" /><Relationship Type="http://schemas.openxmlformats.org/officeDocument/2006/relationships/notesMaster" Target="/ppt/notesMasters/notesMaster1.xml" Id="R8cee8db291394a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5cf915ca0140d3" /><Relationship Type="http://schemas.openxmlformats.org/officeDocument/2006/relationships/notesMaster" Target="/ppt/notesMasters/notesMaster1.xml" Id="R0abe5cec9ec847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c4c48a0c84c1c" /><Relationship Type="http://schemas.openxmlformats.org/officeDocument/2006/relationships/notesMaster" Target="/ppt/notesMasters/notesMaster1.xml" Id="R8e55a99d997f46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2ed0be232c4ba3" /><Relationship Type="http://schemas.openxmlformats.org/officeDocument/2006/relationships/notesMaster" Target="/ppt/notesMasters/notesMaster1.xml" Id="Rb9f02f6fcd0f42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3cc73b1f4b42f8" /><Relationship Type="http://schemas.openxmlformats.org/officeDocument/2006/relationships/notesMaster" Target="/ppt/notesMasters/notesMaster1.xml" Id="R9e501cbe5b054d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fca55347064ba7" /><Relationship Type="http://schemas.openxmlformats.org/officeDocument/2006/relationships/notesMaster" Target="/ppt/notesMasters/notesMaster1.xml" Id="R43c8b5eb825d45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34e856e5a4f7a" /><Relationship Type="http://schemas.openxmlformats.org/officeDocument/2006/relationships/notesMaster" Target="/ppt/notesMasters/notesMaster1.xml" Id="R032f419450f74c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dfa4ace5d04d49" /><Relationship Type="http://schemas.openxmlformats.org/officeDocument/2006/relationships/notesMaster" Target="/ppt/notesMasters/notesMaster1.xml" Id="Ra1b8cefbd91246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99e1f59828486c" /><Relationship Type="http://schemas.openxmlformats.org/officeDocument/2006/relationships/notesMaster" Target="/ppt/notesMasters/notesMaster1.xml" Id="Re5545b4ad24342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923c71e3514a8b" /><Relationship Type="http://schemas.openxmlformats.org/officeDocument/2006/relationships/notesMaster" Target="/ppt/notesMasters/notesMaster1.xml" Id="R99f5c6cd2d664b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这一页把重点拉回来：这份报告的核心不再是泛泛介绍 LoRA，而是说明我们如何让 HumanML3D 的真实 motion 参与 teacher selection。原始方法主要使用 caption，student 模仿 teacher token；新方法是在同一个 caption 下生成多个 teacher candidate，再用 HumanML3D 对应 motion 的统计特征选择更接近的 candidate。关键结论是：多候选机制已经生效，但 teacher 与 HumanML 的对齐提升还比较小，并没有直接带来最终 student style proxy 的提升。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这一页解释为什么要重新组织 PPT。最早的问题看起来是格式不匹配：HumanML3D 是连续动作，MoConVQ GPT 需要离散 token。但更深层的问题是监督质量：如果 teacher 只根据 caption 生成一个样本，student 学到的就是这个样本，而这个样本未必接近 HumanML3D 的真实动作。因此新方法的动机是：让 HumanML3D 的真实 motion 不只是提供 caption，而是参与选择 teacher target。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这一页讲清楚 baseline 的含义。训练 LoRA 的 loss 是 cross entropy，也可以理解为 token-level negative log likelihood。它优化的是 student 对 teacher token 的预测概率，不直接优化 HumanML motion distance，也不直接优化人类观感。因此如果 teacher target 选得不好，student 会很认真地模仿一个不一定好的目标。这里自然引出后面的方法：真正要改的是 teacher candidate selection。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这一页是新方法的核心流程。对于每一条 HumanML3D 样本，我们有 caption、motion_id 和对应真实 motion。teacher 不再只采样一次，而是用 top-k 随机采样生成多个候选。每个候选被解码成 BVH，计算运动统计，然后和该 motion_id 对应的 HumanML3D 运动统计比较，选出距离最小的 candidate。最后 student 仍然用 cross entropy 学这个被选中的 token。这样既利用了 HumanML3D motion，又保持 MoConVQ token 训练路径不变。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这一页重点澄清 scoring。新 selection score 不是 lower-is-better 风格得分，而是接近度得分。公式是 candidate metric 和 HumanML metric 的 log ratio distance 取平均，越小表示越接近。比如 HumanML 的速度是 0.5，candidate 速度变成 0 并不会得高分，反而会因为和目标差得远而被惩罚。这套指标适合捕捉速度、时长、整体幅度、竖直起伏等全局运动特征，但不擅长捕捉手部动作、复杂舞蹈语义或动作顺序。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这一页展示第一个明确成果：原先虽然代码上生成多个 candidate，但 teacher.sample 在 if_categorial=False 时几乎确定性，200 个样本里 199 次都选第一个。这说明多候选筛选基本没有发挥作用。加入 top-k stochastic sampling 后，选择分布变成 0 号 114 次，1 号 31 次，2 号 32 次，3 号 23 次，非第一个 candidate 合计 86 次。也就是说，selection 机制终于有了真实选择空间。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这一页解释为什么旧结果和新结果不能混在一起解读。旧 style proxy 比较的是 LoRA 和 baseline，看 LoRA 是否朝我们手写的风格方向变化；它不是在比较是否接近 HumanML3D。新 HumanML alignment 比较的是 candidate 或生成动作和对应 HumanML3D motion 的接近程度。两个指标回答的问题不同：旧指标问风格方向有没有更明显，新指标问是否更接近真实数据。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这一页把结果讲清楚：如果用旧 style proxy，top-k 结果反而更低，只有 12/22；但如果看新 HumanML alignment，top-k selected teacher 比 deterministic selected teacher 略好，distance 从 1.9666 降到 1.9419，score 从 0.1443 升到 0.1477。这个结果不是简单失败，而是说明两个目标不同：我们确实改善了 teacher selection 的候选多样性和一点点 HumanML 对齐，但还没有证明最终 student 的生成结果也更接近 HumanML。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这一页解释哪些样本对得上，哪些对不上。新 alignment 不是说只有部分数据有 ground truth，而是 200 条都能按 motion_id 对齐；差别在于运动统计是否真的接近。跑步、跳跃、前进这类全身运动比较容易对上，因为 root speed、path length、vertical range 能捕捉它们。挥手、拿东西、复杂舞蹈、局部动作顺序则对得差，因为当前指标主要是全局运动统计，无法充分表达局部语义。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最后总结。现在最重要的贡献不是最终分数已经全面提升，而是建立了一个更合理的桥：HumanML3D motion 可以参与 teacher selection，top-k 机制也让这个选择真正生效。还没有解决的是最终 student 是否更接近 HumanML3D，因为目前新 alignment 主要评估 selected teacher candidate。下一步应该用 HumanML3D caption 重新生成 baseline 和 LoRA BVH，再和每个 motion_id 的真实 motion 对齐，这样才能完整评估学生模型是否真正受益。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5755ae56a48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30b732993e4336" /><Relationship Type="http://schemas.openxmlformats.org/officeDocument/2006/relationships/slideLayout" Target="/ppt/slideLayouts/slideLayout1.xml" Id="Rc1d4a3a275a541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d4a3a275a541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48a8062af4517" /><Relationship Type="http://schemas.openxmlformats.org/officeDocument/2006/relationships/notesSlide" Target="/ppt/notesSlides/notesSlide1.xml" Id="R31b6fe5a190c41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0b0e2c4814f97" /><Relationship Type="http://schemas.openxmlformats.org/officeDocument/2006/relationships/notesSlide" Target="/ppt/notesSlides/notesSlide2.xml" Id="R6e311a437a2a4d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af7c149c646fa" /><Relationship Type="http://schemas.openxmlformats.org/officeDocument/2006/relationships/notesSlide" Target="/ppt/notesSlides/notesSlide3.xml" Id="Ra6799a47ebfb45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1842f22974d10" /><Relationship Type="http://schemas.openxmlformats.org/officeDocument/2006/relationships/notesSlide" Target="/ppt/notesSlides/notesSlide4.xml" Id="R786b6b9557784d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a747161e64c89" /><Relationship Type="http://schemas.openxmlformats.org/officeDocument/2006/relationships/notesSlide" Target="/ppt/notesSlides/notesSlide5.xml" Id="R86b798f417e94b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6bc0d144d472d" /><Relationship Type="http://schemas.openxmlformats.org/officeDocument/2006/relationships/notesSlide" Target="/ppt/notesSlides/notesSlide6.xml" Id="R2b3ed68dda354f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7c38ef0344556" /><Relationship Type="http://schemas.openxmlformats.org/officeDocument/2006/relationships/notesSlide" Target="/ppt/notesSlides/notesSlide7.xml" Id="R5ca32b3982924c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7ca7c8def489d" /><Relationship Type="http://schemas.openxmlformats.org/officeDocument/2006/relationships/image" Target="/ppt/media/image.png" Id="Radaa5f22f6ad4e49" /><Relationship Type="http://schemas.openxmlformats.org/officeDocument/2006/relationships/notesSlide" Target="/ppt/notesSlides/notesSlide8.xml" Id="Rb3382926f97c4a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a4d1911db4385" /><Relationship Type="http://schemas.openxmlformats.org/officeDocument/2006/relationships/image" Target="/ppt/media/image2.png" Id="R372264a6d18f42fb" /><Relationship Type="http://schemas.openxmlformats.org/officeDocument/2006/relationships/notesSlide" Target="/ppt/notesSlides/notesSlide9.xml" Id="R771fc0c64d7941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e0cb9b35b4062" /><Relationship Type="http://schemas.openxmlformats.org/officeDocument/2006/relationships/notesSlide" Target="/ppt/notesSlides/notesSlide10.xml" Id="R81c1b2f7e1ba44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4EC16-C477-4348-ADE2-8A568194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3B74A67-BDF6-4AEF-A263-39FFC5F7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PROJECT THESIS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3355CE-BDFB-4716-81C6-D053AE42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HumanML3D-Guided Teacher Selection for MoConVQ LoRA Distillation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8DF10-014C-4298-8A0C-84B75C9B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75193C74-C475-497C-AB39-96CA2CEE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DD0186E-10AD-4AA7-BA35-4392E5B8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1 / 10 -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D8035-AD42-4BE3-9B03-2F77EE92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5DA0C-ED1A-446F-A6B5-21A10D41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The new contribution is not just LoRA distillation; it is using HumanML3D motion as a teacher-selection signal.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43F3F-DA1F-4386-A486-69B16EC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04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52914-D757-4B60-B85A-E3AB00BA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7C207-BD90-4887-B14C-7D5B6900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Original bottleneck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7C04E-B4E6-47C8-A9C5-1A883E37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HumanML3D provided captions, but its real motions were not used to choose teacher tokens.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56F47-3583-4063-B372-2D2675EF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304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79FF0-CA35-4DAF-BB52-64413584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B05C1-6418-45C3-84D7-16E5CAC2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767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New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D8BE6-2D20-4499-AFC0-91A6B0CA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624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Generate multiple teacher candidates and select the one closest to the paired HumanML3D motion.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509EA-609C-4A6C-86C1-CB75629B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304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19FE8-1B06-4B5D-95D8-BFF82429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EEE32-C760-45BA-BAB7-3753A85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767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Main finding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72583-1CB5-4478-8881-7200EF30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Candidate diversity is fixed, but alignment gains are small and do not yet improve final student style proxy.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920EC-8865-452D-B354-FBE4A4C5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A8AC1-70C5-4D54-A517-790FF8F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CE7A3-7DF2-41F8-AE10-B22EA9FB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86/200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CC54A-8F57-4BBD-AA17-7A6C8C8A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Non-first top-k teacher candidates selected.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DA137-99BD-45C5-AF02-95FCCDD3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C746A-67F1-4DEA-B552-A2BE061D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8B9F0-B103-420F-AC8B-683F4817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911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0.1477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2A33C-A39A-4D7A-829B-82F01CF8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769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Top-k selected teacher HumanML alignment score.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242A02-3FDF-4192-9697-34AF2C9B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9700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2DE83-0203-4293-A61D-B41EBF81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97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328EFF-CBA7-4B4C-B255-69BA9B63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911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12/22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E3D8B-07C9-41DA-B173-B3304E7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769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Final top-k student style-proxy checks improved.</a:t>
            </a:r>
          </a:p>
        </p:txBody>
      </p:sp>
    </p:spTree>
    <p:extLst>
      <p:ext uri="{BB962C8B-B14F-4D97-AF65-F5344CB8AC3E}">
        <p14:creationId xmlns:p14="http://schemas.microsoft.com/office/powerpoint/2010/main" val="1207185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075B2-60F5-440C-80CB-DEAFD4F5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5543E33-BFE6-412B-B55E-69473BB9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MOTIVATION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649061-C4C2-4654-BE20-56F1228A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The real gap: HumanML3D motion was available but underused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1537C-A67D-4D67-9253-A6A45FA7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79859EC-698F-40CA-BC60-A057867D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D5997B0-13A6-4440-8FC3-233373C0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2 / 10 -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AE1CB-F392-4598-ABF5-2BD07F8D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46B"/>
                </a:solidFill>
              </a:defRPr>
            </a:pPr>
            <a:r>
              <a:rPr sz="1500">
                <a:solidFill>
                  <a:srgbClr val="59646B"/>
                </a:solidFill>
              </a:rPr>
              <a:t>The project started from a format mismatch, but the deeper issue is supervision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B51C3-B04D-4520-990C-8C56E76F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A5AA1-756B-4093-9E9C-A8C81623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97DEE-16EC-4010-961C-78254EDA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HumanML3D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56F2A-79FB-4C67-BA7B-7E9A522B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caption + continuous 263-D motion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1B134-695A-4DC7-B2DC-E36B6522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E2AAF-34D0-4289-90C8-79240FDC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2900E-F0D9-45BD-86E2-244E7409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384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MoConVQ GPT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23242-29A2-4479-86AD-4A7C7A8C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241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expects discrete token targets, not HumanML continuous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81482-310A-44C0-A73E-9A0CA229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F3CC0-5EB3-4D16-8CA2-5A38590B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0B091-A54B-4CE1-8CC8-80324EF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384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Pseudo-token distillation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997B9-BF91-4650-9FC4-23C9F46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teacher samples tokens from caption; student learns CE loss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76984-6BEE-4DD1-81DD-86AFD30C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86000"/>
            <a:ext cx="1524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B3E3E-29EE-40E3-AFBA-ED3508A2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86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BDB53-A883-42BA-99A7-B09B6921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384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Problem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5DECB-4C7D-4B7C-BFED-6C98B347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2415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motion ground truth does not steer which teacher sample is learned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3EF49-7DEE-4A78-8D1E-F7E088B4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479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18F47-1BCA-4714-B715-572B9C4B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3CCF9A-A0BC-4BC2-BCF6-D68A131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479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ACAC30-90D4-44CF-BF8B-5732499E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A98E5-F3A5-4A89-8590-E844F864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832"/>
                </a:solidFill>
              </a:defRPr>
            </a:pPr>
            <a:r>
              <a:rPr sz="1275">
                <a:solidFill>
                  <a:srgbClr val="202832"/>
                </a:solidFill>
              </a:rPr>
              <a:t>Caption-only distillation can teach a plausible teacher sample even when it is not close to the paired HumanML3D motion.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22CE7-A992-494E-8FC2-EA971262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F2AAC-7616-4255-A8BB-FBD9D0CB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832"/>
                </a:solidFill>
              </a:defRPr>
            </a:pPr>
            <a:r>
              <a:rPr sz="1275">
                <a:solidFill>
                  <a:srgbClr val="202832"/>
                </a:solidFill>
              </a:rPr>
              <a:t>The new question: can HumanML3D motion help choose a better teacher target before LoRA training?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D64625-29EB-4D8F-9A7A-6F34D550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368EA2-635A-4FFD-87D1-D48FB475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006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832"/>
                </a:solidFill>
              </a:defRPr>
            </a:pPr>
            <a:r>
              <a:rPr sz="1275">
                <a:solidFill>
                  <a:srgbClr val="202832"/>
                </a:solidFill>
              </a:rPr>
              <a:t>This reframes the project from “style steering only” to “motion-aware teacher target selection.”</a:t>
            </a:r>
          </a:p>
        </p:txBody>
      </p:sp>
    </p:spTree>
    <p:extLst>
      <p:ext uri="{BB962C8B-B14F-4D97-AF65-F5344CB8AC3E}">
        <p14:creationId xmlns:p14="http://schemas.microsoft.com/office/powerpoint/2010/main" val="1178972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0C8D0F-555E-477F-B36F-FC9094A5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67222C8-0C4D-4B4F-9C2E-99ED3352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BASELINE METHOD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C064DB-888C-40CF-A703-628734A2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Original LoRA distillation learns the teacher, not the dataset 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0B242-E2E1-4053-9015-5FF684FF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4B03945B-9213-4394-8963-DCCBBB3C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3488DD6-C9E0-4A3F-AC79-6908847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3 / 10 -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7BBD8-4A70-4A50-A885-24ED4A1E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B0185-3047-4A54-9DAD-C5752B2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Student training loss is token-level cross entropy against selected teacher pseudo-tokens.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49386-0DFF-4FF9-93D7-10E9B05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95E64-E359-492A-BD49-E98B3E81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784D9-0654-4709-A6E2-9A4DB45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575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Caption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08F5D-9EE3-4F93-A2C8-1D4350BA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432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“walk slowly”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82580-43BD-43AF-B371-889F66BD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05125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07CD7-DCE5-4F92-952A-01AEEA0D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051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4FC7B-7684-4FF5-930B-6684D54A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575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Frozen teacher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C40FD-E1FF-4663-8E64-8CD30C8D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432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pretrained MoConVQ GPT samples pseudo-tokens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B8A77-01E3-4FB1-886E-19CB4E50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549C2-3945-4D40-A502-9371AD26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19430-6563-4EFD-AD60-C7D2FA1B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Student LoRA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F8AB4-1B96-426A-82E0-6D38C0AE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learns selected token ids with CE / NLL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589A7-814D-42B7-84FF-6DAF1532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05125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CFB34-AC32-49E5-9B49-E0AC88DC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051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4FFA2-A57C-4CCB-934F-5540871C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575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BVH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DDEE28-366C-479C-91B3-783B8FDA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432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decoded after training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9D662-3B6E-48D6-8DCF-5522F7F6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04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2BE178-5456-45D1-A087-7FB68260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004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B05E9-5009-42B6-A3B1-816D5174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04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DC831-A441-45F4-917B-1E2BD1FD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4191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ACEFC4-BEE4-4A5C-A280-242422A4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66F9CE-0EDD-400F-A2B0-A8006A35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Important limitation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3D9050-48BD-46C2-8094-635AB239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The training loss does not directly optimize HumanML distance, naturalness, or style-proxy score. It only asks the student to mimic the selected teacher token.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42C1EF-2568-4EBE-820C-CDFA2E32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76B22B-F0C9-4B0F-A255-D1B94425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803CC6-4492-47C7-B372-7988881B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33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Implication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2587CD-A4AA-4A5E-8A42-0EF08FA7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197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Better teacher selection is the real control point before LoRA training.</a:t>
            </a:r>
          </a:p>
        </p:txBody>
      </p:sp>
    </p:spTree>
    <p:extLst>
      <p:ext uri="{BB962C8B-B14F-4D97-AF65-F5344CB8AC3E}">
        <p14:creationId xmlns:p14="http://schemas.microsoft.com/office/powerpoint/2010/main" val="460318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64B6C5-7A39-44DA-894B-0DADA5DC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D1139DF-BDD8-4DF7-88D0-E08D1AA6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PROPOSED METHOD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59DD5A-7CAC-4C56-94AC-C3AA8A3F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Motion-aware teacher selection before LoRA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79677-B5D7-457C-825D-6B37DDCF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255B6B70-2795-45EE-8E84-C4FB1055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2963901-CFF7-4848-B9E9-DA579E5A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4 / 10 -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87515-9830-4495-8D36-897D52E1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6B"/>
                </a:solidFill>
              </a:defRPr>
            </a:pPr>
            <a:r>
              <a:rPr sz="1425">
                <a:solidFill>
                  <a:srgbClr val="59646B"/>
                </a:solidFill>
              </a:rPr>
              <a:t>For each HumanML3D row, generate several teacher candidates and select the one whose BVH metrics best match the paired HumanML3D motion.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59EDD-6B9C-4451-AE9B-4299DE66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217FC-2B5E-4A8B-AB00-D09B7F8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E12E1-2D81-48FB-8985-5EE3301D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HumanML 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AAF17-CA34-4FC4-A04B-A466C1CF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caption + motion_id + true motion 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2A3D6-ADCF-41B4-803A-23EE8496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28875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E8373-4489-49C4-ABD7-93A342B9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2887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0194F-92A0-4B2E-AF44-8F7301F8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8127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Teacher top-k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0696E-2F07-45A7-B77A-7BF52BD1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sample 4 stochastic candidates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88A9B-4B96-47D8-90A8-868D2994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D48DD-4418-4F61-AFAA-86FF4167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72FBE-3806-4FD9-822B-3D96C57B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8127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Candidate BVHs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04BF2-6AF4-44AB-9597-B0489780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6702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decode each candidate for measurement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78F5B-2C37-4C22-BDF9-A4208DFE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28875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F11B6-0738-4248-B955-555F42E0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2887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08810-80A1-46C7-A985-9D4E5037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8127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Selection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7776C-B0DE-4106-A4AB-68342ADE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mean log-ratio distance to HumanML metrics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FF93E-E703-464E-B59D-0D9712C2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28875"/>
            <a:ext cx="1333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488E0D-9084-442B-B5F5-98E5E30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2887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609000-0665-40BD-BBFC-5D752F6F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812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LoRA target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54831-02CD-4E1B-868C-755D81C3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670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46B"/>
                </a:solidFill>
              </a:defRPr>
            </a:pPr>
            <a:r>
              <a:rPr sz="825">
                <a:solidFill>
                  <a:srgbClr val="59646B"/>
                </a:solidFill>
              </a:rPr>
              <a:t>distill selected token ids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B054A0-8DB7-4850-B89E-6C3210B3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241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E7C65-65A6-4225-81E1-907201CD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241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D5CF00-ED12-41A6-82CF-84F81151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9DC815-95F8-483C-B378-B1CB256B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241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C25B3-E0C8-4DB1-9783-D33364E9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3FBC7-AE69-4410-BD4F-F32588EB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A9179F-AE08-4B60-8991-608D1E28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Uses HumanML3D motion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EE7795-6E0F-44DF-A1D1-E4B4876B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The paired motion is no longer ignored; it becomes the reference profile for teacher selection.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567596-A7A5-4A23-97D2-82731A73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8D947C-6ADD-4D34-8FAF-B64FDDB1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EDC98C-E6EA-4BD9-93EA-9442C662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95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Still keeps MoConVQ tokens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B3162F-73E0-446C-A946-824774FE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81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Student training remains compatible with the pretrained MoConVQ GPT token interface.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8481A5-64E2-461B-AD6C-0DA5DAE3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243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716A0E-FE02-4138-A0ED-7A27E8EB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243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7B54B6-E46B-405D-8D29-571C207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Selection is not final training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436CB0-59FE-483E-A840-342B0531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The score ranks candidates only; LoRA still trains with CE on the selected tokens.</a:t>
            </a:r>
          </a:p>
        </p:txBody>
      </p:sp>
    </p:spTree>
    <p:extLst>
      <p:ext uri="{BB962C8B-B14F-4D97-AF65-F5344CB8AC3E}">
        <p14:creationId xmlns:p14="http://schemas.microsoft.com/office/powerpoint/2010/main" val="72569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3EAAB-9B3C-4D9F-93D6-5B1AF389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0049D6E-48AE-4798-92E8-322E907A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SELECTION SCORE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EB9C1B-5E9D-4A76-B739-9AE600C6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The candidate score measures closeness, not lower-is-better style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08609-2A27-4784-85D0-69393521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D736DE98-3074-42D8-8833-6816FC6D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3BE3EC4-56C5-46E6-996E-D3F100A1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5 / 10 -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B278A-DD6B-4E31-9F8D-7AE7A76B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506EB-9F0D-4EBC-9E25-28BD20A7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811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score = mean | log(candidate_metric / HumanML_metric) |   → lower is closer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D4ECD-FAEF-4C55-804E-94EE29F2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832"/>
                </a:solidFill>
              </a:defRPr>
            </a:pPr>
            <a:r>
              <a:rPr sz="1350">
                <a:solidFill>
                  <a:srgbClr val="202832"/>
                </a:solidFill>
              </a:rPr>
              <a:t>This is different from the old style proxy. If the HumanML speed is not zero, collapsing speed to zero is penalized, not rewarded.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3BE31-C6F8-4F8D-BA7D-1352D6FA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F7B97-E490-4B69-BC48-0572A76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71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7F"/>
                </a:solidFill>
              </a:defRPr>
            </a:pPr>
            <a:r>
              <a:rPr sz="1050" b="1">
                <a:solidFill>
                  <a:srgbClr val="087F7F"/>
                </a:solidFill>
              </a:rPr>
              <a:t>duration_sec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61C3B-9E2D-4082-B9C1-788769CA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4805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FF03C-C954-48E5-94E2-3236AC4A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71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7F"/>
                </a:solidFill>
              </a:defRPr>
            </a:pPr>
            <a:r>
              <a:rPr sz="1050" b="1">
                <a:solidFill>
                  <a:srgbClr val="087F7F"/>
                </a:solidFill>
              </a:rPr>
              <a:t>root_speed_mean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714DA-60AF-41D0-8DA1-DECD71F6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805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A9FAC-B78D-41DC-9E4E-D655E4FB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7F"/>
                </a:solidFill>
              </a:defRPr>
            </a:pPr>
            <a:r>
              <a:rPr sz="1050" b="1">
                <a:solidFill>
                  <a:srgbClr val="087F7F"/>
                </a:solidFill>
              </a:rPr>
              <a:t>root_path_length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A7D19-4D4A-475E-BE2D-26AAEC34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4805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01FC0-31E8-4015-B860-8D47DA5C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571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7F"/>
                </a:solidFill>
              </a:defRPr>
            </a:pPr>
            <a:r>
              <a:rPr sz="1050" b="1">
                <a:solidFill>
                  <a:srgbClr val="087F7F"/>
                </a:solidFill>
              </a:rPr>
              <a:t>mean_joint_velocity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49DAC-52AC-4C08-8F20-217305BE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ADC63-FBA2-4F93-8505-A7B51971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148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8BE8"/>
                </a:solidFill>
              </a:defRPr>
            </a:pPr>
            <a:r>
              <a:rPr sz="1050" b="1">
                <a:solidFill>
                  <a:srgbClr val="2D8BE8"/>
                </a:solidFill>
              </a:rPr>
              <a:t>mean_joint_acceleration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04646-32D3-4BFF-850B-D7D58528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19100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2FD0D-A5C8-47F8-BE50-847E986F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148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8BE8"/>
                </a:solidFill>
              </a:defRPr>
            </a:pPr>
            <a:r>
              <a:rPr sz="1050" b="1">
                <a:solidFill>
                  <a:srgbClr val="2D8BE8"/>
                </a:solidFill>
              </a:rPr>
              <a:t>mean_joint_jerk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7BA38-E278-408E-8D00-8CDA1E56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DEBBD-67EC-4092-9185-79DA7C3D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148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8BE8"/>
                </a:solidFill>
              </a:defRPr>
            </a:pPr>
            <a:r>
              <a:rPr sz="1050" b="1">
                <a:solidFill>
                  <a:srgbClr val="2D8BE8"/>
                </a:solidFill>
              </a:rPr>
              <a:t>root_vertical_range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4C709-03D4-420A-AE7A-8329B40B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9100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FEC309-A078-4456-9571-C85AAB4D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148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8BE8"/>
                </a:solidFill>
              </a:defRPr>
            </a:pPr>
            <a:r>
              <a:rPr sz="1050" b="1">
                <a:solidFill>
                  <a:srgbClr val="2D8BE8"/>
                </a:solidFill>
              </a:rPr>
              <a:t>all_joint_vertical_range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04A19-2107-412C-AF23-47E0E3C6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4F7C2-1DBC-4584-A7B9-47345048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5759C-0709-470D-B557-EE547636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1020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Good for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E7B29-8DEC-4764-851A-70CBBEE8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95950"/>
            <a:ext cx="3676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global speed, duration, vertical motion, and whole-body intensity.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2C570F-D8B2-431D-8CB7-FF6B58FA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E5C86A-1CA1-4A96-B07C-50DEFF25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D09AC7-4368-4FA8-9F86-F3AAA59E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1020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Weak for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1D5799-F676-409B-B8D5-3C9B1FC3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95950"/>
            <a:ext cx="3676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fine hand actions, object-like semantics, complex dance identities, and local motion order.</a:t>
            </a:r>
          </a:p>
        </p:txBody>
      </p:sp>
    </p:spTree>
    <p:extLst>
      <p:ext uri="{BB962C8B-B14F-4D97-AF65-F5344CB8AC3E}">
        <p14:creationId xmlns:p14="http://schemas.microsoft.com/office/powerpoint/2010/main" val="1539581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8B6360-18A3-43BC-B84C-313B968B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25D1DA8-3390-4BC5-9E17-49E6580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KEY FIX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83AFBD-D874-446A-99CD-9C5C758F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Top-k sampling makes multi-candidate selection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B898A-F44F-4CFB-AC2D-C37FEC03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06EDB251-EF67-45E3-8767-8A6D678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B723BB3-B018-4A37-96B5-D1AA93EB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6 / 10 -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C8157-6F37-40AA-B732-3F186DE4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6B"/>
                </a:solidFill>
              </a:defRPr>
            </a:pPr>
            <a:r>
              <a:rPr sz="1425">
                <a:solidFill>
                  <a:srgbClr val="59646B"/>
                </a:solidFill>
              </a:rPr>
              <a:t>Before stochastic top-k sampling, multiple candidates were nearly identical. After the fix, non-first candidates were selected 86 times.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8D95C-93D2-4D83-BCC6-CD324C41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2"/>
                </a:solidFill>
              </a:defRPr>
            </a:pPr>
            <a:r>
              <a:rPr sz="1500" b="1">
                <a:solidFill>
                  <a:srgbClr val="202832"/>
                </a:solidFill>
              </a:rPr>
              <a:t>Deterministic teacher.sample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3F2FA-BB1D-484B-BC3E-B8D3DF02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2"/>
                </a:solidFill>
              </a:defRPr>
            </a:pPr>
            <a:r>
              <a:rPr sz="1500" b="1">
                <a:solidFill>
                  <a:srgbClr val="202832"/>
                </a:solidFill>
              </a:rPr>
              <a:t>Top-k stochastic teacher.sample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D3FC6-4377-47D0-8297-2A7AF819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4DA"/>
          </a:solidFill>
          <a:ln xmlns:a="http://schemas.openxmlformats.org/drawingml/2006/main" w="0">
            <a:solidFill>
              <a:srgbClr val="EB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78D79-ED54-432F-B733-BE92D305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66D79-A4B7-41FA-BB70-3166E4CA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832"/>
                </a:solidFill>
              </a:defRPr>
            </a:pPr>
            <a:r>
              <a:rPr sz="1200" b="1">
                <a:solidFill>
                  <a:srgbClr val="202832"/>
                </a:solidFill>
              </a:rPr>
              <a:t>candidate 0: 199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246D6-6333-4625-A0E4-05CE17E1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4DA"/>
          </a:solidFill>
          <a:ln xmlns:a="http://schemas.openxmlformats.org/drawingml/2006/main" w="0">
            <a:solidFill>
              <a:srgbClr val="EBE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043FD-F4C7-47A0-97AC-7D7DB37A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4359A-32EB-441E-B207-7B2ECAC6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6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832"/>
                </a:solidFill>
              </a:defRPr>
            </a:pPr>
            <a:r>
              <a:rPr sz="1200" b="1">
                <a:solidFill>
                  <a:srgbClr val="202832"/>
                </a:solidFill>
              </a:rPr>
              <a:t>candidate 1: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CC6A0-7302-4D43-A2E3-C0C12641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4DA"/>
          </a:solidFill>
          <a:ln xmlns:a="http://schemas.openxmlformats.org/drawingml/2006/main" w="0">
            <a:solidFill>
              <a:srgbClr val="EB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51F00-F6CE-4ADE-8F6B-31CA7C69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E6DA3-6D52-4772-BB89-B614C007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832"/>
                </a:solidFill>
              </a:defRPr>
            </a:pPr>
            <a:r>
              <a:rPr sz="1200" b="1">
                <a:solidFill>
                  <a:srgbClr val="202832"/>
                </a:solidFill>
              </a:rPr>
              <a:t>candidate 0: 114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A2D0F-D8F1-4FEA-B586-042F1D10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4DA"/>
          </a:solidFill>
          <a:ln xmlns:a="http://schemas.openxmlformats.org/drawingml/2006/main" w="0">
            <a:solidFill>
              <a:srgbClr val="EBE4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8EB69-24F6-4045-A5F6-254E973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93244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A5385-5BAF-4F88-8124-DACBFF36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90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832"/>
                </a:solidFill>
              </a:defRPr>
            </a:pPr>
            <a:r>
              <a:rPr sz="1200" b="1">
                <a:solidFill>
                  <a:srgbClr val="202832"/>
                </a:solidFill>
              </a:rPr>
              <a:t>candidate 1: 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B787C-8A59-4569-B781-5448D981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4DA"/>
          </a:solidFill>
          <a:ln xmlns:a="http://schemas.openxmlformats.org/drawingml/2006/main" w="0">
            <a:solidFill>
              <a:srgbClr val="EBE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9E819-FC15-4862-951E-A5206384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96252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6DE3C-9C9C-40BA-A30D-4C7EFA35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86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832"/>
                </a:solidFill>
              </a:defRPr>
            </a:pPr>
            <a:r>
              <a:rPr sz="1200" b="1">
                <a:solidFill>
                  <a:srgbClr val="202832"/>
                </a:solidFill>
              </a:rPr>
              <a:t>candidate 2: 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50671B-DF51-41CD-8DB6-53DE00D3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4DA"/>
          </a:solidFill>
          <a:ln xmlns:a="http://schemas.openxmlformats.org/drawingml/2006/main" w="0">
            <a:solidFill>
              <a:srgbClr val="EBE4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BDD1E8-25CD-46BB-8066-E36664BB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69181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F585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80603-CA00-4642-A12C-EE0E6347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81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832"/>
                </a:solidFill>
              </a:defRPr>
            </a:pPr>
            <a:r>
              <a:rPr sz="1200" b="1">
                <a:solidFill>
                  <a:srgbClr val="202832"/>
                </a:solidFill>
              </a:rPr>
              <a:t>candidate 3: 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116D22-2761-4E62-8C0C-B53BA0C1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5775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1F9F9E-733A-4623-9994-7EF9B11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57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3ADAEE-AD35-4FF3-B803-78EEE3AF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292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Before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B8EFC5-3A16-4BF7-89F9-4BF40BB3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149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Multiple-sample filtering almost did not matter because the teacher output was effectively deterministic.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EA715-29A0-461E-BF2D-1A3107C0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5775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10725A-AA81-40EB-AD8E-F1885DB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57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59A187-0255-46BA-B72B-3AFB7A5D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292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After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7BD2C2-C567-4B09-B721-BED53C03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149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Top-k and temperature expose meaningful variation, so HumanML selection can actually choose among candidates.</a:t>
            </a:r>
          </a:p>
        </p:txBody>
      </p:sp>
    </p:spTree>
    <p:extLst>
      <p:ext uri="{BB962C8B-B14F-4D97-AF65-F5344CB8AC3E}">
        <p14:creationId xmlns:p14="http://schemas.microsoft.com/office/powerpoint/2010/main" val="1170928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A4F73A-3254-440D-AC69-E76B40A8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059B23D-2D87-481C-A514-65D8D191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EVALUATION RESET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D711D4-A6B5-40EE-B165-C5EEC96D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The old style proxy and HumanML alignment answer different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806FE-2C7E-4DD3-A2B0-B301BEFE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8B8BDD64-0292-439B-8C44-7D5F819D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EC5C2BE-7529-49E8-B936-729E5D02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7 / 10 -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654FA-AD6A-47D0-8E00-5941D695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7F0BA-F21D-400A-8A09-E8556404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08383-399B-493D-9923-2E94B5AC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673B"/>
                </a:solidFill>
              </a:defRPr>
            </a:pPr>
            <a:r>
              <a:rPr sz="1950" b="1">
                <a:solidFill>
                  <a:srgbClr val="B9673B"/>
                </a:solidFill>
              </a:rPr>
              <a:t>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0545F-C04B-4A79-94A9-EE5B3898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Old style 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09BF3-FA42-4857-BDE1-2C0AC16D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40576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Compares LoRA BVH against baseline BVH. It asks whether motion metrics moved in a hand-written style direction, such as slower speed for “slow deliberate”.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9B466-C49A-4236-A3D0-F21E77D7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A0DB1-07C3-466C-9564-F8C4B40E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93677-D49B-4A6B-9CC1-52F17D6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7F"/>
                </a:solidFill>
              </a:defRPr>
            </a:pPr>
            <a:r>
              <a:rPr sz="1950" b="1">
                <a:solidFill>
                  <a:srgbClr val="087F7F"/>
                </a:solidFill>
              </a:rPr>
              <a:t>Closeness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7A51C-8C69-4924-A13A-4B7A13F5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New HumanML alignment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50557-184A-464B-A0EE-2EB846B5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40576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Compares generated or selected BVH against the paired HumanML3D motion. It asks whether the motion statistics are close to the dataset reference.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EEB47-907C-4F22-9B90-C10F0CB4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832"/>
                </a:solidFill>
              </a:defRPr>
            </a:pPr>
            <a:r>
              <a:rPr sz="1650" b="1">
                <a:solidFill>
                  <a:srgbClr val="202832"/>
                </a:solidFill>
              </a:rPr>
              <a:t>Why this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E547D-4F1B-4CD6-AD8C-A2AE2D6F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B59B7-C746-4BD6-846E-E0503011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832"/>
                </a:solidFill>
              </a:defRPr>
            </a:pPr>
            <a:r>
              <a:rPr sz="1275">
                <a:solidFill>
                  <a:srgbClr val="202832"/>
                </a:solidFill>
              </a:rPr>
              <a:t>A lower-is-better proxy can reward over-shooting, such as making speed too 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E5FB6-B173-4D26-83E3-266195E1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F832D-183D-4CBF-A09E-13F71496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832"/>
                </a:solidFill>
              </a:defRPr>
            </a:pPr>
            <a:r>
              <a:rPr sz="1275">
                <a:solidFill>
                  <a:srgbClr val="202832"/>
                </a:solidFill>
              </a:rPr>
              <a:t>HumanML alignment penalizes both too high and too low values if they move away from the paired motion.</a:t>
            </a:r>
          </a:p>
        </p:txBody>
      </p:sp>
    </p:spTree>
    <p:extLst>
      <p:ext uri="{BB962C8B-B14F-4D97-AF65-F5344CB8AC3E}">
        <p14:creationId xmlns:p14="http://schemas.microsoft.com/office/powerpoint/2010/main" val="601282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D28BF5-660B-4B86-AFC1-8610BC15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A5F263A-8E6C-4177-927A-BF75DC1F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RESULTS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BB877C-56A0-4C26-A7B6-A2EEF24B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Top-k improves teacher alignment slightly, but not final student 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0233C-A330-4261-9E02-3712F3B7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5316A41B-B69C-45CB-92CF-FB9CB28A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20969BB-6EE0-4286-A5B2-35A2E724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8 / 10 -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FD200-FACA-43F2-8E2D-A606FDB4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Original LoRA style proxy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6FAC2-4C10-4D04-B04C-F2AD54C9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23333-605B-4F96-9CE3-ECC24670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02622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4C78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74EF2-6D35-463C-8152-9C56EAA0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145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2"/>
                </a:solidFill>
              </a:defRPr>
            </a:pPr>
            <a:r>
              <a:rPr sz="1050" b="1">
                <a:solidFill>
                  <a:srgbClr val="202832"/>
                </a:solidFill>
              </a:rPr>
              <a:t>18/22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497F1-F617-41AD-8022-2E9EDB47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HumanML deterministic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D3AC5-4DED-4B61-9314-F5EFAA7A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4094A-846A-4CF0-B852-A1ACD469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16885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F585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CFA2E-D6AC-440E-8207-9D9041C1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145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2"/>
                </a:solidFill>
              </a:defRPr>
            </a:pPr>
            <a:r>
              <a:rPr sz="1050" b="1">
                <a:solidFill>
                  <a:srgbClr val="202832"/>
                </a:solidFill>
              </a:rPr>
              <a:t>15/22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174F2-9868-43B8-814A-7578125C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HumanML top-k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46A9F-EB11-465A-A7A8-BBCEBCAC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02FCA-6357-4F51-ADCE-FA436259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135081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EBAC9-4A66-4D61-A758-EB7B349E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9145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2"/>
                </a:solidFill>
              </a:defRPr>
            </a:pPr>
            <a:r>
              <a:rPr sz="1050" b="1">
                <a:solidFill>
                  <a:srgbClr val="202832"/>
                </a:solidFill>
              </a:rPr>
              <a:t>12/22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782DB-312C-4AB3-938A-67D36B7E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890A0-65B6-4C0A-92A2-7255B9AB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7ECB7-B51C-4342-9F88-6AD1686D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673B"/>
                </a:solidFill>
              </a:defRPr>
            </a:pPr>
            <a:r>
              <a:rPr sz="1950" b="1">
                <a:solidFill>
                  <a:srgbClr val="B9673B"/>
                </a:solidFill>
              </a:rPr>
              <a:t>12/22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F431C-A943-4CF9-ADD4-2E6217B9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Style proxy dropped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CFD38A-E62A-4ED7-A98B-4E5CEA12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Old directional score: original 18/22, deterministic 15/22, top-k 12/22. This says the final student did not improve under the old proxy.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FD37E-767C-4B24-9BF7-0DCFDDEA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21825-06B9-4183-94B2-C1DCDBAF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2667E-7689-44B5-8CE6-8593DD0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7F"/>
                </a:solidFill>
              </a:defRPr>
            </a:pPr>
            <a:r>
              <a:rPr sz="1950" b="1">
                <a:solidFill>
                  <a:srgbClr val="087F7F"/>
                </a:solidFill>
              </a:rPr>
              <a:t>0.1477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96E8B-2EBC-4DC7-A754-7C2AA485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575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Teacher alignment improved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AF1E8-1EAD-4EEF-85E7-4051912D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Selected teacher distance moved from 1.9666 to 1.9419, and score from 0.1443 to 0.1477.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E3C878-2DC1-41BE-BBA5-6B7A5B4D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43456B-FF42-4276-A4E6-19740E4D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70A80F-E2CA-4BBB-A6D7-C6320205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8BE8"/>
                </a:solidFill>
              </a:defRPr>
            </a:pPr>
            <a:r>
              <a:rPr sz="1950" b="1">
                <a:solidFill>
                  <a:srgbClr val="2D8BE8"/>
                </a:solidFill>
              </a:rPr>
              <a:t>small gain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10B95D-3EFB-469C-936C-46AE9B09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9C5FA2-03C0-4C7E-9878-62806F5D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The teacher-selection target changed, but the final student generation objective did not yet fully inherit that improvement.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a5f22f6ad4e49"/>
          <a:stretch xmlns:a="http://schemas.openxmlformats.org/drawingml/2006/main"/>
        </p:blipFill>
        <p:spPr>
          <a:xfrm xmlns:a="http://schemas.openxmlformats.org/drawingml/2006/main">
            <a:off x="3565922" y="4324350"/>
            <a:ext cx="5060156" cy="16192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F5C8FA-40B3-4BF7-938C-E309E962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F7F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CF0465-2FFB-4BDC-9252-CAC4123D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832"/>
                </a:solidFill>
              </a:defRPr>
            </a:pPr>
            <a:r>
              <a:rPr sz="1650" b="1">
                <a:solidFill>
                  <a:srgbClr val="202832"/>
                </a:solidFill>
              </a:rPr>
              <a:t>What the two metrics say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9D002E-C474-4375-B8B5-7D4B4AEA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D8694E-53F4-45A8-9DAF-CBE6A802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AE429F-7DBE-4A75-84D4-50898079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910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Old style proxy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FBFCFB-CC4A-4215-B702-BC577C51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910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HumanML alignment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9F2388-8392-4D44-B6BA-BD0DDBB9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910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4EEB32-F590-4870-ADF4-DD3CAC6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C5DE13-2EB9-412B-854D-257483E4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02832"/>
                </a:solidFill>
              </a:defRPr>
            </a:pPr>
            <a:r>
              <a:rPr sz="900" b="0">
                <a:solidFill>
                  <a:srgbClr val="202832"/>
                </a:solidFill>
              </a:rPr>
              <a:t>Original LoRA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CCF990-98A4-44FC-87C4-06FB26F0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18/22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78EEA9-DCEE-4DD2-886B-922DCD73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24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not measured here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8598DA-1235-4534-BCF2-BB659DF8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24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02832"/>
                </a:solidFill>
              </a:defRPr>
            </a:pPr>
            <a:r>
              <a:rPr sz="900">
                <a:solidFill>
                  <a:srgbClr val="202832"/>
                </a:solidFill>
              </a:rPr>
              <a:t>strong old proxy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344094-FF74-4A1B-B2E1-31B09223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BE30A7-2CF7-448B-8CFE-59BF4B8B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02832"/>
                </a:solidFill>
              </a:defRPr>
            </a:pPr>
            <a:r>
              <a:rPr sz="900" b="0">
                <a:solidFill>
                  <a:srgbClr val="202832"/>
                </a:solidFill>
              </a:rPr>
              <a:t>HumanML deterministic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DB0091-80DE-49C5-871D-9A6BF314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483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15/22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0FDB48-7332-45E9-ABEB-88867618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48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score 0.1443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B9D8FB-D8DA-4C83-85CA-81EDA0D5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483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02832"/>
                </a:solidFill>
              </a:defRPr>
            </a:pPr>
            <a:r>
              <a:rPr sz="900">
                <a:solidFill>
                  <a:srgbClr val="202832"/>
                </a:solidFill>
              </a:rPr>
              <a:t>teacher baseline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88208B-784A-4589-B03C-D46AE735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D74B4B-902D-4E8E-AE3F-867E48E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HumanML top-k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3EA2A6-2EFF-4CC2-9D10-BB4A24F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72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673B"/>
                </a:solidFill>
              </a:defRPr>
            </a:pPr>
            <a:r>
              <a:rPr sz="900" b="1">
                <a:solidFill>
                  <a:srgbClr val="B9673B"/>
                </a:solidFill>
              </a:rPr>
              <a:t>12/22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52FA98-8EE8-4F5F-8EFD-DB1BA674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72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7F"/>
                </a:solidFill>
              </a:defRPr>
            </a:pPr>
            <a:r>
              <a:rPr sz="900" b="1">
                <a:solidFill>
                  <a:srgbClr val="087F7F"/>
                </a:solidFill>
              </a:rPr>
              <a:t>score 0.1477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F56902-B73A-4412-8A33-2060D433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72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02832"/>
                </a:solidFill>
              </a:defRPr>
            </a:pPr>
            <a:r>
              <a:rPr sz="900">
                <a:solidFill>
                  <a:srgbClr val="202832"/>
                </a:solidFill>
              </a:rPr>
              <a:t>slightly closer teacher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3CB3BE-28DB-4B28-8411-AAAACE3A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46B"/>
                </a:solidFill>
              </a:defRPr>
            </a:pPr>
            <a:r>
              <a:rPr sz="975">
                <a:solidFill>
                  <a:srgbClr val="59646B"/>
                </a:solidFill>
              </a:rPr>
              <a:t>Reading: top-k fixes the teacher-selection mechanism, but the final student result still needs paired HumanML generation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17787845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CC2E55-7D41-454D-B2E4-44E8DC74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50DD3F3-DBD1-45E9-A62C-AF26336E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WHERE IT WORKS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D15C84-C4E7-4DE9-A1E0-F400C91B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Alignment is better for global whole-body motions than local semantics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B7349-F546-47BF-A333-A4755B18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EC673B13-27D0-49EC-A768-D3BDEC9A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66273DD-CC53-4CC5-B2F6-486633FE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9 / 10 - Thesis Report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264a6d18f42fb"/>
          <a:stretch xmlns:a="http://schemas.openxmlformats.org/drawingml/2006/main"/>
        </p:blipFill>
        <p:spPr>
          <a:xfrm xmlns:a="http://schemas.openxmlformats.org/drawingml/2006/main">
            <a:off x="685800" y="1530241"/>
            <a:ext cx="6286500" cy="351176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5FCE4-F2A6-4D7D-99A4-75A14DBC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832"/>
                </a:solidFill>
              </a:defRPr>
            </a:pPr>
            <a:r>
              <a:rPr sz="1575" b="1">
                <a:solidFill>
                  <a:srgbClr val="202832"/>
                </a:solidFill>
              </a:rPr>
              <a:t>Samples that align better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9115C-5DDF-44E0-AE50-40F9E0A2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9CE1E-910E-43D3-994A-F39C9802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0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832"/>
                </a:solidFill>
              </a:defRPr>
            </a:pPr>
            <a:r>
              <a:rPr sz="1125">
                <a:solidFill>
                  <a:srgbClr val="202832"/>
                </a:solidFill>
              </a:rPr>
              <a:t>Running, sprinting, jumping, forward motion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DB048-1158-4D07-80B1-A9B245A0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E0BE1-4F24-473A-A630-0824921B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832"/>
                </a:solidFill>
              </a:defRPr>
            </a:pPr>
            <a:r>
              <a:rPr sz="1125">
                <a:solidFill>
                  <a:srgbClr val="202832"/>
                </a:solidFill>
              </a:rPr>
              <a:t>Clear root speed, path length, and vertical range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0E900-FA84-47DA-83AC-BC340E57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8F53E-6ED7-4C20-8638-E5E9ABFA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832"/>
                </a:solidFill>
              </a:defRPr>
            </a:pPr>
            <a:r>
              <a:rPr sz="1125">
                <a:solidFill>
                  <a:srgbClr val="202832"/>
                </a:solidFill>
              </a:rPr>
              <a:t>Caption describes global body dynamics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A668D-2328-426D-B05D-BA22DE4B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832"/>
                </a:solidFill>
              </a:defRPr>
            </a:pPr>
            <a:r>
              <a:rPr sz="1575" b="1">
                <a:solidFill>
                  <a:srgbClr val="202832"/>
                </a:solidFill>
              </a:rPr>
              <a:t>Samples that align worse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92B3B-7C61-430F-AAB9-A2974EF1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E1FEA-937E-4CBD-9403-44F8C026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832"/>
                </a:solidFill>
              </a:defRPr>
            </a:pPr>
            <a:r>
              <a:rPr sz="1125">
                <a:solidFill>
                  <a:srgbClr val="202832"/>
                </a:solidFill>
              </a:rPr>
              <a:t>Hand waving, lifting, object-like 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21888-6C09-4B6D-96D8-1525169C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117F2-5591-4F98-A4CC-A46CF02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530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832"/>
                </a:solidFill>
              </a:defRPr>
            </a:pPr>
            <a:r>
              <a:rPr sz="1125">
                <a:solidFill>
                  <a:srgbClr val="202832"/>
                </a:solidFill>
              </a:rPr>
              <a:t>Complex dances such as chicken dance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5EB62-398B-4CA1-8A55-63F2DE00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00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A3E02-6DED-4DF0-8246-7047E73D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245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832"/>
                </a:solidFill>
              </a:defRPr>
            </a:pPr>
            <a:r>
              <a:rPr sz="1125">
                <a:solidFill>
                  <a:srgbClr val="202832"/>
                </a:solidFill>
              </a:rPr>
              <a:t>On-the-spot or local motion sequences</a:t>
            </a:r>
          </a:p>
        </p:txBody>
      </p:sp>
    </p:spTree>
    <p:extLst>
      <p:ext uri="{BB962C8B-B14F-4D97-AF65-F5344CB8AC3E}">
        <p14:creationId xmlns:p14="http://schemas.microsoft.com/office/powerpoint/2010/main" val="2122350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7D0516-C031-494D-A569-1941C069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7227521-BA12-44B1-8437-4CA91201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CONCLUSION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D383BB-F1CF-4553-99AA-77B54677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The contribution is a better bridge, not a finished evaluator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24662-9934-4163-BF5B-691AAC27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C23B26DE-1E71-40C2-A75D-A8BE7FE5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HumanML3D-guided MoConVQ LoRA distillation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1EAE94B-D222-4142-8E86-0837F461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10 / 10 -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79D05-BAA6-4613-822E-3E518864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FC105-5436-4B10-B237-C4CFC1E8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HumanML3D motion can guide teacher selection, but the final student still needs paired HumanML generation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D9AC1-F574-49E1-9A66-19E6C95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92E50-5235-4051-AF89-7685EB65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8A9F-6212-460D-A97B-8114E304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7F"/>
                </a:solidFill>
              </a:defRPr>
            </a:pPr>
            <a:r>
              <a:rPr sz="1950" b="1">
                <a:solidFill>
                  <a:srgbClr val="087F7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1A0E6-6A8F-4145-81E8-119938D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What is 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24067-57B5-414F-8587-64D67919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HumanML3D motion is now used as a reference during teacher candidate selection; top-k sampling creates real candidate diversity.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064FB-29C4-4184-96AC-9F96B6C9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1DD99-CD9A-457E-B8D7-9CD48C74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54D39-7CB4-4695-BC34-CAE3A59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908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673B"/>
                </a:solidFill>
              </a:defRPr>
            </a:pPr>
            <a:r>
              <a:rPr sz="1950" b="1">
                <a:solidFill>
                  <a:srgbClr val="B9673B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B525E-14E6-4274-870F-A2F1BDD8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337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What is not solved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98A3F-9CD3-406F-87FE-E66F940D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004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Selected teacher alignment gains are small, and the final student has not been evaluated against paired HumanML motions yet.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67284-BEB0-4121-8FF4-E4DA4415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073CD-32BB-4972-BC38-AE36FFE6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7F622-17F5-489D-B720-9F5EBB5F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908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8BE8"/>
                </a:solidFill>
              </a:defRPr>
            </a:pPr>
            <a:r>
              <a:rPr sz="1950" b="1">
                <a:solidFill>
                  <a:srgbClr val="2D8BE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29A50-714F-42A0-ACDB-1AC1C99E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832"/>
                </a:solidFill>
              </a:defRPr>
            </a:pPr>
            <a:r>
              <a:rPr sz="1125" b="1">
                <a:solidFill>
                  <a:srgbClr val="202832"/>
                </a:solidFill>
              </a:rPr>
              <a:t>Next step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86B08-F1B4-4635-B9C4-3C941E88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0"/>
                </a:solidFill>
              </a:defRPr>
            </a:pPr>
            <a:r>
              <a:rPr sz="900">
                <a:solidFill>
                  <a:srgbClr val="4B5560"/>
                </a:solidFill>
              </a:rPr>
              <a:t>Generate baseline and LoRA BVHs from HumanML3D captions, then compare each output to the corresponding motion_id.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40D4B-7E91-45BF-AE9D-184F8A48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832"/>
                </a:solidFill>
              </a:defRPr>
            </a:pPr>
            <a:r>
              <a:rPr sz="1650" b="1">
                <a:solidFill>
                  <a:srgbClr val="202832"/>
                </a:solidFill>
              </a:rPr>
              <a:t>Takeaway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7EE56B-DDC2-493A-949B-A8E1EB27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832"/>
                </a:solidFill>
              </a:defRPr>
            </a:pPr>
            <a:r>
              <a:rPr sz="1500">
                <a:solidFill>
                  <a:srgbClr val="202832"/>
                </a:solidFill>
              </a:rPr>
              <a:t>The method moves the project from caption-only pseudo-token distillation toward data-grounded teacher selection. The next experiment should close the loop at the student-output level.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3C71EE-5B0E-48D3-B8A4-C07E7336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F108E-87E3-4FE3-B515-35A04EF5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811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HumanML3D motion can guide teacher selection; the final student still needs paired HumanML generation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266669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2026-06-15T12:16:14.1810000Z</dcterms:created>
  <dcterms:modified xsi:type="dcterms:W3CDTF">2026-06-15T12:16:14.1810000Z</dcterms:modified>
</coreProperties>
</file>