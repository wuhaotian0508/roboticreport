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d9c1ad869d4e75" /><Relationship Type="http://schemas.openxmlformats.org/officeDocument/2006/relationships/extended-properties" Target="/docProps/app.xml" Id="R5bfbb65241cd4b34" /><Relationship Type="http://schemas.openxmlformats.org/officeDocument/2006/relationships/officeDocument" Target="/ppt/presentation.xml" Id="R5c938d8c3c1647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734f38de744dfa"/>
  </p:sldMasterIdLst>
  <p:notesMasterIdLst>
    <p:notesMasterId xmlns:r="http://schemas.openxmlformats.org/officeDocument/2006/relationships" r:id="Ra125a30db01b4bc0"/>
  </p:notesMasterIdLst>
  <p:sldIdLst>
    <p:sldId xmlns:r="http://schemas.openxmlformats.org/officeDocument/2006/relationships" id="256" r:id="R2c349a0d8a7443e6"/>
    <p:sldId xmlns:r="http://schemas.openxmlformats.org/officeDocument/2006/relationships" id="257" r:id="Rc1b4ba5ca4e84db2"/>
    <p:sldId xmlns:r="http://schemas.openxmlformats.org/officeDocument/2006/relationships" id="258" r:id="R04a44a0a7ca84a4d"/>
    <p:sldId xmlns:r="http://schemas.openxmlformats.org/officeDocument/2006/relationships" id="259" r:id="R950cf6368e384400"/>
    <p:sldId xmlns:r="http://schemas.openxmlformats.org/officeDocument/2006/relationships" id="260" r:id="R32d53c0aa3154be5"/>
    <p:sldId xmlns:r="http://schemas.openxmlformats.org/officeDocument/2006/relationships" id="261" r:id="R9d0dd565d0c9466d"/>
    <p:sldId xmlns:r="http://schemas.openxmlformats.org/officeDocument/2006/relationships" id="262" r:id="R76737a93bf7449db"/>
    <p:sldId xmlns:r="http://schemas.openxmlformats.org/officeDocument/2006/relationships" id="263" r:id="R116e0f289f194ac6"/>
    <p:sldId xmlns:r="http://schemas.openxmlformats.org/officeDocument/2006/relationships" id="264" r:id="R8ed931f6d2bb4452"/>
    <p:sldId xmlns:r="http://schemas.openxmlformats.org/officeDocument/2006/relationships" id="265" r:id="R334fe22c4f9b4071"/>
    <p:sldId xmlns:r="http://schemas.openxmlformats.org/officeDocument/2006/relationships" id="266" r:id="Rbbc9b0b560554719"/>
    <p:sldId xmlns:r="http://schemas.openxmlformats.org/officeDocument/2006/relationships" id="267" r:id="R88d987a359734644"/>
    <p:sldId xmlns:r="http://schemas.openxmlformats.org/officeDocument/2006/relationships" id="268" r:id="R5c8224adf56d4b70"/>
    <p:sldId xmlns:r="http://schemas.openxmlformats.org/officeDocument/2006/relationships" id="269" r:id="Ra793bd08625f4ad4"/>
    <p:sldId xmlns:r="http://schemas.openxmlformats.org/officeDocument/2006/relationships" id="270" r:id="R95540fb38a6d4f1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e951774e6c64679" /><Relationship Type="http://schemas.openxmlformats.org/officeDocument/2006/relationships/slideMaster" Target="/ppt/slideMasters/slideMaster1.xml" Id="R79734f38de744dfa" /><Relationship Type="http://schemas.openxmlformats.org/officeDocument/2006/relationships/notesMaster" Target="/ppt/notesMasters/notesMaster1.xml" Id="Ra125a30db01b4bc0" /><Relationship Type="http://schemas.openxmlformats.org/officeDocument/2006/relationships/presProps" Target="/ppt/presProps.xml" Id="R135edf593fe348df" /><Relationship Type="http://schemas.openxmlformats.org/officeDocument/2006/relationships/tableStyles" Target="/ppt/tableStyles.xml" Id="R3a3d84c224644e44" /><Relationship Type="http://schemas.openxmlformats.org/officeDocument/2006/relationships/slide" Target="/ppt/slides/slide1.xml" Id="R2c349a0d8a7443e6" /><Relationship Type="http://schemas.openxmlformats.org/officeDocument/2006/relationships/slide" Target="/ppt/slides/slide2.xml" Id="Rc1b4ba5ca4e84db2" /><Relationship Type="http://schemas.openxmlformats.org/officeDocument/2006/relationships/slide" Target="/ppt/slides/slide3.xml" Id="R04a44a0a7ca84a4d" /><Relationship Type="http://schemas.openxmlformats.org/officeDocument/2006/relationships/slide" Target="/ppt/slides/slide4.xml" Id="R950cf6368e384400" /><Relationship Type="http://schemas.openxmlformats.org/officeDocument/2006/relationships/slide" Target="/ppt/slides/slide5.xml" Id="R32d53c0aa3154be5" /><Relationship Type="http://schemas.openxmlformats.org/officeDocument/2006/relationships/slide" Target="/ppt/slides/slide6.xml" Id="R9d0dd565d0c9466d" /><Relationship Type="http://schemas.openxmlformats.org/officeDocument/2006/relationships/slide" Target="/ppt/slides/slide7.xml" Id="R76737a93bf7449db" /><Relationship Type="http://schemas.openxmlformats.org/officeDocument/2006/relationships/slide" Target="/ppt/slides/slide8.xml" Id="R116e0f289f194ac6" /><Relationship Type="http://schemas.openxmlformats.org/officeDocument/2006/relationships/slide" Target="/ppt/slides/slide9.xml" Id="R8ed931f6d2bb4452" /><Relationship Type="http://schemas.openxmlformats.org/officeDocument/2006/relationships/slide" Target="/ppt/slides/slide10.xml" Id="R334fe22c4f9b4071" /><Relationship Type="http://schemas.openxmlformats.org/officeDocument/2006/relationships/slide" Target="/ppt/slides/slide11.xml" Id="Rbbc9b0b560554719" /><Relationship Type="http://schemas.openxmlformats.org/officeDocument/2006/relationships/slide" Target="/ppt/slides/slide12.xml" Id="R88d987a359734644" /><Relationship Type="http://schemas.openxmlformats.org/officeDocument/2006/relationships/slide" Target="/ppt/slides/slide13.xml" Id="R5c8224adf56d4b70" /><Relationship Type="http://schemas.openxmlformats.org/officeDocument/2006/relationships/slide" Target="/ppt/slides/slide14.xml" Id="Ra793bd08625f4ad4" /><Relationship Type="http://schemas.openxmlformats.org/officeDocument/2006/relationships/slide" Target="/ppt/slides/slide15.xml" Id="R95540fb38a6d4f1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5cdb9fffed40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f48a3aefd84bc7" /><Relationship Type="http://schemas.openxmlformats.org/officeDocument/2006/relationships/notesMaster" Target="/ppt/notesMasters/notesMaster1.xml" Id="Rc8eff38515cf48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92118d5f5d40d4" /><Relationship Type="http://schemas.openxmlformats.org/officeDocument/2006/relationships/notesMaster" Target="/ppt/notesMasters/notesMaster1.xml" Id="R13887c0112d247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814e21b3ab4548" /><Relationship Type="http://schemas.openxmlformats.org/officeDocument/2006/relationships/notesMaster" Target="/ppt/notesMasters/notesMaster1.xml" Id="R43e935f2cd4842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d0c5797af34e4f" /><Relationship Type="http://schemas.openxmlformats.org/officeDocument/2006/relationships/notesMaster" Target="/ppt/notesMasters/notesMaster1.xml" Id="Rb7441b0010d048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810f958f85145d5" /><Relationship Type="http://schemas.openxmlformats.org/officeDocument/2006/relationships/notesMaster" Target="/ppt/notesMasters/notesMaster1.xml" Id="Rd106090e741e49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9d0edbe3c84f26" /><Relationship Type="http://schemas.openxmlformats.org/officeDocument/2006/relationships/notesMaster" Target="/ppt/notesMasters/notesMaster1.xml" Id="R7c800e1b25b942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fbffc8d9e54171" /><Relationship Type="http://schemas.openxmlformats.org/officeDocument/2006/relationships/notesMaster" Target="/ppt/notesMasters/notesMaster1.xml" Id="R343335a8541a4f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8612a6ee524ebb" /><Relationship Type="http://schemas.openxmlformats.org/officeDocument/2006/relationships/notesMaster" Target="/ppt/notesMasters/notesMaster1.xml" Id="R45fdd49996e3474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a30598eba64d33" /><Relationship Type="http://schemas.openxmlformats.org/officeDocument/2006/relationships/notesMaster" Target="/ppt/notesMasters/notesMaster1.xml" Id="R5fb9b4ba11e7425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0d541b092c461d" /><Relationship Type="http://schemas.openxmlformats.org/officeDocument/2006/relationships/notesMaster" Target="/ppt/notesMasters/notesMaster1.xml" Id="R8f6f899baa0a43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e6a874a1ed4592" /><Relationship Type="http://schemas.openxmlformats.org/officeDocument/2006/relationships/notesMaster" Target="/ppt/notesMasters/notesMaster1.xml" Id="R3fcd0330b0fd482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78d1310fd77423c" /><Relationship Type="http://schemas.openxmlformats.org/officeDocument/2006/relationships/notesMaster" Target="/ppt/notesMasters/notesMaster1.xml" Id="Rdc1f2a7080a042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6a7422584cb475a" /><Relationship Type="http://schemas.openxmlformats.org/officeDocument/2006/relationships/notesMaster" Target="/ppt/notesMasters/notesMaster1.xml" Id="Rdcc72620e16b48b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f6354f292794e78" /><Relationship Type="http://schemas.openxmlformats.org/officeDocument/2006/relationships/notesMaster" Target="/ppt/notesMasters/notesMaster1.xml" Id="R41f0709bef1640f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f325b2a1d4a4586" /><Relationship Type="http://schemas.openxmlformats.org/officeDocument/2006/relationships/notesMaster" Target="/ppt/notesMasters/notesMaster1.xml" Id="R8469d09073b848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大家好，我今天汇报的题目是 HumanML3D-Guided Teacher Selection for MoConVQ LoRA Motion Distillation。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我这次工作的核心问题是：原来的 LoRA 蒸馏主要让学生模型去模仿 teacher 生成的 pseudo-token，但是 HumanML3D 里面其实不只有文本 caption，还有和 caption 对应的真实 motion。以前这些 motion 没有真正参与 teacher target 的选择。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所以我的改动不是重新训练一个完整的大模型，而是在 teacher pseudo-token cache 生成阶段加入 HumanML3D motion 的约束。具体来说，我先让 teacher 为同一个 caption 生成多个候选动作，然后把这些候选动作解码出来，和 HumanML3D 中对应的真实 motion 做统计特征比较，最后选择更接近 HumanML3D motion 的那个 candidate 作为学生模型的训练目标。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这份报告的结论会比较保守：我证明了 top-k 之后 teacher selection 真的被 HumanML3D motion 影响了，但最终学生生成质量是否全面提升，还需要更严格的 paired-motion evaluation。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我先介绍今天的汇报结构。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第一部分，我会说明为什么 HumanML3D motion 不能直接当成 MoConVQ GPT 的训练标签。这里的关键是连续动作和离散 token 之间并不是同一种表示。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第二部分，我会讲原始 LoRA distillation 的流程，也就是 teacher 生成 pseudo-token，student 用 LoRA 去模仿这些 token。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第三部分是这次工作的重点：我如何把 HumanML3D 的 paired motion 加入 teacher candidate selection，并且为什么必须用 top-k stochastic sampling。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第四部分，我会解释实验里几个容易混淆的指标：training loss、old style proxy，以及 HumanML alignment。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最后我会给出结果和结论：新方法让 teacher target selection 更接近 HumanML3D，但旧的 style proxy 分数下降，所以目前更准确的说法是方法目标改变了，而不是简单地说模型已经全面变好。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先看数据表示的问题。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HumanML3D 里的 motion 看起来是按时间帧排列的，所以从时间索引上说，它当然是离散的一帧一帧。但是每一帧里面保存的是关节位置、旋转、速度这类连续数值，也就是浮点数。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MoConVQ GPT 训练时需要的不是这些连续浮点数，而是 quantizer codebook 里的离散 token id。也就是说，HumanML3D motion 和 MoConVQ token 并不是同一种训练标签。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因此，我不能直接说：把 HumanML3D motion 拿来训练 GPT 就行。更稳妥的做法是，让已经训练好的 MoConVQ teacher 先生成合法 token，再用 HumanML3D 的真实 motion 去判断这些 token 解码出来的动作哪个更像数据集里的动作。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所以这一页想表达的是：HumanML3D 提供的是真实动作参照，MoConVQ 提供的是合法 token 空间，我的方法是在这两者之间做选择桥接。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这里展示的是我使用的 style-caption subset 分布。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可以看到，dance、energetic 和 controlled 这几个类别的数据相对多一些，graceful 类别相对少一些。这一点会影响后面的实验解释。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因为像 energetic、heavy、slow 这种风格，往往能通过速度、加速度、vertical range 这些统计量粗略反映出来；但是 graceful 或 tai chi 这种风格更细腻，可能需要连续性、协调性和平衡性才能判断。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所以我在后面不会把某一个 proxy score 当成绝对结论。这个分布图主要说明两点：第一，我们确实是在 HumanML3D 的 style subset 上做实验；第二，不同风格本身的可评估难度是不一样的。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接下来讲 baseline，也就是原始 LoRA distillation 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流程是这样的：先把 HumanML3D 的 caption 输入到 MoConVQ teacher，teacher 根据文本生成 pseudo-token。然后冻结原来的 decoder、quantizer 和 controller，只训练一个低秩 LoRA adapter，让 student 去拟合 teacher 给出的 token ids。最后这些 token 再经过后面的模块生成 BVH 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这个流程的优点是稳定，因为训练目标完全在 MoConVQ 的离散 token 空间里，不需要强行把 HumanML3D 连续动作转换成 token。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但问题也在这里：如果 teacher 根据 caption 采样出来的动作虽然合理，却和 HumanML3D 里对应的真实 motion 不接近，那么 student 仍然会认真模仿这个不够贴近数据的 teacher target。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 baseline 的 training loss 只能说明 student 是否学会模仿 teacher，不能说明 teacher target 本身是不是最适合这条 HumanML3D 样本。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现在进入我的主要方法：motion-aware pseudo-token cache selection。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第一步，我从一条 HumanML3D 样本里拿到 caption，同时也拿到这条 caption 对应的真实 motion，并计算它的运动统计特征。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第二步，我让 teacher 不只生成一个 token 序列，而是通过 top-k stochastic sampling 生成多个候选 token 序列。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第三步，把每个候选 token 解码成 BVH，然后计算同样的统计特征，比如 duration、root speed、path length、joint velocity、joint acceleration、jerk 和 vertical range。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第四步，用图中这个 selection distance 比较 candidate 和 HumanML3D motion 的距离。这里用的是 log-ratio distance，它看的是候选动作的统计量和真实动作统计量之间的相对差距，而不是简单要求速度越低越好或者越高越好。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最后，选择距离最小的 candidate，把它的 token ids 存进 cache，作为 LoRA student 的训练目标。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这里是一个关键发现，也是为什么我必须修改 candidate generation。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一开始，我也做了多候选筛选：同一个 caption 生成多个 teacher candidate，再让 HumanML motion score 去选择。但是统计结果很奇怪，在 200 个样本里，第 0 个 candidate 被选中了 199 次，第 1 个 candidate 只被选中了 1 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这说明原来的 teacher.sample 在当前设置下几乎是确定性的。表面上代码里有多个 candidate，但这些 candidate 实际上差别非常小，所以筛选器几乎没有真正的选择空间。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这件事的含义是：如果 candidate 本身不多样，那么再好的 selection score 也发挥不出来。它只能一直选第一个，看起来像筛选，实际上只是走了一遍流程。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因此，我后面改成 top-k stochastic sampling，目的就是先让 teacher 真的产生可比较的不同候选。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改成 top-k 之后，候选选择分布发生了明显变化。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这里可以看到，candidate 0 被选中 114 次，candidate 1 被选中 31 次，candidate 2 被选中 32 次，candidate 3 被选中 23 次。也就是说，在 200 个样本里，有 86 个样本最后选择的不是第一个 candidate。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这个结果说明两件事。第一，top-k sampling 确实带来了候选多样性。第二，HumanML motion-distance score 不再只是装饰，它真的改变了最终写入 cache 的 pseudo-token target。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但是这里也要讲清楚：这一页证明的是 selection mechanism 开始起作用了，不等于证明最终学生模型的生成动作一定更好。要证明最终动作质量，还要看训练后的 BVH 和 HumanML3D motion 的配对比较。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这一页看训练 loss。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这里比较的是三种 pseudo-token cache 下的 LoRA distillation loss。Original LoRA continuation 从 0.2289 降到 0.2018。HumanML deterministic 从 0.3749 降到 0.2721。HumanML top-k 从 0.4184 降到 0.3396。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从数值上看，top-k 的 loss 更高。但这个更高不能简单理解成训练失败。因为 top-k cache 的目标来自更多样的 teacher candidates，目标分布更分散，学生拟合起来自然更难。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所以这张图我会这样解释：所有曲线都在下降，说明 student 在学习；但 HumanML-selected cache 尤其是 top-k cache 更难拟合，说明它和原来更确定的 teacher target 不一样。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这也提醒我们，training loss 不是最终动作质量指标。它只回答学生有没有拟合当前选中的 token，而不回答这个 token 解码出来的动作是否更符合 HumanML3D。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这一页非常重要，因为它解释了为什么前面的结果不能只看一个总分。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我把评估拆成三类。第一类是 training loss，它回答的是：student 有没有学会模仿 selected teacher tokens。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第二类是 old style proxy，它回答的是：生成出来的 BVH 是否朝着手写的风格方向变化。比如 slow deliberate 应该速度更低，energetic jump 应该 vertical range 更大。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第三类是 HumanML alignment，它回答的是：被选中的 teacher target 是否更接近 HumanML3D 里对应的真实 motion。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这三个问题不是同一个问题，所以结论也不能混在一起说。我的方法主要优化的是第三个问题，也就是 teacher target 和 HumanML3D motion 的接近性；它不一定会自动提高旧的 style-direction proxy。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这里是 qualitative frames，也就是可视化动作截图。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这张图把 baseline 和 LoRA adapter 在几个 style prompt 下的动作帧放在一起，比如 slow deliberate walk、graceful dance 和 energetic jump。它的作用是让我们直观看到，adapter 之后动作姿态确实发生了变化。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但是我不会把这张图当成正式 benchmark。原因是它只是若干时间点的截图，不能代表完整动作序列的自然性，也不能完整衡量语义是否匹配。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所以讲这一页时，我只把它作为辅助证据：它说明模型输出在视觉上有变化，值得进一步量化分析。真正判断方法是否有效，还是要回到后面的 proxy metrics，以及未来和 HumanML3D paired motion 的完整对齐评估。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 original LoRA 在旧 style proxy 上的结果。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这里的 old style proxy 是一组手写规则，它检查动作是否朝预设风格方向变化。比如 slow deliberate 更希望 root speed 和 jerk 降低；energetic jump 更希望 vertical range 或 arm range 增加；heavy tired 可能对应更慢、更重的运动趋势。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在这个标准下，original LoRA 达到了 18 out of 22，也就是 22 个检查里有 18 个朝预期方向变化。这个结果说明，原始 LoRA 的确能在一些粗粒度运动学特征上改变生成动作。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但我要强调的是，这个指标并不是 HumanML3D closeness。它衡量的是我们预设的风格方向，而不是生成动作和某条 HumanML3D 真实 motion 有多接近。所以它有用，但不能作为新方法唯一的评价标准。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这一页把 old style proxy 拆开来看。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左边是每个 prompt 的 win count，比如 slow deliberate、graceful dance、tai chi、energetic jump 和 heavy tired 分别有多少指标朝预期方向移动。右边是具体指标的 percentage change heatmap，也就是每个运动统计量变化了多少。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这种拆分的好处是，我们能看到分数从哪里来，而不是只看一个总 win rate。比如某个 prompt 总分高，可能是因为速度变化符合预期；另一个 prompt 总分低，可能是因为它需要的风格特征不是简单速度或高度能表达的。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所以我会把这页作为旧指标的解释页：它能说明模型在某些手写风格方向上有变化，但它并不能完整模拟人类对动作自然性和语义匹配的判断。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这一页是最终结果，也是我希望老师重点看到的地方。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如果只看 old style proxy，original LoRA 是 18/22，HumanML deterministic 是 15/22，HumanML top-k 是 12/22。也就是说，按照旧的手写风格方向，新方法没有提高分数，top-k 甚至更低。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但是这不能简单解释成方法失败。因为新方法优化的目标不是让动作一定朝某个手写方向变化，而是让 teacher candidate 更接近对应的 HumanML3D motion。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从右边可以看到，top-k 之后候选选择真的更分散，candidate 0、1、2、3 分别被选中 114、31、32、23 次。同时 HumanML alignment 有轻微提升，score 从 0.1443 到 0.1477，distance 从 1.9666 降到 1.9419。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所以这页的结论是：top-k HumanML selection 让 teacher target 更数据化、更接近 paired motion，但它和旧 style proxy 没完全对齐。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最后总结一下。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这次工作已经解决的第一件事是，HumanML3D 不再只是提供 caption。它的 paired motion 已经进入 teacher pseudo-token selection，用来选择更接近真实动作统计特征的 teacher candidate。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第二件事是，top-k sampling 解决了之前多候选几乎全选第一个的问题。现在 selector 有了真实选择空间，所以 HumanML motion score 可以改变 cache 里的 token target。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但目前还没有完全解决的是最终闭环评估。teacher target 更接近 HumanML3D，不一定自动保证 student 最终生成的 BVH 也更接近 HumanML3D，因为训练、采样和解码都会引入偏差。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所以下一步应该做的是 paired-motion evaluation：用同一批 HumanML3D caption 让 baseline 和 LoRA 分别生成 BVH，然后把生成动作和对应的 HumanML3D motion 按 motion id 对齐比较。这样才能真正回答最终生成质量有没有提升。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我的汇报到这里结束，谢谢大家。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e91d6e5a704b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704f7d4334433f" /><Relationship Type="http://schemas.openxmlformats.org/officeDocument/2006/relationships/slideLayout" Target="/ppt/slideLayouts/slideLayout1.xml" Id="R17797b9af48041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797b9af48041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5a2d2fb60b45c9" /><Relationship Type="http://schemas.openxmlformats.org/officeDocument/2006/relationships/notesSlide" Target="/ppt/notesSlides/notesSlide1.xml" Id="Rd2d75c2a793b4e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f5692926d04e2a" /><Relationship Type="http://schemas.openxmlformats.org/officeDocument/2006/relationships/notesSlide" Target="/ppt/notesSlides/notesSlide2.xml" Id="R9498aa3e96944b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f46da69864ba8" /><Relationship Type="http://schemas.openxmlformats.org/officeDocument/2006/relationships/notesSlide" Target="/ppt/notesSlides/notesSlide3.xml" Id="Rf7e9443a71ba44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9d36002724a3e" /><Relationship Type="http://schemas.openxmlformats.org/officeDocument/2006/relationships/image" Target="/ppt/media/image.png" Id="Rd0931151e64944a6" /><Relationship Type="http://schemas.openxmlformats.org/officeDocument/2006/relationships/notesSlide" Target="/ppt/notesSlides/notesSlide4.xml" Id="R392e3e7c59fb47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a4c56ccce4fea" /><Relationship Type="http://schemas.openxmlformats.org/officeDocument/2006/relationships/image" Target="/ppt/media/image2.png" Id="R62ce202627ce4432" /><Relationship Type="http://schemas.openxmlformats.org/officeDocument/2006/relationships/notesSlide" Target="/ppt/notesSlides/notesSlide5.xml" Id="R613d1ac181234a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d55126f4204365" /><Relationship Type="http://schemas.openxmlformats.org/officeDocument/2006/relationships/notesSlide" Target="/ppt/notesSlides/notesSlide6.xml" Id="R4284ac6c65654a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dc30bb4254957" /><Relationship Type="http://schemas.openxmlformats.org/officeDocument/2006/relationships/notesSlide" Target="/ppt/notesSlides/notesSlide7.xml" Id="Rbb3d9c517f8e49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a3fb8095d4419" /><Relationship Type="http://schemas.openxmlformats.org/officeDocument/2006/relationships/notesSlide" Target="/ppt/notesSlides/notesSlide8.xml" Id="R8e80a5e1486c4b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e044dc2ed4572" /><Relationship Type="http://schemas.openxmlformats.org/officeDocument/2006/relationships/image" Target="/ppt/media/image3.png" Id="Rccd6088922ce491c" /><Relationship Type="http://schemas.openxmlformats.org/officeDocument/2006/relationships/notesSlide" Target="/ppt/notesSlides/notesSlide9.xml" Id="R0b5ae5a9386246b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e045ee7da425b" /><Relationship Type="http://schemas.openxmlformats.org/officeDocument/2006/relationships/notesSlide" Target="/ppt/notesSlides/notesSlide10.xml" Id="Rab1ac96206b347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51e622b314f1b" /><Relationship Type="http://schemas.openxmlformats.org/officeDocument/2006/relationships/image" Target="/ppt/media/image4.png" Id="R70fb0863dde442b8" /><Relationship Type="http://schemas.openxmlformats.org/officeDocument/2006/relationships/image" Target="/ppt/media/image5.png" Id="Rdd59f46d5e2b4985" /><Relationship Type="http://schemas.openxmlformats.org/officeDocument/2006/relationships/notesSlide" Target="/ppt/notesSlides/notesSlide11.xml" Id="R520d00d3a36741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b29e60e004563" /><Relationship Type="http://schemas.openxmlformats.org/officeDocument/2006/relationships/image" Target="/ppt/media/image6.png" Id="Ra8979cb204054ed9" /><Relationship Type="http://schemas.openxmlformats.org/officeDocument/2006/relationships/notesSlide" Target="/ppt/notesSlides/notesSlide12.xml" Id="Rdb9ca836f6e846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4dc2f6c5a3468d" /><Relationship Type="http://schemas.openxmlformats.org/officeDocument/2006/relationships/image" Target="/ppt/media/image7.png" Id="R50de3e16177543a3" /><Relationship Type="http://schemas.openxmlformats.org/officeDocument/2006/relationships/image" Target="/ppt/media/image8.png" Id="Raeeaa67011594dba" /><Relationship Type="http://schemas.openxmlformats.org/officeDocument/2006/relationships/notesSlide" Target="/ppt/notesSlides/notesSlide13.xml" Id="R2e8bab5ef383403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88ab4c7494041" /><Relationship Type="http://schemas.openxmlformats.org/officeDocument/2006/relationships/image" Target="/ppt/media/image9.png" Id="R8bc26e66c8144e56" /><Relationship Type="http://schemas.openxmlformats.org/officeDocument/2006/relationships/notesSlide" Target="/ppt/notesSlides/notesSlide14.xml" Id="Rcd1cee013af248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a6603fd4d54d81" /><Relationship Type="http://schemas.openxmlformats.org/officeDocument/2006/relationships/notesSlide" Target="/ppt/notesSlides/notesSlide15.xml" Id="R6a7cbe2e08c342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E341B1-01C0-4D88-86B3-9B2C17F3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23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E312FC-A2D6-4BF6-B9E7-945DCC59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1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FINAL REPORT DEFENSE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B2513C-B81F-4959-9497-72076185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723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HumanML3D-Guided</a:t>
            </a:r>
          </a:p>
          <a:p xmlns:a="http://schemas.openxmlformats.org/drawingml/2006/main">
            <a:pPr>
              <a:buNone/>
              <a:defRPr sz="315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Teacher 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2798E-B200-4A1C-BBE3-ADACEF2F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B6773"/>
                </a:solidFill>
                <a:latin typeface="Aptos"/>
                <a:ea typeface="Aptos"/>
                <a:cs typeface="Aptos"/>
              </a:rPr>
              <a:t>for MoConVQ LoRA Motion Distillation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7DC8D-05EC-430A-B417-EC51DB94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0820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F"/>
          </a:solidFill>
          <a:ln xmlns:a="http://schemas.openxmlformats.org/drawingml/2006/main" w="0">
            <a:solidFill>
              <a:srgbClr val="2931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CC8BE5-03CA-455E-8299-6B40E6AF2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3855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Core claim: paired HumanML3D motion can guide teacher pseudo-token selection, but the final student still needs paired-motion evaluation.</a:t>
            </a:r>
          </a:p>
        </p:txBody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D1AD4A83-115B-47C0-B12B-E096C3A8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30670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8" name="card-accent">
            <a:extLst xmlns:a="http://schemas.openxmlformats.org/drawingml/2006/main">
              <a:ext uri="{FF2B5EF4-FFF2-40B4-BE49-F238E27FC236}">
                <a16:creationId xmlns:a16="http://schemas.microsoft.com/office/drawing/2014/main" id="{B32A6740-1C21-48B7-9430-C9589A66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878E1F-D42A-46B0-BF50-8DCA6D6F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101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29433-CC97-43E0-83C9-5D1F962D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B6773"/>
                </a:solidFill>
                <a:latin typeface="Aptos"/>
                <a:ea typeface="Aptos"/>
                <a:cs typeface="Aptos"/>
              </a:rPr>
              <a:t>multi-candidate teacher sampling + HumanML motion-distance selection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1A480DF7-2D25-4C0F-BE0B-11A1E703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62500"/>
            <a:ext cx="30670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12" name="card-accent">
            <a:extLst xmlns:a="http://schemas.openxmlformats.org/drawingml/2006/main">
              <a:ext uri="{FF2B5EF4-FFF2-40B4-BE49-F238E27FC236}">
                <a16:creationId xmlns:a16="http://schemas.microsoft.com/office/drawing/2014/main" id="{F751BD8F-D4AF-48AC-A9C2-713645B7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625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A64DBE-7422-4CCD-8057-0E32F602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0101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E291D-9A57-45E5-B3CA-90C89045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3340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B6773"/>
                </a:solidFill>
                <a:latin typeface="Aptos"/>
                <a:ea typeface="Aptos"/>
                <a:cs typeface="Aptos"/>
              </a:rPr>
              <a:t>top-k makes 86/200 selections non-first candidates</a:t>
            </a:r>
          </a:p>
        </p:txBody>
      </p:sp>
      <p:sp>
        <p:nvSpPr>
          <p:cNvPr id="15" name="card">
            <a:extLst xmlns:a="http://schemas.openxmlformats.org/drawingml/2006/main">
              <a:ext uri="{FF2B5EF4-FFF2-40B4-BE49-F238E27FC236}">
                <a16:creationId xmlns:a16="http://schemas.microsoft.com/office/drawing/2014/main" id="{33222778-867A-4A8B-B7FB-2250752F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62500"/>
            <a:ext cx="30670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1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54B23126-5682-4068-9FA9-A295BB68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625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8191BE-F85E-4361-806C-DDCD0AFC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101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Finding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7F06BB-0EFD-4CE1-96CE-0FF5A638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3340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B6773"/>
                </a:solidFill>
                <a:latin typeface="Aptos"/>
                <a:ea typeface="Aptos"/>
                <a:cs typeface="Aptos"/>
              </a:rPr>
              <a:t>teacher alignment improves; old style proxy drops</a:t>
            </a:r>
          </a:p>
        </p:txBody>
      </p:sp>
      <p:sp>
        <p:nvSpPr>
          <p:cNvPr id="19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A5589D3-55F9-4F45-9A30-4A7714C9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D8D0C5"/>
            </a:solidFill>
            <a:prstDash val="solid"/>
          </a:ln>
        </p:spPr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51AAA11-E4D0-4DF4-9CDD-7E5ECEB7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450">
                <a:solidFill>
                  <a:srgbClr val="5B6773"/>
                </a:solidFill>
                <a:latin typeface="Aptos"/>
                <a:ea typeface="Aptos"/>
                <a:cs typeface="Aptos"/>
              </a:rPr>
              <a:t>HumanML3D-Guided Teacher Selection | Paper-Synced Defense Deck</a:t>
            </a:r>
          </a:p>
        </p:txBody>
      </p:sp>
      <p:sp>
        <p:nvSpPr>
          <p:cNvPr id="2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F48F72F-AD89-4003-BFD0-61D2E8CB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2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525">
                <a:solidFill>
                  <a:srgbClr val="5B6773"/>
                </a:solidFill>
                <a:latin typeface="Aptos"/>
                <a:ea typeface="Aptos"/>
                <a:cs typeface="Aptos"/>
              </a:rPr>
              <a:t>1 / 15</a:t>
            </a:r>
          </a:p>
        </p:txBody>
      </p:sp>
    </p:spTree>
    <p:extLst>
      <p:ext uri="{BB962C8B-B14F-4D97-AF65-F5344CB8AC3E}">
        <p14:creationId xmlns:p14="http://schemas.microsoft.com/office/powerpoint/2010/main" val="16843100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">
            <a:extLst xmlns:a="http://schemas.openxmlformats.org/drawingml/2006/main">
              <a:ext uri="{FF2B5EF4-FFF2-40B4-BE49-F238E27FC236}">
                <a16:creationId xmlns:a16="http://schemas.microsoft.com/office/drawing/2014/main" id="{D465585E-0193-4331-9A45-45E938D0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B2AF12AB-2A21-41CC-8E23-53F285C8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80F5E1D-E982-4A04-AB40-D5618734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Presentation structure follows the final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EEE84F-A172-4B71-9FD7-A1C73389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66875"/>
            <a:ext cx="57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0DF13-2CE8-426A-B25D-EEC1DC7F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097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EE1AA-5411-427E-8DD6-AC36F790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6954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Data mismatch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59100-62F5-4A12-AA04-BEA19C14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71675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B6773"/>
                </a:solidFill>
                <a:latin typeface="Aptos"/>
                <a:ea typeface="Aptos"/>
                <a:cs typeface="Aptos"/>
              </a:rPr>
              <a:t>HumanML3D motion is continuous features; MoConVQ GPT trains on discrete tokens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E36A02-CFCE-4329-B205-1B688354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57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B7323-F0BB-4871-870F-F82B8330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908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6A0E4-8D12-4C41-9441-E51BA403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47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Baseline distillation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C6A4F1-BE96-47CE-BCD3-601F99C6E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752725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B6773"/>
                </a:solidFill>
                <a:latin typeface="Aptos"/>
                <a:ea typeface="Aptos"/>
                <a:cs typeface="Aptos"/>
              </a:rPr>
              <a:t>Caption-only teacher pseudo-token imitation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06170C-D0C8-4078-BB31-E8698D17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57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7B8D9-C256-4575-8448-730FB6BF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718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9BD86-6E62-48AF-BBAA-667B50DE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57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Motion-guided target selection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FE870D-6526-4BA2-9E82-B93217E4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33775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B6773"/>
                </a:solidFill>
                <a:latin typeface="Aptos"/>
                <a:ea typeface="Aptos"/>
                <a:cs typeface="Aptos"/>
              </a:rPr>
              <a:t>Decode candidates and choose the one closest to paired HumanML3D motion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9A785E-2061-4A5D-B105-FA1A472F9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57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B4B"/>
          </a:solidFill>
          <a:ln xmlns:a="http://schemas.openxmlformats.org/drawingml/2006/main" w="0">
            <a:solidFill>
              <a:srgbClr val="4F9B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7A204A-37F4-4659-9EBB-23B5DB09A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529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246DB0-DC69-4D1A-8C4D-DEC13871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3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Training and metrics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72F005-D134-4050-A9E7-54ECE59D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14825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B6773"/>
                </a:solidFill>
                <a:latin typeface="Aptos"/>
                <a:ea typeface="Aptos"/>
                <a:cs typeface="Aptos"/>
              </a:rPr>
              <a:t>Loss, style proxy, and HumanML teacher alignment are separate signals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F2176A-3751-4404-B33B-62EBCDA6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91075"/>
            <a:ext cx="57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985D3C-9300-439E-8337-11678DA1E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3395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A81B90-4CE5-4351-A3EC-EB3BA462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19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Result and limitation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EDBE9A-C97A-4F3F-AEBD-2205BDBA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95875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B6773"/>
                </a:solidFill>
                <a:latin typeface="Aptos"/>
                <a:ea typeface="Aptos"/>
                <a:cs typeface="Aptos"/>
              </a:rPr>
              <a:t>Top-k fixes candidate diversity, but old style proxy does not improve</a:t>
            </a:r>
          </a:p>
        </p:txBody>
      </p:sp>
      <p:sp>
        <p:nvSpPr>
          <p:cNvPr id="24" name="card">
            <a:extLst xmlns:a="http://schemas.openxmlformats.org/drawingml/2006/main">
              <a:ext uri="{FF2B5EF4-FFF2-40B4-BE49-F238E27FC236}">
                <a16:creationId xmlns:a16="http://schemas.microsoft.com/office/drawing/2014/main" id="{BE45440F-C99E-42D8-AB0A-57090E18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0500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25" name="card-accent">
            <a:extLst xmlns:a="http://schemas.openxmlformats.org/drawingml/2006/main">
              <a:ext uri="{FF2B5EF4-FFF2-40B4-BE49-F238E27FC236}">
                <a16:creationId xmlns:a16="http://schemas.microsoft.com/office/drawing/2014/main" id="{CD9AD6D1-E717-47FB-86C2-D1168ECDB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0500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C86D9D-AAEB-4285-9078-4C18D04D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90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Message hierarchy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19B41C-A0F7-4823-AE91-151C1E12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95550"/>
            <a:ext cx="238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B6773"/>
                </a:solidFill>
                <a:latin typeface="Aptos"/>
                <a:ea typeface="Aptos"/>
                <a:cs typeface="Aptos"/>
              </a:rPr>
              <a:t>Every section answers one question: what changed, how it was measured, and what the result means.</a:t>
            </a:r>
          </a:p>
        </p:txBody>
      </p:sp>
      <p:sp>
        <p:nvSpPr>
          <p:cNvPr id="28" name="footer-line">
            <a:extLst xmlns:a="http://schemas.openxmlformats.org/drawingml/2006/main">
              <a:ext uri="{FF2B5EF4-FFF2-40B4-BE49-F238E27FC236}">
                <a16:creationId xmlns:a16="http://schemas.microsoft.com/office/drawing/2014/main" id="{3C69BB38-A19C-41D4-ADDA-456E2A52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D8D0C5"/>
            </a:solidFill>
            <a:prstDash val="solid"/>
          </a:ln>
        </p:spPr>
      </p:sp>
      <p:sp>
        <p:nvSpPr>
          <p:cNvPr id="2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1AF27E4-4B1B-49E4-8993-ED314D4C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450">
                <a:solidFill>
                  <a:srgbClr val="5B6773"/>
                </a:solidFill>
                <a:latin typeface="Aptos"/>
                <a:ea typeface="Aptos"/>
                <a:cs typeface="Aptos"/>
              </a:rPr>
              <a:t>HumanML3D-Guided Teacher Selection | Paper-Synced Defense Deck</a:t>
            </a:r>
          </a:p>
        </p:txBody>
      </p:sp>
      <p:sp>
        <p:nvSpPr>
          <p:cNvPr id="3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4ABAB6B-B199-4D0D-93E1-BACAAFB6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2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525">
                <a:solidFill>
                  <a:srgbClr val="5B6773"/>
                </a:solidFill>
                <a:latin typeface="Aptos"/>
                <a:ea typeface="Aptos"/>
                <a:cs typeface="Aptos"/>
              </a:rPr>
              <a:t>2 / 15</a:t>
            </a:r>
          </a:p>
        </p:txBody>
      </p:sp>
    </p:spTree>
    <p:extLst>
      <p:ext uri="{BB962C8B-B14F-4D97-AF65-F5344CB8AC3E}">
        <p14:creationId xmlns:p14="http://schemas.microsoft.com/office/powerpoint/2010/main" val="10780924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">
            <a:extLst xmlns:a="http://schemas.openxmlformats.org/drawingml/2006/main">
              <a:ext uri="{FF2B5EF4-FFF2-40B4-BE49-F238E27FC236}">
                <a16:creationId xmlns:a16="http://schemas.microsoft.com/office/drawing/2014/main" id="{410CB69C-882A-4443-8CB8-2E26EBFB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402F4A56-6644-4B8D-8CA2-9D3D4662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DATA CONSTRAINT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982FAFD-12A1-4358-AA8F-6580F7C9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HumanML3D motion exists, but it is not a MoConVQ token label</a:t>
            </a:r>
          </a:p>
        </p:txBody>
      </p:sp>
      <p:sp>
        <p:nvSpPr>
          <p:cNvPr id="4" name="card">
            <a:extLst xmlns:a="http://schemas.openxmlformats.org/drawingml/2006/main">
              <a:ext uri="{FF2B5EF4-FFF2-40B4-BE49-F238E27FC236}">
                <a16:creationId xmlns:a16="http://schemas.microsoft.com/office/drawing/2014/main" id="{7A681B14-D69E-4BB5-BF33-F7FD295B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5" name="card-accent">
            <a:extLst xmlns:a="http://schemas.openxmlformats.org/drawingml/2006/main">
              <a:ext uri="{FF2B5EF4-FFF2-40B4-BE49-F238E27FC236}">
                <a16:creationId xmlns:a16="http://schemas.microsoft.com/office/drawing/2014/main" id="{B9E8DC46-0014-467A-8866-0C2371D5F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D2002B-8B9E-4783-86AA-043978AE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HumanML3D row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CF1E45-5C80-4382-A172-C299133B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574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B6773"/>
                </a:solidFill>
                <a:latin typeface="Aptos"/>
                <a:ea typeface="Aptos"/>
                <a:cs typeface="Aptos"/>
              </a:rPr>
              <a:t>caption + motion_id + processed 263-D continuous motion features</a:t>
            </a:r>
          </a:p>
        </p:txBody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40B5BA12-370F-4AA1-8B40-8F875028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8B073264-1CAC-49C9-AB7E-19569FB6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097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B51892-BB99-4EFF-8B6E-88F3F88C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955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MoConVQ GPT 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60DD27-9D26-4119-A9FE-C6FA42572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574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B6773"/>
                </a:solidFill>
                <a:latin typeface="Aptos"/>
                <a:ea typeface="Aptos"/>
                <a:cs typeface="Aptos"/>
              </a:rPr>
              <a:t>finite codebook token IDs such as [34, 812, 91, ...]</a:t>
            </a:r>
          </a:p>
        </p:txBody>
      </p:sp>
      <p:sp>
        <p:nvSpPr>
          <p:cNvPr id="12" name="card">
            <a:extLst xmlns:a="http://schemas.openxmlformats.org/drawingml/2006/main">
              <a:ext uri="{FF2B5EF4-FFF2-40B4-BE49-F238E27FC236}">
                <a16:creationId xmlns:a16="http://schemas.microsoft.com/office/drawing/2014/main" id="{EFF21ED6-DEF5-435F-A334-2492BDCD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097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13" name="card-accent">
            <a:extLst xmlns:a="http://schemas.openxmlformats.org/drawingml/2006/main">
              <a:ext uri="{FF2B5EF4-FFF2-40B4-BE49-F238E27FC236}">
                <a16:creationId xmlns:a16="http://schemas.microsoft.com/office/drawing/2014/main" id="{406B3B35-3E0C-4F61-BF60-64FCC02D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097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F3523-B553-4081-875E-D4A0273A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955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Key mismatch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583174-F182-4384-9B32-D1468C23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574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5B6773"/>
                </a:solidFill>
                <a:latin typeface="Aptos"/>
                <a:ea typeface="Aptos"/>
                <a:cs typeface="Aptos"/>
              </a:rPr>
              <a:t>Motion values are continuous floats; GPT loss expects discrete token labels.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7CAE9C-E733-4E09-B112-B409D482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F"/>
          </a:solidFill>
          <a:ln xmlns:a="http://schemas.openxmlformats.org/drawingml/2006/main" w="0">
            <a:solidFill>
              <a:srgbClr val="2931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0423DE-974D-475C-8C25-AD31A519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14875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Therefore, HumanML3D motion should not be treated as a direct token label. It can still guide which teacher-generated token sequence is selected.</a:t>
            </a:r>
          </a:p>
        </p:txBody>
      </p:sp>
      <p:sp>
        <p:nvSpPr>
          <p:cNvPr id="18" name="footer-line">
            <a:extLst xmlns:a="http://schemas.openxmlformats.org/drawingml/2006/main">
              <a:ext uri="{FF2B5EF4-FFF2-40B4-BE49-F238E27FC236}">
                <a16:creationId xmlns:a16="http://schemas.microsoft.com/office/drawing/2014/main" id="{86E06110-29A7-413D-9D33-3DD10322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D8D0C5"/>
            </a:solidFill>
            <a:prstDash val="solid"/>
          </a:ln>
        </p:spPr>
      </p:sp>
      <p:sp>
        <p:nvSpPr>
          <p:cNvPr id="1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4AC90C5-8935-4293-A971-832028DDB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450">
                <a:solidFill>
                  <a:srgbClr val="5B6773"/>
                </a:solidFill>
                <a:latin typeface="Aptos"/>
                <a:ea typeface="Aptos"/>
                <a:cs typeface="Aptos"/>
              </a:rPr>
              <a:t>HumanML3D-Guided Teacher Selection | Paper-Synced Defense Deck</a:t>
            </a:r>
          </a:p>
        </p:txBody>
      </p:sp>
      <p:sp>
        <p:nvSpPr>
          <p:cNvPr id="2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DCA9EA3-E25F-4B7D-8EE7-B8B83035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2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525">
                <a:solidFill>
                  <a:srgbClr val="5B6773"/>
                </a:solidFill>
                <a:latin typeface="Aptos"/>
                <a:ea typeface="Aptos"/>
                <a:cs typeface="Aptos"/>
              </a:rPr>
              <a:t>3 / 15</a:t>
            </a:r>
          </a:p>
        </p:txBody>
      </p:sp>
    </p:spTree>
    <p:extLst>
      <p:ext uri="{BB962C8B-B14F-4D97-AF65-F5344CB8AC3E}">
        <p14:creationId xmlns:p14="http://schemas.microsoft.com/office/powerpoint/2010/main" val="12943708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">
            <a:extLst xmlns:a="http://schemas.openxmlformats.org/drawingml/2006/main">
              <a:ext uri="{FF2B5EF4-FFF2-40B4-BE49-F238E27FC236}">
                <a16:creationId xmlns:a16="http://schemas.microsoft.com/office/drawing/2014/main" id="{B7E54B01-7852-4C8F-A69B-9C9210DE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B231038C-44AE-4D34-A61C-8711BFDC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96DB760-2FB9-4B23-ABD8-243BA0792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Style-caption subset used for the project</a:t>
            </a:r>
          </a:p>
        </p:txBody>
      </p:sp>
      <p:sp>
        <p:nvSpPr>
          <p:cNvPr id="4" name="card">
            <a:extLst xmlns:a="http://schemas.openxmlformats.org/drawingml/2006/main">
              <a:ext uri="{FF2B5EF4-FFF2-40B4-BE49-F238E27FC236}">
                <a16:creationId xmlns:a16="http://schemas.microsoft.com/office/drawing/2014/main" id="{DDCF1289-1D80-4237-8740-90B0F5EB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10668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5" name="card-accent">
            <a:extLst xmlns:a="http://schemas.openxmlformats.org/drawingml/2006/main">
              <a:ext uri="{FF2B5EF4-FFF2-40B4-BE49-F238E27FC236}">
                <a16:creationId xmlns:a16="http://schemas.microsoft.com/office/drawing/2014/main" id="{1EE6D80A-57CF-488F-BFF4-D06CC3DD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931151e64944a6"/>
          <a:stretch xmlns:a="http://schemas.openxmlformats.org/drawingml/2006/main"/>
        </p:blipFill>
        <p:spPr>
          <a:xfrm xmlns:a="http://schemas.openxmlformats.org/drawingml/2006/main">
            <a:off x="2752849" y="1809750"/>
            <a:ext cx="6686301" cy="3524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3A2D70-D585-48A5-B446-194F1473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9120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773"/>
                </a:solidFill>
                <a:latin typeface="Aptos"/>
                <a:ea typeface="Aptos"/>
                <a:cs typeface="Aptos"/>
              </a:rPr>
              <a:t>The subset is strongest for dance, energetic, and controlled styles; graceful style is sparse.</a:t>
            </a:r>
          </a:p>
        </p:txBody>
      </p:sp>
      <p:sp>
        <p:nvSpPr>
          <p:cNvPr id="8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43B5035-77F4-4F78-8C47-789A6789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D8D0C5"/>
            </a:solidFill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224982F3-5215-4B62-AC81-F8C52161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450">
                <a:solidFill>
                  <a:srgbClr val="5B6773"/>
                </a:solidFill>
                <a:latin typeface="Aptos"/>
                <a:ea typeface="Aptos"/>
                <a:cs typeface="Aptos"/>
              </a:rPr>
              <a:t>HumanML3D-Guided Teacher Selection | Paper-Synced Defense Deck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D17207A-D809-44D1-8B8B-46718A86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2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525">
                <a:solidFill>
                  <a:srgbClr val="5B6773"/>
                </a:solidFill>
                <a:latin typeface="Aptos"/>
                <a:ea typeface="Aptos"/>
                <a:cs typeface="Aptos"/>
              </a:rPr>
              <a:t>4 / 15</a:t>
            </a:r>
          </a:p>
        </p:txBody>
      </p:sp>
    </p:spTree>
    <p:extLst>
      <p:ext uri="{BB962C8B-B14F-4D97-AF65-F5344CB8AC3E}">
        <p14:creationId xmlns:p14="http://schemas.microsoft.com/office/powerpoint/2010/main" val="3413015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">
            <a:extLst xmlns:a="http://schemas.openxmlformats.org/drawingml/2006/main">
              <a:ext uri="{FF2B5EF4-FFF2-40B4-BE49-F238E27FC236}">
                <a16:creationId xmlns:a16="http://schemas.microsoft.com/office/drawing/2014/main" id="{A8E258F0-F213-4AF8-825C-AFB9D0C5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769D3C92-24B5-4D17-8BAE-5D22AF00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BASELINE PIPELINE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A9C7A6-D88A-422F-8982-16F980B6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Original LoRA distillation learns teacher pseudo-tokens</a:t>
            </a:r>
          </a:p>
        </p:txBody>
      </p:sp>
      <p:sp>
        <p:nvSpPr>
          <p:cNvPr id="4" name="card">
            <a:extLst xmlns:a="http://schemas.openxmlformats.org/drawingml/2006/main">
              <a:ext uri="{FF2B5EF4-FFF2-40B4-BE49-F238E27FC236}">
                <a16:creationId xmlns:a16="http://schemas.microsoft.com/office/drawing/2014/main" id="{D73E8E0D-88D6-4394-8E86-5DACDE73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04775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5" name="card-accent">
            <a:extLst xmlns:a="http://schemas.openxmlformats.org/drawingml/2006/main">
              <a:ext uri="{FF2B5EF4-FFF2-40B4-BE49-F238E27FC236}">
                <a16:creationId xmlns:a16="http://schemas.microsoft.com/office/drawing/2014/main" id="{5B2C79B2-8DE9-4A5E-8551-3BF59E85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7620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e202627ce4432"/>
          <a:stretch xmlns:a="http://schemas.openxmlformats.org/drawingml/2006/main"/>
        </p:blipFill>
        <p:spPr>
          <a:xfrm xmlns:a="http://schemas.openxmlformats.org/drawingml/2006/main">
            <a:off x="2445249" y="1809750"/>
            <a:ext cx="7301501" cy="2476500"/>
          </a:xfrm>
          <a:prstGeom xmlns:a="http://schemas.openxmlformats.org/drawingml/2006/main" prst="rect">
            <a:avLst/>
          </a:prstGeom>
        </p:spPr>
      </p:pic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1CCBF072-62EA-40E9-A2D2-F10BE62E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00" y="-28575000"/>
            <a:ext cx="9525" cy="952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8" name="card-accent">
            <a:extLst xmlns:a="http://schemas.openxmlformats.org/drawingml/2006/main">
              <a:ext uri="{FF2B5EF4-FFF2-40B4-BE49-F238E27FC236}">
                <a16:creationId xmlns:a16="http://schemas.microsoft.com/office/drawing/2014/main" id="{255B2181-E6B8-42EA-8A8B-22D7AA59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91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24217-D849-4E6C-B40C-FE3EC257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3816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Loss meaning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E22C6-1307-44FE-8C7C-C1B95E1B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638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B6773"/>
                </a:solidFill>
                <a:latin typeface="Aptos"/>
                <a:ea typeface="Aptos"/>
                <a:cs typeface="Aptos"/>
              </a:rPr>
              <a:t>Low CE loss means the student copied selected teacher tokens.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BC29CDF4-BCB7-4CDC-9816-3BFC4997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191125"/>
            <a:ext cx="3143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12" name="card-accent">
            <a:extLst xmlns:a="http://schemas.openxmlformats.org/drawingml/2006/main">
              <a:ext uri="{FF2B5EF4-FFF2-40B4-BE49-F238E27FC236}">
                <a16:creationId xmlns:a16="http://schemas.microsoft.com/office/drawing/2014/main" id="{ADC1974F-9513-4894-876E-3EED9045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191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EE2F94-068E-4D81-A7B7-98B6D414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53816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What it misses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C01090-26B5-478F-880C-1D251DFA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5638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B6773"/>
                </a:solidFill>
                <a:latin typeface="Aptos"/>
                <a:ea typeface="Aptos"/>
                <a:cs typeface="Aptos"/>
              </a:rPr>
              <a:t>It does not prove the teacher target matches HumanML3D motion.</a:t>
            </a:r>
          </a:p>
        </p:txBody>
      </p:sp>
      <p:sp>
        <p:nvSpPr>
          <p:cNvPr id="15" name="card">
            <a:extLst xmlns:a="http://schemas.openxmlformats.org/drawingml/2006/main">
              <a:ext uri="{FF2B5EF4-FFF2-40B4-BE49-F238E27FC236}">
                <a16:creationId xmlns:a16="http://schemas.microsoft.com/office/drawing/2014/main" id="{7F54247E-3A8F-4FA0-B5A4-35432811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191125"/>
            <a:ext cx="3143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1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C1BC414D-7C66-4DFF-945C-3A4F37D8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191125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1ABE42-6DF8-41FA-939F-AE1BC5C3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3816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Why preserve 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F5BAE1-2F41-4A91-8274-0A035B61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6388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B6773"/>
                </a:solidFill>
                <a:latin typeface="Aptos"/>
                <a:ea typeface="Aptos"/>
                <a:cs typeface="Aptos"/>
              </a:rPr>
              <a:t>It keeps the decoder, quantizer, and controller frozen.</a:t>
            </a:r>
          </a:p>
        </p:txBody>
      </p:sp>
      <p:sp>
        <p:nvSpPr>
          <p:cNvPr id="19" name="footer-line">
            <a:extLst xmlns:a="http://schemas.openxmlformats.org/drawingml/2006/main">
              <a:ext uri="{FF2B5EF4-FFF2-40B4-BE49-F238E27FC236}">
                <a16:creationId xmlns:a16="http://schemas.microsoft.com/office/drawing/2014/main" id="{4977CB8E-BEA3-44D9-B497-41209C84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D8D0C5"/>
            </a:solidFill>
            <a:prstDash val="solid"/>
          </a:ln>
        </p:spPr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B0269E9-74BD-4F11-AC80-FB71F0FA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450">
                <a:solidFill>
                  <a:srgbClr val="5B6773"/>
                </a:solidFill>
                <a:latin typeface="Aptos"/>
                <a:ea typeface="Aptos"/>
                <a:cs typeface="Aptos"/>
              </a:rPr>
              <a:t>HumanML3D-Guided Teacher Selection | Paper-Synced Defense Deck</a:t>
            </a:r>
          </a:p>
        </p:txBody>
      </p:sp>
      <p:sp>
        <p:nvSpPr>
          <p:cNvPr id="2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6630891-3B09-4A5F-93EB-A1C6E301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2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525">
                <a:solidFill>
                  <a:srgbClr val="5B6773"/>
                </a:solidFill>
                <a:latin typeface="Aptos"/>
                <a:ea typeface="Aptos"/>
                <a:cs typeface="Aptos"/>
              </a:rPr>
              <a:t>5 / 15</a:t>
            </a:r>
          </a:p>
        </p:txBody>
      </p:sp>
    </p:spTree>
    <p:extLst>
      <p:ext uri="{BB962C8B-B14F-4D97-AF65-F5344CB8AC3E}">
        <p14:creationId xmlns:p14="http://schemas.microsoft.com/office/powerpoint/2010/main" val="5757337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">
            <a:extLst xmlns:a="http://schemas.openxmlformats.org/drawingml/2006/main">
              <a:ext uri="{FF2B5EF4-FFF2-40B4-BE49-F238E27FC236}">
                <a16:creationId xmlns:a16="http://schemas.microsoft.com/office/drawing/2014/main" id="{AD1BC9F6-C560-4634-86F4-113A79EA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0C9C6F8D-102D-4AE6-96DD-71B008BF3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8D9B2B-C70B-49E5-BB3D-91024792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Motion-aware pseudo-token cache selection</a:t>
            </a:r>
          </a:p>
        </p:txBody>
      </p:sp>
      <p:sp>
        <p:nvSpPr>
          <p:cNvPr id="4" name="card">
            <a:extLst xmlns:a="http://schemas.openxmlformats.org/drawingml/2006/main">
              <a:ext uri="{FF2B5EF4-FFF2-40B4-BE49-F238E27FC236}">
                <a16:creationId xmlns:a16="http://schemas.microsoft.com/office/drawing/2014/main" id="{4C28EED5-4D63-47A2-AB40-FE1066C6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18478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5" name="card-accent">
            <a:extLst xmlns:a="http://schemas.openxmlformats.org/drawingml/2006/main">
              <a:ext uri="{FF2B5EF4-FFF2-40B4-BE49-F238E27FC236}">
                <a16:creationId xmlns:a16="http://schemas.microsoft.com/office/drawing/2014/main" id="{51117449-ED0B-4C60-975F-EFFF2473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47D9F3-9075-46E2-B776-EC8C0CFE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908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1 HumanML row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71D93-26AB-41F9-858C-ABB3D636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B6773"/>
                </a:solidFill>
                <a:latin typeface="Aptos"/>
                <a:ea typeface="Aptos"/>
                <a:cs typeface="Aptos"/>
              </a:rPr>
              <a:t>caption + paired motion metrics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DA9E2-7F0A-4F01-B9BF-0EB8427E2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003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F"/>
          </a:solidFill>
          <a:ln xmlns:a="http://schemas.openxmlformats.org/drawingml/2006/main" w="0">
            <a:solidFill>
              <a:srgbClr val="29313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A70B8B-36F0-417F-AD87-3DA5E9B0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6860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931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9313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card">
            <a:extLst xmlns:a="http://schemas.openxmlformats.org/drawingml/2006/main">
              <a:ext uri="{FF2B5EF4-FFF2-40B4-BE49-F238E27FC236}">
                <a16:creationId xmlns:a16="http://schemas.microsoft.com/office/drawing/2014/main" id="{418EEA15-FC26-4349-93D9-A25F8EE8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33625"/>
            <a:ext cx="18478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11" name="card-accent">
            <a:extLst xmlns:a="http://schemas.openxmlformats.org/drawingml/2006/main">
              <a:ext uri="{FF2B5EF4-FFF2-40B4-BE49-F238E27FC236}">
                <a16:creationId xmlns:a16="http://schemas.microsoft.com/office/drawing/2014/main" id="{CCC88262-0AB7-4AA3-A616-F42817C0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000" y="-28575000"/>
            <a:ext cx="9525" cy="9525"/>
          </a:xfrm>
          <a:prstGeom xmlns:a="http://schemas.openxmlformats.org/drawingml/2006/main" prst="rect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34331-879E-4100-AF6E-603F7108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908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2 Teacher top-k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74B21D-5A82-484F-804B-04AEE00A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8956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B6773"/>
                </a:solidFill>
                <a:latin typeface="Aptos"/>
                <a:ea typeface="Aptos"/>
                <a:cs typeface="Aptos"/>
              </a:rPr>
              <a:t>sample 4 stochastic candidates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1B23EE-6BCE-482F-B6E8-B2540E74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003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F"/>
          </a:solidFill>
          <a:ln xmlns:a="http://schemas.openxmlformats.org/drawingml/2006/main" w="0">
            <a:solidFill>
              <a:srgbClr val="29313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FB5CEC-95E9-4F33-8922-B6723620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860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931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9313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card">
            <a:extLst xmlns:a="http://schemas.openxmlformats.org/drawingml/2006/main">
              <a:ext uri="{FF2B5EF4-FFF2-40B4-BE49-F238E27FC236}">
                <a16:creationId xmlns:a16="http://schemas.microsoft.com/office/drawing/2014/main" id="{79D5AA6C-4F2B-4A39-B2E0-C2883EF0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33625"/>
            <a:ext cx="18478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17" name="card-accent">
            <a:extLst xmlns:a="http://schemas.openxmlformats.org/drawingml/2006/main">
              <a:ext uri="{FF2B5EF4-FFF2-40B4-BE49-F238E27FC236}">
                <a16:creationId xmlns:a16="http://schemas.microsoft.com/office/drawing/2014/main" id="{8E8FF4EC-2A60-493E-AD8B-7AE7505F0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33625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B4B"/>
          </a:solidFill>
          <a:ln xmlns:a="http://schemas.openxmlformats.org/drawingml/2006/main" w="0">
            <a:solidFill>
              <a:srgbClr val="4F9B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1384F8-3857-4F04-A946-72D87F1E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908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3 Decode BVHs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18209-7569-4BCE-8E02-219833DE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956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B6773"/>
                </a:solidFill>
                <a:latin typeface="Aptos"/>
                <a:ea typeface="Aptos"/>
                <a:cs typeface="Aptos"/>
              </a:rPr>
              <a:t>measure each candidate motion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BF1C1F-5916-46AB-9C6B-387563D0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003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F"/>
          </a:solidFill>
          <a:ln xmlns:a="http://schemas.openxmlformats.org/drawingml/2006/main" w="0">
            <a:solidFill>
              <a:srgbClr val="29313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B994A9-4E0F-4949-9595-74FB5A62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860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931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9313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2" name="card">
            <a:extLst xmlns:a="http://schemas.openxmlformats.org/drawingml/2006/main">
              <a:ext uri="{FF2B5EF4-FFF2-40B4-BE49-F238E27FC236}">
                <a16:creationId xmlns:a16="http://schemas.microsoft.com/office/drawing/2014/main" id="{C026589B-062B-415B-9AED-787412F8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33625"/>
            <a:ext cx="18478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23" name="card-accent">
            <a:extLst xmlns:a="http://schemas.openxmlformats.org/drawingml/2006/main">
              <a:ext uri="{FF2B5EF4-FFF2-40B4-BE49-F238E27FC236}">
                <a16:creationId xmlns:a16="http://schemas.microsoft.com/office/drawing/2014/main" id="{C920BD4C-8639-4340-822B-A474BFAA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33625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7B2A4D-AD4F-4AA2-B59C-8A2FD5E7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5908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4 Select target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0F66E8-6F06-41A1-9EAC-37845A8C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956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B6773"/>
                </a:solidFill>
                <a:latin typeface="Aptos"/>
                <a:ea typeface="Aptos"/>
                <a:cs typeface="Aptos"/>
              </a:rPr>
              <a:t>minimize distance to HumanML profile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2DBED3-0775-4C3F-B62E-DFB31B84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0035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F"/>
          </a:solidFill>
          <a:ln xmlns:a="http://schemas.openxmlformats.org/drawingml/2006/main" w="0">
            <a:solidFill>
              <a:srgbClr val="29313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190A9D-5D5C-408E-8ABA-647B8183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686050"/>
            <a:ext cx="19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931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9313F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card">
            <a:extLst xmlns:a="http://schemas.openxmlformats.org/drawingml/2006/main">
              <a:ext uri="{FF2B5EF4-FFF2-40B4-BE49-F238E27FC236}">
                <a16:creationId xmlns:a16="http://schemas.microsoft.com/office/drawing/2014/main" id="{AFF0AC0F-7D2E-4698-8C23-5BC66011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33625"/>
            <a:ext cx="18478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2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467E5D9F-BAEB-4443-9B09-5D0F6759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33625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A097DF-4123-4567-A78E-3C2F179C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5908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5 Train LoRA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0798C6-0CE1-4B10-901F-B97F8255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8956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B6773"/>
                </a:solidFill>
                <a:latin typeface="Aptos"/>
                <a:ea typeface="Aptos"/>
                <a:cs typeface="Aptos"/>
              </a:rPr>
              <a:t>CE loss on selected token IDs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3BBEE9-B35F-48CD-A8EA-083A0AA3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10439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F"/>
          </a:solidFill>
          <a:ln xmlns:a="http://schemas.openxmlformats.org/drawingml/2006/main" w="0">
            <a:solidFill>
              <a:srgbClr val="29313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B0831E-5E47-432D-BFC7-271C98E0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selection distance = mean | log((candidate_metric + eps) / (HumanML_metric + eps)) |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E92EF3-08BF-4BBD-BB29-C972BE8D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773"/>
                </a:solidFill>
                <a:latin typeface="Aptos"/>
                <a:ea typeface="Aptos"/>
                <a:cs typeface="Aptos"/>
              </a:rPr>
              <a:t>This rewards closeness to the paired HumanML3D motion, not a one-way style direction such as always lower speed.</a:t>
            </a:r>
          </a:p>
        </p:txBody>
      </p:sp>
      <p:sp>
        <p:nvSpPr>
          <p:cNvPr id="3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332C3861-477C-4DA0-8F2D-06D741270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D8D0C5"/>
            </a:solidFill>
            <a:prstDash val="solid"/>
          </a:ln>
        </p:spPr>
      </p:sp>
      <p:sp>
        <p:nvSpPr>
          <p:cNvPr id="3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16224BF8-430C-438D-B376-B9706BC1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450">
                <a:solidFill>
                  <a:srgbClr val="5B6773"/>
                </a:solidFill>
                <a:latin typeface="Aptos"/>
                <a:ea typeface="Aptos"/>
                <a:cs typeface="Aptos"/>
              </a:rPr>
              <a:t>HumanML3D-Guided Teacher Selection | Paper-Synced Defense Deck</a:t>
            </a:r>
          </a:p>
        </p:txBody>
      </p:sp>
      <p:sp>
        <p:nvSpPr>
          <p:cNvPr id="37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5769967-1678-4631-86A2-923B6A3A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2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525">
                <a:solidFill>
                  <a:srgbClr val="5B6773"/>
                </a:solidFill>
                <a:latin typeface="Aptos"/>
                <a:ea typeface="Aptos"/>
                <a:cs typeface="Aptos"/>
              </a:rPr>
              <a:t>6 / 15</a:t>
            </a:r>
          </a:p>
        </p:txBody>
      </p:sp>
    </p:spTree>
    <p:extLst>
      <p:ext uri="{BB962C8B-B14F-4D97-AF65-F5344CB8AC3E}">
        <p14:creationId xmlns:p14="http://schemas.microsoft.com/office/powerpoint/2010/main" val="1192935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">
            <a:extLst xmlns:a="http://schemas.openxmlformats.org/drawingml/2006/main">
              <a:ext uri="{FF2B5EF4-FFF2-40B4-BE49-F238E27FC236}">
                <a16:creationId xmlns:a16="http://schemas.microsoft.com/office/drawing/2014/main" id="{A792BC91-BBB5-4C9F-8587-74A112AE6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F8BD04D3-3C0F-4706-85D8-FBE20427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IMPLEMENTATION FINDING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2ABC21-B4A3-432C-98D7-96F67805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Deterministic teacher candidates made filtering meaningless</a:t>
            </a:r>
          </a:p>
        </p:txBody>
      </p:sp>
      <p:sp>
        <p:nvSpPr>
          <p:cNvPr id="4" name="card">
            <a:extLst xmlns:a="http://schemas.openxmlformats.org/drawingml/2006/main">
              <a:ext uri="{FF2B5EF4-FFF2-40B4-BE49-F238E27FC236}">
                <a16:creationId xmlns:a16="http://schemas.microsoft.com/office/drawing/2014/main" id="{498E9CE8-F9F1-430F-8B5B-349333F4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9906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5" name="card-accent">
            <a:extLst xmlns:a="http://schemas.openxmlformats.org/drawingml/2006/main">
              <a:ext uri="{FF2B5EF4-FFF2-40B4-BE49-F238E27FC236}">
                <a16:creationId xmlns:a16="http://schemas.microsoft.com/office/drawing/2014/main" id="{D85C1187-3735-4DEF-99BE-1E583F49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FB3CB-9186-49F6-988F-266A144F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143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Selected teacher candidate counts on 200 samples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2524B-5222-47DE-B1A8-88D332320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384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candidate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C09D0-D479-4A2F-B0B1-ED6324F7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8"/>
          </a:solidFill>
          <a:ln xmlns:a="http://schemas.openxmlformats.org/drawingml/2006/main" w="0">
            <a:solidFill>
              <a:srgbClr val="E8E1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05702-F676-40DC-8339-D272663D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6634163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C578B9-12BF-45D4-8692-3BB5C825A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384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199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BEC5E-E82D-4E54-A9AF-54A910BC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14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candidate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C44AA5-0171-46B9-A6B9-075892E0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8"/>
          </a:solidFill>
          <a:ln xmlns:a="http://schemas.openxmlformats.org/drawingml/2006/main" w="0">
            <a:solidFill>
              <a:srgbClr val="E8E1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BAE2A9-14D8-4C6D-96C8-67A8DF92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33750"/>
            <a:ext cx="3333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C6074-1778-4329-A399-5A0056F9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3147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card">
            <a:extLst xmlns:a="http://schemas.openxmlformats.org/drawingml/2006/main">
              <a:ext uri="{FF2B5EF4-FFF2-40B4-BE49-F238E27FC236}">
                <a16:creationId xmlns:a16="http://schemas.microsoft.com/office/drawing/2014/main" id="{A637BE36-26B7-48CA-B8D6-0E4FA9D5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8191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1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9CC54A11-ED93-474E-B1CF-63930311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762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A8AD69-CFDE-4FE4-9A1D-1B7CC9F0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720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ABB576-01A4-4273-9828-307ED3E58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257800"/>
            <a:ext cx="733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38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938">
                <a:solidFill>
                  <a:srgbClr val="5B6773"/>
                </a:solidFill>
                <a:latin typeface="Aptos"/>
                <a:ea typeface="Aptos"/>
                <a:cs typeface="Aptos"/>
              </a:rPr>
              <a:t>Multiple candidates existed in code, but they were almost identical in practice. The selector could not really choose.</a:t>
            </a:r>
          </a:p>
        </p:txBody>
      </p:sp>
      <p:sp>
        <p:nvSpPr>
          <p:cNvPr id="19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1BC30E5-8EEE-4C35-883A-EF17D1992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D8D0C5"/>
            </a:solidFill>
            <a:prstDash val="solid"/>
          </a:ln>
        </p:spPr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DEC3F1E-637C-4FDA-83DA-068CEE08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450">
                <a:solidFill>
                  <a:srgbClr val="5B6773"/>
                </a:solidFill>
                <a:latin typeface="Aptos"/>
                <a:ea typeface="Aptos"/>
                <a:cs typeface="Aptos"/>
              </a:rPr>
              <a:t>HumanML3D-Guided Teacher Selection | Paper-Synced Defense Deck</a:t>
            </a:r>
          </a:p>
        </p:txBody>
      </p:sp>
      <p:sp>
        <p:nvSpPr>
          <p:cNvPr id="2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829AD6A9-FEBE-47A3-ACFD-C6F27166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2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525">
                <a:solidFill>
                  <a:srgbClr val="5B6773"/>
                </a:solidFill>
                <a:latin typeface="Aptos"/>
                <a:ea typeface="Aptos"/>
                <a:cs typeface="Aptos"/>
              </a:rPr>
              <a:t>7 / 15</a:t>
            </a:r>
          </a:p>
        </p:txBody>
      </p:sp>
    </p:spTree>
    <p:extLst>
      <p:ext uri="{BB962C8B-B14F-4D97-AF65-F5344CB8AC3E}">
        <p14:creationId xmlns:p14="http://schemas.microsoft.com/office/powerpoint/2010/main" val="10809484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">
            <a:extLst xmlns:a="http://schemas.openxmlformats.org/drawingml/2006/main">
              <a:ext uri="{FF2B5EF4-FFF2-40B4-BE49-F238E27FC236}">
                <a16:creationId xmlns:a16="http://schemas.microsoft.com/office/drawing/2014/main" id="{6E7432A0-B797-4942-8F0B-8CE93266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0066353B-6852-4083-974C-028765C9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TOP-K FIX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20446E4-21D3-4E96-826A-C425A367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Top-k sampling gives the selector real alternatives</a:t>
            </a:r>
          </a:p>
        </p:txBody>
      </p:sp>
      <p:sp>
        <p:nvSpPr>
          <p:cNvPr id="4" name="card">
            <a:extLst xmlns:a="http://schemas.openxmlformats.org/drawingml/2006/main">
              <a:ext uri="{FF2B5EF4-FFF2-40B4-BE49-F238E27FC236}">
                <a16:creationId xmlns:a16="http://schemas.microsoft.com/office/drawing/2014/main" id="{1FD68B68-40FB-443C-B7A1-B4565D05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00200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5" name="card-accent">
            <a:extLst xmlns:a="http://schemas.openxmlformats.org/drawingml/2006/main">
              <a:ext uri="{FF2B5EF4-FFF2-40B4-BE49-F238E27FC236}">
                <a16:creationId xmlns:a16="http://schemas.microsoft.com/office/drawing/2014/main" id="{F35900C1-E763-44E1-8FA8-6A1316A9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0020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EAF8D5-F8C3-41B6-86F3-89AEA90E8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885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Top-k selected candidate counts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6C3538-DDCD-4F3D-8B39-85B1A19D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457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8"/>
          </a:solidFill>
          <a:ln xmlns:a="http://schemas.openxmlformats.org/drawingml/2006/main" w="0">
            <a:solidFill>
              <a:srgbClr val="E8E1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76ED6-C471-426D-9E72-C2D222B8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95613"/>
            <a:ext cx="457200" cy="17192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7D148A-A333-4B64-A405-A29EDAB6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67013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114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32953-BEBF-4932-8F0B-9307BE46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79107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675">
                <a:solidFill>
                  <a:srgbClr val="5B6773"/>
                </a:solidFill>
                <a:latin typeface="Aptos"/>
                <a:ea typeface="Aptos"/>
                <a:cs typeface="Aptos"/>
              </a:rPr>
              <a:t>cand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3C1E48-9D2A-44B6-AC03-19F4166C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05125"/>
            <a:ext cx="457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8"/>
          </a:solidFill>
          <a:ln xmlns:a="http://schemas.openxmlformats.org/drawingml/2006/main" w="0">
            <a:solidFill>
              <a:srgbClr val="E8E1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9245F1-2396-4B58-B023-A273F9E2E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47356"/>
            <a:ext cx="457200" cy="467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5ACDE0-131B-4E71-A2A1-A063FE51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18756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FAB16A-7060-4A54-BAAE-92E19EB7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9107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675">
                <a:solidFill>
                  <a:srgbClr val="5B6773"/>
                </a:solidFill>
                <a:latin typeface="Aptos"/>
                <a:ea typeface="Aptos"/>
                <a:cs typeface="Aptos"/>
              </a:rPr>
              <a:t>cand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C31E75-3FB1-4FEC-BC3B-3C79CDD2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05125"/>
            <a:ext cx="457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8"/>
          </a:solidFill>
          <a:ln xmlns:a="http://schemas.openxmlformats.org/drawingml/2006/main" w="0">
            <a:solidFill>
              <a:srgbClr val="E8E1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74B611-13C7-42E6-ADF5-0B48C686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232275"/>
            <a:ext cx="457200" cy="48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B4B"/>
          </a:solidFill>
          <a:ln xmlns:a="http://schemas.openxmlformats.org/drawingml/2006/main" w="0">
            <a:solidFill>
              <a:srgbClr val="4F9B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ED4056-2792-46C6-8576-0487A4FE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03675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FE5C97-1E97-476E-A1FC-554DD355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79107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675">
                <a:solidFill>
                  <a:srgbClr val="5B6773"/>
                </a:solidFill>
                <a:latin typeface="Aptos"/>
                <a:ea typeface="Aptos"/>
                <a:cs typeface="Aptos"/>
              </a:rPr>
              <a:t>cand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64B0E8-509A-4DCA-95ED-6E3F46F2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05125"/>
            <a:ext cx="457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8"/>
          </a:solidFill>
          <a:ln xmlns:a="http://schemas.openxmlformats.org/drawingml/2006/main" w="0">
            <a:solidFill>
              <a:srgbClr val="E8E1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85F98C-5258-4174-BAE0-067A6AB5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68006"/>
            <a:ext cx="457200" cy="34686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A12797-FB8C-4457-BFBF-D778423F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39406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1C1896-D133-4FB9-8952-7CB5EB64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91075"/>
            <a:ext cx="914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675">
                <a:solidFill>
                  <a:srgbClr val="5B6773"/>
                </a:solidFill>
                <a:latin typeface="Aptos"/>
                <a:ea typeface="Aptos"/>
                <a:cs typeface="Aptos"/>
              </a:rPr>
              <a:t>cand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15682E-2DD2-4FD3-B7F2-2CE683F2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1487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D8D0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FF4D0E-9EFE-4F92-8E13-448DABC8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958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87F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7F"/>
                </a:solidFill>
                <a:latin typeface="Aptos"/>
                <a:ea typeface="Aptos"/>
                <a:cs typeface="Aptos"/>
              </a:rPr>
              <a:t>86 / 200 selections came from non-first candidates.</a:t>
            </a:r>
          </a:p>
        </p:txBody>
      </p:sp>
      <p:sp>
        <p:nvSpPr>
          <p:cNvPr id="25" name="card">
            <a:extLst xmlns:a="http://schemas.openxmlformats.org/drawingml/2006/main">
              <a:ext uri="{FF2B5EF4-FFF2-40B4-BE49-F238E27FC236}">
                <a16:creationId xmlns:a16="http://schemas.microsoft.com/office/drawing/2014/main" id="{330B25FC-781D-4BD1-AE9A-0E888B669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00200"/>
            <a:ext cx="4476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2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6EEBD658-0E8A-4F43-BD64-DEB232F1A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00200"/>
            <a:ext cx="762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DC0529-6D59-40FE-A899-65968F03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9431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What changed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5440F0-3EC7-4454-9B5E-6CCEAF38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81250"/>
            <a:ext cx="3524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202733"/>
                </a:solidFill>
                <a:latin typeface="Aptos"/>
                <a:ea typeface="Aptos"/>
                <a:cs typeface="Aptos"/>
              </a:rPr>
              <a:t>Before top-k: multi-candidate filtering was mostly decorative.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125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202733"/>
                </a:solidFill>
                <a:latin typeface="Aptos"/>
                <a:ea typeface="Aptos"/>
                <a:cs typeface="Aptos"/>
              </a:rPr>
              <a:t>After top-k: HumanML motion-distance selection can actually influence which pseudo-token sequence is cached.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125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202733"/>
                </a:solidFill>
                <a:latin typeface="Aptos"/>
                <a:ea typeface="Aptos"/>
                <a:cs typeface="Aptos"/>
              </a:rPr>
              <a:t>This is a method-level fix, not final proof of better student motion.</a:t>
            </a:r>
          </a:p>
        </p:txBody>
      </p:sp>
      <p:sp>
        <p:nvSpPr>
          <p:cNvPr id="29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CFB39B7-B315-4370-95CF-EF0B0A9C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D8D0C5"/>
            </a:solidFill>
            <a:prstDash val="solid"/>
          </a:ln>
        </p:spPr>
      </p:sp>
      <p:sp>
        <p:nvSpPr>
          <p:cNvPr id="3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757B4A63-DBBD-4AC1-B261-21B30AE4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450">
                <a:solidFill>
                  <a:srgbClr val="5B6773"/>
                </a:solidFill>
                <a:latin typeface="Aptos"/>
                <a:ea typeface="Aptos"/>
                <a:cs typeface="Aptos"/>
              </a:rPr>
              <a:t>HumanML3D-Guided Teacher Selection | Paper-Synced Defense Deck</a:t>
            </a:r>
          </a:p>
        </p:txBody>
      </p:sp>
      <p:sp>
        <p:nvSpPr>
          <p:cNvPr id="3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627F8A9-000C-44A0-9320-4A014CF7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2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525">
                <a:solidFill>
                  <a:srgbClr val="5B6773"/>
                </a:solidFill>
                <a:latin typeface="Aptos"/>
                <a:ea typeface="Aptos"/>
                <a:cs typeface="Aptos"/>
              </a:rPr>
              <a:t>8 / 15</a:t>
            </a:r>
          </a:p>
        </p:txBody>
      </p:sp>
    </p:spTree>
    <p:extLst>
      <p:ext uri="{BB962C8B-B14F-4D97-AF65-F5344CB8AC3E}">
        <p14:creationId xmlns:p14="http://schemas.microsoft.com/office/powerpoint/2010/main" val="3532747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">
            <a:extLst xmlns:a="http://schemas.openxmlformats.org/drawingml/2006/main">
              <a:ext uri="{FF2B5EF4-FFF2-40B4-BE49-F238E27FC236}">
                <a16:creationId xmlns:a16="http://schemas.microsoft.com/office/drawing/2014/main" id="{DA8C12D5-BFA0-4B77-8164-64C969E26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11E3DE92-C54D-49AC-932F-69D1750C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TRAINING LOSS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8C9881-71C6-45F3-8C83-7E919F02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HumanML-selected top-k cache is learnable but harder to fit</a:t>
            </a:r>
          </a:p>
        </p:txBody>
      </p:sp>
      <p:sp>
        <p:nvSpPr>
          <p:cNvPr id="4" name="card">
            <a:extLst xmlns:a="http://schemas.openxmlformats.org/drawingml/2006/main">
              <a:ext uri="{FF2B5EF4-FFF2-40B4-BE49-F238E27FC236}">
                <a16:creationId xmlns:a16="http://schemas.microsoft.com/office/drawing/2014/main" id="{F77DAFD9-574D-450E-A208-A31574C0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5" name="card-accent">
            <a:extLst xmlns:a="http://schemas.openxmlformats.org/drawingml/2006/main">
              <a:ext uri="{FF2B5EF4-FFF2-40B4-BE49-F238E27FC236}">
                <a16:creationId xmlns:a16="http://schemas.microsoft.com/office/drawing/2014/main" id="{9D9689CA-D439-4A30-8103-7AE6F713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6088922ce491c"/>
          <a:stretch xmlns:a="http://schemas.openxmlformats.org/drawingml/2006/main"/>
        </p:blipFill>
        <p:spPr>
          <a:xfrm xmlns:a="http://schemas.openxmlformats.org/drawingml/2006/main">
            <a:off x="2872601" y="1666875"/>
            <a:ext cx="6446799" cy="3524250"/>
          </a:xfrm>
          <a:prstGeom xmlns:a="http://schemas.openxmlformats.org/drawingml/2006/main" prst="rect">
            <a:avLst/>
          </a:prstGeom>
        </p:spPr>
      </p:pic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869B2F22-11AA-4E84-8D6F-6CA8D229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15000"/>
            <a:ext cx="304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8" name="card-accent">
            <a:extLst xmlns:a="http://schemas.openxmlformats.org/drawingml/2006/main">
              <a:ext uri="{FF2B5EF4-FFF2-40B4-BE49-F238E27FC236}">
                <a16:creationId xmlns:a16="http://schemas.microsoft.com/office/drawing/2014/main" id="{0F8C2BE6-16FA-4C79-8FBB-80BE99A3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150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E2CBB-7A11-4AAE-8EA1-5D626C7B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29300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Deterministic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C491D-6470-489E-AA16-4EA775FC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829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B6773"/>
                </a:solidFill>
                <a:latin typeface="Aptos"/>
                <a:ea typeface="Aptos"/>
                <a:cs typeface="Aptos"/>
              </a:rPr>
              <a:t>0.3749 -&gt; 0.2721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659436F3-00F6-4FD0-8B51-0489FC85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15000"/>
            <a:ext cx="304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12" name="card-accent">
            <a:extLst xmlns:a="http://schemas.openxmlformats.org/drawingml/2006/main">
              <a:ext uri="{FF2B5EF4-FFF2-40B4-BE49-F238E27FC236}">
                <a16:creationId xmlns:a16="http://schemas.microsoft.com/office/drawing/2014/main" id="{95216909-79DB-4EA5-BAF6-C19AF496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7150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B4B"/>
          </a:solidFill>
          <a:ln xmlns:a="http://schemas.openxmlformats.org/drawingml/2006/main" w="0">
            <a:solidFill>
              <a:srgbClr val="4F9B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90F964-07BF-4285-A1FB-9EA7851EB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29300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Top-k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BBC4E8-0A02-4001-B241-15261AD2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829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B6773"/>
                </a:solidFill>
                <a:latin typeface="Aptos"/>
                <a:ea typeface="Aptos"/>
                <a:cs typeface="Aptos"/>
              </a:rPr>
              <a:t>0.4184 -&gt; 0.3396</a:t>
            </a:r>
          </a:p>
        </p:txBody>
      </p:sp>
      <p:sp>
        <p:nvSpPr>
          <p:cNvPr id="15" name="card">
            <a:extLst xmlns:a="http://schemas.openxmlformats.org/drawingml/2006/main">
              <a:ext uri="{FF2B5EF4-FFF2-40B4-BE49-F238E27FC236}">
                <a16:creationId xmlns:a16="http://schemas.microsoft.com/office/drawing/2014/main" id="{86138422-C789-4C54-A4B5-55150C03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715000"/>
            <a:ext cx="3048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1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4B9EB68F-881D-4699-826D-6EEFDAAB5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715000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0C6CEE-00CD-4896-8004-8078AEEB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829300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Meaning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270EFD-A191-4391-B4F5-880623CD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829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B6773"/>
                </a:solidFill>
                <a:latin typeface="Aptos"/>
                <a:ea typeface="Aptos"/>
                <a:cs typeface="Aptos"/>
              </a:rPr>
              <a:t>higher loss = harder/diverse pseudo-targets</a:t>
            </a:r>
          </a:p>
        </p:txBody>
      </p:sp>
      <p:sp>
        <p:nvSpPr>
          <p:cNvPr id="19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22BADBC-BF64-4467-A42C-0A24E751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D8D0C5"/>
            </a:solidFill>
            <a:prstDash val="solid"/>
          </a:ln>
        </p:spPr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F099A6D2-125D-4061-8563-1BC9FF77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450">
                <a:solidFill>
                  <a:srgbClr val="5B6773"/>
                </a:solidFill>
                <a:latin typeface="Aptos"/>
                <a:ea typeface="Aptos"/>
                <a:cs typeface="Aptos"/>
              </a:rPr>
              <a:t>HumanML3D-Guided Teacher Selection | Paper-Synced Defense Deck</a:t>
            </a:r>
          </a:p>
        </p:txBody>
      </p:sp>
      <p:sp>
        <p:nvSpPr>
          <p:cNvPr id="2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2F42A41-1AA8-44CA-812A-C136460E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2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525">
                <a:solidFill>
                  <a:srgbClr val="5B6773"/>
                </a:solidFill>
                <a:latin typeface="Aptos"/>
                <a:ea typeface="Aptos"/>
                <a:cs typeface="Aptos"/>
              </a:rPr>
              <a:t>9 / 15</a:t>
            </a:r>
          </a:p>
        </p:txBody>
      </p:sp>
    </p:spTree>
    <p:extLst>
      <p:ext uri="{BB962C8B-B14F-4D97-AF65-F5344CB8AC3E}">
        <p14:creationId xmlns:p14="http://schemas.microsoft.com/office/powerpoint/2010/main" val="171762211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">
            <a:extLst xmlns:a="http://schemas.openxmlformats.org/drawingml/2006/main">
              <a:ext uri="{FF2B5EF4-FFF2-40B4-BE49-F238E27FC236}">
                <a16:creationId xmlns:a16="http://schemas.microsoft.com/office/drawing/2014/main" id="{C4FBBDE8-4E0B-4E18-AB10-FEC17B3F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A5E5A8F7-340B-4D3F-8FF5-5DD5CEF3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A596DB-3C71-484C-966D-E82A5999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Separate token learning, style direction, and HumanML closeness</a:t>
            </a:r>
          </a:p>
        </p:txBody>
      </p:sp>
      <p:sp>
        <p:nvSpPr>
          <p:cNvPr id="4" name="card">
            <a:extLst xmlns:a="http://schemas.openxmlformats.org/drawingml/2006/main">
              <a:ext uri="{FF2B5EF4-FFF2-40B4-BE49-F238E27FC236}">
                <a16:creationId xmlns:a16="http://schemas.microsoft.com/office/drawing/2014/main" id="{C33F48B5-C3F4-478C-886F-3F585DE0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2952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5" name="card-accent">
            <a:extLst xmlns:a="http://schemas.openxmlformats.org/drawingml/2006/main">
              <a:ext uri="{FF2B5EF4-FFF2-40B4-BE49-F238E27FC236}">
                <a16:creationId xmlns:a16="http://schemas.microsoft.com/office/drawing/2014/main" id="{E19FF5DE-F04C-484F-953B-A6124A0A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CD0A1-0A21-42F0-ADE1-A616CA52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62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2D8BE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D8BE8"/>
                </a:solidFill>
                <a:latin typeface="Aptos"/>
                <a:ea typeface="Aptos"/>
                <a:cs typeface="Aptos"/>
              </a:rPr>
              <a:t>Training loss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7A00B-4753-4C88-B8D2-06FCD480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5750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Does student imitate selected teacher tokens?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8662F-DD1C-412E-A710-D41BCF77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766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B6773"/>
                </a:solidFill>
                <a:latin typeface="Aptos"/>
                <a:ea typeface="Aptos"/>
                <a:cs typeface="Aptos"/>
              </a:rPr>
              <a:t>Lower CE is better, but only for imitation.</a:t>
            </a:r>
          </a:p>
        </p:txBody>
      </p:sp>
      <p:sp>
        <p:nvSpPr>
          <p:cNvPr id="9" name="card">
            <a:extLst xmlns:a="http://schemas.openxmlformats.org/drawingml/2006/main">
              <a:ext uri="{FF2B5EF4-FFF2-40B4-BE49-F238E27FC236}">
                <a16:creationId xmlns:a16="http://schemas.microsoft.com/office/drawing/2014/main" id="{4A1954C7-88B7-4C78-A111-E9A7F7EB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2952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10" name="card-accent">
            <a:extLst xmlns:a="http://schemas.openxmlformats.org/drawingml/2006/main">
              <a:ext uri="{FF2B5EF4-FFF2-40B4-BE49-F238E27FC236}">
                <a16:creationId xmlns:a16="http://schemas.microsoft.com/office/drawing/2014/main" id="{F082BE9F-1C0F-4F01-ABAF-08D71A67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4944AC-BAD5-47D4-A84E-1882B308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62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B9673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9673B"/>
                </a:solidFill>
                <a:latin typeface="Aptos"/>
                <a:ea typeface="Aptos"/>
                <a:cs typeface="Aptos"/>
              </a:rPr>
              <a:t>Old style proxy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EF0ABE-AE3C-425E-930C-0DB22249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5750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Does generated BVH move in hand-defined style directions?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458D8-86A7-426F-B52A-371FAF65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766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B6773"/>
                </a:solidFill>
                <a:latin typeface="Aptos"/>
                <a:ea typeface="Aptos"/>
                <a:cs typeface="Aptos"/>
              </a:rPr>
              <a:t>Good for slow/heavy/energetic cues, not true HumanML closeness.</a:t>
            </a:r>
          </a:p>
        </p:txBody>
      </p:sp>
      <p:sp>
        <p:nvSpPr>
          <p:cNvPr id="14" name="card">
            <a:extLst xmlns:a="http://schemas.openxmlformats.org/drawingml/2006/main">
              <a:ext uri="{FF2B5EF4-FFF2-40B4-BE49-F238E27FC236}">
                <a16:creationId xmlns:a16="http://schemas.microsoft.com/office/drawing/2014/main" id="{45D75420-88E7-4C6C-940B-097422A50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2952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15" name="card-accent">
            <a:extLst xmlns:a="http://schemas.openxmlformats.org/drawingml/2006/main">
              <a:ext uri="{FF2B5EF4-FFF2-40B4-BE49-F238E27FC236}">
                <a16:creationId xmlns:a16="http://schemas.microsoft.com/office/drawing/2014/main" id="{5330475A-48E5-4CF7-95E0-ACB97BD7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00250"/>
            <a:ext cx="762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3EC0D3-2422-4C30-BD80-E698B2E9F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62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7F7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87F7F"/>
                </a:solidFill>
                <a:latin typeface="Aptos"/>
                <a:ea typeface="Aptos"/>
                <a:cs typeface="Aptos"/>
              </a:rPr>
              <a:t>HumanML alignment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7DDECB-62DF-4FF1-9B35-38BFB667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228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Is selected teacher target close to paired HumanML motion?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A1279C-604B-4914-8CDC-8174E43D9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76650"/>
            <a:ext cx="228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5B6773"/>
                </a:solidFill>
                <a:latin typeface="Aptos"/>
                <a:ea typeface="Aptos"/>
                <a:cs typeface="Aptos"/>
              </a:rPr>
              <a:t>Better matches the new method objective.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123131-EEF0-4077-ABC3-46383446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F"/>
          </a:solidFill>
          <a:ln xmlns:a="http://schemas.openxmlformats.org/drawingml/2006/main" w="0">
            <a:solidFill>
              <a:srgbClr val="29313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167669-7027-430C-AFCA-669BA806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53050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paper conclusion depends on keeping these metrics separate, not merging them into one vague score.</a:t>
            </a:r>
          </a:p>
        </p:txBody>
      </p:sp>
      <p:sp>
        <p:nvSpPr>
          <p:cNvPr id="21" name="footer-line">
            <a:extLst xmlns:a="http://schemas.openxmlformats.org/drawingml/2006/main">
              <a:ext uri="{FF2B5EF4-FFF2-40B4-BE49-F238E27FC236}">
                <a16:creationId xmlns:a16="http://schemas.microsoft.com/office/drawing/2014/main" id="{913274F4-109B-452E-91C9-577D5180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D8D0C5"/>
            </a:solidFill>
            <a:prstDash val="solid"/>
          </a:ln>
        </p:spPr>
      </p:sp>
      <p:sp>
        <p:nvSpPr>
          <p:cNvPr id="2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1D5ACCF-7D3A-4DBD-9725-D8CB006B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450">
                <a:solidFill>
                  <a:srgbClr val="5B6773"/>
                </a:solidFill>
                <a:latin typeface="Aptos"/>
                <a:ea typeface="Aptos"/>
                <a:cs typeface="Aptos"/>
              </a:rPr>
              <a:t>HumanML3D-Guided Teacher Selection | Paper-Synced Defense Deck</a:t>
            </a:r>
          </a:p>
        </p:txBody>
      </p:sp>
      <p:sp>
        <p:nvSpPr>
          <p:cNvPr id="23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E419C4D-1E06-4691-8EEB-8BE17E9E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2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525">
                <a:solidFill>
                  <a:srgbClr val="5B6773"/>
                </a:solidFill>
                <a:latin typeface="Aptos"/>
                <a:ea typeface="Aptos"/>
                <a:cs typeface="Aptos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35993108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">
            <a:extLst xmlns:a="http://schemas.openxmlformats.org/drawingml/2006/main">
              <a:ext uri="{FF2B5EF4-FFF2-40B4-BE49-F238E27FC236}">
                <a16:creationId xmlns:a16="http://schemas.microsoft.com/office/drawing/2014/main" id="{48B55DFC-3B71-4137-B60D-4745206E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44545BA2-6993-458D-8AEA-8D15B717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QUALITATIVE CHECK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F22A631-D4A8-4C14-A819-B767AD0C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Rendered BVH frames are visual evidence, not benchmark scores</a:t>
            </a:r>
          </a:p>
        </p:txBody>
      </p:sp>
      <p:sp>
        <p:nvSpPr>
          <p:cNvPr id="4" name="card">
            <a:extLst xmlns:a="http://schemas.openxmlformats.org/drawingml/2006/main">
              <a:ext uri="{FF2B5EF4-FFF2-40B4-BE49-F238E27FC236}">
                <a16:creationId xmlns:a16="http://schemas.microsoft.com/office/drawing/2014/main" id="{61540CE3-AD12-43ED-B8B8-A3A92547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4429125"/>
          </a:xfrm>
          <a:prstGeom xmlns:a="http://schemas.openxmlformats.org/drawingml/2006/main" prst="roundRect">
            <a:avLst>
              <a:gd name="adj" fmla="val 17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5" name="card-accent">
            <a:extLst xmlns:a="http://schemas.openxmlformats.org/drawingml/2006/main">
              <a:ext uri="{FF2B5EF4-FFF2-40B4-BE49-F238E27FC236}">
                <a16:creationId xmlns:a16="http://schemas.microsoft.com/office/drawing/2014/main" id="{96DD4441-827B-4E47-AEF9-57529BC7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7620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b0863dde442b8"/>
          <a:stretch xmlns:a="http://schemas.openxmlformats.org/drawingml/2006/main"/>
        </p:blipFill>
        <p:spPr>
          <a:xfrm xmlns:a="http://schemas.openxmlformats.org/drawingml/2006/main">
            <a:off x="-28575000" y="-2857500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7" name="footer-line">
            <a:extLst xmlns:a="http://schemas.openxmlformats.org/drawingml/2006/main">
              <a:ext uri="{FF2B5EF4-FFF2-40B4-BE49-F238E27FC236}">
                <a16:creationId xmlns:a16="http://schemas.microsoft.com/office/drawing/2014/main" id="{B8B50CDB-13EF-4F06-8601-6E8CE837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D8D0C5"/>
            </a:solidFill>
            <a:prstDash val="solid"/>
          </a:ln>
        </p:spPr>
      </p:sp>
      <p:sp>
        <p:nvSpPr>
          <p:cNvPr id="8" name="footer-left">
            <a:extLst xmlns:a="http://schemas.openxmlformats.org/drawingml/2006/main">
              <a:ext uri="{FF2B5EF4-FFF2-40B4-BE49-F238E27FC236}">
                <a16:creationId xmlns:a16="http://schemas.microsoft.com/office/drawing/2014/main" id="{A448F91F-9456-4215-B8B7-4BB2CE4E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450">
                <a:solidFill>
                  <a:srgbClr val="5B6773"/>
                </a:solidFill>
                <a:latin typeface="Aptos"/>
                <a:ea typeface="Aptos"/>
                <a:cs typeface="Aptos"/>
              </a:rPr>
              <a:t>HumanML3D-Guided Teacher Selection | Paper-Synced Defense Deck</a:t>
            </a:r>
          </a:p>
        </p:txBody>
      </p:sp>
      <p:sp>
        <p:nvSpPr>
          <p:cNvPr id="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1535187-DF0C-4D8E-A776-FC8AD57E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2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525">
                <a:solidFill>
                  <a:srgbClr val="5B6773"/>
                </a:solidFill>
                <a:latin typeface="Aptos"/>
                <a:ea typeface="Aptos"/>
                <a:cs typeface="Aptos"/>
              </a:rPr>
              <a:t>11 / 15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9f46d5e2b4985"/>
          <a:stretch xmlns:a="http://schemas.openxmlformats.org/drawingml/2006/main"/>
        </p:blipFill>
        <p:spPr>
          <a:xfrm xmlns:a="http://schemas.openxmlformats.org/drawingml/2006/main">
            <a:off x="2774156" y="1428750"/>
            <a:ext cx="6643688" cy="442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81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">
            <a:extLst xmlns:a="http://schemas.openxmlformats.org/drawingml/2006/main">
              <a:ext uri="{FF2B5EF4-FFF2-40B4-BE49-F238E27FC236}">
                <a16:creationId xmlns:a16="http://schemas.microsoft.com/office/drawing/2014/main" id="{14469400-B4EE-41C7-B16C-7D3C01E2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C7CEFD21-D2C9-4339-88D0-C914E64B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STYLE PROXY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74EC3EF-86EA-47A8-9F59-94B6C482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Original LoRA improves most old style-direction checks</a:t>
            </a:r>
          </a:p>
        </p:txBody>
      </p:sp>
      <p:sp>
        <p:nvSpPr>
          <p:cNvPr id="4" name="card">
            <a:extLst xmlns:a="http://schemas.openxmlformats.org/drawingml/2006/main">
              <a:ext uri="{FF2B5EF4-FFF2-40B4-BE49-F238E27FC236}">
                <a16:creationId xmlns:a16="http://schemas.microsoft.com/office/drawing/2014/main" id="{6E6BCE01-BB86-4D71-ACC2-E90290CF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08585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5" name="card-accent">
            <a:extLst xmlns:a="http://schemas.openxmlformats.org/drawingml/2006/main">
              <a:ext uri="{FF2B5EF4-FFF2-40B4-BE49-F238E27FC236}">
                <a16:creationId xmlns:a16="http://schemas.microsoft.com/office/drawing/2014/main" id="{9A18E9B1-55B9-4F49-960C-E7C3B90BB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76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79cb204054ed9"/>
          <a:stretch xmlns:a="http://schemas.openxmlformats.org/drawingml/2006/main"/>
        </p:blipFill>
        <p:spPr>
          <a:xfrm xmlns:a="http://schemas.openxmlformats.org/drawingml/2006/main">
            <a:off x="1540262" y="1666875"/>
            <a:ext cx="9111476" cy="3524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802F0-E195-4137-A822-ABB4D126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B6773"/>
                </a:solidFill>
                <a:latin typeface="Aptos"/>
                <a:ea typeface="Aptos"/>
                <a:cs typeface="Aptos"/>
              </a:rPr>
              <a:t>Old result: original LoRA reaches 18/22 predefined style-proxy wins. This is useful, but it measures hand-written directions rather than HumanML closeness.</a:t>
            </a:r>
          </a:p>
        </p:txBody>
      </p:sp>
      <p:sp>
        <p:nvSpPr>
          <p:cNvPr id="8" name="footer-line">
            <a:extLst xmlns:a="http://schemas.openxmlformats.org/drawingml/2006/main">
              <a:ext uri="{FF2B5EF4-FFF2-40B4-BE49-F238E27FC236}">
                <a16:creationId xmlns:a16="http://schemas.microsoft.com/office/drawing/2014/main" id="{8E02130F-E601-45A1-A643-EB077657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D8D0C5"/>
            </a:solidFill>
            <a:prstDash val="solid"/>
          </a:ln>
        </p:spPr>
      </p:sp>
      <p:sp>
        <p:nvSpPr>
          <p:cNvPr id="9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C1FBB75-E16E-4743-B298-3739DCBF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450">
                <a:solidFill>
                  <a:srgbClr val="5B6773"/>
                </a:solidFill>
                <a:latin typeface="Aptos"/>
                <a:ea typeface="Aptos"/>
                <a:cs typeface="Aptos"/>
              </a:rPr>
              <a:t>HumanML3D-Guided Teacher Selection | Paper-Synced Defense Deck</a:t>
            </a:r>
          </a:p>
        </p:txBody>
      </p:sp>
      <p:sp>
        <p:nvSpPr>
          <p:cNvPr id="1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21AFCCC-953F-43EC-9C0C-C552794C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2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525">
                <a:solidFill>
                  <a:srgbClr val="5B6773"/>
                </a:solidFill>
                <a:latin typeface="Aptos"/>
                <a:ea typeface="Aptos"/>
                <a:cs typeface="Aptos"/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19301639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">
            <a:extLst xmlns:a="http://schemas.openxmlformats.org/drawingml/2006/main">
              <a:ext uri="{FF2B5EF4-FFF2-40B4-BE49-F238E27FC236}">
                <a16:creationId xmlns:a16="http://schemas.microsoft.com/office/drawing/2014/main" id="{6DFC6AD9-E8C1-4087-BA45-24B9D39D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A6B1F8E2-A3F0-4DA3-A162-1D8EE3DB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STYLE PROXY DETAILS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95E112-0254-4F16-B9B2-B8AB786A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Scorecard and metric deltas show where proxy wins come from</a:t>
            </a:r>
          </a:p>
        </p:txBody>
      </p:sp>
      <p:sp>
        <p:nvSpPr>
          <p:cNvPr id="4" name="card">
            <a:extLst xmlns:a="http://schemas.openxmlformats.org/drawingml/2006/main">
              <a:ext uri="{FF2B5EF4-FFF2-40B4-BE49-F238E27FC236}">
                <a16:creationId xmlns:a16="http://schemas.microsoft.com/office/drawing/2014/main" id="{10228D33-C676-4166-9F71-B2889394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49530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5" name="card-accent">
            <a:extLst xmlns:a="http://schemas.openxmlformats.org/drawingml/2006/main">
              <a:ext uri="{FF2B5EF4-FFF2-40B4-BE49-F238E27FC236}">
                <a16:creationId xmlns:a16="http://schemas.microsoft.com/office/drawing/2014/main" id="{AAE395D7-02F8-4E27-9958-F180B8401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762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de3e16177543a3"/>
          <a:stretch xmlns:a="http://schemas.openxmlformats.org/drawingml/2006/main"/>
        </p:blipFill>
        <p:spPr>
          <a:xfrm xmlns:a="http://schemas.openxmlformats.org/drawingml/2006/main">
            <a:off x="904875" y="2247635"/>
            <a:ext cx="4476750" cy="2362729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5EEED5-DF78-4B66-88BF-1A0BF8C9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087F7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F7F"/>
                </a:solidFill>
                <a:latin typeface="Aptos"/>
                <a:ea typeface="Aptos"/>
                <a:cs typeface="Aptos"/>
              </a:rPr>
              <a:t>Prompt-level win counts</a:t>
            </a:r>
          </a:p>
        </p:txBody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883ECF75-47AC-4070-A0A9-00EBF6E9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49530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EE980EF2-3773-4A12-B7E4-5C8F02F0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76375"/>
            <a:ext cx="762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eaa67011594dba"/>
          <a:stretch xmlns:a="http://schemas.openxmlformats.org/drawingml/2006/main"/>
        </p:blipFill>
        <p:spPr>
          <a:xfrm xmlns:a="http://schemas.openxmlformats.org/drawingml/2006/main">
            <a:off x="6810375" y="2363685"/>
            <a:ext cx="4476750" cy="2130629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5ADFF3-20CF-4208-9D7F-D9033B54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197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2D8BE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8BE8"/>
                </a:solidFill>
                <a:latin typeface="Aptos"/>
                <a:ea typeface="Aptos"/>
                <a:cs typeface="Aptos"/>
              </a:rPr>
              <a:t>Metric-level percentage changes</a:t>
            </a:r>
          </a:p>
        </p:txBody>
      </p:sp>
      <p:sp>
        <p:nvSpPr>
          <p:cNvPr id="12" name="footer-line">
            <a:extLst xmlns:a="http://schemas.openxmlformats.org/drawingml/2006/main">
              <a:ext uri="{FF2B5EF4-FFF2-40B4-BE49-F238E27FC236}">
                <a16:creationId xmlns:a16="http://schemas.microsoft.com/office/drawing/2014/main" id="{5B817145-8964-44EA-B693-38DEB323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D8D0C5"/>
            </a:solidFill>
            <a:prstDash val="solid"/>
          </a:ln>
        </p:spPr>
      </p:sp>
      <p:sp>
        <p:nvSpPr>
          <p:cNvPr id="13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DCF80FC-E5E3-48DF-A131-FF8AEFC3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450">
                <a:solidFill>
                  <a:srgbClr val="5B6773"/>
                </a:solidFill>
                <a:latin typeface="Aptos"/>
                <a:ea typeface="Aptos"/>
                <a:cs typeface="Aptos"/>
              </a:rPr>
              <a:t>HumanML3D-Guided Teacher Selection | Paper-Synced Defense Deck</a:t>
            </a:r>
          </a:p>
        </p:txBody>
      </p:sp>
      <p:sp>
        <p:nvSpPr>
          <p:cNvPr id="1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65FE19B-E1E1-4EF7-9EA0-B68149E4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2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525">
                <a:solidFill>
                  <a:srgbClr val="5B6773"/>
                </a:solidFill>
                <a:latin typeface="Aptos"/>
                <a:ea typeface="Aptos"/>
                <a:cs typeface="Aptos"/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15022646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">
            <a:extLst xmlns:a="http://schemas.openxmlformats.org/drawingml/2006/main">
              <a:ext uri="{FF2B5EF4-FFF2-40B4-BE49-F238E27FC236}">
                <a16:creationId xmlns:a16="http://schemas.microsoft.com/office/drawing/2014/main" id="{FF488208-AF81-4BEE-98F2-69640E46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26642E86-FE98-4462-ADDB-1C37C48C1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HUMANML-SELECTED RESULT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915C625-1EDA-44C4-81FF-A9B90659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Teacher alignment improves slightly; old style proxy drops</a:t>
            </a:r>
          </a:p>
        </p:txBody>
      </p:sp>
      <p:sp>
        <p:nvSpPr>
          <p:cNvPr id="4" name="card">
            <a:extLst xmlns:a="http://schemas.openxmlformats.org/drawingml/2006/main">
              <a:ext uri="{FF2B5EF4-FFF2-40B4-BE49-F238E27FC236}">
                <a16:creationId xmlns:a16="http://schemas.microsoft.com/office/drawing/2014/main" id="{F9A9AB28-9C1E-4E3C-AA76-DC093005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4143375"/>
          </a:xfrm>
          <a:prstGeom xmlns:a="http://schemas.openxmlformats.org/drawingml/2006/main" prst="roundRect">
            <a:avLst>
              <a:gd name="adj" fmla="val 18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5" name="card-accent">
            <a:extLst xmlns:a="http://schemas.openxmlformats.org/drawingml/2006/main">
              <a:ext uri="{FF2B5EF4-FFF2-40B4-BE49-F238E27FC236}">
                <a16:creationId xmlns:a16="http://schemas.microsoft.com/office/drawing/2014/main" id="{D3F28C61-1986-4C1B-9778-F24E5982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76200" cy="414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9B4B"/>
          </a:solidFill>
          <a:ln xmlns:a="http://schemas.openxmlformats.org/drawingml/2006/main" w="0">
            <a:solidFill>
              <a:srgbClr val="4F9B4B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c26e66c8144e56"/>
          <a:stretch xmlns:a="http://schemas.openxmlformats.org/drawingml/2006/main"/>
        </p:blipFill>
        <p:spPr>
          <a:xfrm xmlns:a="http://schemas.openxmlformats.org/drawingml/2006/main">
            <a:off x="809625" y="1737360"/>
            <a:ext cx="10572750" cy="3383280"/>
          </a:xfrm>
          <a:prstGeom xmlns:a="http://schemas.openxmlformats.org/drawingml/2006/main" prst="rect">
            <a:avLst/>
          </a:prstGeom>
        </p:spPr>
      </p:pic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11789183-C8A6-41E9-A100-B9FD1739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3048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8" name="card-accent">
            <a:extLst xmlns:a="http://schemas.openxmlformats.org/drawingml/2006/main">
              <a:ext uri="{FF2B5EF4-FFF2-40B4-BE49-F238E27FC236}">
                <a16:creationId xmlns:a16="http://schemas.microsoft.com/office/drawing/2014/main" id="{64E0D38B-57C7-4E7B-964B-91A2230A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150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6C702-0981-4D5A-B5E8-3EE68C07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8293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Old proxy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CB9855-EA33-4A61-B913-C7A03726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829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B6773"/>
                </a:solidFill>
                <a:latin typeface="Aptos"/>
                <a:ea typeface="Aptos"/>
                <a:cs typeface="Aptos"/>
              </a:rPr>
              <a:t>18/22 -&gt; 15/22 -&gt; 12/22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CEAF4C0A-2B53-4321-A39F-23765C34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15000"/>
            <a:ext cx="3048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12" name="card-accent">
            <a:extLst xmlns:a="http://schemas.openxmlformats.org/drawingml/2006/main">
              <a:ext uri="{FF2B5EF4-FFF2-40B4-BE49-F238E27FC236}">
                <a16:creationId xmlns:a16="http://schemas.microsoft.com/office/drawing/2014/main" id="{8CDC844E-AC2C-4BAB-A9A7-DFB08056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150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FAE448-BF4E-4698-A6D5-475B6F34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8293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Top-k diversity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B743F5-555E-4050-8AE7-C5F97913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829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B6773"/>
                </a:solidFill>
                <a:latin typeface="Aptos"/>
                <a:ea typeface="Aptos"/>
                <a:cs typeface="Aptos"/>
              </a:rPr>
              <a:t>candidate counts 114 / 31 / 32 / 23</a:t>
            </a:r>
          </a:p>
        </p:txBody>
      </p:sp>
      <p:sp>
        <p:nvSpPr>
          <p:cNvPr id="15" name="card">
            <a:extLst xmlns:a="http://schemas.openxmlformats.org/drawingml/2006/main">
              <a:ext uri="{FF2B5EF4-FFF2-40B4-BE49-F238E27FC236}">
                <a16:creationId xmlns:a16="http://schemas.microsoft.com/office/drawing/2014/main" id="{775DA0DC-EA48-4F12-ABC9-2FD41CE4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15000"/>
            <a:ext cx="3048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1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833A4F4E-AFE8-4A38-929B-B5FEE973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15000"/>
            <a:ext cx="76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00EEE8-29B8-457D-85A6-84EAF34B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8293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Alignment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404BFB-06FF-4B82-8507-A9D1BB26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8293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B6773"/>
                </a:solidFill>
                <a:latin typeface="Aptos"/>
                <a:ea typeface="Aptos"/>
                <a:cs typeface="Aptos"/>
              </a:rPr>
              <a:t>score 0.1443 -&gt; 0.1477</a:t>
            </a:r>
          </a:p>
        </p:txBody>
      </p:sp>
      <p:sp>
        <p:nvSpPr>
          <p:cNvPr id="19" name="footer-line">
            <a:extLst xmlns:a="http://schemas.openxmlformats.org/drawingml/2006/main">
              <a:ext uri="{FF2B5EF4-FFF2-40B4-BE49-F238E27FC236}">
                <a16:creationId xmlns:a16="http://schemas.microsoft.com/office/drawing/2014/main" id="{F16926BC-4B31-42C6-9354-454941626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D8D0C5"/>
            </a:solidFill>
            <a:prstDash val="solid"/>
          </a:ln>
        </p:spPr>
      </p:sp>
      <p:sp>
        <p:nvSpPr>
          <p:cNvPr id="2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BC0D81FA-AE93-4720-BCED-234AE16B1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450">
                <a:solidFill>
                  <a:srgbClr val="5B6773"/>
                </a:solidFill>
                <a:latin typeface="Aptos"/>
                <a:ea typeface="Aptos"/>
                <a:cs typeface="Aptos"/>
              </a:rPr>
              <a:t>HumanML3D-Guided Teacher Selection | Paper-Synced Defense Deck</a:t>
            </a:r>
          </a:p>
        </p:txBody>
      </p:sp>
      <p:sp>
        <p:nvSpPr>
          <p:cNvPr id="2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BF7708E-A2A1-4D0C-B394-11B93148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2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525">
                <a:solidFill>
                  <a:srgbClr val="5B6773"/>
                </a:solidFill>
                <a:latin typeface="Aptos"/>
                <a:ea typeface="Aptos"/>
                <a:cs typeface="Aptos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58316596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">
            <a:extLst xmlns:a="http://schemas.openxmlformats.org/drawingml/2006/main">
              <a:ext uri="{FF2B5EF4-FFF2-40B4-BE49-F238E27FC236}">
                <a16:creationId xmlns:a16="http://schemas.microsoft.com/office/drawing/2014/main" id="{32C5322F-BD7C-4C1C-8B1C-0AE6366B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4768E2A9-DEDD-4EAD-9092-84F05F07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5B6773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419744-437B-4746-96BE-F60D2609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A data-grounded bridge, not a finished evaluator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6D55F-8F41-4575-AE1C-C76D59BA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13F"/>
          </a:solidFill>
          <a:ln xmlns:a="http://schemas.openxmlformats.org/drawingml/2006/main" w="0">
            <a:solidFill>
              <a:srgbClr val="29313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4A3DA9-6A88-4C20-AD37-CA58A465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478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HumanML3D motion can guide teacher target selection; final student quality still needs paired HumanML BVH evaluation.</a:t>
            </a:r>
          </a:p>
        </p:txBody>
      </p:sp>
      <p:sp>
        <p:nvSpPr>
          <p:cNvPr id="6" name="card">
            <a:extLst xmlns:a="http://schemas.openxmlformats.org/drawingml/2006/main">
              <a:ext uri="{FF2B5EF4-FFF2-40B4-BE49-F238E27FC236}">
                <a16:creationId xmlns:a16="http://schemas.microsoft.com/office/drawing/2014/main" id="{9B489B02-3C8D-4091-96A9-6089BADA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3048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7" name="card-accent">
            <a:extLst xmlns:a="http://schemas.openxmlformats.org/drawingml/2006/main">
              <a:ext uri="{FF2B5EF4-FFF2-40B4-BE49-F238E27FC236}">
                <a16:creationId xmlns:a16="http://schemas.microsoft.com/office/drawing/2014/main" id="{0E9216BE-65CF-402F-B75F-1637D6D8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0375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7F"/>
          </a:solidFill>
          <a:ln xmlns:a="http://schemas.openxmlformats.org/drawingml/2006/main" w="0">
            <a:solidFill>
              <a:srgbClr val="087F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59954-5BED-41D6-B05A-D85B206B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9087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87F7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87F7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4F78FC-D9DA-4C39-B7E5-31A838AD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04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Solved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1FDEB-5C9E-4532-A2E8-40E4E894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862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B6773"/>
                </a:solidFill>
                <a:latin typeface="Aptos"/>
                <a:ea typeface="Aptos"/>
                <a:cs typeface="Aptos"/>
              </a:rPr>
              <a:t>HumanML motion is no longer unused; top-k makes candidate selection meaningful.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C77E4A11-150F-436C-A50A-1D758BAE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0375"/>
            <a:ext cx="3048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12" name="card-accent">
            <a:extLst xmlns:a="http://schemas.openxmlformats.org/drawingml/2006/main">
              <a:ext uri="{FF2B5EF4-FFF2-40B4-BE49-F238E27FC236}">
                <a16:creationId xmlns:a16="http://schemas.microsoft.com/office/drawing/2014/main" id="{E063B2F3-D6E1-491A-955C-431A88D20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00375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73B"/>
          </a:solidFill>
          <a:ln xmlns:a="http://schemas.openxmlformats.org/drawingml/2006/main" w="0">
            <a:solidFill>
              <a:srgbClr val="B9673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DF8E5D-D3EB-4A96-A4EB-056301CF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9087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B9673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9673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E51118-3B75-47F8-B1AC-4D356881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004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Not solved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87A68B-778D-4A43-AA14-C706BA7F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8862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B6773"/>
                </a:solidFill>
                <a:latin typeface="Aptos"/>
                <a:ea typeface="Aptos"/>
                <a:cs typeface="Aptos"/>
              </a:rPr>
              <a:t>Selected teacher alignment gains are small and old style proxy drops to 12/22.</a:t>
            </a:r>
          </a:p>
        </p:txBody>
      </p:sp>
      <p:sp>
        <p:nvSpPr>
          <p:cNvPr id="16" name="card">
            <a:extLst xmlns:a="http://schemas.openxmlformats.org/drawingml/2006/main">
              <a:ext uri="{FF2B5EF4-FFF2-40B4-BE49-F238E27FC236}">
                <a16:creationId xmlns:a16="http://schemas.microsoft.com/office/drawing/2014/main" id="{F46C7505-75DA-42F7-9F6D-EDEC7169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0375"/>
            <a:ext cx="30480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5"/>
            </a:solidFill>
            <a:prstDash val="solid"/>
          </a:ln>
        </p:spPr>
      </p:sp>
      <p:sp>
        <p:nvSpPr>
          <p:cNvPr id="17" name="card-accent">
            <a:extLst xmlns:a="http://schemas.openxmlformats.org/drawingml/2006/main">
              <a:ext uri="{FF2B5EF4-FFF2-40B4-BE49-F238E27FC236}">
                <a16:creationId xmlns:a16="http://schemas.microsoft.com/office/drawing/2014/main" id="{2442098E-950E-457F-A90D-E0B6BB2E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00375"/>
            <a:ext cx="762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E8"/>
          </a:solidFill>
          <a:ln xmlns:a="http://schemas.openxmlformats.org/drawingml/2006/main" w="0">
            <a:solidFill>
              <a:srgbClr val="2D8B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E4AF6A-69BF-4D9D-BFBD-CA0DAFEE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9087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2D8BE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D8BE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7CE5DD-0C78-428E-90E3-8896C75B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004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Next step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BD6581-2B8E-45E8-9DEB-B47665553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862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88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788">
                <a:solidFill>
                  <a:srgbClr val="5B6773"/>
                </a:solidFill>
                <a:latin typeface="Aptos"/>
                <a:ea typeface="Aptos"/>
                <a:cs typeface="Aptos"/>
              </a:rPr>
              <a:t>Generate baseline and LoRA BVHs from HumanML captions, then compare each output to its paired motion_id.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4CAEF9-01E6-4B62-8E76-4B5C53A9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02733"/>
                </a:solidFill>
                <a:latin typeface="Aptos"/>
                <a:ea typeface="Aptos"/>
                <a:cs typeface="Aptos"/>
              </a:rPr>
              <a:t>Final takeaway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DB59AA-EBEF-4F47-B7E8-5843C412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687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202733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202733"/>
                </a:solidFill>
                <a:latin typeface="Aptos"/>
                <a:ea typeface="Aptos"/>
                <a:cs typeface="Aptos"/>
              </a:rPr>
              <a:t>The project moves from caption-only pseudo-token distillation toward data-grounded teacher selection. The next experiment should close the loop at the student-output level.</a:t>
            </a:r>
          </a:p>
        </p:txBody>
      </p:sp>
      <p:sp>
        <p:nvSpPr>
          <p:cNvPr id="23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B536A73-EC06-4CC8-8692-094C9A34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108204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5"/>
          </a:solidFill>
          <a:ln xmlns:a="http://schemas.openxmlformats.org/drawingml/2006/main" w="0">
            <a:solidFill>
              <a:srgbClr val="D8D0C5"/>
            </a:solidFill>
            <a:prstDash val="solid"/>
          </a:ln>
        </p:spPr>
      </p:sp>
      <p:sp>
        <p:nvSpPr>
          <p:cNvPr id="2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0691A84-BD2D-48DE-B055-6E9229C3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450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450">
                <a:solidFill>
                  <a:srgbClr val="5B6773"/>
                </a:solidFill>
                <a:latin typeface="Aptos"/>
                <a:ea typeface="Aptos"/>
                <a:cs typeface="Aptos"/>
              </a:rPr>
              <a:t>HumanML3D-Guided Teacher Selection | Paper-Synced Defense Deck</a:t>
            </a:r>
          </a:p>
        </p:txBody>
      </p:sp>
      <p:sp>
        <p:nvSpPr>
          <p:cNvPr id="2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D097B52-3ED9-4301-821D-FE6ED9453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25">
                <a:solidFill>
                  <a:srgbClr val="5B6773"/>
                </a:solidFill>
                <a:latin typeface="Aptos"/>
                <a:ea typeface="Aptos"/>
                <a:cs typeface="Aptos"/>
              </a:defRPr>
            </a:pPr>
            <a:r>
              <a:rPr sz="525">
                <a:solidFill>
                  <a:srgbClr val="5B6773"/>
                </a:solidFill>
                <a:latin typeface="Aptos"/>
                <a:ea typeface="Aptos"/>
                <a:cs typeface="Aptos"/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9783194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2026-06-15T14:21:08.1420000Z</dcterms:created>
  <dcterms:modified xsi:type="dcterms:W3CDTF">2026-06-15T14:21:08.1420000Z</dcterms:modified>
</coreProperties>
</file>