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11"/>
  </p:notesMasterIdLst>
  <p:sldIdLst>
    <p:sldId id="256" r:id="rId3"/>
    <p:sldId id="257" r:id="rId4"/>
    <p:sldId id="259" r:id="rId5"/>
    <p:sldId id="260" r:id="rId6"/>
    <p:sldId id="261" r:id="rId7"/>
    <p:sldId id="262" r:id="rId8"/>
    <p:sldId id="263" r:id="rId9"/>
    <p:sldId id="264" r:id="rId1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4" d="100"/>
          <a:sy n="104" d="100"/>
        </p:scale>
        <p:origin x="96"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Hello everyone. Today, I'll present our project on "Style-Aware Adaptation for Language-Conditioned Humanoid Motion Generation." Our goal was to enhance a state-of-the-art model, MoConVQ, to understand and generate specific motion styles from text prompts. We faced a key challenge: the lack of direct supervision data. Our solution was to use a technique called LoRA distillation, which allowed us to adapt the model with minimal trainable parameters—just 1.97 million, or about 1% of the total. Despite this efficiency, we achieved significant success, with 18 out of 22 proxy metrics showing the desired style change.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Let's start with the motivation. Using natural language to control robots is intuitive, and MoConVQ is a leading model for this. However, it's not good at understanding style—like making a walk "slow and deliberate" versus "energetic." Our goal was to fix this, but with a catch: we couldn't retrain the entire massive model. So, we focused on parameter-efficient adaptation. Our key contributions were reproducing the baseline, innovating a new LoRA distillation method, and thoroughly evaluating our results using multiple metrics.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A major hurdle was the data. We used the HumanML3D dataset, but there was a critical mismatch: MoConVQ expects discrete "tokens" as training targets, but the dataset only provides continuous motion data. Converting between them is difficult and error-prone. Our elegant solution was knowledge distillation. We used the pre-trained MoConVQ model as a teacher to generate the necessary pseudo-tokens for our style prompts. Then, our LoRA-adapted student model learned to copy the teacher. This bypassed the data conversion problem entirely.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Here's a visual overview of our entire method. The process starts with style captions from the HumanML3D dataset. These are fed into the frozen MoConVQ teacher model, which generates the pseudo-tokens used as training targets. The student model, which is MoConVQ with LoRA adapters, is trained to predict these tokens. Crucially, only the LoRA parameters are updated. After training, the adapted student generates tokens that are then passed through the frozen decoder and controller to produce the final motion files (BVH). We evaluate the results by checking if the student learned the tokens, and by measuring changes in the generated motion itself.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Now, let's look at our experimental setup. We used the official MoConVQ model and trained on 200 style captions. Our LoRA setup was very efficient, training just 1.97 million parameters, which is about 1% of the generator. The training involved an initial phase followed by a refinement phase with a lower learning rate. For evaluation, we tracked the training loss, used a set of custom "proxy metrics" derived from the motion files to measure style, and also did visual checks by rendering animations.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Let's look at the results. First, the training loss. As you can see from the graph, the loss consistently decreased, which is a strong indicator that our LoRA adapter was successfully learning to mimic the teacher model. Beyond the numbers, we also saw clear visual differences. For example, when given a "slow deliberate walk" prompt, our model produced a noticeably different, more crouched gait compared to the baseline. These qualitative results give us confidence that the model is indeed learning the intended styles.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For a more quantitative measure, we used our proxy metrics. The results were very positive. Out of 22 predefined checks across 5 different styles, our model moved in the desired direction 18 times, a win rate of over 80%. As the chart shows, it performed perfectly on styles like "slow deliberate" and "heavy tired," which have clear kinematic signatures. The most challenging style was "Tai Chi," which highlights a limitation: styles requiring more complex, coordinated movements are harder to capture with simple proxies.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rPr>
              <a:t>So, what do these results mean? Our approach is solid for controlling styles that have clear physical correlates, like speed or smoothness. The distillation method was a technically sound solution to our data problem. However, limitations exist. We still lack direct token labels for true supervised training, and we couldn't use standard evaluation metrics. Also, our model can't create new motions the original MoConVQ doesn't know. The best next step is to build a better bridge between the model and standard benchmarks, moving beyond proxies.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7F4ED">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685800" y="419100"/>
            <a:ext cx="266700" cy="381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1066800" y="330200"/>
            <a:ext cx="4953000" cy="2540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ctr" anchorCtr="0"/>
          <a:lstStyle/>
          <a:p>
            <a:pPr marL="0" indent="0" algn="l">
              <a:lnSpc>
                <a:spcPct val="100000"/>
              </a:lnSpc>
              <a:defRPr/>
            </a:pPr>
            <a:r>
              <a:rPr lang="en-US" sz="1000" b="1" i="0" u="none" strike="noStrike">
                <a:solidFill>
                  <a:srgbClr val="5E6975"/>
                </a:solidFill>
                <a:latin typeface="Aptos"/>
                <a:ea typeface="Aptos"/>
                <a:cs typeface="Aptos"/>
                <a:sym typeface="Aptos"/>
              </a:rPr>
              <a:t>PROJECT THESIS</a:t>
            </a:r>
            <a:endParaRPr lang="en-US" sz="1100"/>
          </a:p>
        </p:txBody>
      </p:sp>
      <p:sp>
        <p:nvSpPr>
          <p:cNvPr id="5" name="AutoShape 5"/>
          <p:cNvSpPr/>
          <p:nvPr/>
        </p:nvSpPr>
        <p:spPr>
          <a:xfrm>
            <a:off x="685800" y="838200"/>
            <a:ext cx="9652000" cy="123444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3300"/>
            </a:pPr>
            <a:r>
              <a:rPr lang="en-US" sz="3300" b="1" i="0" u="none" strike="noStrike">
                <a:solidFill>
                  <a:srgbClr val="1E252B"/>
                </a:solidFill>
                <a:latin typeface="Play"/>
                <a:ea typeface="Play"/>
                <a:cs typeface="Play"/>
                <a:sym typeface="Play"/>
              </a:rPr>
              <a:t>Style-Aware Adaptation for Language-Conditioned Humanoid Motion Generation</a:t>
            </a:r>
            <a:endParaRPr lang="en-US" sz="1100"/>
          </a:p>
        </p:txBody>
      </p:sp>
      <p:sp>
        <p:nvSpPr>
          <p:cNvPr id="6" name="AutoShape 6"/>
          <p:cNvSpPr/>
          <p:nvPr/>
        </p:nvSpPr>
        <p:spPr>
          <a:xfrm>
            <a:off x="711200" y="2273300"/>
            <a:ext cx="8140700" cy="4572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700" dirty="0">
                <a:solidFill>
                  <a:srgbClr val="5E6975"/>
                </a:solidFill>
                <a:latin typeface="Aptos"/>
                <a:ea typeface="Aptos"/>
                <a:cs typeface="Aptos"/>
                <a:sym typeface="Aptos"/>
              </a:rPr>
              <a:t>R</a:t>
            </a:r>
            <a:r>
              <a:rPr lang="en-US" sz="1700" b="0" i="0" u="none" strike="noStrike" dirty="0">
                <a:solidFill>
                  <a:srgbClr val="5E6975"/>
                </a:solidFill>
                <a:latin typeface="Aptos"/>
                <a:ea typeface="Aptos"/>
                <a:cs typeface="Aptos"/>
                <a:sym typeface="Aptos"/>
              </a:rPr>
              <a:t>eport on </a:t>
            </a:r>
            <a:r>
              <a:rPr lang="en-US" sz="1700" b="0" i="0" u="none" strike="noStrike" dirty="0" err="1">
                <a:solidFill>
                  <a:srgbClr val="5E6975"/>
                </a:solidFill>
                <a:latin typeface="Aptos"/>
                <a:ea typeface="Aptos"/>
                <a:cs typeface="Aptos"/>
                <a:sym typeface="Aptos"/>
              </a:rPr>
              <a:t>MoConVQ</a:t>
            </a:r>
            <a:r>
              <a:rPr lang="en-US" sz="1700" b="0" i="0" u="none" strike="noStrike" dirty="0">
                <a:solidFill>
                  <a:srgbClr val="5E6975"/>
                </a:solidFill>
                <a:latin typeface="Aptos"/>
                <a:ea typeface="Aptos"/>
                <a:cs typeface="Aptos"/>
                <a:sym typeface="Aptos"/>
              </a:rPr>
              <a:t> style steering with </a:t>
            </a:r>
            <a:r>
              <a:rPr lang="en-US" sz="1700" b="0" i="0" u="none" strike="noStrike" dirty="0" err="1">
                <a:solidFill>
                  <a:srgbClr val="5E6975"/>
                </a:solidFill>
                <a:latin typeface="Aptos"/>
                <a:ea typeface="Aptos"/>
                <a:cs typeface="Aptos"/>
                <a:sym typeface="Aptos"/>
              </a:rPr>
              <a:t>LoRA</a:t>
            </a:r>
            <a:r>
              <a:rPr lang="en-US" sz="1700" b="0" i="0" u="none" strike="noStrike" dirty="0">
                <a:solidFill>
                  <a:srgbClr val="5E6975"/>
                </a:solidFill>
                <a:latin typeface="Aptos"/>
                <a:ea typeface="Aptos"/>
                <a:cs typeface="Aptos"/>
                <a:sym typeface="Aptos"/>
              </a:rPr>
              <a:t> distillation.</a:t>
            </a:r>
            <a:endParaRPr lang="en-US" sz="1100" dirty="0"/>
          </a:p>
        </p:txBody>
      </p:sp>
      <p:sp>
        <p:nvSpPr>
          <p:cNvPr id="7" name="AutoShape 7"/>
          <p:cNvSpPr/>
          <p:nvPr/>
        </p:nvSpPr>
        <p:spPr>
          <a:xfrm>
            <a:off x="685800" y="3251200"/>
            <a:ext cx="10820400" cy="1233179"/>
          </a:xfrm>
          <a:prstGeom prst="roundRect">
            <a:avLst>
              <a:gd name="adj" fmla="val 0"/>
            </a:avLst>
          </a:prstGeom>
          <a:solidFill>
            <a:srgbClr val="2D344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8" name="AutoShape 8"/>
          <p:cNvSpPr/>
          <p:nvPr/>
        </p:nvSpPr>
        <p:spPr>
          <a:xfrm>
            <a:off x="1054100" y="3530600"/>
            <a:ext cx="9652000" cy="713232"/>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950"/>
            </a:pPr>
            <a:r>
              <a:rPr lang="en-US" sz="1950" b="1" i="0" u="none" strike="noStrike">
                <a:solidFill>
                  <a:srgbClr val="FFFFFF"/>
                </a:solidFill>
                <a:latin typeface="Play"/>
                <a:ea typeface="Play"/>
                <a:cs typeface="Play"/>
                <a:sym typeface="Play"/>
              </a:rPr>
              <a:t>When direct HumanML3D-to-MoConVQ supervision was unavailable, the final system switched to pseudo-token distillation and still produced measurable style-direction changes.</a:t>
            </a:r>
            <a:endParaRPr lang="en-US" sz="1100"/>
          </a:p>
        </p:txBody>
      </p:sp>
      <p:sp>
        <p:nvSpPr>
          <p:cNvPr id="9" name="AutoShape 9"/>
          <p:cNvSpPr/>
          <p:nvPr/>
        </p:nvSpPr>
        <p:spPr>
          <a:xfrm>
            <a:off x="914400" y="5080000"/>
            <a:ext cx="3162300" cy="863600"/>
          </a:xfrm>
          <a:prstGeom prst="roundRect">
            <a:avLst>
              <a:gd name="adj" fmla="val 0"/>
            </a:avLst>
          </a:prstGeom>
          <a:solidFill>
            <a:srgbClr val="FFFFFF">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10" name="AutoShape 10"/>
          <p:cNvSpPr/>
          <p:nvPr/>
        </p:nvSpPr>
        <p:spPr>
          <a:xfrm>
            <a:off x="914400" y="5080000"/>
            <a:ext cx="76200" cy="863600"/>
          </a:xfrm>
          <a:prstGeom prst="roundRect">
            <a:avLst>
              <a:gd name="adj" fmla="val 0"/>
            </a:avLst>
          </a:prstGeom>
          <a:solidFill>
            <a:srgbClr val="B15A35">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1" name="AutoShape 11"/>
          <p:cNvSpPr/>
          <p:nvPr/>
        </p:nvSpPr>
        <p:spPr>
          <a:xfrm>
            <a:off x="1143000" y="5181600"/>
            <a:ext cx="2781300" cy="2794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850"/>
            </a:pPr>
            <a:r>
              <a:rPr lang="en-US" sz="1850" b="1" i="0" u="none" strike="noStrike">
                <a:solidFill>
                  <a:srgbClr val="B15A35"/>
                </a:solidFill>
                <a:latin typeface="Play"/>
                <a:ea typeface="Play"/>
                <a:cs typeface="Play"/>
                <a:sym typeface="Play"/>
              </a:rPr>
              <a:t>Format pivot</a:t>
            </a:r>
            <a:endParaRPr lang="en-US" sz="1100"/>
          </a:p>
        </p:txBody>
      </p:sp>
      <p:sp>
        <p:nvSpPr>
          <p:cNvPr id="12" name="AutoShape 12"/>
          <p:cNvSpPr/>
          <p:nvPr/>
        </p:nvSpPr>
        <p:spPr>
          <a:xfrm>
            <a:off x="1143000" y="5473700"/>
            <a:ext cx="2781300" cy="1778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1" i="0" u="none" strike="noStrike">
                <a:solidFill>
                  <a:srgbClr val="1E252B"/>
                </a:solidFill>
                <a:latin typeface="Aptos"/>
                <a:ea typeface="Aptos"/>
                <a:cs typeface="Aptos"/>
                <a:sym typeface="Aptos"/>
              </a:rPr>
              <a:t>No unsupported token labels required</a:t>
            </a:r>
            <a:endParaRPr lang="en-US" sz="1100"/>
          </a:p>
        </p:txBody>
      </p:sp>
      <p:sp>
        <p:nvSpPr>
          <p:cNvPr id="13" name="AutoShape 13"/>
          <p:cNvSpPr/>
          <p:nvPr/>
        </p:nvSpPr>
        <p:spPr>
          <a:xfrm>
            <a:off x="1143000" y="5664200"/>
            <a:ext cx="2781300" cy="2159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800" b="0" i="0" u="none" strike="noStrike">
                <a:solidFill>
                  <a:srgbClr val="5E6975"/>
                </a:solidFill>
                <a:latin typeface="Aptos"/>
                <a:ea typeface="Aptos"/>
                <a:cs typeface="Aptos"/>
                <a:sym typeface="Aptos"/>
              </a:rPr>
              <a:t>Avoids invalid supervision by leveraging pseudo-token distillation method.</a:t>
            </a:r>
            <a:endParaRPr lang="en-US" sz="1100"/>
          </a:p>
        </p:txBody>
      </p:sp>
      <p:sp>
        <p:nvSpPr>
          <p:cNvPr id="14" name="AutoShape 14"/>
          <p:cNvSpPr/>
          <p:nvPr/>
        </p:nvSpPr>
        <p:spPr>
          <a:xfrm>
            <a:off x="4521200" y="5080000"/>
            <a:ext cx="3162300" cy="863600"/>
          </a:xfrm>
          <a:prstGeom prst="roundRect">
            <a:avLst>
              <a:gd name="adj" fmla="val 0"/>
            </a:avLst>
          </a:prstGeom>
          <a:solidFill>
            <a:srgbClr val="FFFFFF">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15" name="AutoShape 15"/>
          <p:cNvSpPr/>
          <p:nvPr/>
        </p:nvSpPr>
        <p:spPr>
          <a:xfrm>
            <a:off x="4521200" y="5080000"/>
            <a:ext cx="76200" cy="863600"/>
          </a:xfrm>
          <a:prstGeom prst="roundRect">
            <a:avLst>
              <a:gd name="adj" fmla="val 0"/>
            </a:avLst>
          </a:prstGeom>
          <a:solidFill>
            <a:srgbClr val="2F7DE1">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6" name="AutoShape 16"/>
          <p:cNvSpPr/>
          <p:nvPr/>
        </p:nvSpPr>
        <p:spPr>
          <a:xfrm>
            <a:off x="4749800" y="5181600"/>
            <a:ext cx="2781300" cy="2794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850"/>
            </a:pPr>
            <a:r>
              <a:rPr lang="en-US" sz="1850" b="1" i="0" u="none" strike="noStrike">
                <a:solidFill>
                  <a:srgbClr val="2F7DE1"/>
                </a:solidFill>
                <a:latin typeface="Play"/>
                <a:ea typeface="Play"/>
                <a:cs typeface="Play"/>
                <a:sym typeface="Play"/>
              </a:rPr>
              <a:t>1.97M</a:t>
            </a:r>
            <a:endParaRPr lang="en-US" sz="1100"/>
          </a:p>
        </p:txBody>
      </p:sp>
      <p:sp>
        <p:nvSpPr>
          <p:cNvPr id="17" name="AutoShape 17"/>
          <p:cNvSpPr/>
          <p:nvPr/>
        </p:nvSpPr>
        <p:spPr>
          <a:xfrm>
            <a:off x="4749800" y="5473700"/>
            <a:ext cx="2781300" cy="1778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1" i="0" u="none" strike="noStrike">
                <a:solidFill>
                  <a:srgbClr val="1E252B"/>
                </a:solidFill>
                <a:latin typeface="Aptos"/>
                <a:ea typeface="Aptos"/>
                <a:cs typeface="Aptos"/>
                <a:sym typeface="Aptos"/>
              </a:rPr>
              <a:t>Trainable LoRA parameters</a:t>
            </a:r>
            <a:endParaRPr lang="en-US" sz="1100"/>
          </a:p>
        </p:txBody>
      </p:sp>
      <p:sp>
        <p:nvSpPr>
          <p:cNvPr id="18" name="AutoShape 18"/>
          <p:cNvSpPr/>
          <p:nvPr/>
        </p:nvSpPr>
        <p:spPr>
          <a:xfrm>
            <a:off x="4749800" y="5664200"/>
            <a:ext cx="2781300" cy="2159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800" b="0" i="0" u="none" strike="noStrike">
                <a:solidFill>
                  <a:srgbClr val="5E6975"/>
                </a:solidFill>
                <a:latin typeface="Aptos"/>
                <a:ea typeface="Aptos"/>
                <a:cs typeface="Aptos"/>
                <a:sym typeface="Aptos"/>
              </a:rPr>
              <a:t>Only 1.005% of the total generator parameters are updated.</a:t>
            </a:r>
            <a:endParaRPr lang="en-US" sz="1100"/>
          </a:p>
        </p:txBody>
      </p:sp>
      <p:sp>
        <p:nvSpPr>
          <p:cNvPr id="19" name="AutoShape 19"/>
          <p:cNvSpPr/>
          <p:nvPr/>
        </p:nvSpPr>
        <p:spPr>
          <a:xfrm>
            <a:off x="8115300" y="5080000"/>
            <a:ext cx="3162300" cy="863600"/>
          </a:xfrm>
          <a:prstGeom prst="roundRect">
            <a:avLst>
              <a:gd name="adj" fmla="val 0"/>
            </a:avLst>
          </a:prstGeom>
          <a:solidFill>
            <a:srgbClr val="FFFFFF">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20" name="AutoShape 20"/>
          <p:cNvSpPr/>
          <p:nvPr/>
        </p:nvSpPr>
        <p:spPr>
          <a:xfrm>
            <a:off x="8115300" y="5080000"/>
            <a:ext cx="76200" cy="8636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1" name="AutoShape 21"/>
          <p:cNvSpPr/>
          <p:nvPr/>
        </p:nvSpPr>
        <p:spPr>
          <a:xfrm>
            <a:off x="8343900" y="5181600"/>
            <a:ext cx="2781300" cy="2794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850"/>
            </a:pPr>
            <a:r>
              <a:rPr lang="en-US" sz="1850" b="1" i="0" u="none" strike="noStrike">
                <a:solidFill>
                  <a:srgbClr val="167C80"/>
                </a:solidFill>
                <a:latin typeface="Play"/>
                <a:ea typeface="Play"/>
                <a:cs typeface="Play"/>
                <a:sym typeface="Play"/>
              </a:rPr>
              <a:t>18/22</a:t>
            </a:r>
            <a:endParaRPr lang="en-US" sz="1100"/>
          </a:p>
        </p:txBody>
      </p:sp>
      <p:sp>
        <p:nvSpPr>
          <p:cNvPr id="22" name="AutoShape 22"/>
          <p:cNvSpPr/>
          <p:nvPr/>
        </p:nvSpPr>
        <p:spPr>
          <a:xfrm>
            <a:off x="8343900" y="5473700"/>
            <a:ext cx="2781300" cy="1778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1" i="0" u="none" strike="noStrike">
                <a:solidFill>
                  <a:srgbClr val="1E252B"/>
                </a:solidFill>
                <a:latin typeface="Aptos"/>
                <a:ea typeface="Aptos"/>
                <a:cs typeface="Aptos"/>
                <a:sym typeface="Aptos"/>
              </a:rPr>
              <a:t>Proxy checks improved</a:t>
            </a:r>
            <a:endParaRPr lang="en-US" sz="1100"/>
          </a:p>
        </p:txBody>
      </p:sp>
      <p:sp>
        <p:nvSpPr>
          <p:cNvPr id="23" name="AutoShape 23"/>
          <p:cNvSpPr/>
          <p:nvPr/>
        </p:nvSpPr>
        <p:spPr>
          <a:xfrm>
            <a:off x="8343900" y="5664200"/>
            <a:ext cx="2781300" cy="2159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800" b="0" i="0" u="none" strike="noStrike">
                <a:solidFill>
                  <a:srgbClr val="5E6975"/>
                </a:solidFill>
                <a:latin typeface="Aptos"/>
                <a:ea typeface="Aptos"/>
                <a:cs typeface="Aptos"/>
                <a:sym typeface="Aptos"/>
              </a:rPr>
              <a:t>81.8% expected-direction proxy win rate.</a:t>
            </a:r>
            <a:endParaRPr lang="en-US" sz="1100"/>
          </a:p>
        </p:txBody>
      </p:sp>
      <p:sp>
        <p:nvSpPr>
          <p:cNvPr id="24" name="AutoShape 24"/>
          <p:cNvSpPr/>
          <p:nvPr/>
        </p:nvSpPr>
        <p:spPr>
          <a:xfrm>
            <a:off x="685800" y="6350000"/>
            <a:ext cx="10820400" cy="12700"/>
          </a:xfrm>
          <a:prstGeom prst="roundRect">
            <a:avLst>
              <a:gd name="adj" fmla="val 0"/>
            </a:avLst>
          </a:prstGeom>
          <a:solidFill>
            <a:srgbClr val="D8D0C2">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5" name="AutoShape 25"/>
          <p:cNvSpPr/>
          <p:nvPr/>
        </p:nvSpPr>
        <p:spPr>
          <a:xfrm>
            <a:off x="685800" y="6426200"/>
            <a:ext cx="5905500" cy="190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800" b="0" i="0" u="none" strike="noStrike">
                <a:solidFill>
                  <a:srgbClr val="7A746A"/>
                </a:solidFill>
                <a:latin typeface="Aptos"/>
                <a:ea typeface="Aptos"/>
                <a:cs typeface="Aptos"/>
                <a:sym typeface="Aptos"/>
              </a:rPr>
              <a:t>Source: Project Report on MoConVQ Style Steering</a:t>
            </a:r>
            <a:endParaRPr lang="en-US" sz="1100"/>
          </a:p>
        </p:txBody>
      </p:sp>
      <p:sp>
        <p:nvSpPr>
          <p:cNvPr id="26" name="AutoShape 26"/>
          <p:cNvSpPr/>
          <p:nvPr/>
        </p:nvSpPr>
        <p:spPr>
          <a:xfrm>
            <a:off x="9626600" y="6426200"/>
            <a:ext cx="1892300" cy="190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r">
              <a:lnSpc>
                <a:spcPct val="100000"/>
              </a:lnSpc>
              <a:defRPr/>
            </a:pPr>
            <a:r>
              <a:rPr lang="en-US" sz="800" b="0" i="0" u="none" strike="noStrike">
                <a:solidFill>
                  <a:srgbClr val="7A746A"/>
                </a:solidFill>
                <a:latin typeface="Aptos"/>
                <a:ea typeface="Aptos"/>
                <a:cs typeface="Aptos"/>
                <a:sym typeface="Aptos"/>
              </a:rPr>
              <a:t>1 / 8 - 5-Minute Thesis Report</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7F4ED">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685800" y="419100"/>
            <a:ext cx="266700" cy="381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1066800" y="330200"/>
            <a:ext cx="4953000" cy="2540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ctr" anchorCtr="0"/>
          <a:lstStyle/>
          <a:p>
            <a:pPr marL="0" indent="0" algn="l">
              <a:lnSpc>
                <a:spcPct val="100000"/>
              </a:lnSpc>
              <a:defRPr/>
            </a:pPr>
            <a:r>
              <a:rPr lang="en-US" sz="1000" b="1" i="0" u="none" strike="noStrike">
                <a:solidFill>
                  <a:srgbClr val="5E6975"/>
                </a:solidFill>
                <a:latin typeface="Aptos"/>
                <a:ea typeface="Aptos"/>
                <a:cs typeface="Aptos"/>
                <a:sym typeface="Aptos"/>
              </a:rPr>
              <a:t>RESEARCH MOTIVATION</a:t>
            </a:r>
            <a:endParaRPr lang="en-US" sz="1100"/>
          </a:p>
        </p:txBody>
      </p:sp>
      <p:sp>
        <p:nvSpPr>
          <p:cNvPr id="5" name="AutoShape 5"/>
          <p:cNvSpPr/>
          <p:nvPr/>
        </p:nvSpPr>
        <p:spPr>
          <a:xfrm>
            <a:off x="685800" y="723900"/>
            <a:ext cx="8953500" cy="658368"/>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2500"/>
            </a:pPr>
            <a:r>
              <a:rPr lang="en-US" sz="2500" b="1" i="0" u="none" strike="noStrike">
                <a:solidFill>
                  <a:srgbClr val="1E252B"/>
                </a:solidFill>
                <a:latin typeface="Play"/>
                <a:ea typeface="Play"/>
                <a:cs typeface="Play"/>
                <a:sym typeface="Play"/>
              </a:rPr>
              <a:t>Why style control matters for language-guided motion</a:t>
            </a:r>
            <a:endParaRPr lang="en-US" sz="1100"/>
          </a:p>
        </p:txBody>
      </p:sp>
      <p:sp>
        <p:nvSpPr>
          <p:cNvPr id="6" name="AutoShape 6"/>
          <p:cNvSpPr/>
          <p:nvPr/>
        </p:nvSpPr>
        <p:spPr>
          <a:xfrm>
            <a:off x="685800" y="1968500"/>
            <a:ext cx="3162300" cy="3263900"/>
          </a:xfrm>
          <a:prstGeom prst="roundRect">
            <a:avLst>
              <a:gd name="adj" fmla="val 0"/>
            </a:avLst>
          </a:prstGeom>
          <a:solidFill>
            <a:srgbClr val="DDE8F7">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7" name="AutoShape 7"/>
          <p:cNvSpPr/>
          <p:nvPr/>
        </p:nvSpPr>
        <p:spPr>
          <a:xfrm>
            <a:off x="914400" y="2197100"/>
            <a:ext cx="2667000" cy="2159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900" b="1" i="0" u="none" strike="noStrike">
                <a:solidFill>
                  <a:srgbClr val="2F7DE1"/>
                </a:solidFill>
                <a:latin typeface="Aptos"/>
                <a:ea typeface="Aptos"/>
                <a:cs typeface="Aptos"/>
                <a:sym typeface="Aptos"/>
              </a:rPr>
              <a:t>BACKGROUND &amp; CORE PROBLEM</a:t>
            </a:r>
            <a:endParaRPr lang="en-US" sz="1100"/>
          </a:p>
        </p:txBody>
      </p:sp>
      <p:sp>
        <p:nvSpPr>
          <p:cNvPr id="8" name="AutoShape 8"/>
          <p:cNvSpPr/>
          <p:nvPr/>
        </p:nvSpPr>
        <p:spPr>
          <a:xfrm>
            <a:off x="914400" y="2514600"/>
            <a:ext cx="2628900" cy="6731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800"/>
            </a:pPr>
            <a:r>
              <a:rPr lang="en-US" sz="1800" b="1" i="0" u="none" strike="noStrike">
                <a:solidFill>
                  <a:srgbClr val="1E252B"/>
                </a:solidFill>
                <a:latin typeface="Play"/>
                <a:ea typeface="Play"/>
                <a:cs typeface="Play"/>
                <a:sym typeface="Play"/>
              </a:rPr>
              <a:t>Style Understanding Gap</a:t>
            </a:r>
            <a:endParaRPr lang="en-US" sz="1100"/>
          </a:p>
        </p:txBody>
      </p:sp>
      <p:sp>
        <p:nvSpPr>
          <p:cNvPr id="9" name="AutoShape 9"/>
          <p:cNvSpPr/>
          <p:nvPr/>
        </p:nvSpPr>
        <p:spPr>
          <a:xfrm>
            <a:off x="914400" y="3441700"/>
            <a:ext cx="88900" cy="88900"/>
          </a:xfrm>
          <a:prstGeom prst="roundRect">
            <a:avLst>
              <a:gd name="adj" fmla="val 0"/>
            </a:avLst>
          </a:prstGeom>
          <a:solidFill>
            <a:srgbClr val="2F7DE1">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0" name="AutoShape 10"/>
          <p:cNvSpPr/>
          <p:nvPr/>
        </p:nvSpPr>
        <p:spPr>
          <a:xfrm>
            <a:off x="1143000" y="3352800"/>
            <a:ext cx="2463800" cy="52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0" i="0" u="none" strike="noStrike" dirty="0">
                <a:solidFill>
                  <a:srgbClr val="1E252B"/>
                </a:solidFill>
                <a:latin typeface="Aptos"/>
                <a:ea typeface="Aptos"/>
                <a:cs typeface="Aptos"/>
                <a:sym typeface="Aptos"/>
              </a:rPr>
              <a:t>Natural language interfaces for humanoid motion control are intuitive but current models like </a:t>
            </a:r>
            <a:r>
              <a:rPr lang="en-US" sz="1050" b="0" i="0" u="none" strike="noStrike" dirty="0" err="1">
                <a:solidFill>
                  <a:srgbClr val="1E252B"/>
                </a:solidFill>
                <a:latin typeface="Aptos"/>
                <a:ea typeface="Aptos"/>
                <a:cs typeface="Aptos"/>
                <a:sym typeface="Aptos"/>
              </a:rPr>
              <a:t>MoConVQ</a:t>
            </a:r>
            <a:r>
              <a:rPr lang="en-US" sz="1050" b="0" i="0" u="none" strike="noStrike" dirty="0">
                <a:solidFill>
                  <a:srgbClr val="1E252B"/>
                </a:solidFill>
                <a:latin typeface="Aptos"/>
                <a:ea typeface="Aptos"/>
                <a:cs typeface="Aptos"/>
                <a:sym typeface="Aptos"/>
              </a:rPr>
              <a:t> lack fine-grained style adaptation.</a:t>
            </a:r>
            <a:endParaRPr lang="en-US" sz="1100" dirty="0"/>
          </a:p>
        </p:txBody>
      </p:sp>
      <p:sp>
        <p:nvSpPr>
          <p:cNvPr id="11" name="AutoShape 11"/>
          <p:cNvSpPr/>
          <p:nvPr/>
        </p:nvSpPr>
        <p:spPr>
          <a:xfrm>
            <a:off x="914400" y="4241800"/>
            <a:ext cx="88900" cy="88900"/>
          </a:xfrm>
          <a:prstGeom prst="roundRect">
            <a:avLst>
              <a:gd name="adj" fmla="val 0"/>
            </a:avLst>
          </a:prstGeom>
          <a:solidFill>
            <a:srgbClr val="2F7DE1">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2" name="AutoShape 12"/>
          <p:cNvSpPr/>
          <p:nvPr/>
        </p:nvSpPr>
        <p:spPr>
          <a:xfrm>
            <a:off x="1143000" y="4165600"/>
            <a:ext cx="2463800" cy="7620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0" i="0" u="none" strike="noStrike" dirty="0">
                <a:solidFill>
                  <a:srgbClr val="1E252B"/>
                </a:solidFill>
                <a:latin typeface="Aptos"/>
                <a:ea typeface="Aptos"/>
                <a:cs typeface="Aptos"/>
                <a:sym typeface="Aptos"/>
              </a:rPr>
              <a:t>Existing systems fail to interpret adjectival style cues (e.g., "slow", "graceful") accurately, limiting expressive motion generation.</a:t>
            </a:r>
            <a:endParaRPr lang="en-US" sz="1100" dirty="0"/>
          </a:p>
        </p:txBody>
      </p:sp>
      <p:sp>
        <p:nvSpPr>
          <p:cNvPr id="13" name="AutoShape 13"/>
          <p:cNvSpPr/>
          <p:nvPr/>
        </p:nvSpPr>
        <p:spPr>
          <a:xfrm>
            <a:off x="4521200" y="1968500"/>
            <a:ext cx="3162300" cy="3263900"/>
          </a:xfrm>
          <a:prstGeom prst="roundRect">
            <a:avLst>
              <a:gd name="adj" fmla="val 0"/>
            </a:avLst>
          </a:prstGeom>
          <a:solidFill>
            <a:srgbClr val="F3E0D5">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14" name="AutoShape 14"/>
          <p:cNvSpPr/>
          <p:nvPr/>
        </p:nvSpPr>
        <p:spPr>
          <a:xfrm>
            <a:off x="4749800" y="2197100"/>
            <a:ext cx="2667000" cy="2159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900" b="1" i="0" u="none" strike="noStrike">
                <a:solidFill>
                  <a:srgbClr val="B15A35"/>
                </a:solidFill>
                <a:latin typeface="Aptos"/>
                <a:ea typeface="Aptos"/>
                <a:cs typeface="Aptos"/>
                <a:sym typeface="Aptos"/>
              </a:rPr>
              <a:t>PROJECT OBJECTIVE &amp; CONSTRAINT</a:t>
            </a:r>
            <a:endParaRPr lang="en-US" sz="1100"/>
          </a:p>
        </p:txBody>
      </p:sp>
      <p:sp>
        <p:nvSpPr>
          <p:cNvPr id="15" name="AutoShape 15"/>
          <p:cNvSpPr/>
          <p:nvPr/>
        </p:nvSpPr>
        <p:spPr>
          <a:xfrm>
            <a:off x="4749800" y="2514600"/>
            <a:ext cx="2628900" cy="6731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800"/>
            </a:pPr>
            <a:r>
              <a:rPr lang="en-US" sz="1800" b="1" i="0" u="none" strike="noStrike">
                <a:solidFill>
                  <a:srgbClr val="1E252B"/>
                </a:solidFill>
                <a:latin typeface="Play"/>
                <a:ea typeface="Play"/>
                <a:cs typeface="Play"/>
                <a:sym typeface="Play"/>
              </a:rPr>
              <a:t>Efficient Style Injection</a:t>
            </a:r>
            <a:endParaRPr lang="en-US" sz="1100"/>
          </a:p>
        </p:txBody>
      </p:sp>
      <p:sp>
        <p:nvSpPr>
          <p:cNvPr id="16" name="AutoShape 16"/>
          <p:cNvSpPr/>
          <p:nvPr/>
        </p:nvSpPr>
        <p:spPr>
          <a:xfrm>
            <a:off x="4749800" y="3441700"/>
            <a:ext cx="88900" cy="88900"/>
          </a:xfrm>
          <a:prstGeom prst="roundRect">
            <a:avLst>
              <a:gd name="adj" fmla="val 0"/>
            </a:avLst>
          </a:prstGeom>
          <a:solidFill>
            <a:srgbClr val="B15A35">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7" name="AutoShape 17"/>
          <p:cNvSpPr/>
          <p:nvPr/>
        </p:nvSpPr>
        <p:spPr>
          <a:xfrm>
            <a:off x="4978400" y="3352800"/>
            <a:ext cx="2463800" cy="52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0" i="0" u="none" strike="noStrike">
                <a:solidFill>
                  <a:srgbClr val="1E252B"/>
                </a:solidFill>
                <a:latin typeface="Aptos"/>
                <a:ea typeface="Aptos"/>
                <a:cs typeface="Aptos"/>
                <a:sym typeface="Aptos"/>
              </a:rPr>
              <a:t>Enhance MoConVQ to generate motions adhering to specific linguistic style cues while preserving baseline capabilities.</a:t>
            </a:r>
            <a:endParaRPr lang="en-US" sz="1100"/>
          </a:p>
        </p:txBody>
      </p:sp>
      <p:sp>
        <p:nvSpPr>
          <p:cNvPr id="18" name="AutoShape 18"/>
          <p:cNvSpPr/>
          <p:nvPr/>
        </p:nvSpPr>
        <p:spPr>
          <a:xfrm>
            <a:off x="4749800" y="4241800"/>
            <a:ext cx="88900" cy="88900"/>
          </a:xfrm>
          <a:prstGeom prst="roundRect">
            <a:avLst>
              <a:gd name="adj" fmla="val 0"/>
            </a:avLst>
          </a:prstGeom>
          <a:solidFill>
            <a:srgbClr val="B15A35">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9" name="AutoShape 19"/>
          <p:cNvSpPr/>
          <p:nvPr/>
        </p:nvSpPr>
        <p:spPr>
          <a:xfrm>
            <a:off x="4978400" y="4165600"/>
            <a:ext cx="2463800" cy="7620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0" i="0" u="none" strike="noStrike">
                <a:solidFill>
                  <a:srgbClr val="1E252B"/>
                </a:solidFill>
                <a:latin typeface="Aptos"/>
                <a:ea typeface="Aptos"/>
                <a:cs typeface="Aptos"/>
                <a:sym typeface="Aptos"/>
              </a:rPr>
              <a:t>Strict constraint: Use parameter-efficient adaptation (PEFT) with the core model frozen to avoid catastrophic forgetting.</a:t>
            </a:r>
            <a:endParaRPr lang="en-US" sz="1100"/>
          </a:p>
        </p:txBody>
      </p:sp>
      <p:sp>
        <p:nvSpPr>
          <p:cNvPr id="20" name="AutoShape 20"/>
          <p:cNvSpPr/>
          <p:nvPr/>
        </p:nvSpPr>
        <p:spPr>
          <a:xfrm>
            <a:off x="8343900" y="1968500"/>
            <a:ext cx="3162300" cy="3263900"/>
          </a:xfrm>
          <a:prstGeom prst="roundRect">
            <a:avLst>
              <a:gd name="adj" fmla="val 0"/>
            </a:avLst>
          </a:prstGeom>
          <a:solidFill>
            <a:srgbClr val="DDEBDD">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21" name="AutoShape 21"/>
          <p:cNvSpPr/>
          <p:nvPr/>
        </p:nvSpPr>
        <p:spPr>
          <a:xfrm>
            <a:off x="8572500" y="2197100"/>
            <a:ext cx="2667000" cy="2159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900" b="1" i="0" u="none" strike="noStrike">
                <a:solidFill>
                  <a:srgbClr val="167C80"/>
                </a:solidFill>
                <a:latin typeface="Aptos"/>
                <a:ea typeface="Aptos"/>
                <a:cs typeface="Aptos"/>
                <a:sym typeface="Aptos"/>
              </a:rPr>
              <a:t>KEY METHODOLOGICAL CONTRIBUTIONS</a:t>
            </a:r>
            <a:endParaRPr lang="en-US" sz="1100"/>
          </a:p>
        </p:txBody>
      </p:sp>
      <p:sp>
        <p:nvSpPr>
          <p:cNvPr id="22" name="AutoShape 22"/>
          <p:cNvSpPr/>
          <p:nvPr/>
        </p:nvSpPr>
        <p:spPr>
          <a:xfrm>
            <a:off x="8572500" y="2514600"/>
            <a:ext cx="2628900" cy="6731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800"/>
            </a:pPr>
            <a:r>
              <a:rPr lang="en-US" sz="1800" b="1" i="0" u="none" strike="noStrike">
                <a:solidFill>
                  <a:srgbClr val="1E252B"/>
                </a:solidFill>
                <a:latin typeface="Play"/>
                <a:ea typeface="Play"/>
                <a:cs typeface="Play"/>
                <a:sym typeface="Play"/>
              </a:rPr>
              <a:t>LoRA Distillation &amp; Validation</a:t>
            </a:r>
            <a:endParaRPr lang="en-US" sz="1100"/>
          </a:p>
        </p:txBody>
      </p:sp>
      <p:sp>
        <p:nvSpPr>
          <p:cNvPr id="23" name="AutoShape 23"/>
          <p:cNvSpPr/>
          <p:nvPr/>
        </p:nvSpPr>
        <p:spPr>
          <a:xfrm>
            <a:off x="8572500" y="3441700"/>
            <a:ext cx="88900" cy="889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4" name="AutoShape 24"/>
          <p:cNvSpPr/>
          <p:nvPr/>
        </p:nvSpPr>
        <p:spPr>
          <a:xfrm>
            <a:off x="8801100" y="3352800"/>
            <a:ext cx="2463800" cy="52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0" i="0" u="none" strike="noStrike">
                <a:solidFill>
                  <a:srgbClr val="1E252B"/>
                </a:solidFill>
                <a:latin typeface="Aptos"/>
                <a:ea typeface="Aptos"/>
                <a:cs typeface="Aptos"/>
                <a:sym typeface="Aptos"/>
              </a:rPr>
              <a:t>Successfully reproduced MoConVQ’s text-to-BVH pipeline and proposed a robust LoRA distillation approach for style tuning.</a:t>
            </a:r>
            <a:endParaRPr lang="en-US" sz="1100"/>
          </a:p>
        </p:txBody>
      </p:sp>
      <p:sp>
        <p:nvSpPr>
          <p:cNvPr id="25" name="AutoShape 25"/>
          <p:cNvSpPr/>
          <p:nvPr/>
        </p:nvSpPr>
        <p:spPr>
          <a:xfrm>
            <a:off x="8572500" y="4241800"/>
            <a:ext cx="88900" cy="889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6" name="AutoShape 26"/>
          <p:cNvSpPr/>
          <p:nvPr/>
        </p:nvSpPr>
        <p:spPr>
          <a:xfrm>
            <a:off x="8801100" y="4165600"/>
            <a:ext cx="2463800" cy="7620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0" i="0" u="none" strike="noStrike">
                <a:solidFill>
                  <a:srgbClr val="1E252B"/>
                </a:solidFill>
                <a:latin typeface="Aptos"/>
                <a:ea typeface="Aptos"/>
                <a:cs typeface="Aptos"/>
                <a:sym typeface="Aptos"/>
              </a:rPr>
              <a:t>Validated the model comprehensively using training loss, visual comparisons, and kinematic proxy metrics for style accuracy.</a:t>
            </a:r>
            <a:endParaRPr lang="en-US" sz="1100"/>
          </a:p>
        </p:txBody>
      </p:sp>
      <p:sp>
        <p:nvSpPr>
          <p:cNvPr id="27" name="AutoShape 27"/>
          <p:cNvSpPr/>
          <p:nvPr/>
        </p:nvSpPr>
        <p:spPr>
          <a:xfrm>
            <a:off x="685800" y="5626100"/>
            <a:ext cx="10820400" cy="406400"/>
          </a:xfrm>
          <a:prstGeom prst="roundRect">
            <a:avLst>
              <a:gd name="adj" fmla="val 0"/>
            </a:avLst>
          </a:prstGeom>
          <a:solidFill>
            <a:srgbClr val="2D344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8" name="AutoShape 28"/>
          <p:cNvSpPr/>
          <p:nvPr/>
        </p:nvSpPr>
        <p:spPr>
          <a:xfrm>
            <a:off x="977900" y="5715000"/>
            <a:ext cx="10172700" cy="2286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1" i="0" u="none" strike="noStrike">
                <a:solidFill>
                  <a:srgbClr val="FFFFFF"/>
                </a:solidFill>
                <a:latin typeface="Aptos"/>
                <a:ea typeface="Aptos"/>
                <a:cs typeface="Aptos"/>
                <a:sym typeface="Aptos"/>
              </a:rPr>
              <a:t>Core Insight: Parameter-efficient LoRA distillation enables fine-grained style control without sacrificing the pre-trained MoConVQ's core performance.</a:t>
            </a:r>
            <a:endParaRPr lang="en-US" sz="1100"/>
          </a:p>
        </p:txBody>
      </p:sp>
      <p:sp>
        <p:nvSpPr>
          <p:cNvPr id="29" name="AutoShape 29"/>
          <p:cNvSpPr/>
          <p:nvPr/>
        </p:nvSpPr>
        <p:spPr>
          <a:xfrm>
            <a:off x="685800" y="6350000"/>
            <a:ext cx="10820400" cy="12700"/>
          </a:xfrm>
          <a:prstGeom prst="roundRect">
            <a:avLst>
              <a:gd name="adj" fmla="val 0"/>
            </a:avLst>
          </a:prstGeom>
          <a:solidFill>
            <a:srgbClr val="D8D0C2">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30" name="AutoShape 30"/>
          <p:cNvSpPr/>
          <p:nvPr/>
        </p:nvSpPr>
        <p:spPr>
          <a:xfrm>
            <a:off x="685800" y="6426200"/>
            <a:ext cx="5905500" cy="190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800" b="0" i="0" u="none" strike="noStrike">
                <a:solidFill>
                  <a:srgbClr val="7A746A"/>
                </a:solidFill>
                <a:latin typeface="Aptos"/>
                <a:ea typeface="Aptos"/>
                <a:cs typeface="Aptos"/>
                <a:sym typeface="Aptos"/>
              </a:rPr>
              <a:t>Source: MoConVQ Baseline Analysis &amp; PEFT Strategy Development</a:t>
            </a:r>
            <a:endParaRPr lang="en-US" sz="1100"/>
          </a:p>
        </p:txBody>
      </p:sp>
      <p:sp>
        <p:nvSpPr>
          <p:cNvPr id="31" name="AutoShape 31"/>
          <p:cNvSpPr/>
          <p:nvPr/>
        </p:nvSpPr>
        <p:spPr>
          <a:xfrm>
            <a:off x="9626600" y="6426200"/>
            <a:ext cx="1892300" cy="190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r">
              <a:lnSpc>
                <a:spcPct val="100000"/>
              </a:lnSpc>
              <a:defRPr/>
            </a:pPr>
            <a:r>
              <a:rPr lang="en-US" sz="800" b="0" i="0" u="none" strike="noStrike">
                <a:solidFill>
                  <a:srgbClr val="7A746A"/>
                </a:solidFill>
                <a:latin typeface="Aptos"/>
                <a:ea typeface="Aptos"/>
                <a:cs typeface="Aptos"/>
                <a:sym typeface="Aptos"/>
              </a:rPr>
              <a:t>2 / 8 - Motivation</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7F4ED">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685800" y="419100"/>
            <a:ext cx="266700" cy="381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1066800" y="330200"/>
            <a:ext cx="4953000" cy="2540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ctr" anchorCtr="0"/>
          <a:lstStyle/>
          <a:p>
            <a:pPr marL="0" indent="0" algn="l">
              <a:lnSpc>
                <a:spcPct val="100000"/>
              </a:lnSpc>
              <a:defRPr/>
            </a:pPr>
            <a:r>
              <a:rPr lang="en-US" sz="1000" b="1" i="0" u="none" strike="noStrike">
                <a:solidFill>
                  <a:srgbClr val="5E6975"/>
                </a:solidFill>
                <a:latin typeface="Aptos"/>
                <a:ea typeface="Aptos"/>
                <a:cs typeface="Aptos"/>
                <a:sym typeface="Aptos"/>
              </a:rPr>
              <a:t>DATA CHALLENGE</a:t>
            </a:r>
            <a:endParaRPr lang="en-US" sz="1100"/>
          </a:p>
        </p:txBody>
      </p:sp>
      <p:sp>
        <p:nvSpPr>
          <p:cNvPr id="5" name="AutoShape 5"/>
          <p:cNvSpPr/>
          <p:nvPr/>
        </p:nvSpPr>
        <p:spPr>
          <a:xfrm>
            <a:off x="685800" y="723900"/>
            <a:ext cx="8953500" cy="658368"/>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2600"/>
            </a:pPr>
            <a:r>
              <a:rPr lang="en-US" sz="2600" b="1" i="0" u="none" strike="noStrike">
                <a:solidFill>
                  <a:srgbClr val="1E252B"/>
                </a:solidFill>
                <a:latin typeface="Play"/>
                <a:ea typeface="Play"/>
                <a:cs typeface="Play"/>
                <a:sym typeface="Play"/>
              </a:rPr>
              <a:t>Data mismatch forced a distillation route.</a:t>
            </a:r>
            <a:endParaRPr lang="en-US" sz="1100"/>
          </a:p>
        </p:txBody>
      </p:sp>
      <p:sp>
        <p:nvSpPr>
          <p:cNvPr id="6" name="AutoShape 6"/>
          <p:cNvSpPr/>
          <p:nvPr/>
        </p:nvSpPr>
        <p:spPr>
          <a:xfrm>
            <a:off x="685800" y="1968500"/>
            <a:ext cx="3162300" cy="3263900"/>
          </a:xfrm>
          <a:prstGeom prst="roundRect">
            <a:avLst>
              <a:gd name="adj" fmla="val 0"/>
            </a:avLst>
          </a:prstGeom>
          <a:solidFill>
            <a:srgbClr val="DDE8F7">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7" name="AutoShape 7"/>
          <p:cNvSpPr/>
          <p:nvPr/>
        </p:nvSpPr>
        <p:spPr>
          <a:xfrm>
            <a:off x="914400" y="2197100"/>
            <a:ext cx="2667000" cy="2159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900" b="1" i="0" u="none" strike="noStrike">
                <a:solidFill>
                  <a:srgbClr val="2F7DE1"/>
                </a:solidFill>
                <a:latin typeface="Aptos"/>
                <a:ea typeface="Aptos"/>
                <a:cs typeface="Aptos"/>
                <a:sym typeface="Aptos"/>
              </a:rPr>
              <a:t>DATASET: HUMANML3D</a:t>
            </a:r>
            <a:endParaRPr lang="en-US" sz="1100"/>
          </a:p>
        </p:txBody>
      </p:sp>
      <p:sp>
        <p:nvSpPr>
          <p:cNvPr id="8" name="AutoShape 8"/>
          <p:cNvSpPr/>
          <p:nvPr/>
        </p:nvSpPr>
        <p:spPr>
          <a:xfrm>
            <a:off x="914400" y="2514600"/>
            <a:ext cx="2628900" cy="6731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2000" b="1" i="0" u="none" strike="noStrike">
                <a:solidFill>
                  <a:srgbClr val="1E252B"/>
                </a:solidFill>
                <a:latin typeface="Play"/>
                <a:ea typeface="Play"/>
                <a:cs typeface="Play"/>
                <a:sym typeface="Play"/>
              </a:rPr>
              <a:t>Curated Motion-Text Data</a:t>
            </a:r>
            <a:endParaRPr lang="en-US" sz="1100"/>
          </a:p>
        </p:txBody>
      </p:sp>
      <p:sp>
        <p:nvSpPr>
          <p:cNvPr id="9" name="AutoShape 9"/>
          <p:cNvSpPr/>
          <p:nvPr/>
        </p:nvSpPr>
        <p:spPr>
          <a:xfrm>
            <a:off x="914400" y="3441700"/>
            <a:ext cx="88900" cy="88900"/>
          </a:xfrm>
          <a:prstGeom prst="roundRect">
            <a:avLst>
              <a:gd name="adj" fmla="val 0"/>
            </a:avLst>
          </a:prstGeom>
          <a:solidFill>
            <a:srgbClr val="2F7DE1">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0" name="AutoShape 10"/>
          <p:cNvSpPr/>
          <p:nvPr/>
        </p:nvSpPr>
        <p:spPr>
          <a:xfrm>
            <a:off x="1143000" y="3352800"/>
            <a:ext cx="2463800" cy="52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0" i="0" u="none" strike="noStrike" dirty="0">
                <a:solidFill>
                  <a:srgbClr val="1E252B"/>
                </a:solidFill>
                <a:latin typeface="Aptos"/>
                <a:ea typeface="Aptos"/>
                <a:cs typeface="Aptos"/>
                <a:sym typeface="Aptos"/>
              </a:rPr>
              <a:t>Utilize HumanML3D, a large dataset pairing human motions with descriptive text annotations.</a:t>
            </a:r>
            <a:endParaRPr lang="en-US" sz="1100" dirty="0"/>
          </a:p>
        </p:txBody>
      </p:sp>
      <p:sp>
        <p:nvSpPr>
          <p:cNvPr id="11" name="AutoShape 11"/>
          <p:cNvSpPr/>
          <p:nvPr/>
        </p:nvSpPr>
        <p:spPr>
          <a:xfrm>
            <a:off x="914400" y="3987800"/>
            <a:ext cx="88900" cy="88900"/>
          </a:xfrm>
          <a:prstGeom prst="roundRect">
            <a:avLst>
              <a:gd name="adj" fmla="val 0"/>
            </a:avLst>
          </a:prstGeom>
          <a:solidFill>
            <a:srgbClr val="2F7DE1">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2" name="AutoShape 12"/>
          <p:cNvSpPr/>
          <p:nvPr/>
        </p:nvSpPr>
        <p:spPr>
          <a:xfrm>
            <a:off x="1143000" y="3911600"/>
            <a:ext cx="2463800" cy="52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0" i="0" u="none" strike="noStrike" dirty="0">
                <a:solidFill>
                  <a:srgbClr val="1E252B"/>
                </a:solidFill>
                <a:latin typeface="Aptos"/>
                <a:ea typeface="Aptos"/>
                <a:cs typeface="Aptos"/>
                <a:sym typeface="Aptos"/>
              </a:rPr>
              <a:t>Filter a subset using style keywords like "graceful", "energetic", and "heavy" for focus.</a:t>
            </a:r>
            <a:endParaRPr lang="en-US" sz="1100" dirty="0"/>
          </a:p>
        </p:txBody>
      </p:sp>
      <p:sp>
        <p:nvSpPr>
          <p:cNvPr id="13" name="AutoShape 13"/>
          <p:cNvSpPr/>
          <p:nvPr/>
        </p:nvSpPr>
        <p:spPr>
          <a:xfrm>
            <a:off x="4521200" y="1968500"/>
            <a:ext cx="3162300" cy="3263900"/>
          </a:xfrm>
          <a:prstGeom prst="roundRect">
            <a:avLst>
              <a:gd name="adj" fmla="val 0"/>
            </a:avLst>
          </a:prstGeom>
          <a:solidFill>
            <a:srgbClr val="F3E0D5">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14" name="AutoShape 14"/>
          <p:cNvSpPr/>
          <p:nvPr/>
        </p:nvSpPr>
        <p:spPr>
          <a:xfrm>
            <a:off x="4749800" y="2197100"/>
            <a:ext cx="2667000" cy="2159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900" b="1" i="0" u="none" strike="noStrike">
                <a:solidFill>
                  <a:srgbClr val="B15A35"/>
                </a:solidFill>
                <a:latin typeface="Aptos"/>
                <a:ea typeface="Aptos"/>
                <a:cs typeface="Aptos"/>
                <a:sym typeface="Aptos"/>
              </a:rPr>
              <a:t>CRITICAL MISMATCH</a:t>
            </a:r>
            <a:endParaRPr lang="en-US" sz="1100"/>
          </a:p>
        </p:txBody>
      </p:sp>
      <p:sp>
        <p:nvSpPr>
          <p:cNvPr id="15" name="AutoShape 15"/>
          <p:cNvSpPr/>
          <p:nvPr/>
        </p:nvSpPr>
        <p:spPr>
          <a:xfrm>
            <a:off x="4749800" y="2514600"/>
            <a:ext cx="2628900" cy="6731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2000" b="1" i="0" u="none" strike="noStrike">
                <a:solidFill>
                  <a:srgbClr val="1E252B"/>
                </a:solidFill>
                <a:latin typeface="Play"/>
                <a:ea typeface="Play"/>
                <a:cs typeface="Play"/>
                <a:sym typeface="Play"/>
              </a:rPr>
              <a:t>Discrete vs. Continuous Gap</a:t>
            </a:r>
            <a:endParaRPr lang="en-US" sz="1100"/>
          </a:p>
        </p:txBody>
      </p:sp>
      <p:sp>
        <p:nvSpPr>
          <p:cNvPr id="16" name="AutoShape 16"/>
          <p:cNvSpPr/>
          <p:nvPr/>
        </p:nvSpPr>
        <p:spPr>
          <a:xfrm>
            <a:off x="4749800" y="3441700"/>
            <a:ext cx="88900" cy="88900"/>
          </a:xfrm>
          <a:prstGeom prst="roundRect">
            <a:avLst>
              <a:gd name="adj" fmla="val 0"/>
            </a:avLst>
          </a:prstGeom>
          <a:solidFill>
            <a:srgbClr val="B15A35">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7" name="AutoShape 17"/>
          <p:cNvSpPr/>
          <p:nvPr/>
        </p:nvSpPr>
        <p:spPr>
          <a:xfrm>
            <a:off x="4978400" y="3352800"/>
            <a:ext cx="2463800" cy="52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0" i="0" u="none" strike="noStrike" dirty="0" err="1">
                <a:solidFill>
                  <a:srgbClr val="1E252B"/>
                </a:solidFill>
                <a:latin typeface="Aptos"/>
                <a:ea typeface="Aptos"/>
                <a:cs typeface="Aptos"/>
                <a:sym typeface="Aptos"/>
              </a:rPr>
              <a:t>MoConVQ</a:t>
            </a:r>
            <a:r>
              <a:rPr lang="en-US" sz="1100" b="0" i="0" u="none" strike="noStrike" dirty="0">
                <a:solidFill>
                  <a:srgbClr val="1E252B"/>
                </a:solidFill>
                <a:latin typeface="Aptos"/>
                <a:ea typeface="Aptos"/>
                <a:cs typeface="Aptos"/>
                <a:sym typeface="Aptos"/>
              </a:rPr>
              <a:t> expects discrete motion tokens, but HumanML3D only provides continuous motion features.</a:t>
            </a:r>
            <a:endParaRPr lang="en-US" sz="1100" dirty="0"/>
          </a:p>
        </p:txBody>
      </p:sp>
      <p:sp>
        <p:nvSpPr>
          <p:cNvPr id="18" name="AutoShape 18"/>
          <p:cNvSpPr/>
          <p:nvPr/>
        </p:nvSpPr>
        <p:spPr>
          <a:xfrm>
            <a:off x="4749800" y="3987800"/>
            <a:ext cx="88900" cy="88900"/>
          </a:xfrm>
          <a:prstGeom prst="roundRect">
            <a:avLst>
              <a:gd name="adj" fmla="val 0"/>
            </a:avLst>
          </a:prstGeom>
          <a:solidFill>
            <a:srgbClr val="B15A35">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9" name="AutoShape 19"/>
          <p:cNvSpPr/>
          <p:nvPr/>
        </p:nvSpPr>
        <p:spPr>
          <a:xfrm>
            <a:off x="4978400" y="3911600"/>
            <a:ext cx="2463800" cy="52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0" i="0" u="none" strike="noStrike" dirty="0">
                <a:solidFill>
                  <a:srgbClr val="1E252B"/>
                </a:solidFill>
                <a:latin typeface="Aptos"/>
                <a:ea typeface="Aptos"/>
                <a:cs typeface="Aptos"/>
                <a:sym typeface="Aptos"/>
              </a:rPr>
              <a:t>Directly converting continuous features to discrete tokens is non-trivial and error-prone.</a:t>
            </a:r>
            <a:endParaRPr lang="en-US" sz="1100" dirty="0"/>
          </a:p>
        </p:txBody>
      </p:sp>
      <p:sp>
        <p:nvSpPr>
          <p:cNvPr id="20" name="AutoShape 20"/>
          <p:cNvSpPr/>
          <p:nvPr/>
        </p:nvSpPr>
        <p:spPr>
          <a:xfrm>
            <a:off x="8343900" y="1968500"/>
            <a:ext cx="3162300" cy="3263900"/>
          </a:xfrm>
          <a:prstGeom prst="roundRect">
            <a:avLst>
              <a:gd name="adj" fmla="val 0"/>
            </a:avLst>
          </a:prstGeom>
          <a:solidFill>
            <a:srgbClr val="DDEBDD">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21" name="AutoShape 21"/>
          <p:cNvSpPr/>
          <p:nvPr/>
        </p:nvSpPr>
        <p:spPr>
          <a:xfrm>
            <a:off x="8572500" y="2197100"/>
            <a:ext cx="2667000" cy="2159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900" b="1" i="0" u="none" strike="noStrike">
                <a:solidFill>
                  <a:srgbClr val="167C80"/>
                </a:solidFill>
                <a:latin typeface="Aptos"/>
                <a:ea typeface="Aptos"/>
                <a:cs typeface="Aptos"/>
                <a:sym typeface="Aptos"/>
              </a:rPr>
              <a:t>SOLUTION: DISTILLATION</a:t>
            </a:r>
            <a:endParaRPr lang="en-US" sz="1100"/>
          </a:p>
        </p:txBody>
      </p:sp>
      <p:sp>
        <p:nvSpPr>
          <p:cNvPr id="22" name="AutoShape 22"/>
          <p:cNvSpPr/>
          <p:nvPr/>
        </p:nvSpPr>
        <p:spPr>
          <a:xfrm>
            <a:off x="8572500" y="2514600"/>
            <a:ext cx="2628900" cy="6731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2000" b="1" i="0" u="none" strike="noStrike">
                <a:solidFill>
                  <a:srgbClr val="1E252B"/>
                </a:solidFill>
                <a:latin typeface="Play"/>
                <a:ea typeface="Play"/>
                <a:cs typeface="Play"/>
                <a:sym typeface="Play"/>
              </a:rPr>
              <a:t>Pseudo-Token Distillation</a:t>
            </a:r>
            <a:endParaRPr lang="en-US" sz="1100"/>
          </a:p>
        </p:txBody>
      </p:sp>
      <p:sp>
        <p:nvSpPr>
          <p:cNvPr id="23" name="AutoShape 23"/>
          <p:cNvSpPr/>
          <p:nvPr/>
        </p:nvSpPr>
        <p:spPr>
          <a:xfrm>
            <a:off x="8572500" y="3441700"/>
            <a:ext cx="88900" cy="889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4" name="AutoShape 24"/>
          <p:cNvSpPr/>
          <p:nvPr/>
        </p:nvSpPr>
        <p:spPr>
          <a:xfrm>
            <a:off x="8801100" y="3352800"/>
            <a:ext cx="2463800" cy="52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0" i="0" u="none" strike="noStrike" dirty="0">
                <a:solidFill>
                  <a:srgbClr val="1E252B"/>
                </a:solidFill>
                <a:latin typeface="Aptos"/>
                <a:ea typeface="Aptos"/>
                <a:cs typeface="Aptos"/>
                <a:sym typeface="Aptos"/>
              </a:rPr>
              <a:t>Use the pre-trained </a:t>
            </a:r>
            <a:r>
              <a:rPr lang="en-US" sz="1100" b="0" i="0" u="none" strike="noStrike" dirty="0" err="1">
                <a:solidFill>
                  <a:srgbClr val="1E252B"/>
                </a:solidFill>
                <a:latin typeface="Aptos"/>
                <a:ea typeface="Aptos"/>
                <a:cs typeface="Aptos"/>
                <a:sym typeface="Aptos"/>
              </a:rPr>
              <a:t>MoConVQ</a:t>
            </a:r>
            <a:r>
              <a:rPr lang="en-US" sz="1100" b="0" i="0" u="none" strike="noStrike" dirty="0">
                <a:solidFill>
                  <a:srgbClr val="1E252B"/>
                </a:solidFill>
                <a:latin typeface="Aptos"/>
                <a:ea typeface="Aptos"/>
                <a:cs typeface="Aptos"/>
                <a:sym typeface="Aptos"/>
              </a:rPr>
              <a:t> model as a "teacher" to generate "pseudo-tokens" for style captions.</a:t>
            </a:r>
            <a:endParaRPr lang="en-US" sz="1100" dirty="0"/>
          </a:p>
        </p:txBody>
      </p:sp>
      <p:sp>
        <p:nvSpPr>
          <p:cNvPr id="25" name="AutoShape 25"/>
          <p:cNvSpPr/>
          <p:nvPr/>
        </p:nvSpPr>
        <p:spPr>
          <a:xfrm>
            <a:off x="8572500" y="3987800"/>
            <a:ext cx="88900" cy="889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6" name="AutoShape 26"/>
          <p:cNvSpPr/>
          <p:nvPr/>
        </p:nvSpPr>
        <p:spPr>
          <a:xfrm>
            <a:off x="8801100" y="3911600"/>
            <a:ext cx="2463800" cy="52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0" i="0" u="none" strike="noStrike" dirty="0">
                <a:solidFill>
                  <a:srgbClr val="1E252B"/>
                </a:solidFill>
                <a:latin typeface="Aptos"/>
                <a:ea typeface="Aptos"/>
                <a:cs typeface="Aptos"/>
                <a:sym typeface="Aptos"/>
              </a:rPr>
              <a:t>Train a "student" model with </a:t>
            </a:r>
            <a:r>
              <a:rPr lang="en-US" sz="1100" b="0" i="0" u="none" strike="noStrike" dirty="0" err="1">
                <a:solidFill>
                  <a:srgbClr val="1E252B"/>
                </a:solidFill>
                <a:latin typeface="Aptos"/>
                <a:ea typeface="Aptos"/>
                <a:cs typeface="Aptos"/>
                <a:sym typeface="Aptos"/>
              </a:rPr>
              <a:t>LoRA</a:t>
            </a:r>
            <a:r>
              <a:rPr lang="en-US" sz="1100" b="0" i="0" u="none" strike="noStrike" dirty="0">
                <a:solidFill>
                  <a:srgbClr val="1E252B"/>
                </a:solidFill>
                <a:latin typeface="Aptos"/>
                <a:ea typeface="Aptos"/>
                <a:cs typeface="Aptos"/>
                <a:sym typeface="Aptos"/>
              </a:rPr>
              <a:t> adapters to mimic the teacher's outputs.</a:t>
            </a:r>
            <a:endParaRPr lang="en-US" sz="1100" dirty="0"/>
          </a:p>
        </p:txBody>
      </p:sp>
      <p:sp>
        <p:nvSpPr>
          <p:cNvPr id="27" name="AutoShape 27"/>
          <p:cNvSpPr/>
          <p:nvPr/>
        </p:nvSpPr>
        <p:spPr>
          <a:xfrm>
            <a:off x="8572500" y="4546600"/>
            <a:ext cx="88900" cy="889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8" name="AutoShape 28"/>
          <p:cNvSpPr/>
          <p:nvPr/>
        </p:nvSpPr>
        <p:spPr>
          <a:xfrm>
            <a:off x="8801100" y="4457700"/>
            <a:ext cx="2463800" cy="52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0" i="0" u="none" strike="noStrike" dirty="0">
                <a:solidFill>
                  <a:srgbClr val="1E252B"/>
                </a:solidFill>
                <a:latin typeface="Aptos"/>
                <a:ea typeface="Aptos"/>
                <a:cs typeface="Aptos"/>
                <a:sym typeface="Aptos"/>
              </a:rPr>
              <a:t>This approach bypasses conversion errors and provides robust training signals.</a:t>
            </a:r>
            <a:endParaRPr lang="en-US" sz="1100" dirty="0"/>
          </a:p>
        </p:txBody>
      </p:sp>
      <p:sp>
        <p:nvSpPr>
          <p:cNvPr id="29" name="AutoShape 29"/>
          <p:cNvSpPr/>
          <p:nvPr/>
        </p:nvSpPr>
        <p:spPr>
          <a:xfrm>
            <a:off x="685800" y="5626100"/>
            <a:ext cx="10820400" cy="406400"/>
          </a:xfrm>
          <a:prstGeom prst="roundRect">
            <a:avLst>
              <a:gd name="adj" fmla="val 0"/>
            </a:avLst>
          </a:prstGeom>
          <a:solidFill>
            <a:srgbClr val="2D344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30" name="AutoShape 30"/>
          <p:cNvSpPr/>
          <p:nvPr/>
        </p:nvSpPr>
        <p:spPr>
          <a:xfrm>
            <a:off x="977900" y="5715000"/>
            <a:ext cx="10172700" cy="2286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1" i="0" u="none" strike="noStrike">
                <a:solidFill>
                  <a:srgbClr val="FFFFFF"/>
                </a:solidFill>
                <a:latin typeface="Aptos"/>
                <a:ea typeface="Aptos"/>
                <a:cs typeface="Aptos"/>
                <a:sym typeface="Aptos"/>
              </a:rPr>
              <a:t>By leveraging knowledge distillation, we bypass the token conversion barrier and create a robust training signal.</a:t>
            </a:r>
            <a:endParaRPr lang="en-US" sz="1100"/>
          </a:p>
        </p:txBody>
      </p:sp>
      <p:sp>
        <p:nvSpPr>
          <p:cNvPr id="31" name="AutoShape 31"/>
          <p:cNvSpPr/>
          <p:nvPr/>
        </p:nvSpPr>
        <p:spPr>
          <a:xfrm>
            <a:off x="685800" y="6350000"/>
            <a:ext cx="10820400" cy="12700"/>
          </a:xfrm>
          <a:prstGeom prst="roundRect">
            <a:avLst>
              <a:gd name="adj" fmla="val 0"/>
            </a:avLst>
          </a:prstGeom>
          <a:solidFill>
            <a:srgbClr val="D8D0C2">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32" name="AutoShape 32"/>
          <p:cNvSpPr/>
          <p:nvPr/>
        </p:nvSpPr>
        <p:spPr>
          <a:xfrm>
            <a:off x="685800" y="6426200"/>
            <a:ext cx="5905500" cy="190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800" b="0" i="0" u="none" strike="noStrike">
                <a:solidFill>
                  <a:srgbClr val="7A746A"/>
                </a:solidFill>
                <a:latin typeface="Aptos"/>
                <a:ea typeface="Aptos"/>
                <a:cs typeface="Aptos"/>
                <a:sym typeface="Aptos"/>
              </a:rPr>
              <a:t>Source: HumanML3D Dataset Analysis; Knowledge Distillation Methodology</a:t>
            </a:r>
            <a:endParaRPr lang="en-US" sz="1100"/>
          </a:p>
        </p:txBody>
      </p:sp>
      <p:sp>
        <p:nvSpPr>
          <p:cNvPr id="33" name="AutoShape 33"/>
          <p:cNvSpPr/>
          <p:nvPr/>
        </p:nvSpPr>
        <p:spPr>
          <a:xfrm>
            <a:off x="9626600" y="6426200"/>
            <a:ext cx="1892300" cy="190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r">
              <a:lnSpc>
                <a:spcPct val="100000"/>
              </a:lnSpc>
              <a:defRPr/>
            </a:pPr>
            <a:r>
              <a:rPr lang="en-US" sz="800" b="0" i="0" u="none" strike="noStrike">
                <a:solidFill>
                  <a:srgbClr val="7A746A"/>
                </a:solidFill>
                <a:latin typeface="Aptos"/>
                <a:ea typeface="Aptos"/>
                <a:cs typeface="Aptos"/>
                <a:sym typeface="Aptos"/>
              </a:rPr>
              <a:t>3 / 8 - Data Challenge &amp; Solution</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7F4ED">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685800" y="419100"/>
            <a:ext cx="266700" cy="381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1066800" y="330200"/>
            <a:ext cx="4953000" cy="2540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ctr" anchorCtr="0"/>
          <a:lstStyle/>
          <a:p>
            <a:pPr marL="0" indent="0" algn="l">
              <a:lnSpc>
                <a:spcPct val="100000"/>
              </a:lnSpc>
              <a:defRPr/>
            </a:pPr>
            <a:r>
              <a:rPr lang="en-US" sz="1000" b="1" i="0" u="none" strike="noStrike">
                <a:solidFill>
                  <a:srgbClr val="5E6975"/>
                </a:solidFill>
                <a:latin typeface="Aptos"/>
                <a:ea typeface="Aptos"/>
                <a:cs typeface="Aptos"/>
                <a:sym typeface="Aptos"/>
              </a:rPr>
              <a:t>FINAL METHOD</a:t>
            </a:r>
            <a:endParaRPr lang="en-US" sz="1100"/>
          </a:p>
        </p:txBody>
      </p:sp>
      <p:sp>
        <p:nvSpPr>
          <p:cNvPr id="5" name="AutoShape 5"/>
          <p:cNvSpPr/>
          <p:nvPr/>
        </p:nvSpPr>
        <p:spPr>
          <a:xfrm>
            <a:off x="685800" y="723900"/>
            <a:ext cx="8953500" cy="713232"/>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2500"/>
            </a:pPr>
            <a:r>
              <a:rPr lang="en-US" sz="2500" b="1" i="0" u="none" strike="noStrike">
                <a:solidFill>
                  <a:srgbClr val="1E252B"/>
                </a:solidFill>
                <a:latin typeface="Play"/>
                <a:ea typeface="Play"/>
                <a:cs typeface="Play"/>
                <a:sym typeface="Play"/>
              </a:rPr>
              <a:t>LoRA distillation adapts the language-to-token interface while motion execution stays frozen.</a:t>
            </a:r>
            <a:endParaRPr lang="en-US" sz="1100"/>
          </a:p>
        </p:txBody>
      </p:sp>
      <p:sp>
        <p:nvSpPr>
          <p:cNvPr id="6" name="AutoShape 6"/>
          <p:cNvSpPr/>
          <p:nvPr/>
        </p:nvSpPr>
        <p:spPr>
          <a:xfrm>
            <a:off x="673100" y="2349500"/>
            <a:ext cx="1752600" cy="990600"/>
          </a:xfrm>
          <a:prstGeom prst="roundRect">
            <a:avLst>
              <a:gd name="adj" fmla="val 0"/>
            </a:avLst>
          </a:prstGeom>
          <a:solidFill>
            <a:srgbClr val="DDE8F7">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7" name="AutoShape 7"/>
          <p:cNvSpPr/>
          <p:nvPr/>
        </p:nvSpPr>
        <p:spPr>
          <a:xfrm>
            <a:off x="838200" y="2552700"/>
            <a:ext cx="1409700" cy="571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101600" tIns="76200" rIns="101600" bIns="76200" rtlCol="0" anchor="ctr" anchorCtr="0"/>
          <a:lstStyle/>
          <a:p>
            <a:pPr marL="0" indent="0" algn="ctr">
              <a:lnSpc>
                <a:spcPct val="100000"/>
              </a:lnSpc>
              <a:defRPr/>
            </a:pPr>
            <a:r>
              <a:rPr lang="en-US" sz="1600" b="1" i="0" u="none" strike="noStrike" dirty="0">
                <a:solidFill>
                  <a:srgbClr val="1E252B"/>
                </a:solidFill>
                <a:latin typeface="Aptos"/>
                <a:ea typeface="Aptos"/>
                <a:cs typeface="Aptos"/>
                <a:sym typeface="Aptos"/>
              </a:rPr>
              <a:t>HumanML3D</a:t>
            </a:r>
            <a:endParaRPr lang="en-US" sz="1600" dirty="0"/>
          </a:p>
          <a:p>
            <a:pPr marL="0" indent="0" algn="ctr">
              <a:lnSpc>
                <a:spcPct val="100000"/>
              </a:lnSpc>
            </a:pPr>
            <a:r>
              <a:rPr lang="en-US" sz="1600" b="1" i="0" u="none" strike="noStrike" dirty="0">
                <a:solidFill>
                  <a:srgbClr val="1E252B"/>
                </a:solidFill>
                <a:latin typeface="Aptos"/>
                <a:ea typeface="Aptos"/>
                <a:cs typeface="Aptos"/>
                <a:sym typeface="Aptos"/>
              </a:rPr>
              <a:t>style captions</a:t>
            </a:r>
          </a:p>
        </p:txBody>
      </p:sp>
      <p:sp>
        <p:nvSpPr>
          <p:cNvPr id="8" name="AutoShape 8"/>
          <p:cNvSpPr/>
          <p:nvPr/>
        </p:nvSpPr>
        <p:spPr>
          <a:xfrm>
            <a:off x="2449608" y="2705100"/>
            <a:ext cx="381000" cy="266700"/>
          </a:xfrm>
          <a:prstGeom prst="rightArrow">
            <a:avLst>
              <a:gd name="adj1" fmla="val 50000"/>
              <a:gd name="adj2" fmla="val 50000"/>
            </a:avLst>
          </a:prstGeom>
          <a:solidFill>
            <a:srgbClr val="2D344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9" name="AutoShape 9"/>
          <p:cNvSpPr/>
          <p:nvPr/>
        </p:nvSpPr>
        <p:spPr>
          <a:xfrm>
            <a:off x="2857500" y="2349500"/>
            <a:ext cx="1752600" cy="990600"/>
          </a:xfrm>
          <a:prstGeom prst="roundRect">
            <a:avLst>
              <a:gd name="adj" fmla="val 0"/>
            </a:avLst>
          </a:prstGeom>
          <a:solidFill>
            <a:srgbClr val="F2E3D6">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10" name="AutoShape 10"/>
          <p:cNvSpPr/>
          <p:nvPr/>
        </p:nvSpPr>
        <p:spPr>
          <a:xfrm>
            <a:off x="3035300" y="2552700"/>
            <a:ext cx="1409700" cy="571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101600" tIns="76200" rIns="101600" bIns="76200" rtlCol="0" anchor="ctr" anchorCtr="0"/>
          <a:lstStyle/>
          <a:p>
            <a:pPr marL="0" indent="0" algn="ctr">
              <a:lnSpc>
                <a:spcPct val="100000"/>
              </a:lnSpc>
              <a:defRPr/>
            </a:pPr>
            <a:r>
              <a:rPr lang="en-US" sz="1600" b="1" i="0" u="none" strike="noStrike" dirty="0" err="1">
                <a:solidFill>
                  <a:srgbClr val="1E252B"/>
                </a:solidFill>
                <a:latin typeface="Aptos"/>
                <a:ea typeface="Aptos"/>
                <a:cs typeface="Aptos"/>
                <a:sym typeface="Aptos"/>
              </a:rPr>
              <a:t>MoConVQ</a:t>
            </a:r>
            <a:r>
              <a:rPr lang="en-US" sz="1600" b="1" i="0" u="none" strike="noStrike" dirty="0">
                <a:solidFill>
                  <a:srgbClr val="1E252B"/>
                </a:solidFill>
                <a:latin typeface="Aptos"/>
                <a:ea typeface="Aptos"/>
                <a:cs typeface="Aptos"/>
                <a:sym typeface="Aptos"/>
              </a:rPr>
              <a:t> teacher</a:t>
            </a:r>
            <a:endParaRPr lang="en-US" sz="1600" dirty="0"/>
          </a:p>
          <a:p>
            <a:pPr marL="0" indent="0" algn="ctr">
              <a:lnSpc>
                <a:spcPct val="100000"/>
              </a:lnSpc>
            </a:pPr>
            <a:r>
              <a:rPr lang="en-US" sz="1600" b="1" i="0" u="none" strike="noStrike" dirty="0">
                <a:solidFill>
                  <a:srgbClr val="1E252B"/>
                </a:solidFill>
                <a:latin typeface="Aptos"/>
                <a:ea typeface="Aptos"/>
                <a:cs typeface="Aptos"/>
                <a:sym typeface="Aptos"/>
              </a:rPr>
              <a:t>pseudo tokens</a:t>
            </a:r>
          </a:p>
        </p:txBody>
      </p:sp>
      <p:sp>
        <p:nvSpPr>
          <p:cNvPr id="11" name="AutoShape 11"/>
          <p:cNvSpPr/>
          <p:nvPr/>
        </p:nvSpPr>
        <p:spPr>
          <a:xfrm>
            <a:off x="4641850" y="2705100"/>
            <a:ext cx="381000" cy="266700"/>
          </a:xfrm>
          <a:prstGeom prst="rightArrow">
            <a:avLst>
              <a:gd name="adj1" fmla="val 50000"/>
              <a:gd name="adj2" fmla="val 50000"/>
            </a:avLst>
          </a:prstGeom>
          <a:solidFill>
            <a:srgbClr val="2D344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2" name="AutoShape 12"/>
          <p:cNvSpPr/>
          <p:nvPr/>
        </p:nvSpPr>
        <p:spPr>
          <a:xfrm>
            <a:off x="5054600" y="2349500"/>
            <a:ext cx="1752600" cy="990600"/>
          </a:xfrm>
          <a:prstGeom prst="roundRect">
            <a:avLst>
              <a:gd name="adj" fmla="val 0"/>
            </a:avLst>
          </a:prstGeom>
          <a:solidFill>
            <a:srgbClr val="DDEBDD">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13" name="AutoShape 13"/>
          <p:cNvSpPr/>
          <p:nvPr/>
        </p:nvSpPr>
        <p:spPr>
          <a:xfrm>
            <a:off x="5219700" y="2552700"/>
            <a:ext cx="1409700" cy="571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101600" tIns="76200" rIns="101600" bIns="76200" rtlCol="0" anchor="ctr" anchorCtr="0"/>
          <a:lstStyle/>
          <a:p>
            <a:pPr marL="0" indent="0" algn="ctr">
              <a:lnSpc>
                <a:spcPct val="100000"/>
              </a:lnSpc>
              <a:defRPr/>
            </a:pPr>
            <a:r>
              <a:rPr lang="en-US" sz="1600" b="1" i="0" u="none" strike="noStrike" dirty="0">
                <a:solidFill>
                  <a:srgbClr val="1E252B"/>
                </a:solidFill>
                <a:latin typeface="Aptos"/>
                <a:ea typeface="Aptos"/>
                <a:cs typeface="Aptos"/>
                <a:sym typeface="Aptos"/>
              </a:rPr>
              <a:t>Frozen student</a:t>
            </a:r>
            <a:endParaRPr lang="en-US" sz="1600" dirty="0"/>
          </a:p>
          <a:p>
            <a:pPr marL="0" indent="0" algn="ctr">
              <a:lnSpc>
                <a:spcPct val="100000"/>
              </a:lnSpc>
            </a:pPr>
            <a:r>
              <a:rPr lang="en-US" sz="1600" b="1" i="0" u="none" strike="noStrike" dirty="0">
                <a:solidFill>
                  <a:srgbClr val="1E252B"/>
                </a:solidFill>
                <a:latin typeface="Aptos"/>
                <a:ea typeface="Aptos"/>
                <a:cs typeface="Aptos"/>
                <a:sym typeface="Aptos"/>
              </a:rPr>
              <a:t>+ </a:t>
            </a:r>
            <a:r>
              <a:rPr lang="en-US" sz="1600" b="1" i="0" u="none" strike="noStrike" dirty="0" err="1">
                <a:solidFill>
                  <a:srgbClr val="1E252B"/>
                </a:solidFill>
                <a:latin typeface="Aptos"/>
                <a:ea typeface="Aptos"/>
                <a:cs typeface="Aptos"/>
                <a:sym typeface="Aptos"/>
              </a:rPr>
              <a:t>LoRA</a:t>
            </a:r>
            <a:r>
              <a:rPr lang="en-US" sz="1600" b="1" i="0" u="none" strike="noStrike" dirty="0">
                <a:solidFill>
                  <a:srgbClr val="1E252B"/>
                </a:solidFill>
                <a:latin typeface="Aptos"/>
                <a:ea typeface="Aptos"/>
                <a:cs typeface="Aptos"/>
                <a:sym typeface="Aptos"/>
              </a:rPr>
              <a:t> adapter</a:t>
            </a:r>
          </a:p>
        </p:txBody>
      </p:sp>
      <p:sp>
        <p:nvSpPr>
          <p:cNvPr id="14" name="AutoShape 14"/>
          <p:cNvSpPr/>
          <p:nvPr/>
        </p:nvSpPr>
        <p:spPr>
          <a:xfrm>
            <a:off x="6838950" y="2705100"/>
            <a:ext cx="381000" cy="266700"/>
          </a:xfrm>
          <a:prstGeom prst="rightArrow">
            <a:avLst>
              <a:gd name="adj1" fmla="val 50000"/>
              <a:gd name="adj2" fmla="val 50000"/>
            </a:avLst>
          </a:prstGeom>
          <a:solidFill>
            <a:srgbClr val="2D344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5" name="AutoShape 15"/>
          <p:cNvSpPr/>
          <p:nvPr/>
        </p:nvSpPr>
        <p:spPr>
          <a:xfrm>
            <a:off x="7239000" y="2349500"/>
            <a:ext cx="1752600" cy="990600"/>
          </a:xfrm>
          <a:prstGeom prst="roundRect">
            <a:avLst>
              <a:gd name="adj" fmla="val 0"/>
            </a:avLst>
          </a:prstGeom>
          <a:solidFill>
            <a:srgbClr val="E7DDF1">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16" name="AutoShape 16"/>
          <p:cNvSpPr/>
          <p:nvPr/>
        </p:nvSpPr>
        <p:spPr>
          <a:xfrm>
            <a:off x="7416800" y="2552700"/>
            <a:ext cx="1409700" cy="571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101600" tIns="76200" rIns="101600" bIns="76200" rtlCol="0" anchor="ctr" anchorCtr="0"/>
          <a:lstStyle/>
          <a:p>
            <a:pPr marL="0" indent="0" algn="ctr">
              <a:lnSpc>
                <a:spcPct val="100000"/>
              </a:lnSpc>
              <a:defRPr/>
            </a:pPr>
            <a:r>
              <a:rPr lang="en-US" sz="1600" b="1" i="0" u="none" strike="noStrike" dirty="0">
                <a:solidFill>
                  <a:srgbClr val="1E252B"/>
                </a:solidFill>
                <a:latin typeface="Aptos"/>
                <a:ea typeface="Aptos"/>
                <a:cs typeface="Aptos"/>
                <a:sym typeface="Aptos"/>
              </a:rPr>
              <a:t>BVH motion</a:t>
            </a:r>
            <a:endParaRPr lang="en-US" sz="1600" dirty="0"/>
          </a:p>
          <a:p>
            <a:pPr marL="0" indent="0" algn="ctr">
              <a:lnSpc>
                <a:spcPct val="100000"/>
              </a:lnSpc>
            </a:pPr>
            <a:r>
              <a:rPr lang="en-US" sz="1600" b="1" i="0" u="none" strike="noStrike" dirty="0">
                <a:solidFill>
                  <a:srgbClr val="1E252B"/>
                </a:solidFill>
                <a:latin typeface="Aptos"/>
                <a:ea typeface="Aptos"/>
                <a:cs typeface="Aptos"/>
                <a:sym typeface="Aptos"/>
              </a:rPr>
              <a:t>outputs</a:t>
            </a:r>
          </a:p>
        </p:txBody>
      </p:sp>
      <p:sp>
        <p:nvSpPr>
          <p:cNvPr id="17" name="AutoShape 17"/>
          <p:cNvSpPr/>
          <p:nvPr/>
        </p:nvSpPr>
        <p:spPr>
          <a:xfrm>
            <a:off x="9023350" y="2705100"/>
            <a:ext cx="381000" cy="266700"/>
          </a:xfrm>
          <a:prstGeom prst="rightArrow">
            <a:avLst>
              <a:gd name="adj1" fmla="val 50000"/>
              <a:gd name="adj2" fmla="val 50000"/>
            </a:avLst>
          </a:prstGeom>
          <a:solidFill>
            <a:srgbClr val="2D344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8" name="AutoShape 18"/>
          <p:cNvSpPr/>
          <p:nvPr/>
        </p:nvSpPr>
        <p:spPr>
          <a:xfrm>
            <a:off x="9436100" y="2349500"/>
            <a:ext cx="1752600" cy="990600"/>
          </a:xfrm>
          <a:prstGeom prst="roundRect">
            <a:avLst>
              <a:gd name="adj" fmla="val 0"/>
            </a:avLst>
          </a:prstGeom>
          <a:solidFill>
            <a:srgbClr val="F0DDDA">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19" name="AutoShape 19"/>
          <p:cNvSpPr/>
          <p:nvPr/>
        </p:nvSpPr>
        <p:spPr>
          <a:xfrm>
            <a:off x="9601200" y="2552700"/>
            <a:ext cx="1409700" cy="571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101600" tIns="76200" rIns="101600" bIns="76200" rtlCol="0" anchor="ctr" anchorCtr="0"/>
          <a:lstStyle/>
          <a:p>
            <a:pPr marL="0" indent="0" algn="ctr">
              <a:lnSpc>
                <a:spcPct val="100000"/>
              </a:lnSpc>
              <a:defRPr/>
            </a:pPr>
            <a:r>
              <a:rPr lang="en-US" sz="1600" b="1" i="0" u="none" strike="noStrike" dirty="0">
                <a:solidFill>
                  <a:srgbClr val="1E252B"/>
                </a:solidFill>
                <a:latin typeface="Aptos"/>
                <a:ea typeface="Aptos"/>
                <a:cs typeface="Aptos"/>
                <a:sym typeface="Aptos"/>
              </a:rPr>
              <a:t>Style proxy</a:t>
            </a:r>
            <a:endParaRPr lang="en-US" sz="1600" dirty="0"/>
          </a:p>
          <a:p>
            <a:pPr marL="0" indent="0" algn="ctr">
              <a:lnSpc>
                <a:spcPct val="100000"/>
              </a:lnSpc>
            </a:pPr>
            <a:r>
              <a:rPr lang="en-US" sz="1600" b="1" i="0" u="none" strike="noStrike" dirty="0">
                <a:solidFill>
                  <a:srgbClr val="1E252B"/>
                </a:solidFill>
                <a:latin typeface="Aptos"/>
                <a:ea typeface="Aptos"/>
                <a:cs typeface="Aptos"/>
                <a:sym typeface="Aptos"/>
              </a:rPr>
              <a:t>metrics</a:t>
            </a:r>
          </a:p>
        </p:txBody>
      </p:sp>
      <p:sp>
        <p:nvSpPr>
          <p:cNvPr id="20" name="AutoShape 20"/>
          <p:cNvSpPr/>
          <p:nvPr/>
        </p:nvSpPr>
        <p:spPr>
          <a:xfrm>
            <a:off x="3378200" y="3606800"/>
            <a:ext cx="25400" cy="533400"/>
          </a:xfrm>
          <a:prstGeom prst="roundRect">
            <a:avLst>
              <a:gd name="adj" fmla="val 0"/>
            </a:avLst>
          </a:prstGeom>
          <a:solidFill>
            <a:srgbClr val="A7A19A">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1" name="AutoShape 21"/>
          <p:cNvSpPr/>
          <p:nvPr/>
        </p:nvSpPr>
        <p:spPr>
          <a:xfrm>
            <a:off x="2692400" y="4267200"/>
            <a:ext cx="2006600" cy="5588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ctr">
              <a:lnSpc>
                <a:spcPct val="100000"/>
              </a:lnSpc>
              <a:defRPr/>
            </a:pPr>
            <a:r>
              <a:rPr lang="en-US" sz="1400" b="0" i="0" u="none" strike="noStrike">
                <a:solidFill>
                  <a:srgbClr val="B15A35"/>
                </a:solidFill>
                <a:latin typeface="Aptos"/>
                <a:ea typeface="Aptos"/>
                <a:cs typeface="Aptos"/>
                <a:sym typeface="Aptos"/>
              </a:rPr>
              <a:t>distillation target</a:t>
            </a:r>
            <a:endParaRPr lang="en-US" sz="1100"/>
          </a:p>
        </p:txBody>
      </p:sp>
      <p:sp>
        <p:nvSpPr>
          <p:cNvPr id="22" name="AutoShape 22"/>
          <p:cNvSpPr/>
          <p:nvPr/>
        </p:nvSpPr>
        <p:spPr>
          <a:xfrm>
            <a:off x="5600700" y="3606800"/>
            <a:ext cx="25400" cy="533400"/>
          </a:xfrm>
          <a:prstGeom prst="roundRect">
            <a:avLst>
              <a:gd name="adj" fmla="val 0"/>
            </a:avLst>
          </a:prstGeom>
          <a:solidFill>
            <a:srgbClr val="A7A19A">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3" name="AutoShape 23"/>
          <p:cNvSpPr/>
          <p:nvPr/>
        </p:nvSpPr>
        <p:spPr>
          <a:xfrm>
            <a:off x="4914900" y="4267200"/>
            <a:ext cx="2006600" cy="5588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ctr">
              <a:lnSpc>
                <a:spcPct val="100000"/>
              </a:lnSpc>
              <a:defRPr/>
            </a:pPr>
            <a:r>
              <a:rPr lang="en-US" sz="1400" b="0" i="0" u="none" strike="noStrike">
                <a:solidFill>
                  <a:srgbClr val="167C80"/>
                </a:solidFill>
                <a:latin typeface="Aptos"/>
                <a:ea typeface="Aptos"/>
                <a:cs typeface="Aptos"/>
                <a:sym typeface="Aptos"/>
              </a:rPr>
              <a:t>train low-rank updates</a:t>
            </a:r>
            <a:endParaRPr lang="en-US" sz="1100"/>
          </a:p>
          <a:p>
            <a:pPr marL="0" indent="0" algn="ctr">
              <a:lnSpc>
                <a:spcPct val="100000"/>
              </a:lnSpc>
            </a:pPr>
            <a:r>
              <a:rPr lang="en-US" sz="1400" b="0" i="0" u="none" strike="noStrike">
                <a:solidFill>
                  <a:srgbClr val="167C80"/>
                </a:solidFill>
                <a:latin typeface="Aptos"/>
                <a:ea typeface="Aptos"/>
                <a:cs typeface="Aptos"/>
                <a:sym typeface="Aptos"/>
              </a:rPr>
              <a:t>freeze decoder/controller</a:t>
            </a:r>
          </a:p>
        </p:txBody>
      </p:sp>
      <p:sp>
        <p:nvSpPr>
          <p:cNvPr id="24" name="AutoShape 24"/>
          <p:cNvSpPr/>
          <p:nvPr/>
        </p:nvSpPr>
        <p:spPr>
          <a:xfrm>
            <a:off x="8293100" y="3606800"/>
            <a:ext cx="25400" cy="533400"/>
          </a:xfrm>
          <a:prstGeom prst="roundRect">
            <a:avLst>
              <a:gd name="adj" fmla="val 0"/>
            </a:avLst>
          </a:prstGeom>
          <a:solidFill>
            <a:srgbClr val="A7A19A">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5" name="AutoShape 25"/>
          <p:cNvSpPr/>
          <p:nvPr/>
        </p:nvSpPr>
        <p:spPr>
          <a:xfrm>
            <a:off x="7607300" y="4267200"/>
            <a:ext cx="2006600" cy="5588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ctr">
              <a:lnSpc>
                <a:spcPct val="100000"/>
              </a:lnSpc>
              <a:defRPr/>
            </a:pPr>
            <a:r>
              <a:rPr lang="en-US" sz="1400" b="0" i="0" u="none" strike="noStrike">
                <a:solidFill>
                  <a:srgbClr val="2F7DE1"/>
                </a:solidFill>
                <a:latin typeface="Aptos"/>
                <a:ea typeface="Aptos"/>
                <a:cs typeface="Aptos"/>
                <a:sym typeface="Aptos"/>
              </a:rPr>
              <a:t>render and parse</a:t>
            </a:r>
            <a:endParaRPr lang="en-US" sz="1100"/>
          </a:p>
          <a:p>
            <a:pPr marL="0" indent="0" algn="ctr">
              <a:lnSpc>
                <a:spcPct val="100000"/>
              </a:lnSpc>
            </a:pPr>
            <a:r>
              <a:rPr lang="en-US" sz="1400" b="0" i="0" u="none" strike="noStrike">
                <a:solidFill>
                  <a:srgbClr val="2F7DE1"/>
                </a:solidFill>
                <a:latin typeface="Aptos"/>
                <a:ea typeface="Aptos"/>
                <a:cs typeface="Aptos"/>
                <a:sym typeface="Aptos"/>
              </a:rPr>
              <a:t>kinematic motion files</a:t>
            </a:r>
          </a:p>
        </p:txBody>
      </p:sp>
      <p:sp>
        <p:nvSpPr>
          <p:cNvPr id="26" name="AutoShape 26"/>
          <p:cNvSpPr/>
          <p:nvPr/>
        </p:nvSpPr>
        <p:spPr>
          <a:xfrm>
            <a:off x="1181100" y="5257800"/>
            <a:ext cx="9829800" cy="4826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ctr">
              <a:lnSpc>
                <a:spcPct val="100000"/>
              </a:lnSpc>
              <a:defRPr/>
            </a:pPr>
            <a:r>
              <a:rPr lang="en-US" sz="1900" b="1" i="0" u="none" strike="noStrike">
                <a:solidFill>
                  <a:srgbClr val="1E252B"/>
                </a:solidFill>
                <a:latin typeface="Play"/>
                <a:ea typeface="Play"/>
                <a:cs typeface="Play"/>
                <a:sym typeface="Play"/>
              </a:rPr>
              <a:t>Evaluation separates three signals: teacher-token learning, BVH kinematic proxy movement, and qualitative motion inspection.</a:t>
            </a:r>
            <a:endParaRPr lang="en-US" sz="1100"/>
          </a:p>
        </p:txBody>
      </p:sp>
      <p:sp>
        <p:nvSpPr>
          <p:cNvPr id="27" name="AutoShape 27"/>
          <p:cNvSpPr/>
          <p:nvPr/>
        </p:nvSpPr>
        <p:spPr>
          <a:xfrm>
            <a:off x="685800" y="6350000"/>
            <a:ext cx="10820400" cy="12700"/>
          </a:xfrm>
          <a:prstGeom prst="roundRect">
            <a:avLst>
              <a:gd name="adj" fmla="val 0"/>
            </a:avLst>
          </a:prstGeom>
          <a:solidFill>
            <a:srgbClr val="D8D0C2">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8" name="AutoShape 28"/>
          <p:cNvSpPr/>
          <p:nvPr/>
        </p:nvSpPr>
        <p:spPr>
          <a:xfrm>
            <a:off x="685800" y="6426200"/>
            <a:ext cx="5905500" cy="190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800" b="0" i="0" u="none" strike="noStrike">
                <a:solidFill>
                  <a:srgbClr val="7A746A"/>
                </a:solidFill>
                <a:latin typeface="Aptos"/>
                <a:ea typeface="Aptos"/>
                <a:cs typeface="Aptos"/>
                <a:sym typeface="Aptos"/>
              </a:rPr>
              <a:t>Source: LoRA Adaptation Pipeline Methodology &amp; Evaluation Framework</a:t>
            </a:r>
            <a:endParaRPr lang="en-US" sz="1100"/>
          </a:p>
        </p:txBody>
      </p:sp>
      <p:sp>
        <p:nvSpPr>
          <p:cNvPr id="29" name="AutoShape 29"/>
          <p:cNvSpPr/>
          <p:nvPr/>
        </p:nvSpPr>
        <p:spPr>
          <a:xfrm>
            <a:off x="9626600" y="6426200"/>
            <a:ext cx="1892300" cy="190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r">
              <a:lnSpc>
                <a:spcPct val="100000"/>
              </a:lnSpc>
              <a:defRPr/>
            </a:pPr>
            <a:r>
              <a:rPr lang="en-US" sz="800" b="0" i="0" u="none" strike="noStrike">
                <a:solidFill>
                  <a:srgbClr val="7A746A"/>
                </a:solidFill>
                <a:latin typeface="Aptos"/>
                <a:ea typeface="Aptos"/>
                <a:cs typeface="Aptos"/>
                <a:sym typeface="Aptos"/>
              </a:rPr>
              <a:t>4 / 8 - Final Method</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7F4ED">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685800" y="419100"/>
            <a:ext cx="266700" cy="381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1066800" y="330200"/>
            <a:ext cx="4953000" cy="2540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ctr" anchorCtr="0"/>
          <a:lstStyle/>
          <a:p>
            <a:pPr marL="0" indent="0" algn="l">
              <a:lnSpc>
                <a:spcPct val="100000"/>
              </a:lnSpc>
              <a:defRPr/>
            </a:pPr>
            <a:r>
              <a:rPr lang="en-US" sz="1000" b="1" i="0" u="none" strike="noStrike">
                <a:solidFill>
                  <a:srgbClr val="5E6975"/>
                </a:solidFill>
                <a:latin typeface="Aptos"/>
                <a:ea typeface="Aptos"/>
                <a:cs typeface="Aptos"/>
                <a:sym typeface="Aptos"/>
              </a:rPr>
              <a:t>EXPERIMENTAL SETUP</a:t>
            </a:r>
            <a:endParaRPr lang="en-US" sz="1100"/>
          </a:p>
        </p:txBody>
      </p:sp>
      <p:sp>
        <p:nvSpPr>
          <p:cNvPr id="5" name="AutoShape 5"/>
          <p:cNvSpPr/>
          <p:nvPr/>
        </p:nvSpPr>
        <p:spPr>
          <a:xfrm>
            <a:off x="685800" y="723900"/>
            <a:ext cx="8953500" cy="676656"/>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2500"/>
            </a:pPr>
            <a:r>
              <a:rPr lang="en-US" sz="2500" b="1" i="0" u="none" strike="noStrike">
                <a:solidFill>
                  <a:srgbClr val="1E252B"/>
                </a:solidFill>
                <a:latin typeface="Play"/>
                <a:ea typeface="Play"/>
                <a:cs typeface="Play"/>
                <a:sym typeface="Play"/>
              </a:rPr>
              <a:t>Setup: small LoRA adapter, frozen motion stack, measured proxies.</a:t>
            </a:r>
            <a:endParaRPr lang="en-US" sz="1100"/>
          </a:p>
        </p:txBody>
      </p:sp>
      <p:sp>
        <p:nvSpPr>
          <p:cNvPr id="6" name="AutoShape 6"/>
          <p:cNvSpPr/>
          <p:nvPr/>
        </p:nvSpPr>
        <p:spPr>
          <a:xfrm>
            <a:off x="685800" y="1968500"/>
            <a:ext cx="3162300" cy="3263900"/>
          </a:xfrm>
          <a:prstGeom prst="roundRect">
            <a:avLst>
              <a:gd name="adj" fmla="val 0"/>
            </a:avLst>
          </a:prstGeom>
          <a:solidFill>
            <a:srgbClr val="DDE8F7">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7" name="AutoShape 7"/>
          <p:cNvSpPr/>
          <p:nvPr/>
        </p:nvSpPr>
        <p:spPr>
          <a:xfrm>
            <a:off x="914400" y="2197100"/>
            <a:ext cx="2667000" cy="2159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900" b="1" i="0" u="none" strike="noStrike">
                <a:solidFill>
                  <a:srgbClr val="2F7DE1"/>
                </a:solidFill>
                <a:latin typeface="Aptos"/>
                <a:ea typeface="Aptos"/>
                <a:cs typeface="Aptos"/>
                <a:sym typeface="Aptos"/>
              </a:rPr>
              <a:t>IMPLEMENTATION DETAILS</a:t>
            </a:r>
            <a:endParaRPr lang="en-US" sz="1100"/>
          </a:p>
        </p:txBody>
      </p:sp>
      <p:sp>
        <p:nvSpPr>
          <p:cNvPr id="8" name="AutoShape 8"/>
          <p:cNvSpPr/>
          <p:nvPr/>
        </p:nvSpPr>
        <p:spPr>
          <a:xfrm>
            <a:off x="914400" y="2514600"/>
            <a:ext cx="2628900" cy="6731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2000" b="1" i="0" u="none" strike="noStrike">
                <a:solidFill>
                  <a:srgbClr val="1E252B"/>
                </a:solidFill>
                <a:latin typeface="Play"/>
                <a:ea typeface="Play"/>
                <a:cs typeface="Play"/>
                <a:sym typeface="Play"/>
              </a:rPr>
              <a:t>Model &amp; Data Config</a:t>
            </a:r>
            <a:endParaRPr lang="en-US" sz="1100"/>
          </a:p>
        </p:txBody>
      </p:sp>
      <p:sp>
        <p:nvSpPr>
          <p:cNvPr id="9" name="AutoShape 9"/>
          <p:cNvSpPr/>
          <p:nvPr/>
        </p:nvSpPr>
        <p:spPr>
          <a:xfrm>
            <a:off x="914400" y="3441700"/>
            <a:ext cx="88900" cy="88900"/>
          </a:xfrm>
          <a:prstGeom prst="roundRect">
            <a:avLst>
              <a:gd name="adj" fmla="val 0"/>
            </a:avLst>
          </a:prstGeom>
          <a:solidFill>
            <a:srgbClr val="2F7DE1">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0" name="AutoShape 10"/>
          <p:cNvSpPr/>
          <p:nvPr/>
        </p:nvSpPr>
        <p:spPr>
          <a:xfrm>
            <a:off x="1143000" y="3352800"/>
            <a:ext cx="2463800" cy="52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0" i="0" u="none" strike="noStrike">
                <a:solidFill>
                  <a:srgbClr val="1E252B"/>
                </a:solidFill>
                <a:latin typeface="Aptos"/>
                <a:ea typeface="Aptos"/>
                <a:cs typeface="Aptos"/>
                <a:sym typeface="Aptos"/>
              </a:rPr>
              <a:t>Baseline: Official pre-trained MoConVQ model; Data: 200 curated style captions from HumanML3D subset.</a:t>
            </a:r>
            <a:endParaRPr lang="en-US" sz="1100"/>
          </a:p>
        </p:txBody>
      </p:sp>
      <p:sp>
        <p:nvSpPr>
          <p:cNvPr id="11" name="AutoShape 11"/>
          <p:cNvSpPr/>
          <p:nvPr/>
        </p:nvSpPr>
        <p:spPr>
          <a:xfrm>
            <a:off x="914400" y="4241800"/>
            <a:ext cx="88900" cy="88900"/>
          </a:xfrm>
          <a:prstGeom prst="roundRect">
            <a:avLst>
              <a:gd name="adj" fmla="val 0"/>
            </a:avLst>
          </a:prstGeom>
          <a:solidFill>
            <a:srgbClr val="2F7DE1">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2" name="AutoShape 12"/>
          <p:cNvSpPr/>
          <p:nvPr/>
        </p:nvSpPr>
        <p:spPr>
          <a:xfrm>
            <a:off x="1143000" y="4165600"/>
            <a:ext cx="2463800" cy="825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0" i="0" u="none" strike="noStrike">
                <a:solidFill>
                  <a:srgbClr val="1E252B"/>
                </a:solidFill>
                <a:latin typeface="Aptos"/>
                <a:ea typeface="Aptos"/>
                <a:cs typeface="Aptos"/>
                <a:sym typeface="Aptos"/>
              </a:rPr>
              <a:t>LoRA: Rank=8, Alpha=16, Dropout=0.05. Only 1.97M params (1.005%) trained for extreme efficiency.</a:t>
            </a:r>
            <a:endParaRPr lang="en-US" sz="1100"/>
          </a:p>
        </p:txBody>
      </p:sp>
      <p:sp>
        <p:nvSpPr>
          <p:cNvPr id="13" name="AutoShape 13"/>
          <p:cNvSpPr/>
          <p:nvPr/>
        </p:nvSpPr>
        <p:spPr>
          <a:xfrm>
            <a:off x="4521200" y="1968500"/>
            <a:ext cx="3162300" cy="3263900"/>
          </a:xfrm>
          <a:prstGeom prst="roundRect">
            <a:avLst>
              <a:gd name="adj" fmla="val 0"/>
            </a:avLst>
          </a:prstGeom>
          <a:solidFill>
            <a:srgbClr val="F3E0D5">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14" name="AutoShape 14"/>
          <p:cNvSpPr/>
          <p:nvPr/>
        </p:nvSpPr>
        <p:spPr>
          <a:xfrm>
            <a:off x="4749800" y="2197100"/>
            <a:ext cx="2667000" cy="2159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900" b="1" i="0" u="none" strike="noStrike">
                <a:solidFill>
                  <a:srgbClr val="B15A35"/>
                </a:solidFill>
                <a:latin typeface="Aptos"/>
                <a:ea typeface="Aptos"/>
                <a:cs typeface="Aptos"/>
                <a:sym typeface="Aptos"/>
              </a:rPr>
              <a:t>TRAINING PROCEDURE</a:t>
            </a:r>
            <a:endParaRPr lang="en-US" sz="1100"/>
          </a:p>
        </p:txBody>
      </p:sp>
      <p:sp>
        <p:nvSpPr>
          <p:cNvPr id="15" name="AutoShape 15"/>
          <p:cNvSpPr/>
          <p:nvPr/>
        </p:nvSpPr>
        <p:spPr>
          <a:xfrm>
            <a:off x="4749800" y="2514600"/>
            <a:ext cx="2628900" cy="6731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2000" b="1" i="0" u="none" strike="noStrike">
                <a:solidFill>
                  <a:srgbClr val="1E252B"/>
                </a:solidFill>
                <a:latin typeface="Play"/>
                <a:ea typeface="Play"/>
                <a:cs typeface="Play"/>
                <a:sym typeface="Play"/>
              </a:rPr>
              <a:t>Dual-Phase Optimization</a:t>
            </a:r>
            <a:endParaRPr lang="en-US" sz="1100"/>
          </a:p>
        </p:txBody>
      </p:sp>
      <p:sp>
        <p:nvSpPr>
          <p:cNvPr id="16" name="AutoShape 16"/>
          <p:cNvSpPr/>
          <p:nvPr/>
        </p:nvSpPr>
        <p:spPr>
          <a:xfrm>
            <a:off x="4749800" y="3441700"/>
            <a:ext cx="88900" cy="88900"/>
          </a:xfrm>
          <a:prstGeom prst="roundRect">
            <a:avLst>
              <a:gd name="adj" fmla="val 0"/>
            </a:avLst>
          </a:prstGeom>
          <a:solidFill>
            <a:srgbClr val="B15A35">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7" name="AutoShape 17"/>
          <p:cNvSpPr/>
          <p:nvPr/>
        </p:nvSpPr>
        <p:spPr>
          <a:xfrm>
            <a:off x="4978400" y="3352800"/>
            <a:ext cx="2463800" cy="52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0" i="0" u="none" strike="noStrike">
                <a:solidFill>
                  <a:srgbClr val="1E252B"/>
                </a:solidFill>
                <a:latin typeface="Aptos"/>
                <a:ea typeface="Aptos"/>
                <a:cs typeface="Aptos"/>
                <a:sym typeface="Aptos"/>
              </a:rPr>
              <a:t>Initial Phase: Train the LoRA adapter for 5 epochs to capture core style patterns from data.</a:t>
            </a:r>
            <a:endParaRPr lang="en-US" sz="1100"/>
          </a:p>
        </p:txBody>
      </p:sp>
      <p:sp>
        <p:nvSpPr>
          <p:cNvPr id="18" name="AutoShape 18"/>
          <p:cNvSpPr/>
          <p:nvPr/>
        </p:nvSpPr>
        <p:spPr>
          <a:xfrm>
            <a:off x="4749800" y="4241800"/>
            <a:ext cx="88900" cy="88900"/>
          </a:xfrm>
          <a:prstGeom prst="roundRect">
            <a:avLst>
              <a:gd name="adj" fmla="val 0"/>
            </a:avLst>
          </a:prstGeom>
          <a:solidFill>
            <a:srgbClr val="B15A35">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9" name="AutoShape 19"/>
          <p:cNvSpPr/>
          <p:nvPr/>
        </p:nvSpPr>
        <p:spPr>
          <a:xfrm>
            <a:off x="4978400" y="4165600"/>
            <a:ext cx="2463800" cy="825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0" i="0" u="none" strike="noStrike">
                <a:solidFill>
                  <a:srgbClr val="1E252B"/>
                </a:solidFill>
                <a:latin typeface="Aptos"/>
                <a:ea typeface="Aptos"/>
                <a:cs typeface="Aptos"/>
                <a:sym typeface="Aptos"/>
              </a:rPr>
              <a:t>Refinement: Select best checkpoint, then fine-tune for 2 epochs with lower LR for conservative stabilization.</a:t>
            </a:r>
            <a:endParaRPr lang="en-US" sz="1100"/>
          </a:p>
        </p:txBody>
      </p:sp>
      <p:sp>
        <p:nvSpPr>
          <p:cNvPr id="20" name="AutoShape 20"/>
          <p:cNvSpPr/>
          <p:nvPr/>
        </p:nvSpPr>
        <p:spPr>
          <a:xfrm>
            <a:off x="8343900" y="1968500"/>
            <a:ext cx="3162300" cy="3263900"/>
          </a:xfrm>
          <a:prstGeom prst="roundRect">
            <a:avLst>
              <a:gd name="adj" fmla="val 0"/>
            </a:avLst>
          </a:prstGeom>
          <a:solidFill>
            <a:srgbClr val="DDEBDD">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21" name="AutoShape 21"/>
          <p:cNvSpPr/>
          <p:nvPr/>
        </p:nvSpPr>
        <p:spPr>
          <a:xfrm>
            <a:off x="8572500" y="2197100"/>
            <a:ext cx="2667000" cy="2159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900" b="1" i="0" u="none" strike="noStrike">
                <a:solidFill>
                  <a:srgbClr val="167C80"/>
                </a:solidFill>
                <a:latin typeface="Aptos"/>
                <a:ea typeface="Aptos"/>
                <a:cs typeface="Aptos"/>
                <a:sym typeface="Aptos"/>
              </a:rPr>
              <a:t>EVALUATION METRICS</a:t>
            </a:r>
            <a:endParaRPr lang="en-US" sz="1100"/>
          </a:p>
        </p:txBody>
      </p:sp>
      <p:sp>
        <p:nvSpPr>
          <p:cNvPr id="22" name="AutoShape 22"/>
          <p:cNvSpPr/>
          <p:nvPr/>
        </p:nvSpPr>
        <p:spPr>
          <a:xfrm>
            <a:off x="8572500" y="2514600"/>
            <a:ext cx="2628900" cy="6731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2000" b="1" i="0" u="none" strike="noStrike">
                <a:solidFill>
                  <a:srgbClr val="1E252B"/>
                </a:solidFill>
                <a:latin typeface="Play"/>
                <a:ea typeface="Play"/>
                <a:cs typeface="Play"/>
                <a:sym typeface="Play"/>
              </a:rPr>
              <a:t>Quantitative &amp; Qualitative</a:t>
            </a:r>
            <a:endParaRPr lang="en-US" sz="1100"/>
          </a:p>
        </p:txBody>
      </p:sp>
      <p:sp>
        <p:nvSpPr>
          <p:cNvPr id="23" name="AutoShape 23"/>
          <p:cNvSpPr/>
          <p:nvPr/>
        </p:nvSpPr>
        <p:spPr>
          <a:xfrm>
            <a:off x="8572500" y="3441700"/>
            <a:ext cx="88900" cy="889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4" name="AutoShape 24"/>
          <p:cNvSpPr/>
          <p:nvPr/>
        </p:nvSpPr>
        <p:spPr>
          <a:xfrm>
            <a:off x="8801100" y="3352800"/>
            <a:ext cx="2463800" cy="5207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0" i="0" u="none" strike="noStrike">
                <a:solidFill>
                  <a:srgbClr val="1E252B"/>
                </a:solidFill>
                <a:latin typeface="Aptos"/>
                <a:ea typeface="Aptos"/>
                <a:cs typeface="Aptos"/>
                <a:sym typeface="Aptos"/>
              </a:rPr>
              <a:t>Training Loss: Verify adapter aligns with teacher's distribution; BVH Proxy: 8 kinematic metrics (speed, jerk).</a:t>
            </a:r>
            <a:endParaRPr lang="en-US" sz="1100"/>
          </a:p>
        </p:txBody>
      </p:sp>
      <p:sp>
        <p:nvSpPr>
          <p:cNvPr id="25" name="AutoShape 25"/>
          <p:cNvSpPr/>
          <p:nvPr/>
        </p:nvSpPr>
        <p:spPr>
          <a:xfrm>
            <a:off x="8572500" y="4241800"/>
            <a:ext cx="88900" cy="889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6" name="AutoShape 26"/>
          <p:cNvSpPr/>
          <p:nvPr/>
        </p:nvSpPr>
        <p:spPr>
          <a:xfrm>
            <a:off x="8801100" y="4165600"/>
            <a:ext cx="2463800" cy="825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0" i="0" u="none" strike="noStrike">
                <a:solidFill>
                  <a:srgbClr val="1E252B"/>
                </a:solidFill>
                <a:latin typeface="Aptos"/>
                <a:ea typeface="Aptos"/>
                <a:cs typeface="Aptos"/>
                <a:sym typeface="Aptos"/>
              </a:rPr>
              <a:t>Visual Inspection: Render stick-figure animations to qualitatively assess style transfer and motion coherence.</a:t>
            </a:r>
            <a:endParaRPr lang="en-US" sz="1100"/>
          </a:p>
        </p:txBody>
      </p:sp>
      <p:sp>
        <p:nvSpPr>
          <p:cNvPr id="27" name="AutoShape 27"/>
          <p:cNvSpPr/>
          <p:nvPr/>
        </p:nvSpPr>
        <p:spPr>
          <a:xfrm>
            <a:off x="685800" y="5626100"/>
            <a:ext cx="10820400" cy="406400"/>
          </a:xfrm>
          <a:prstGeom prst="roundRect">
            <a:avLst>
              <a:gd name="adj" fmla="val 0"/>
            </a:avLst>
          </a:prstGeom>
          <a:solidFill>
            <a:srgbClr val="2D344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8" name="AutoShape 28"/>
          <p:cNvSpPr/>
          <p:nvPr/>
        </p:nvSpPr>
        <p:spPr>
          <a:xfrm>
            <a:off x="977900" y="5715000"/>
            <a:ext cx="10172700" cy="2286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1050"/>
            </a:pPr>
            <a:r>
              <a:rPr lang="en-US" sz="1050" b="1" i="0" u="none" strike="noStrike">
                <a:solidFill>
                  <a:srgbClr val="FFFFFF"/>
                </a:solidFill>
                <a:latin typeface="Aptos"/>
                <a:ea typeface="Aptos"/>
                <a:cs typeface="Aptos"/>
                <a:sym typeface="Aptos"/>
              </a:rPr>
              <a:t>Key Outcome: Efficient LoRA adaptation achieved 1% parameter tuning with robust style capture and measurable motion quality.</a:t>
            </a:r>
            <a:endParaRPr lang="en-US" sz="1100"/>
          </a:p>
        </p:txBody>
      </p:sp>
      <p:sp>
        <p:nvSpPr>
          <p:cNvPr id="29" name="AutoShape 29"/>
          <p:cNvSpPr/>
          <p:nvPr/>
        </p:nvSpPr>
        <p:spPr>
          <a:xfrm>
            <a:off x="685800" y="6350000"/>
            <a:ext cx="10820400" cy="12700"/>
          </a:xfrm>
          <a:prstGeom prst="roundRect">
            <a:avLst>
              <a:gd name="adj" fmla="val 0"/>
            </a:avLst>
          </a:prstGeom>
          <a:solidFill>
            <a:srgbClr val="D8D0C2">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30" name="AutoShape 30"/>
          <p:cNvSpPr/>
          <p:nvPr/>
        </p:nvSpPr>
        <p:spPr>
          <a:xfrm>
            <a:off x="685800" y="6426200"/>
            <a:ext cx="5905500" cy="190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800" b="0" i="0" u="none" strike="noStrike">
                <a:solidFill>
                  <a:srgbClr val="7A746A"/>
                </a:solidFill>
                <a:latin typeface="Aptos"/>
                <a:ea typeface="Aptos"/>
                <a:cs typeface="Aptos"/>
                <a:sym typeface="Aptos"/>
              </a:rPr>
              <a:t>Source: Experimental Protocol; Model Architecture &amp; Evaluation Methods</a:t>
            </a:r>
            <a:endParaRPr lang="en-US" sz="1100"/>
          </a:p>
        </p:txBody>
      </p:sp>
      <p:sp>
        <p:nvSpPr>
          <p:cNvPr id="31" name="AutoShape 31"/>
          <p:cNvSpPr/>
          <p:nvPr/>
        </p:nvSpPr>
        <p:spPr>
          <a:xfrm>
            <a:off x="9626600" y="6426200"/>
            <a:ext cx="1892300" cy="190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r">
              <a:lnSpc>
                <a:spcPct val="100000"/>
              </a:lnSpc>
              <a:defRPr/>
            </a:pPr>
            <a:r>
              <a:rPr lang="en-US" sz="800" b="0" i="0" u="none" strike="noStrike">
                <a:solidFill>
                  <a:srgbClr val="7A746A"/>
                </a:solidFill>
                <a:latin typeface="Aptos"/>
                <a:ea typeface="Aptos"/>
                <a:cs typeface="Aptos"/>
                <a:sym typeface="Aptos"/>
              </a:rPr>
              <a:t>5 / 8 - Experimental Setup</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7F4ED">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685800" y="419100"/>
            <a:ext cx="266700" cy="381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1066800" y="330200"/>
            <a:ext cx="4953000" cy="2540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ctr" anchorCtr="0"/>
          <a:lstStyle/>
          <a:p>
            <a:pPr marL="0" indent="0" algn="l">
              <a:lnSpc>
                <a:spcPct val="100000"/>
              </a:lnSpc>
              <a:defRPr/>
            </a:pPr>
            <a:r>
              <a:rPr lang="en-US" sz="1000" b="1" i="0" u="none" strike="noStrike">
                <a:solidFill>
                  <a:srgbClr val="5E6975"/>
                </a:solidFill>
                <a:latin typeface="Aptos"/>
                <a:ea typeface="Aptos"/>
                <a:cs typeface="Aptos"/>
                <a:sym typeface="Aptos"/>
              </a:rPr>
              <a:t>TRAINING EVIDENCE</a:t>
            </a:r>
            <a:endParaRPr lang="en-US" sz="1100"/>
          </a:p>
        </p:txBody>
      </p:sp>
      <p:sp>
        <p:nvSpPr>
          <p:cNvPr id="5" name="AutoShape 5"/>
          <p:cNvSpPr/>
          <p:nvPr/>
        </p:nvSpPr>
        <p:spPr>
          <a:xfrm>
            <a:off x="685800" y="723900"/>
            <a:ext cx="10241280" cy="694944"/>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2500"/>
            </a:pPr>
            <a:r>
              <a:rPr lang="en-US" sz="2500" b="1" i="0" u="none" strike="noStrike">
                <a:solidFill>
                  <a:srgbClr val="1E252B"/>
                </a:solidFill>
                <a:latin typeface="Play"/>
                <a:ea typeface="Play"/>
                <a:cs typeface="Play"/>
                <a:sym typeface="Play"/>
              </a:rPr>
              <a:t>Held-out pseudo-token loss supports continued LoRA.</a:t>
            </a:r>
            <a:endParaRPr lang="en-US" sz="1100"/>
          </a:p>
        </p:txBody>
      </p:sp>
      <p:sp>
        <p:nvSpPr>
          <p:cNvPr id="6" name="AutoShape 6"/>
          <p:cNvSpPr/>
          <p:nvPr/>
        </p:nvSpPr>
        <p:spPr>
          <a:xfrm>
            <a:off x="660400" y="1574800"/>
            <a:ext cx="6743700" cy="4038600"/>
          </a:xfrm>
          <a:prstGeom prst="roundRect">
            <a:avLst>
              <a:gd name="adj" fmla="val 0"/>
            </a:avLst>
          </a:prstGeom>
          <a:solidFill>
            <a:srgbClr val="FFFFFF">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3"/>
          <a:srcRect t="3499" b="3499"/>
          <a:stretch>
            <a:fillRect/>
          </a:stretch>
        </p:blipFill>
        <p:spPr>
          <a:xfrm>
            <a:off x="841248" y="1737360"/>
            <a:ext cx="6355080" cy="3630168"/>
          </a:xfrm>
          <a:prstGeom prst="rect">
            <a:avLst/>
          </a:prstGeom>
          <a:noFill/>
          <a:ln w="25400" cap="flat" cmpd="sng">
            <a:noFill/>
            <a:prstDash val="solid"/>
            <a:round/>
          </a:ln>
        </p:spPr>
      </p:pic>
      <p:sp>
        <p:nvSpPr>
          <p:cNvPr id="8" name="AutoShape 8"/>
          <p:cNvSpPr/>
          <p:nvPr/>
        </p:nvSpPr>
        <p:spPr>
          <a:xfrm>
            <a:off x="7569200" y="1676400"/>
            <a:ext cx="3619500" cy="901700"/>
          </a:xfrm>
          <a:prstGeom prst="roundRect">
            <a:avLst>
              <a:gd name="adj" fmla="val 0"/>
            </a:avLst>
          </a:prstGeom>
          <a:solidFill>
            <a:srgbClr val="FFFFFF">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9" name="AutoShape 9"/>
          <p:cNvSpPr/>
          <p:nvPr/>
        </p:nvSpPr>
        <p:spPr>
          <a:xfrm>
            <a:off x="7569200" y="1676400"/>
            <a:ext cx="76200" cy="901700"/>
          </a:xfrm>
          <a:prstGeom prst="roundRect">
            <a:avLst>
              <a:gd name="adj" fmla="val 0"/>
            </a:avLst>
          </a:prstGeom>
          <a:solidFill>
            <a:srgbClr val="2F7DE1">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0" name="AutoShape 10"/>
          <p:cNvSpPr/>
          <p:nvPr/>
        </p:nvSpPr>
        <p:spPr>
          <a:xfrm>
            <a:off x="7823200" y="1778000"/>
            <a:ext cx="3162300" cy="2921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600" b="1" i="0" u="none" strike="noStrike" dirty="0">
                <a:solidFill>
                  <a:srgbClr val="2F7DE1"/>
                </a:solidFill>
                <a:latin typeface="Play"/>
                <a:ea typeface="Play"/>
                <a:cs typeface="Play"/>
                <a:sym typeface="Play"/>
              </a:rPr>
              <a:t>0.1019 / 0.0693 -&gt; 0.0669 / 0.0669</a:t>
            </a:r>
            <a:endParaRPr lang="en-US" sz="1600" dirty="0"/>
          </a:p>
        </p:txBody>
      </p:sp>
      <p:sp>
        <p:nvSpPr>
          <p:cNvPr id="11" name="AutoShape 11"/>
          <p:cNvSpPr/>
          <p:nvPr/>
        </p:nvSpPr>
        <p:spPr>
          <a:xfrm>
            <a:off x="7823200" y="2082800"/>
            <a:ext cx="3162300" cy="1778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000" b="1" i="0" u="none" strike="noStrike">
                <a:solidFill>
                  <a:srgbClr val="1E252B"/>
                </a:solidFill>
                <a:latin typeface="Aptos"/>
                <a:ea typeface="Aptos"/>
                <a:cs typeface="Aptos"/>
                <a:sym typeface="Aptos"/>
              </a:rPr>
              <a:t>Train / validation diagnostic</a:t>
            </a:r>
            <a:endParaRPr lang="en-US" sz="1100"/>
          </a:p>
        </p:txBody>
      </p:sp>
      <p:sp>
        <p:nvSpPr>
          <p:cNvPr id="12" name="AutoShape 12"/>
          <p:cNvSpPr/>
          <p:nvPr/>
        </p:nvSpPr>
        <p:spPr>
          <a:xfrm>
            <a:off x="7823200" y="2295144"/>
            <a:ext cx="3162300" cy="3048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800" b="0" i="0" u="none" strike="noStrike">
                <a:solidFill>
                  <a:srgbClr val="5E6975"/>
                </a:solidFill>
                <a:latin typeface="Aptos"/>
                <a:ea typeface="Aptos"/>
                <a:cs typeface="Aptos"/>
                <a:sym typeface="Aptos"/>
              </a:rPr>
              <a:t>Continued LoRA lowers both train and held-out validation loss.</a:t>
            </a:r>
            <a:endParaRPr lang="en-US" sz="1100"/>
          </a:p>
        </p:txBody>
      </p:sp>
      <p:sp>
        <p:nvSpPr>
          <p:cNvPr id="13" name="AutoShape 13"/>
          <p:cNvSpPr/>
          <p:nvPr/>
        </p:nvSpPr>
        <p:spPr>
          <a:xfrm>
            <a:off x="7569200" y="2768600"/>
            <a:ext cx="3619500" cy="901700"/>
          </a:xfrm>
          <a:prstGeom prst="roundRect">
            <a:avLst>
              <a:gd name="adj" fmla="val 0"/>
            </a:avLst>
          </a:prstGeom>
          <a:solidFill>
            <a:srgbClr val="FFFFFF">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14" name="AutoShape 14"/>
          <p:cNvSpPr/>
          <p:nvPr/>
        </p:nvSpPr>
        <p:spPr>
          <a:xfrm>
            <a:off x="7569200" y="2768600"/>
            <a:ext cx="76200" cy="9017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5" name="AutoShape 15"/>
          <p:cNvSpPr/>
          <p:nvPr/>
        </p:nvSpPr>
        <p:spPr>
          <a:xfrm>
            <a:off x="7823200" y="2857500"/>
            <a:ext cx="3162300" cy="2921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600" b="1" i="0" u="none" strike="noStrike" dirty="0">
                <a:solidFill>
                  <a:srgbClr val="167C80"/>
                </a:solidFill>
                <a:latin typeface="Play"/>
                <a:ea typeface="Play"/>
                <a:cs typeface="Play"/>
                <a:sym typeface="Play"/>
              </a:rPr>
              <a:t>Teacher-token fit</a:t>
            </a:r>
            <a:endParaRPr lang="en-US" sz="1600" dirty="0"/>
          </a:p>
        </p:txBody>
      </p:sp>
      <p:sp>
        <p:nvSpPr>
          <p:cNvPr id="16" name="AutoShape 16"/>
          <p:cNvSpPr/>
          <p:nvPr/>
        </p:nvSpPr>
        <p:spPr>
          <a:xfrm>
            <a:off x="7823200" y="3144102"/>
            <a:ext cx="3162300" cy="1778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000" b="1" i="0" u="none" strike="noStrike" dirty="0">
                <a:solidFill>
                  <a:srgbClr val="1E252B"/>
                </a:solidFill>
                <a:latin typeface="Aptos"/>
                <a:ea typeface="Aptos"/>
                <a:cs typeface="Aptos"/>
                <a:sym typeface="Aptos"/>
              </a:rPr>
              <a:t>What this proves</a:t>
            </a:r>
            <a:endParaRPr lang="en-US" sz="1100" dirty="0"/>
          </a:p>
        </p:txBody>
      </p:sp>
      <p:sp>
        <p:nvSpPr>
          <p:cNvPr id="17" name="AutoShape 17"/>
          <p:cNvSpPr/>
          <p:nvPr/>
        </p:nvSpPr>
        <p:spPr>
          <a:xfrm>
            <a:off x="7823200" y="3321902"/>
            <a:ext cx="3162300" cy="3048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980"/>
            </a:pPr>
            <a:r>
              <a:rPr lang="en-US" sz="980" b="0" i="0" u="none" strike="noStrike" dirty="0">
                <a:solidFill>
                  <a:srgbClr val="5E6975"/>
                </a:solidFill>
                <a:latin typeface="Aptos"/>
                <a:ea typeface="Aptos"/>
                <a:cs typeface="Aptos"/>
                <a:sym typeface="Aptos"/>
              </a:rPr>
              <a:t>Adapter better matches teacher pseudo-token targets; not official HumanML3D fidelity.</a:t>
            </a:r>
            <a:endParaRPr lang="en-US" sz="1100" dirty="0"/>
          </a:p>
        </p:txBody>
      </p:sp>
      <p:sp>
        <p:nvSpPr>
          <p:cNvPr id="18" name="AutoShape 18"/>
          <p:cNvSpPr/>
          <p:nvPr/>
        </p:nvSpPr>
        <p:spPr>
          <a:xfrm>
            <a:off x="7569200" y="3848100"/>
            <a:ext cx="3619500" cy="901700"/>
          </a:xfrm>
          <a:prstGeom prst="roundRect">
            <a:avLst>
              <a:gd name="adj" fmla="val 0"/>
            </a:avLst>
          </a:prstGeom>
          <a:solidFill>
            <a:srgbClr val="FFFFFF">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19" name="AutoShape 19"/>
          <p:cNvSpPr/>
          <p:nvPr/>
        </p:nvSpPr>
        <p:spPr>
          <a:xfrm>
            <a:off x="7569200" y="3848100"/>
            <a:ext cx="76200" cy="901700"/>
          </a:xfrm>
          <a:prstGeom prst="roundRect">
            <a:avLst>
              <a:gd name="adj" fmla="val 0"/>
            </a:avLst>
          </a:prstGeom>
          <a:solidFill>
            <a:srgbClr val="B15A35">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0" name="AutoShape 20"/>
          <p:cNvSpPr/>
          <p:nvPr/>
        </p:nvSpPr>
        <p:spPr>
          <a:xfrm>
            <a:off x="7823200" y="3949700"/>
            <a:ext cx="3162300" cy="2921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600" b="1" i="0" u="none" strike="noStrike" dirty="0">
                <a:solidFill>
                  <a:srgbClr val="B15A35"/>
                </a:solidFill>
                <a:latin typeface="Play"/>
                <a:ea typeface="Play"/>
                <a:cs typeface="Play"/>
                <a:sym typeface="Play"/>
              </a:rPr>
              <a:t>Visual check</a:t>
            </a:r>
            <a:endParaRPr lang="en-US" sz="1600" dirty="0"/>
          </a:p>
        </p:txBody>
      </p:sp>
      <p:sp>
        <p:nvSpPr>
          <p:cNvPr id="21" name="AutoShape 21"/>
          <p:cNvSpPr/>
          <p:nvPr/>
        </p:nvSpPr>
        <p:spPr>
          <a:xfrm>
            <a:off x="7823200" y="4236727"/>
            <a:ext cx="3162300" cy="1778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000" b="1" i="0" u="none" strike="noStrike" dirty="0">
                <a:solidFill>
                  <a:srgbClr val="1E252B"/>
                </a:solidFill>
                <a:latin typeface="Aptos"/>
                <a:ea typeface="Aptos"/>
                <a:cs typeface="Aptos"/>
                <a:sym typeface="Aptos"/>
              </a:rPr>
              <a:t>Separate evidence</a:t>
            </a:r>
            <a:endParaRPr lang="en-US" sz="1100" dirty="0"/>
          </a:p>
        </p:txBody>
      </p:sp>
      <p:sp>
        <p:nvSpPr>
          <p:cNvPr id="22" name="AutoShape 22"/>
          <p:cNvSpPr/>
          <p:nvPr/>
        </p:nvSpPr>
        <p:spPr>
          <a:xfrm>
            <a:off x="7823200" y="4403852"/>
            <a:ext cx="3162300" cy="4191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000" b="0" i="0" u="none" strike="noStrike" dirty="0">
                <a:solidFill>
                  <a:srgbClr val="5E6975"/>
                </a:solidFill>
                <a:latin typeface="Aptos"/>
                <a:ea typeface="Aptos"/>
                <a:cs typeface="Aptos"/>
                <a:sym typeface="Aptos"/>
              </a:rPr>
              <a:t>Qualitative previews are inspection evidence, not benchmark scores.</a:t>
            </a:r>
            <a:endParaRPr lang="en-US" sz="1100" dirty="0"/>
          </a:p>
        </p:txBody>
      </p:sp>
      <p:sp>
        <p:nvSpPr>
          <p:cNvPr id="23" name="AutoShape 23"/>
          <p:cNvSpPr/>
          <p:nvPr/>
        </p:nvSpPr>
        <p:spPr>
          <a:xfrm>
            <a:off x="7569200" y="4902200"/>
            <a:ext cx="3619500" cy="749300"/>
          </a:xfrm>
          <a:prstGeom prst="roundRect">
            <a:avLst>
              <a:gd name="adj" fmla="val 0"/>
            </a:avLst>
          </a:prstGeom>
          <a:solidFill>
            <a:srgbClr val="F7EFE8">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4" name="AutoShape 24"/>
          <p:cNvSpPr/>
          <p:nvPr/>
        </p:nvSpPr>
        <p:spPr>
          <a:xfrm>
            <a:off x="7785100" y="5102352"/>
            <a:ext cx="3200400" cy="4699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980"/>
            </a:pPr>
            <a:r>
              <a:rPr lang="en-US" sz="980" b="1" i="0" u="none" strike="noStrike" dirty="0">
                <a:solidFill>
                  <a:srgbClr val="5C3927"/>
                </a:solidFill>
                <a:latin typeface="Aptos"/>
                <a:ea typeface="Aptos"/>
                <a:cs typeface="Aptos"/>
                <a:sym typeface="Aptos"/>
              </a:rPr>
              <a:t>Conclusion: loss supports adapter learning; motion claims rely on BVH proxy checks.</a:t>
            </a:r>
            <a:endParaRPr lang="en-US" sz="1100" dirty="0"/>
          </a:p>
        </p:txBody>
      </p:sp>
      <p:sp>
        <p:nvSpPr>
          <p:cNvPr id="25" name="AutoShape 25"/>
          <p:cNvSpPr/>
          <p:nvPr/>
        </p:nvSpPr>
        <p:spPr>
          <a:xfrm>
            <a:off x="685800" y="6350000"/>
            <a:ext cx="10820400" cy="12700"/>
          </a:xfrm>
          <a:prstGeom prst="roundRect">
            <a:avLst>
              <a:gd name="adj" fmla="val 0"/>
            </a:avLst>
          </a:prstGeom>
          <a:solidFill>
            <a:srgbClr val="D8D0C2">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6" name="AutoShape 26"/>
          <p:cNvSpPr/>
          <p:nvPr/>
        </p:nvSpPr>
        <p:spPr>
          <a:xfrm>
            <a:off x="685800" y="6426200"/>
            <a:ext cx="5905500" cy="190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800" b="0" i="0" u="none" strike="noStrike">
                <a:solidFill>
                  <a:srgbClr val="7A746A"/>
                </a:solidFill>
                <a:latin typeface="Aptos"/>
                <a:ea typeface="Aptos"/>
                <a:cs typeface="Aptos"/>
                <a:sym typeface="Aptos"/>
              </a:rPr>
              <a:t>Source: LoRA Training Experiments; Loss Analysis; Motion Rendering Previews</a:t>
            </a:r>
            <a:endParaRPr lang="en-US" sz="1100"/>
          </a:p>
        </p:txBody>
      </p:sp>
      <p:sp>
        <p:nvSpPr>
          <p:cNvPr id="27" name="AutoShape 27"/>
          <p:cNvSpPr/>
          <p:nvPr/>
        </p:nvSpPr>
        <p:spPr>
          <a:xfrm>
            <a:off x="9626600" y="6426200"/>
            <a:ext cx="1892300" cy="190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r">
              <a:lnSpc>
                <a:spcPct val="100000"/>
              </a:lnSpc>
              <a:defRPr/>
            </a:pPr>
            <a:r>
              <a:rPr lang="en-US" sz="800" b="0" i="0" u="none" strike="noStrike">
                <a:solidFill>
                  <a:srgbClr val="7A746A"/>
                </a:solidFill>
                <a:latin typeface="Aptos"/>
                <a:ea typeface="Aptos"/>
                <a:cs typeface="Aptos"/>
                <a:sym typeface="Aptos"/>
              </a:rPr>
              <a:t>6 / 8 - Training Evidence</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7F4ED">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685800" y="419100"/>
            <a:ext cx="266700" cy="381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1066800" y="330200"/>
            <a:ext cx="4953000" cy="2540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ctr" anchorCtr="0"/>
          <a:lstStyle/>
          <a:p>
            <a:pPr marL="0" indent="0" algn="l">
              <a:lnSpc>
                <a:spcPct val="100000"/>
              </a:lnSpc>
              <a:defRPr/>
            </a:pPr>
            <a:r>
              <a:rPr lang="en-US" sz="1000" b="1" i="0" u="none" strike="noStrike">
                <a:solidFill>
                  <a:srgbClr val="5E6975"/>
                </a:solidFill>
                <a:latin typeface="Aptos"/>
                <a:ea typeface="Aptos"/>
                <a:cs typeface="Aptos"/>
                <a:sym typeface="Aptos"/>
              </a:rPr>
              <a:t>RESULTS</a:t>
            </a:r>
            <a:endParaRPr lang="en-US" sz="1100"/>
          </a:p>
        </p:txBody>
      </p:sp>
      <p:sp>
        <p:nvSpPr>
          <p:cNvPr id="5" name="AutoShape 5"/>
          <p:cNvSpPr/>
          <p:nvPr/>
        </p:nvSpPr>
        <p:spPr>
          <a:xfrm>
            <a:off x="685800" y="723900"/>
            <a:ext cx="10241280" cy="676656"/>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2500"/>
            </a:pPr>
            <a:r>
              <a:rPr lang="en-US" sz="2500" b="1" i="0" u="none" strike="noStrike" dirty="0">
                <a:solidFill>
                  <a:srgbClr val="1E252B"/>
                </a:solidFill>
                <a:latin typeface="Play"/>
                <a:ea typeface="Play"/>
                <a:cs typeface="Play"/>
                <a:sym typeface="Play"/>
              </a:rPr>
              <a:t>Proxy metrics show coarse style steering on most prompts.</a:t>
            </a:r>
            <a:endParaRPr lang="en-US" sz="1100" dirty="0"/>
          </a:p>
        </p:txBody>
      </p:sp>
      <p:sp>
        <p:nvSpPr>
          <p:cNvPr id="6" name="AutoShape 6"/>
          <p:cNvSpPr/>
          <p:nvPr/>
        </p:nvSpPr>
        <p:spPr>
          <a:xfrm>
            <a:off x="838200" y="1216152"/>
            <a:ext cx="7112000" cy="762000"/>
          </a:xfrm>
          <a:prstGeom prst="roundRect">
            <a:avLst>
              <a:gd name="adj" fmla="val 0"/>
            </a:avLst>
          </a:prstGeom>
          <a:solidFill>
            <a:srgbClr val="000000">
              <a:alpha val="0"/>
            </a:srgbClr>
          </a:solidFill>
          <a:ln cap="flat" cmpd="sng">
            <a:solidFill>
              <a:srgbClr val="000000">
                <a:alpha val="0"/>
              </a:srgbClr>
            </a:solidFill>
            <a:prstDash val="solid"/>
            <a:miter lim="10000000"/>
          </a:ln>
        </p:spPr>
        <p:txBody>
          <a:bodyPr vert="horz" wrap="square" lIns="0" tIns="63500" rIns="0" bIns="63500" rtlCol="0" anchor="t" anchorCtr="0"/>
          <a:lstStyle/>
          <a:p>
            <a:pPr marL="0" indent="0" algn="l">
              <a:lnSpc>
                <a:spcPct val="108000"/>
              </a:lnSpc>
              <a:defRPr sz="1020"/>
            </a:pPr>
            <a:r>
              <a:rPr lang="en-US" sz="1020" b="0" i="0" u="none" strike="noStrike" dirty="0">
                <a:solidFill>
                  <a:srgbClr val="3C414B"/>
                </a:solidFill>
                <a:latin typeface="Noto Sans SC" panose="020B0200000000000000" charset="-122"/>
                <a:ea typeface="Noto Sans SC" panose="020B0200000000000000" charset="-122"/>
                <a:cs typeface="Noto Sans SC" panose="020B0200000000000000" charset="-122"/>
                <a:sym typeface="Noto Sans SC" panose="020B0200000000000000" charset="-122"/>
              </a:rPr>
              <a:t>Across 5 style prompts and 22 pre-defined proxy checks, </a:t>
            </a:r>
            <a:r>
              <a:rPr lang="en-US" sz="1020" b="0" i="0" u="none" strike="noStrike" dirty="0" err="1">
                <a:solidFill>
                  <a:srgbClr val="3C414B"/>
                </a:solidFill>
                <a:latin typeface="Noto Sans SC" panose="020B0200000000000000" charset="-122"/>
                <a:ea typeface="Noto Sans SC" panose="020B0200000000000000" charset="-122"/>
                <a:cs typeface="Noto Sans SC" panose="020B0200000000000000" charset="-122"/>
                <a:sym typeface="Noto Sans SC" panose="020B0200000000000000" charset="-122"/>
              </a:rPr>
              <a:t>LoRA</a:t>
            </a:r>
            <a:r>
              <a:rPr lang="en-US" sz="1020" b="0" i="0" u="none" strike="noStrike" dirty="0">
                <a:solidFill>
                  <a:srgbClr val="3C414B"/>
                </a:solidFill>
                <a:latin typeface="Noto Sans SC" panose="020B0200000000000000" charset="-122"/>
                <a:ea typeface="Noto Sans SC" panose="020B0200000000000000" charset="-122"/>
                <a:cs typeface="Noto Sans SC" panose="020B0200000000000000" charset="-122"/>
                <a:sym typeface="Noto Sans SC" panose="020B0200000000000000" charset="-122"/>
              </a:rPr>
              <a:t> moved in the expected style direction for 18 checks.</a:t>
            </a:r>
            <a:endParaRPr lang="en-US" sz="1100" dirty="0"/>
          </a:p>
        </p:txBody>
      </p:sp>
      <p:pic>
        <p:nvPicPr>
          <p:cNvPr id="7" name="Picture 7"/>
          <p:cNvPicPr>
            <a:picLocks noChangeAspect="1"/>
          </p:cNvPicPr>
          <p:nvPr/>
        </p:nvPicPr>
        <p:blipFill>
          <a:blip r:embed="rId3"/>
          <a:srcRect l="6225" r="6225"/>
          <a:stretch>
            <a:fillRect/>
          </a:stretch>
        </p:blipFill>
        <p:spPr>
          <a:xfrm>
            <a:off x="819150" y="1729290"/>
            <a:ext cx="7223760" cy="3813048"/>
          </a:xfrm>
          <a:prstGeom prst="rect">
            <a:avLst/>
          </a:prstGeom>
          <a:noFill/>
          <a:ln w="25400" cap="flat" cmpd="sng">
            <a:noFill/>
            <a:prstDash val="solid"/>
            <a:round/>
          </a:ln>
        </p:spPr>
      </p:pic>
      <p:sp>
        <p:nvSpPr>
          <p:cNvPr id="8" name="AutoShape 8"/>
          <p:cNvSpPr/>
          <p:nvPr/>
        </p:nvSpPr>
        <p:spPr>
          <a:xfrm>
            <a:off x="838200" y="5737831"/>
            <a:ext cx="7112000" cy="1016000"/>
          </a:xfrm>
          <a:prstGeom prst="roundRect">
            <a:avLst>
              <a:gd name="adj" fmla="val 0"/>
            </a:avLst>
          </a:prstGeom>
          <a:solidFill>
            <a:srgbClr val="000000">
              <a:alpha val="0"/>
            </a:srgbClr>
          </a:solidFill>
          <a:ln cap="flat" cmpd="sng">
            <a:solidFill>
              <a:srgbClr val="000000">
                <a:alpha val="0"/>
              </a:srgbClr>
            </a:solidFill>
            <a:prstDash val="solid"/>
            <a:miter lim="10000000"/>
          </a:ln>
        </p:spPr>
        <p:txBody>
          <a:bodyPr vert="horz" wrap="square" lIns="0" tIns="63500" rIns="0" bIns="63500" rtlCol="0" anchor="t" anchorCtr="0"/>
          <a:lstStyle/>
          <a:p>
            <a:pPr marL="0" indent="0" algn="l">
              <a:lnSpc>
                <a:spcPct val="117000"/>
              </a:lnSpc>
              <a:defRPr sz="1020"/>
            </a:pPr>
            <a:r>
              <a:rPr lang="en-US" sz="1020" b="0" i="0" u="none" strike="noStrike" dirty="0">
                <a:solidFill>
                  <a:srgbClr val="5E6975"/>
                </a:solidFill>
                <a:latin typeface="Noto Sans SC" panose="020B0200000000000000" charset="-122"/>
                <a:ea typeface="Noto Sans SC" panose="020B0200000000000000" charset="-122"/>
                <a:cs typeface="Noto Sans SC" panose="020B0200000000000000" charset="-122"/>
                <a:sym typeface="Noto Sans SC" panose="020B0200000000000000" charset="-122"/>
              </a:rPr>
              <a:t>The scorecard highlights high-confidence cases and the weaker Tai Chi case without claiming official benchmark improvement.</a:t>
            </a:r>
            <a:endParaRPr lang="en-US" sz="1100" dirty="0"/>
          </a:p>
        </p:txBody>
      </p:sp>
      <p:cxnSp>
        <p:nvCxnSpPr>
          <p:cNvPr id="9" name="Connector 9"/>
          <p:cNvCxnSpPr/>
          <p:nvPr/>
        </p:nvCxnSpPr>
        <p:spPr>
          <a:xfrm rot="5389582">
            <a:off x="6286500" y="3867160"/>
            <a:ext cx="4191000" cy="12700"/>
          </a:xfrm>
          <a:prstGeom prst="straightConnector1">
            <a:avLst/>
          </a:prstGeom>
          <a:solidFill>
            <a:srgbClr val="DEE0E3">
              <a:alpha val="100000"/>
            </a:srgbClr>
          </a:solidFill>
          <a:ln w="12700" cap="flat" cmpd="sng">
            <a:solidFill>
              <a:srgbClr val="D8D0C2">
                <a:alpha val="100000"/>
              </a:srgbClr>
            </a:solidFill>
            <a:prstDash val="solid"/>
            <a:round/>
            <a:headEnd type="none" w="med" len="med"/>
            <a:tailEnd type="none" w="med" len="med"/>
          </a:ln>
        </p:spPr>
      </p:cxnSp>
      <p:sp>
        <p:nvSpPr>
          <p:cNvPr id="10" name="AutoShape 10"/>
          <p:cNvSpPr/>
          <p:nvPr/>
        </p:nvSpPr>
        <p:spPr>
          <a:xfrm>
            <a:off x="8636000" y="1778000"/>
            <a:ext cx="3048000" cy="1397000"/>
          </a:xfrm>
          <a:prstGeom prst="roundRect">
            <a:avLst>
              <a:gd name="adj" fmla="val 0"/>
            </a:avLst>
          </a:prstGeom>
          <a:solidFill>
            <a:srgbClr val="1F2937">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1" name="AutoShape 11"/>
          <p:cNvSpPr/>
          <p:nvPr/>
        </p:nvSpPr>
        <p:spPr>
          <a:xfrm>
            <a:off x="8763000" y="1905000"/>
            <a:ext cx="2794000" cy="571500"/>
          </a:xfrm>
          <a:prstGeom prst="roundRect">
            <a:avLst>
              <a:gd name="adj" fmla="val 0"/>
            </a:avLst>
          </a:prstGeom>
          <a:solidFill>
            <a:srgbClr val="000000">
              <a:alpha val="0"/>
            </a:srgbClr>
          </a:solidFill>
          <a:ln cap="flat" cmpd="sng">
            <a:solidFill>
              <a:srgbClr val="000000">
                <a:alpha val="0"/>
              </a:srgbClr>
            </a:solidFill>
            <a:prstDash val="solid"/>
            <a:round/>
          </a:ln>
        </p:spPr>
        <p:txBody>
          <a:bodyPr vert="horz" wrap="square" lIns="0" tIns="0" rIns="0" bIns="0" rtlCol="0" anchor="ctr" anchorCtr="0"/>
          <a:lstStyle/>
          <a:p>
            <a:pPr marL="0" indent="0" algn="l">
              <a:lnSpc>
                <a:spcPct val="100000"/>
              </a:lnSpc>
              <a:defRPr sz="3600"/>
            </a:pPr>
            <a:r>
              <a:rPr lang="en-US" sz="3200" b="1" i="0" u="none" strike="noStrike" dirty="0">
                <a:solidFill>
                  <a:srgbClr val="FFFFFF"/>
                </a:solidFill>
                <a:latin typeface="Play"/>
                <a:ea typeface="Play"/>
                <a:cs typeface="Play"/>
                <a:sym typeface="Play"/>
              </a:rPr>
              <a:t>18/22</a:t>
            </a:r>
            <a:endParaRPr lang="en-US" sz="3200" dirty="0"/>
          </a:p>
        </p:txBody>
      </p:sp>
      <p:sp>
        <p:nvSpPr>
          <p:cNvPr id="12" name="AutoShape 12"/>
          <p:cNvSpPr/>
          <p:nvPr/>
        </p:nvSpPr>
        <p:spPr>
          <a:xfrm>
            <a:off x="8763000" y="2476500"/>
            <a:ext cx="2794000" cy="381000"/>
          </a:xfrm>
          <a:prstGeom prst="roundRect">
            <a:avLst>
              <a:gd name="adj" fmla="val 0"/>
            </a:avLst>
          </a:prstGeom>
          <a:solidFill>
            <a:srgbClr val="000000">
              <a:alpha val="0"/>
            </a:srgbClr>
          </a:solidFill>
          <a:ln cap="flat" cmpd="sng">
            <a:solidFill>
              <a:srgbClr val="000000">
                <a:alpha val="0"/>
              </a:srgbClr>
            </a:solidFill>
            <a:prstDash val="solid"/>
            <a:round/>
          </a:ln>
        </p:spPr>
        <p:txBody>
          <a:bodyPr vert="horz" wrap="square" lIns="0" tIns="0" rIns="0" bIns="0" rtlCol="0" anchor="t" anchorCtr="0"/>
          <a:lstStyle/>
          <a:p>
            <a:pPr marL="0" indent="0" algn="l">
              <a:lnSpc>
                <a:spcPct val="100000"/>
              </a:lnSpc>
              <a:defRPr sz="1150"/>
            </a:pPr>
            <a:r>
              <a:rPr lang="en-US" sz="1600" b="1" i="0" u="none" strike="noStrike" dirty="0">
                <a:solidFill>
                  <a:srgbClr val="E5E7EB"/>
                </a:solidFill>
                <a:latin typeface="Aptos"/>
                <a:ea typeface="Aptos"/>
                <a:cs typeface="Aptos"/>
                <a:sym typeface="Aptos"/>
              </a:rPr>
              <a:t>81.8% proxy win rate
not FID/R-Precision</a:t>
            </a:r>
            <a:endParaRPr lang="en-US" sz="1600" dirty="0"/>
          </a:p>
        </p:txBody>
      </p:sp>
      <p:sp>
        <p:nvSpPr>
          <p:cNvPr id="13" name="AutoShape 13"/>
          <p:cNvSpPr/>
          <p:nvPr/>
        </p:nvSpPr>
        <p:spPr>
          <a:xfrm>
            <a:off x="8636000" y="3429000"/>
            <a:ext cx="3048000" cy="1206500"/>
          </a:xfrm>
          <a:prstGeom prst="roundRect">
            <a:avLst>
              <a:gd name="adj" fmla="val 0"/>
            </a:avLst>
          </a:prstGeom>
          <a:solidFill>
            <a:srgbClr val="FFFFFF">
              <a:alpha val="100000"/>
            </a:srgbClr>
          </a:solidFill>
          <a:ln w="12700" cap="flat" cmpd="sng">
            <a:solidFill>
              <a:srgbClr val="167C80">
                <a:alpha val="100000"/>
              </a:srgbClr>
            </a:solidFill>
            <a:prstDash val="solid"/>
            <a:miter lim="10000000"/>
          </a:ln>
        </p:spPr>
        <p:txBody>
          <a:bodyPr vert="horz" wrap="square" lIns="63500" tIns="63500" rIns="63500" bIns="63500" rtlCol="0" anchor="ctr"/>
          <a:lstStyle/>
          <a:p>
            <a:pPr algn="ctr">
              <a:defRPr/>
            </a:pPr>
            <a:endParaRPr/>
          </a:p>
        </p:txBody>
      </p:sp>
      <p:sp>
        <p:nvSpPr>
          <p:cNvPr id="14" name="AutoShape 14"/>
          <p:cNvSpPr/>
          <p:nvPr/>
        </p:nvSpPr>
        <p:spPr>
          <a:xfrm>
            <a:off x="8763000" y="3556000"/>
            <a:ext cx="2794000" cy="304800"/>
          </a:xfrm>
          <a:prstGeom prst="roundRect">
            <a:avLst>
              <a:gd name="adj" fmla="val 0"/>
            </a:avLst>
          </a:prstGeom>
          <a:solidFill>
            <a:srgbClr val="000000">
              <a:alpha val="0"/>
            </a:srgbClr>
          </a:solidFill>
          <a:ln cap="flat" cmpd="sng">
            <a:solidFill>
              <a:srgbClr val="000000">
                <a:alpha val="0"/>
              </a:srgbClr>
            </a:solidFill>
            <a:prstDash val="solid"/>
            <a:round/>
          </a:ln>
        </p:spPr>
        <p:txBody>
          <a:bodyPr vert="horz" wrap="square" lIns="0" tIns="0" rIns="0" bIns="0" rtlCol="0" anchor="ctr" anchorCtr="0"/>
          <a:lstStyle/>
          <a:p>
            <a:pPr marL="0" indent="0" algn="l">
              <a:lnSpc>
                <a:spcPct val="125000"/>
              </a:lnSpc>
              <a:defRPr/>
            </a:pPr>
            <a:r>
              <a:rPr lang="en-US" sz="1300" b="1" i="0" u="none" strike="noStrike" dirty="0">
                <a:solidFill>
                  <a:srgbClr val="167C80"/>
                </a:solidFill>
                <a:latin typeface="Aptos"/>
                <a:ea typeface="Aptos"/>
                <a:cs typeface="Aptos"/>
                <a:sym typeface="Aptos"/>
              </a:rPr>
              <a:t>Strongest Performance Cases</a:t>
            </a:r>
            <a:endParaRPr lang="en-US" sz="1100" dirty="0"/>
          </a:p>
        </p:txBody>
      </p:sp>
      <p:sp>
        <p:nvSpPr>
          <p:cNvPr id="15" name="AutoShape 15"/>
          <p:cNvSpPr/>
          <p:nvPr/>
        </p:nvSpPr>
        <p:spPr>
          <a:xfrm>
            <a:off x="8763000" y="3873372"/>
            <a:ext cx="2794000" cy="571500"/>
          </a:xfrm>
          <a:prstGeom prst="roundRect">
            <a:avLst>
              <a:gd name="adj" fmla="val 0"/>
            </a:avLst>
          </a:prstGeom>
          <a:solidFill>
            <a:srgbClr val="000000">
              <a:alpha val="0"/>
            </a:srgbClr>
          </a:solidFill>
          <a:ln cap="flat" cmpd="sng">
            <a:solidFill>
              <a:srgbClr val="000000">
                <a:alpha val="0"/>
              </a:srgbClr>
            </a:solidFill>
            <a:prstDash val="solid"/>
            <a:round/>
          </a:ln>
        </p:spPr>
        <p:txBody>
          <a:bodyPr vert="horz" wrap="square" lIns="0" tIns="0" rIns="0" bIns="0" rtlCol="0" anchor="ctr" anchorCtr="0"/>
          <a:lstStyle/>
          <a:p>
            <a:pPr marL="0" indent="0" algn="l">
              <a:lnSpc>
                <a:spcPct val="108000"/>
              </a:lnSpc>
              <a:defRPr sz="1020"/>
            </a:pPr>
            <a:r>
              <a:rPr lang="en-US" sz="1020" b="0" i="0" u="none" strike="noStrike" dirty="0">
                <a:solidFill>
                  <a:srgbClr val="374151"/>
                </a:solidFill>
                <a:latin typeface="Aptos"/>
                <a:ea typeface="Aptos"/>
                <a:cs typeface="Aptos"/>
                <a:sym typeface="Aptos"/>
              </a:rPr>
              <a:t>“Slow deliberate” and “heavy tired” styles achieved 100% alignment, showing strong capture of distinct kinematic signatures.</a:t>
            </a:r>
            <a:endParaRPr lang="en-US" sz="1100" dirty="0"/>
          </a:p>
        </p:txBody>
      </p:sp>
      <p:sp>
        <p:nvSpPr>
          <p:cNvPr id="16" name="AutoShape 16"/>
          <p:cNvSpPr/>
          <p:nvPr/>
        </p:nvSpPr>
        <p:spPr>
          <a:xfrm>
            <a:off x="8636000" y="4826000"/>
            <a:ext cx="3048000" cy="1143000"/>
          </a:xfrm>
          <a:prstGeom prst="roundRect">
            <a:avLst>
              <a:gd name="adj" fmla="val 0"/>
            </a:avLst>
          </a:prstGeom>
          <a:solidFill>
            <a:srgbClr val="FFF7ED">
              <a:alpha val="100000"/>
            </a:srgbClr>
          </a:solidFill>
          <a:ln w="12700" cap="flat" cmpd="sng">
            <a:solidFill>
              <a:srgbClr val="D97706">
                <a:alpha val="50000"/>
              </a:srgbClr>
            </a:solidFill>
            <a:prstDash val="solid"/>
            <a:miter lim="10000000"/>
          </a:ln>
        </p:spPr>
        <p:txBody>
          <a:bodyPr vert="horz" wrap="square" lIns="63500" tIns="63500" rIns="63500" bIns="63500" rtlCol="0" anchor="ctr"/>
          <a:lstStyle/>
          <a:p>
            <a:pPr algn="ctr">
              <a:defRPr/>
            </a:pPr>
            <a:endParaRPr/>
          </a:p>
        </p:txBody>
      </p:sp>
      <p:sp>
        <p:nvSpPr>
          <p:cNvPr id="17" name="AutoShape 17"/>
          <p:cNvSpPr/>
          <p:nvPr/>
        </p:nvSpPr>
        <p:spPr>
          <a:xfrm>
            <a:off x="8763000" y="4953000"/>
            <a:ext cx="2794000" cy="889000"/>
          </a:xfrm>
          <a:prstGeom prst="roundRect">
            <a:avLst>
              <a:gd name="adj" fmla="val 0"/>
            </a:avLst>
          </a:prstGeom>
          <a:solidFill>
            <a:srgbClr val="000000">
              <a:alpha val="0"/>
            </a:srgbClr>
          </a:solidFill>
          <a:ln cap="flat" cmpd="sng">
            <a:solidFill>
              <a:srgbClr val="000000">
                <a:alpha val="0"/>
              </a:srgbClr>
            </a:solidFill>
            <a:prstDash val="solid"/>
            <a:round/>
          </a:ln>
        </p:spPr>
        <p:txBody>
          <a:bodyPr vert="horz" wrap="square" lIns="0" tIns="0" rIns="0" bIns="0" rtlCol="0" anchor="ctr" anchorCtr="0"/>
          <a:lstStyle/>
          <a:p>
            <a:pPr marL="0" indent="0" algn="l">
              <a:lnSpc>
                <a:spcPct val="108000"/>
              </a:lnSpc>
              <a:defRPr sz="1020"/>
            </a:pPr>
            <a:r>
              <a:rPr lang="en-US" sz="1020" b="1" i="0" u="none" strike="noStrike" dirty="0">
                <a:solidFill>
                  <a:srgbClr val="B45309"/>
                </a:solidFill>
                <a:latin typeface="Aptos"/>
                <a:ea typeface="Aptos"/>
                <a:cs typeface="Aptos"/>
                <a:sym typeface="Aptos"/>
              </a:rPr>
              <a:t>Key Limitation: Tai Chi</a:t>
            </a:r>
            <a:br>
              <a:rPr lang="en-US" sz="1020" b="0" i="0" u="none" strike="noStrike" dirty="0">
                <a:solidFill>
                  <a:srgbClr val="1F2329"/>
                </a:solidFill>
                <a:latin typeface="Aptos"/>
                <a:ea typeface="Aptos"/>
                <a:cs typeface="Aptos"/>
                <a:sym typeface="Aptos"/>
              </a:rPr>
            </a:br>
            <a:r>
              <a:rPr lang="en-US" sz="1020" b="0" i="0" u="none" strike="noStrike" dirty="0">
                <a:solidFill>
                  <a:srgbClr val="4B5563"/>
                </a:solidFill>
                <a:latin typeface="Aptos"/>
                <a:ea typeface="Aptos"/>
                <a:cs typeface="Aptos"/>
                <a:sym typeface="Aptos"/>
              </a:rPr>
              <a:t>Requires coordinated slow rotation beyond the scope of simple, isolated proxy metrics to fully capture its essence.</a:t>
            </a:r>
            <a:endParaRPr lang="en-US" sz="1100" dirty="0"/>
          </a:p>
        </p:txBody>
      </p:sp>
      <p:sp>
        <p:nvSpPr>
          <p:cNvPr id="18" name="AutoShape 18"/>
          <p:cNvSpPr/>
          <p:nvPr/>
        </p:nvSpPr>
        <p:spPr>
          <a:xfrm>
            <a:off x="685800" y="6350000"/>
            <a:ext cx="10820400" cy="12700"/>
          </a:xfrm>
          <a:prstGeom prst="roundRect">
            <a:avLst>
              <a:gd name="adj" fmla="val 0"/>
            </a:avLst>
          </a:prstGeom>
          <a:solidFill>
            <a:srgbClr val="D8D0C2">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9" name="AutoShape 19"/>
          <p:cNvSpPr/>
          <p:nvPr/>
        </p:nvSpPr>
        <p:spPr>
          <a:xfrm>
            <a:off x="685800" y="6426200"/>
            <a:ext cx="5905500" cy="190500"/>
          </a:xfrm>
          <a:prstGeom prst="roundRect">
            <a:avLst>
              <a:gd name="adj" fmla="val 0"/>
            </a:avLst>
          </a:prstGeom>
          <a:solidFill>
            <a:srgbClr val="000000">
              <a:alpha val="0"/>
            </a:srgbClr>
          </a:solidFill>
          <a:ln cap="flat" cmpd="sng">
            <a:solidFill>
              <a:srgbClr val="000000">
                <a:alpha val="0"/>
              </a:srgbClr>
            </a:solidFill>
            <a:prstDash val="solid"/>
            <a:round/>
          </a:ln>
        </p:spPr>
        <p:txBody>
          <a:bodyPr vert="horz" wrap="square" lIns="0" tIns="0" rIns="0" bIns="0" rtlCol="0" anchor="t" anchorCtr="0"/>
          <a:lstStyle/>
          <a:p>
            <a:pPr marL="0" indent="0" algn="l">
              <a:lnSpc>
                <a:spcPct val="100000"/>
              </a:lnSpc>
              <a:defRPr/>
            </a:pPr>
            <a:r>
              <a:rPr lang="en-US" sz="800" b="0" i="0" u="none" strike="noStrike">
                <a:solidFill>
                  <a:srgbClr val="7A746A"/>
                </a:solidFill>
                <a:latin typeface="Aptos"/>
                <a:ea typeface="Aptos"/>
                <a:cs typeface="Aptos"/>
                <a:sym typeface="Aptos"/>
              </a:rPr>
              <a:t>Source: Quantitative analysis of LoRA adapter on 5 style prompts and 22 proxy metrics.</a:t>
            </a:r>
            <a:endParaRPr lang="en-US" sz="1100"/>
          </a:p>
        </p:txBody>
      </p:sp>
      <p:sp>
        <p:nvSpPr>
          <p:cNvPr id="20" name="AutoShape 20"/>
          <p:cNvSpPr/>
          <p:nvPr/>
        </p:nvSpPr>
        <p:spPr>
          <a:xfrm>
            <a:off x="8382000" y="6426200"/>
            <a:ext cx="3048000" cy="190500"/>
          </a:xfrm>
          <a:prstGeom prst="roundRect">
            <a:avLst>
              <a:gd name="adj" fmla="val 0"/>
            </a:avLst>
          </a:prstGeom>
          <a:solidFill>
            <a:srgbClr val="000000">
              <a:alpha val="0"/>
            </a:srgbClr>
          </a:solidFill>
          <a:ln cap="flat" cmpd="sng">
            <a:solidFill>
              <a:srgbClr val="000000">
                <a:alpha val="0"/>
              </a:srgbClr>
            </a:solidFill>
            <a:prstDash val="solid"/>
            <a:round/>
          </a:ln>
        </p:spPr>
        <p:txBody>
          <a:bodyPr vert="horz" wrap="square" lIns="0" tIns="0" rIns="0" bIns="0" rtlCol="0" anchor="t" anchorCtr="0"/>
          <a:lstStyle/>
          <a:p>
            <a:pPr marL="0" indent="0" algn="r">
              <a:lnSpc>
                <a:spcPct val="100000"/>
              </a:lnSpc>
              <a:defRPr/>
            </a:pPr>
            <a:r>
              <a:rPr lang="en-US" sz="800" b="0" i="0" u="none" strike="noStrike">
                <a:solidFill>
                  <a:srgbClr val="7A746A"/>
                </a:solidFill>
                <a:latin typeface="Aptos"/>
                <a:ea typeface="Aptos"/>
                <a:cs typeface="Aptos"/>
                <a:sym typeface="Aptos"/>
              </a:rPr>
              <a:t>7 / 8 - Proxy Results</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7F4ED">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3" name="AutoShape 3"/>
          <p:cNvSpPr/>
          <p:nvPr/>
        </p:nvSpPr>
        <p:spPr>
          <a:xfrm>
            <a:off x="685800" y="419100"/>
            <a:ext cx="266700" cy="381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4" name="AutoShape 4"/>
          <p:cNvSpPr/>
          <p:nvPr/>
        </p:nvSpPr>
        <p:spPr>
          <a:xfrm>
            <a:off x="1066800" y="330200"/>
            <a:ext cx="4953000" cy="2540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ctr" anchorCtr="0"/>
          <a:lstStyle/>
          <a:p>
            <a:pPr marL="0" indent="0" algn="l">
              <a:lnSpc>
                <a:spcPct val="100000"/>
              </a:lnSpc>
              <a:defRPr/>
            </a:pPr>
            <a:r>
              <a:rPr lang="en-US" sz="1000" b="1" i="0" u="none" strike="noStrike">
                <a:solidFill>
                  <a:srgbClr val="5E6975"/>
                </a:solidFill>
                <a:latin typeface="Aptos"/>
                <a:ea typeface="Aptos"/>
                <a:cs typeface="Aptos"/>
                <a:sym typeface="Aptos"/>
              </a:rPr>
              <a:t>KEY ANALYSIS</a:t>
            </a:r>
            <a:endParaRPr lang="en-US" sz="1100"/>
          </a:p>
        </p:txBody>
      </p:sp>
      <p:sp>
        <p:nvSpPr>
          <p:cNvPr id="5" name="AutoShape 5"/>
          <p:cNvSpPr/>
          <p:nvPr/>
        </p:nvSpPr>
        <p:spPr>
          <a:xfrm>
            <a:off x="685800" y="723900"/>
            <a:ext cx="9875520" cy="713232"/>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sz="2500"/>
            </a:pPr>
            <a:r>
              <a:rPr lang="en-US" sz="2500" b="1" i="0" u="none" strike="noStrike">
                <a:solidFill>
                  <a:srgbClr val="1E252B"/>
                </a:solidFill>
                <a:latin typeface="Play"/>
                <a:ea typeface="Play"/>
                <a:cs typeface="Play"/>
                <a:sym typeface="Play"/>
              </a:rPr>
              <a:t>Interpretation: strong coarse styles, clear benchmark limits.</a:t>
            </a:r>
            <a:endParaRPr lang="en-US" sz="1100"/>
          </a:p>
        </p:txBody>
      </p:sp>
      <p:sp>
        <p:nvSpPr>
          <p:cNvPr id="6" name="AutoShape 6"/>
          <p:cNvSpPr/>
          <p:nvPr/>
        </p:nvSpPr>
        <p:spPr>
          <a:xfrm>
            <a:off x="685800" y="1676400"/>
            <a:ext cx="3225800" cy="1892300"/>
          </a:xfrm>
          <a:prstGeom prst="roundRect">
            <a:avLst>
              <a:gd name="adj" fmla="val 0"/>
            </a:avLst>
          </a:prstGeom>
          <a:solidFill>
            <a:srgbClr val="DDEBDD">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7" name="AutoShape 7"/>
          <p:cNvSpPr/>
          <p:nvPr/>
        </p:nvSpPr>
        <p:spPr>
          <a:xfrm>
            <a:off x="914400" y="1905000"/>
            <a:ext cx="2781300" cy="3683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900" b="1" i="0" u="none" strike="noStrike">
                <a:solidFill>
                  <a:srgbClr val="167C80"/>
                </a:solidFill>
                <a:latin typeface="Play"/>
                <a:ea typeface="Play"/>
                <a:cs typeface="Play"/>
                <a:sym typeface="Play"/>
              </a:rPr>
              <a:t>What is solid</a:t>
            </a:r>
            <a:endParaRPr lang="en-US" sz="1100"/>
          </a:p>
        </p:txBody>
      </p:sp>
      <p:sp>
        <p:nvSpPr>
          <p:cNvPr id="8" name="AutoShape 8"/>
          <p:cNvSpPr/>
          <p:nvPr/>
        </p:nvSpPr>
        <p:spPr>
          <a:xfrm>
            <a:off x="939800" y="2463800"/>
            <a:ext cx="88900" cy="889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9" name="AutoShape 9"/>
          <p:cNvSpPr/>
          <p:nvPr/>
        </p:nvSpPr>
        <p:spPr>
          <a:xfrm>
            <a:off x="1168400" y="2387600"/>
            <a:ext cx="2425700" cy="3048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0" i="0" u="none" strike="noStrike" dirty="0">
                <a:solidFill>
                  <a:srgbClr val="1E252B"/>
                </a:solidFill>
                <a:latin typeface="Aptos"/>
                <a:ea typeface="Aptos"/>
                <a:cs typeface="Aptos"/>
                <a:sym typeface="Aptos"/>
              </a:rPr>
              <a:t>Kinematic control works for measurable physical styles (speed, smoothness).</a:t>
            </a:r>
            <a:endParaRPr lang="en-US" sz="1100" dirty="0"/>
          </a:p>
        </p:txBody>
      </p:sp>
      <p:sp>
        <p:nvSpPr>
          <p:cNvPr id="10" name="AutoShape 10"/>
          <p:cNvSpPr/>
          <p:nvPr/>
        </p:nvSpPr>
        <p:spPr>
          <a:xfrm>
            <a:off x="939800" y="2806700"/>
            <a:ext cx="88900" cy="889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1" name="AutoShape 11"/>
          <p:cNvSpPr/>
          <p:nvPr/>
        </p:nvSpPr>
        <p:spPr>
          <a:xfrm>
            <a:off x="1168400" y="2730500"/>
            <a:ext cx="2425700" cy="3048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0" i="0" u="none" strike="noStrike" dirty="0">
                <a:solidFill>
                  <a:srgbClr val="1E252B"/>
                </a:solidFill>
                <a:latin typeface="Aptos"/>
                <a:ea typeface="Aptos"/>
                <a:cs typeface="Aptos"/>
                <a:sym typeface="Aptos"/>
              </a:rPr>
              <a:t>Distillation is a robust workaround for data compatibility challenges.</a:t>
            </a:r>
            <a:endParaRPr lang="en-US" sz="1100" dirty="0"/>
          </a:p>
        </p:txBody>
      </p:sp>
      <p:sp>
        <p:nvSpPr>
          <p:cNvPr id="12" name="AutoShape 12"/>
          <p:cNvSpPr/>
          <p:nvPr/>
        </p:nvSpPr>
        <p:spPr>
          <a:xfrm>
            <a:off x="939800" y="3149600"/>
            <a:ext cx="88900" cy="88900"/>
          </a:xfrm>
          <a:prstGeom prst="roundRect">
            <a:avLst>
              <a:gd name="adj" fmla="val 0"/>
            </a:avLst>
          </a:prstGeom>
          <a:solidFill>
            <a:srgbClr val="167C8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3" name="AutoShape 13"/>
          <p:cNvSpPr/>
          <p:nvPr/>
        </p:nvSpPr>
        <p:spPr>
          <a:xfrm>
            <a:off x="1168400" y="3073400"/>
            <a:ext cx="2425700" cy="3048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0" i="0" u="none" strike="noStrike" dirty="0">
                <a:solidFill>
                  <a:srgbClr val="1E252B"/>
                </a:solidFill>
                <a:latin typeface="Aptos"/>
                <a:ea typeface="Aptos"/>
                <a:cs typeface="Aptos"/>
                <a:sym typeface="Aptos"/>
              </a:rPr>
              <a:t>Model consistently moves toward intended style per proxy measurements.</a:t>
            </a:r>
            <a:endParaRPr lang="en-US" sz="1100" dirty="0"/>
          </a:p>
        </p:txBody>
      </p:sp>
      <p:sp>
        <p:nvSpPr>
          <p:cNvPr id="14" name="AutoShape 14"/>
          <p:cNvSpPr/>
          <p:nvPr/>
        </p:nvSpPr>
        <p:spPr>
          <a:xfrm>
            <a:off x="685800" y="3835400"/>
            <a:ext cx="3225800" cy="1562100"/>
          </a:xfrm>
          <a:prstGeom prst="roundRect">
            <a:avLst>
              <a:gd name="adj" fmla="val 0"/>
            </a:avLst>
          </a:prstGeom>
          <a:solidFill>
            <a:srgbClr val="F3E0D5">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sp>
        <p:nvSpPr>
          <p:cNvPr id="15" name="AutoShape 15"/>
          <p:cNvSpPr/>
          <p:nvPr/>
        </p:nvSpPr>
        <p:spPr>
          <a:xfrm>
            <a:off x="914400" y="4038600"/>
            <a:ext cx="2781300" cy="3302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800" b="1" i="0" u="none" strike="noStrike">
                <a:solidFill>
                  <a:srgbClr val="B15A35"/>
                </a:solidFill>
                <a:latin typeface="Play"/>
                <a:ea typeface="Play"/>
                <a:cs typeface="Play"/>
                <a:sym typeface="Play"/>
              </a:rPr>
              <a:t>What remains limited</a:t>
            </a:r>
            <a:endParaRPr lang="en-US" sz="1100"/>
          </a:p>
        </p:txBody>
      </p:sp>
      <p:sp>
        <p:nvSpPr>
          <p:cNvPr id="16" name="AutoShape 16"/>
          <p:cNvSpPr/>
          <p:nvPr/>
        </p:nvSpPr>
        <p:spPr>
          <a:xfrm>
            <a:off x="939800" y="4584700"/>
            <a:ext cx="88900" cy="88900"/>
          </a:xfrm>
          <a:prstGeom prst="roundRect">
            <a:avLst>
              <a:gd name="adj" fmla="val 0"/>
            </a:avLst>
          </a:prstGeom>
          <a:solidFill>
            <a:srgbClr val="B15A35">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7" name="AutoShape 17"/>
          <p:cNvSpPr/>
          <p:nvPr/>
        </p:nvSpPr>
        <p:spPr>
          <a:xfrm>
            <a:off x="1168400" y="4368800"/>
            <a:ext cx="2425700" cy="2540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0" i="0" u="none" strike="noStrike" dirty="0">
                <a:solidFill>
                  <a:srgbClr val="1E252B"/>
                </a:solidFill>
                <a:latin typeface="Aptos"/>
                <a:ea typeface="Aptos"/>
                <a:cs typeface="Aptos"/>
                <a:sym typeface="Aptos"/>
              </a:rPr>
              <a:t>No direct token labels force distillation over supervised learning.</a:t>
            </a:r>
            <a:endParaRPr lang="en-US" sz="1100" dirty="0"/>
          </a:p>
        </p:txBody>
      </p:sp>
      <p:sp>
        <p:nvSpPr>
          <p:cNvPr id="18" name="AutoShape 18"/>
          <p:cNvSpPr/>
          <p:nvPr/>
        </p:nvSpPr>
        <p:spPr>
          <a:xfrm>
            <a:off x="939800" y="4864100"/>
            <a:ext cx="88900" cy="88900"/>
          </a:xfrm>
          <a:prstGeom prst="roundRect">
            <a:avLst>
              <a:gd name="adj" fmla="val 0"/>
            </a:avLst>
          </a:prstGeom>
          <a:solidFill>
            <a:srgbClr val="B15A35">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19" name="AutoShape 19"/>
          <p:cNvSpPr/>
          <p:nvPr/>
        </p:nvSpPr>
        <p:spPr>
          <a:xfrm>
            <a:off x="1168400" y="4699000"/>
            <a:ext cx="2425700" cy="2540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0" i="0" u="none" strike="noStrike" dirty="0">
                <a:solidFill>
                  <a:srgbClr val="1E252B"/>
                </a:solidFill>
                <a:latin typeface="Aptos"/>
                <a:ea typeface="Aptos"/>
                <a:cs typeface="Aptos"/>
                <a:sym typeface="Aptos"/>
              </a:rPr>
              <a:t>Cannot compute official FID/R-Precision due to evaluator limits.</a:t>
            </a:r>
            <a:endParaRPr lang="en-US" sz="1100" dirty="0"/>
          </a:p>
        </p:txBody>
      </p:sp>
      <p:sp>
        <p:nvSpPr>
          <p:cNvPr id="20" name="AutoShape 20"/>
          <p:cNvSpPr/>
          <p:nvPr/>
        </p:nvSpPr>
        <p:spPr>
          <a:xfrm>
            <a:off x="939800" y="5156200"/>
            <a:ext cx="88900" cy="88900"/>
          </a:xfrm>
          <a:prstGeom prst="roundRect">
            <a:avLst>
              <a:gd name="adj" fmla="val 0"/>
            </a:avLst>
          </a:prstGeom>
          <a:solidFill>
            <a:srgbClr val="B15A35">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1" name="AutoShape 21"/>
          <p:cNvSpPr/>
          <p:nvPr/>
        </p:nvSpPr>
        <p:spPr>
          <a:xfrm>
            <a:off x="1168400" y="5048250"/>
            <a:ext cx="2425700" cy="2540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1100" b="0" i="0" u="none" strike="noStrike" dirty="0">
                <a:solidFill>
                  <a:srgbClr val="1E252B"/>
                </a:solidFill>
                <a:latin typeface="Aptos"/>
                <a:ea typeface="Aptos"/>
                <a:cs typeface="Aptos"/>
                <a:sym typeface="Aptos"/>
              </a:rPr>
              <a:t>Model can't generate motions the teacher is incapable of producing.</a:t>
            </a:r>
            <a:endParaRPr lang="en-US" sz="1100" dirty="0"/>
          </a:p>
        </p:txBody>
      </p:sp>
      <p:sp>
        <p:nvSpPr>
          <p:cNvPr id="22" name="AutoShape 22"/>
          <p:cNvSpPr/>
          <p:nvPr/>
        </p:nvSpPr>
        <p:spPr>
          <a:xfrm>
            <a:off x="4330700" y="1676400"/>
            <a:ext cx="2616200" cy="3721100"/>
          </a:xfrm>
          <a:prstGeom prst="roundRect">
            <a:avLst>
              <a:gd name="adj" fmla="val 0"/>
            </a:avLst>
          </a:prstGeom>
          <a:solidFill>
            <a:srgbClr val="2D3440">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3" name="AutoShape 23"/>
          <p:cNvSpPr/>
          <p:nvPr/>
        </p:nvSpPr>
        <p:spPr>
          <a:xfrm>
            <a:off x="4635500" y="2006600"/>
            <a:ext cx="2006600" cy="7112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ctr">
              <a:lnSpc>
                <a:spcPct val="100000"/>
              </a:lnSpc>
              <a:defRPr/>
            </a:pPr>
            <a:r>
              <a:rPr lang="en-US" sz="2500" b="1" i="0" u="none" strike="noStrike">
                <a:solidFill>
                  <a:srgbClr val="FFFFFF"/>
                </a:solidFill>
                <a:latin typeface="Play"/>
                <a:ea typeface="Play"/>
                <a:cs typeface="Play"/>
                <a:sym typeface="Play"/>
              </a:rPr>
              <a:t>Best next step</a:t>
            </a:r>
            <a:endParaRPr lang="en-US" sz="1100"/>
          </a:p>
        </p:txBody>
      </p:sp>
      <p:sp>
        <p:nvSpPr>
          <p:cNvPr id="24" name="AutoShape 24"/>
          <p:cNvSpPr/>
          <p:nvPr/>
        </p:nvSpPr>
        <p:spPr>
          <a:xfrm>
            <a:off x="4635500" y="2895600"/>
            <a:ext cx="2006600" cy="16256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76200" tIns="152400" rIns="76200" bIns="152400" rtlCol="0" anchor="ctr" anchorCtr="0"/>
          <a:lstStyle/>
          <a:p>
            <a:pPr marL="0" indent="0" algn="ctr">
              <a:lnSpc>
                <a:spcPct val="100000"/>
              </a:lnSpc>
              <a:defRPr sz="1020"/>
            </a:pPr>
            <a:r>
              <a:rPr lang="en-US" sz="1600" b="0" i="0" u="none" strike="noStrike" dirty="0">
                <a:solidFill>
                  <a:srgbClr val="EEF4F5"/>
                </a:solidFill>
                <a:latin typeface="Aptos"/>
                <a:ea typeface="Aptos"/>
                <a:cs typeface="Aptos"/>
                <a:sym typeface="Aptos"/>
              </a:rPr>
              <a:t>Build a verified representation or evaluator bridge so style control can be measured against true motion benchmarks, not only teacher tokens and proxies.</a:t>
            </a:r>
            <a:endParaRPr lang="en-US" sz="1600" dirty="0"/>
          </a:p>
        </p:txBody>
      </p:sp>
      <p:sp>
        <p:nvSpPr>
          <p:cNvPr id="25" name="AutoShape 25"/>
          <p:cNvSpPr/>
          <p:nvPr/>
        </p:nvSpPr>
        <p:spPr>
          <a:xfrm>
            <a:off x="7340600" y="1676400"/>
            <a:ext cx="3721100" cy="3721100"/>
          </a:xfrm>
          <a:prstGeom prst="roundRect">
            <a:avLst>
              <a:gd name="adj" fmla="val 0"/>
            </a:avLst>
          </a:prstGeom>
          <a:solidFill>
            <a:srgbClr val="FFFFFF">
              <a:alpha val="100000"/>
            </a:srgbClr>
          </a:solidFill>
          <a:ln w="12700" cap="flat" cmpd="sng">
            <a:solidFill>
              <a:srgbClr val="D6CEC0">
                <a:alpha val="100000"/>
              </a:srgbClr>
            </a:solidFill>
            <a:prstDash val="solid"/>
            <a:miter lim="10000000"/>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3"/>
          <a:srcRect l="28364" r="28364"/>
          <a:stretch>
            <a:fillRect/>
          </a:stretch>
        </p:blipFill>
        <p:spPr>
          <a:xfrm>
            <a:off x="7340600" y="1676400"/>
            <a:ext cx="3721100" cy="3340100"/>
          </a:xfrm>
          <a:prstGeom prst="rect">
            <a:avLst/>
          </a:prstGeom>
          <a:noFill/>
          <a:ln w="25400" cap="flat" cmpd="sng">
            <a:noFill/>
            <a:prstDash val="solid"/>
            <a:round/>
          </a:ln>
        </p:spPr>
      </p:pic>
      <p:sp>
        <p:nvSpPr>
          <p:cNvPr id="27" name="AutoShape 27"/>
          <p:cNvSpPr/>
          <p:nvPr/>
        </p:nvSpPr>
        <p:spPr>
          <a:xfrm>
            <a:off x="7620000" y="5016500"/>
            <a:ext cx="3149600" cy="2286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ctr">
              <a:lnSpc>
                <a:spcPct val="100000"/>
              </a:lnSpc>
              <a:defRPr sz="950"/>
            </a:pPr>
            <a:r>
              <a:rPr lang="en-US" sz="950" b="0" i="0" u="none" strike="noStrike">
                <a:solidFill>
                  <a:srgbClr val="5E6975"/>
                </a:solidFill>
                <a:latin typeface="Aptos"/>
                <a:ea typeface="Aptos"/>
                <a:cs typeface="Aptos"/>
                <a:sym typeface="Aptos"/>
              </a:rPr>
              <a:t>Heatmap: expected-direction proxy changes; blank cells are unused checks.</a:t>
            </a:r>
            <a:endParaRPr lang="en-US" sz="1100"/>
          </a:p>
        </p:txBody>
      </p:sp>
      <p:sp>
        <p:nvSpPr>
          <p:cNvPr id="28" name="AutoShape 28"/>
          <p:cNvSpPr/>
          <p:nvPr/>
        </p:nvSpPr>
        <p:spPr>
          <a:xfrm>
            <a:off x="685800" y="6350000"/>
            <a:ext cx="10820400" cy="12700"/>
          </a:xfrm>
          <a:prstGeom prst="roundRect">
            <a:avLst>
              <a:gd name="adj" fmla="val 0"/>
            </a:avLst>
          </a:prstGeom>
          <a:solidFill>
            <a:srgbClr val="D8D0C2">
              <a:alpha val="100000"/>
            </a:srgbClr>
          </a:solidFill>
          <a:ln w="12700" cap="flat" cmpd="sng">
            <a:solidFill>
              <a:srgbClr val="000000">
                <a:alpha val="0"/>
              </a:srgbClr>
            </a:solidFill>
            <a:prstDash val="solid"/>
            <a:miter lim="10000000"/>
          </a:ln>
        </p:spPr>
        <p:txBody>
          <a:bodyPr vert="horz" wrap="square" lIns="63500" tIns="63500" rIns="63500" bIns="63500" rtlCol="0" anchor="ctr"/>
          <a:lstStyle/>
          <a:p>
            <a:pPr algn="ctr">
              <a:defRPr/>
            </a:pPr>
            <a:endParaRPr/>
          </a:p>
        </p:txBody>
      </p:sp>
      <p:sp>
        <p:nvSpPr>
          <p:cNvPr id="29" name="AutoShape 29"/>
          <p:cNvSpPr/>
          <p:nvPr/>
        </p:nvSpPr>
        <p:spPr>
          <a:xfrm>
            <a:off x="685800" y="6426200"/>
            <a:ext cx="5905500" cy="190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l">
              <a:lnSpc>
                <a:spcPct val="100000"/>
              </a:lnSpc>
              <a:defRPr/>
            </a:pPr>
            <a:r>
              <a:rPr lang="en-US" sz="800" b="0" i="0" u="none" strike="noStrike">
                <a:solidFill>
                  <a:srgbClr val="7A746A"/>
                </a:solidFill>
                <a:latin typeface="Aptos"/>
                <a:ea typeface="Aptos"/>
                <a:cs typeface="Aptos"/>
                <a:sym typeface="Aptos"/>
              </a:rPr>
              <a:t>Source: Model Evaluation Data; Proxy Metric Analysis; Research Limitations Review</a:t>
            </a:r>
            <a:endParaRPr lang="en-US" sz="1100"/>
          </a:p>
        </p:txBody>
      </p:sp>
      <p:sp>
        <p:nvSpPr>
          <p:cNvPr id="30" name="AutoShape 30"/>
          <p:cNvSpPr/>
          <p:nvPr/>
        </p:nvSpPr>
        <p:spPr>
          <a:xfrm>
            <a:off x="9626600" y="6426200"/>
            <a:ext cx="1892300" cy="190500"/>
          </a:xfrm>
          <a:prstGeom prst="roundRect">
            <a:avLst>
              <a:gd name="adj" fmla="val 0"/>
            </a:avLst>
          </a:prstGeom>
          <a:solidFill>
            <a:srgbClr val="000000">
              <a:alpha val="0"/>
            </a:srgbClr>
          </a:solidFill>
          <a:ln w="12700" cap="flat" cmpd="sng">
            <a:solidFill>
              <a:srgbClr val="000000">
                <a:alpha val="0"/>
              </a:srgbClr>
            </a:solidFill>
            <a:prstDash val="solid"/>
            <a:miter lim="10000000"/>
          </a:ln>
        </p:spPr>
        <p:txBody>
          <a:bodyPr vert="horz" wrap="square" lIns="0" tIns="0" rIns="0" bIns="0" rtlCol="0" anchor="t" anchorCtr="0"/>
          <a:lstStyle/>
          <a:p>
            <a:pPr marL="0" indent="0" algn="r">
              <a:lnSpc>
                <a:spcPct val="100000"/>
              </a:lnSpc>
              <a:defRPr/>
            </a:pPr>
            <a:r>
              <a:rPr lang="en-US" sz="800" b="0" i="0" u="none" strike="noStrike">
                <a:solidFill>
                  <a:srgbClr val="7A746A"/>
                </a:solidFill>
                <a:latin typeface="Aptos"/>
                <a:ea typeface="Aptos"/>
                <a:cs typeface="Aptos"/>
                <a:sym typeface="Aptos"/>
              </a:rPr>
              <a:t>8 / 8 - Interpretation &amp; Next Steps</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1897</Words>
  <Application>Microsoft Office PowerPoint</Application>
  <PresentationFormat>宽屏</PresentationFormat>
  <Paragraphs>151</Paragraphs>
  <Slides>8</Slides>
  <Notes>8</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8</vt:i4>
      </vt:variant>
    </vt:vector>
  </HeadingPairs>
  <TitlesOfParts>
    <vt:vector size="14" baseType="lpstr">
      <vt:lpstr>Noto Sans SC</vt:lpstr>
      <vt:lpstr>Play</vt:lpstr>
      <vt:lpstr>Aptos</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袁煦洋</dc:creator>
  <cp:lastModifiedBy>煦洋 袁</cp:lastModifiedBy>
  <cp:revision>2</cp:revision>
  <dcterms:created xsi:type="dcterms:W3CDTF">2026-06-14T14:08:56Z</dcterms:created>
  <dcterms:modified xsi:type="dcterms:W3CDTF">2026-06-14T15:31:02Z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{"Label":"1","ContentProducer":"001191110102MACQD9K64010000","ProduceID":"7651251784837811438","ReservedCode1":"","ContentPropagator":"","PropagateID":"","ReservedCode2":""}</vt:lpwstr>
  </property>
  <property fmtid="{D5CDD505-2E9C-101B-9397-08002B2CF9AE}" pid="3" name="ICV">
    <vt:lpwstr>0BF7E59062EC4593BF1A2054262543B2_13</vt:lpwstr>
  </property>
  <property fmtid="{D5CDD505-2E9C-101B-9397-08002B2CF9AE}" pid="4" name="KSOProductBuildVer">
    <vt:lpwstr>2052-12.1.0.23542</vt:lpwstr>
  </property>
</Properties>
</file>