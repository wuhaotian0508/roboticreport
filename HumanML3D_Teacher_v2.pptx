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38710cd0fb4bb6" /><Relationship Type="http://schemas.openxmlformats.org/officeDocument/2006/relationships/extended-properties" Target="/docProps/app.xml" Id="Ra754b1b312d44902" /><Relationship Type="http://schemas.openxmlformats.org/officeDocument/2006/relationships/officeDocument" Target="/ppt/presentation.xml" Id="Rac04a9cadeb942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90fa73422e4187"/>
  </p:sldMasterIdLst>
  <p:notesMasterIdLst>
    <p:notesMasterId xmlns:r="http://schemas.openxmlformats.org/officeDocument/2006/relationships" r:id="R6b50debb7e4c4448"/>
  </p:notesMasterIdLst>
  <p:sldIdLst>
    <p:sldId xmlns:r="http://schemas.openxmlformats.org/officeDocument/2006/relationships" id="256" r:id="Rf7ecc5683c77417f"/>
    <p:sldId xmlns:r="http://schemas.openxmlformats.org/officeDocument/2006/relationships" id="257" r:id="R4867e9723b4f405c"/>
    <p:sldId xmlns:r="http://schemas.openxmlformats.org/officeDocument/2006/relationships" id="258" r:id="R5c94a6d7fdfa4ffd"/>
    <p:sldId xmlns:r="http://schemas.openxmlformats.org/officeDocument/2006/relationships" id="259" r:id="R73753109c4cd45c9"/>
    <p:sldId xmlns:r="http://schemas.openxmlformats.org/officeDocument/2006/relationships" id="260" r:id="R57a5b323b3204991"/>
    <p:sldId xmlns:r="http://schemas.openxmlformats.org/officeDocument/2006/relationships" id="261" r:id="Rc67c0ae687554fe9"/>
    <p:sldId xmlns:r="http://schemas.openxmlformats.org/officeDocument/2006/relationships" id="262" r:id="Rdfd6a997a0fa478c"/>
    <p:sldId xmlns:r="http://schemas.openxmlformats.org/officeDocument/2006/relationships" id="263" r:id="Ra30b94aab5b44e01"/>
    <p:sldId xmlns:r="http://schemas.openxmlformats.org/officeDocument/2006/relationships" id="264" r:id="R5075421f2c4d4ae3"/>
    <p:sldId xmlns:r="http://schemas.openxmlformats.org/officeDocument/2006/relationships" id="265" r:id="Rf8a0015b5a624482"/>
    <p:sldId xmlns:r="http://schemas.openxmlformats.org/officeDocument/2006/relationships" id="266" r:id="R03cf0f2f66a84a7b"/>
    <p:sldId xmlns:r="http://schemas.openxmlformats.org/officeDocument/2006/relationships" id="267" r:id="R81c8644875994686"/>
    <p:sldId xmlns:r="http://schemas.openxmlformats.org/officeDocument/2006/relationships" id="268" r:id="R36188df1fd824a5e"/>
    <p:sldId xmlns:r="http://schemas.openxmlformats.org/officeDocument/2006/relationships" id="269" r:id="Ra34e0ff5aa50474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26b8883fbe4129" /><Relationship Type="http://schemas.openxmlformats.org/officeDocument/2006/relationships/slideMaster" Target="/ppt/slideMasters/slideMaster1.xml" Id="Rc290fa73422e4187" /><Relationship Type="http://schemas.openxmlformats.org/officeDocument/2006/relationships/notesMaster" Target="/ppt/notesMasters/notesMaster1.xml" Id="R6b50debb7e4c4448" /><Relationship Type="http://schemas.openxmlformats.org/officeDocument/2006/relationships/presProps" Target="/ppt/presProps.xml" Id="R1e9e4bd3f78b41b9" /><Relationship Type="http://schemas.openxmlformats.org/officeDocument/2006/relationships/tableStyles" Target="/ppt/tableStyles.xml" Id="Rcb11e84fc37d4fca" /><Relationship Type="http://schemas.openxmlformats.org/officeDocument/2006/relationships/slide" Target="/ppt/slides/slide1.xml" Id="Rf7ecc5683c77417f" /><Relationship Type="http://schemas.openxmlformats.org/officeDocument/2006/relationships/slide" Target="/ppt/slides/slide2.xml" Id="R4867e9723b4f405c" /><Relationship Type="http://schemas.openxmlformats.org/officeDocument/2006/relationships/slide" Target="/ppt/slides/slide3.xml" Id="R5c94a6d7fdfa4ffd" /><Relationship Type="http://schemas.openxmlformats.org/officeDocument/2006/relationships/slide" Target="/ppt/slides/slide4.xml" Id="R73753109c4cd45c9" /><Relationship Type="http://schemas.openxmlformats.org/officeDocument/2006/relationships/slide" Target="/ppt/slides/slide5.xml" Id="R57a5b323b3204991" /><Relationship Type="http://schemas.openxmlformats.org/officeDocument/2006/relationships/slide" Target="/ppt/slides/slide6.xml" Id="Rc67c0ae687554fe9" /><Relationship Type="http://schemas.openxmlformats.org/officeDocument/2006/relationships/slide" Target="/ppt/slides/slide7.xml" Id="Rdfd6a997a0fa478c" /><Relationship Type="http://schemas.openxmlformats.org/officeDocument/2006/relationships/slide" Target="/ppt/slides/slide8.xml" Id="Ra30b94aab5b44e01" /><Relationship Type="http://schemas.openxmlformats.org/officeDocument/2006/relationships/slide" Target="/ppt/slides/slide9.xml" Id="R5075421f2c4d4ae3" /><Relationship Type="http://schemas.openxmlformats.org/officeDocument/2006/relationships/slide" Target="/ppt/slides/slide10.xml" Id="Rf8a0015b5a624482" /><Relationship Type="http://schemas.openxmlformats.org/officeDocument/2006/relationships/slide" Target="/ppt/slides/slide11.xml" Id="R03cf0f2f66a84a7b" /><Relationship Type="http://schemas.openxmlformats.org/officeDocument/2006/relationships/slide" Target="/ppt/slides/slide12.xml" Id="R81c8644875994686" /><Relationship Type="http://schemas.openxmlformats.org/officeDocument/2006/relationships/slide" Target="/ppt/slides/slide13.xml" Id="R36188df1fd824a5e" /><Relationship Type="http://schemas.openxmlformats.org/officeDocument/2006/relationships/slide" Target="/ppt/slides/slide14.xml" Id="Ra34e0ff5aa5047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70cc9efc5f4e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7792f7bfae4f0d" /><Relationship Type="http://schemas.openxmlformats.org/officeDocument/2006/relationships/notesMaster" Target="/ppt/notesMasters/notesMaster1.xml" Id="Rf017f1b59feb4f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215f20e0034e60" /><Relationship Type="http://schemas.openxmlformats.org/officeDocument/2006/relationships/notesMaster" Target="/ppt/notesMasters/notesMaster1.xml" Id="Rde7fba070a5940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4ecdf692754635" /><Relationship Type="http://schemas.openxmlformats.org/officeDocument/2006/relationships/notesMaster" Target="/ppt/notesMasters/notesMaster1.xml" Id="R3d3453ddfa0045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3c2dfe428f4bf9" /><Relationship Type="http://schemas.openxmlformats.org/officeDocument/2006/relationships/notesMaster" Target="/ppt/notesMasters/notesMaster1.xml" Id="R0e058ed44d6f46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6f7d1999d84235" /><Relationship Type="http://schemas.openxmlformats.org/officeDocument/2006/relationships/notesMaster" Target="/ppt/notesMasters/notesMaster1.xml" Id="Rc32c581915744c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449f5a34fa4fa1" /><Relationship Type="http://schemas.openxmlformats.org/officeDocument/2006/relationships/notesMaster" Target="/ppt/notesMasters/notesMaster1.xml" Id="R0bd2f0f45b8843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f1ca95ef614841" /><Relationship Type="http://schemas.openxmlformats.org/officeDocument/2006/relationships/notesMaster" Target="/ppt/notesMasters/notesMaster1.xml" Id="R0bc0dd23c3e34d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51b6da38d7444d" /><Relationship Type="http://schemas.openxmlformats.org/officeDocument/2006/relationships/notesMaster" Target="/ppt/notesMasters/notesMaster1.xml" Id="R1f33ba95132449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591f99b0524a53" /><Relationship Type="http://schemas.openxmlformats.org/officeDocument/2006/relationships/notesMaster" Target="/ppt/notesMasters/notesMaster1.xml" Id="Ra016d3c16bdb49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75ceacbc814421" /><Relationship Type="http://schemas.openxmlformats.org/officeDocument/2006/relationships/notesMaster" Target="/ppt/notesMasters/notesMaster1.xml" Id="R0469231e449041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72c5f1653443aa" /><Relationship Type="http://schemas.openxmlformats.org/officeDocument/2006/relationships/notesMaster" Target="/ppt/notesMasters/notesMaster1.xml" Id="R9e16deb3b3ec40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859071fff44041" /><Relationship Type="http://schemas.openxmlformats.org/officeDocument/2006/relationships/notesMaster" Target="/ppt/notesMasters/notesMaster1.xml" Id="Redc77ff9dd7a4d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6cc9340ad6446f" /><Relationship Type="http://schemas.openxmlformats.org/officeDocument/2006/relationships/notesMaster" Target="/ppt/notesMasters/notesMaster1.xml" Id="R54720090871146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7ee29263a24706" /><Relationship Type="http://schemas.openxmlformats.org/officeDocument/2006/relationships/notesMaster" Target="/ppt/notesMasters/notesMaster1.xml" Id="R9129acb85cb847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这一页先把整份报告的主线说清楚：我们不是重新训练一个全新的 motion generator，而是在 MoConVQ GPT 的 LoRA 蒸馏流程里，改 teacher target 的选择方式。原来的做法更像 caption-only：HumanML3D 主要提供一句文本，teacher 根据文本采样 token，学生去模仿这些 token。我的改动是把 HumanML3D 里同一条样本对应的真实动作也用起来，在多个 teacher candidate 里挑一个更接近 HumanML3D 动作统计特征的目标。也就是说，贡献点不是“换模型”，而是让训练目标从只看文字，变成同时受到配对动作约束。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这一页是报告结构。先介绍背景：HumanML3D、MoConVQ、GPT 和 LoRA 各自扮演什么角色。然后说明问题：为什么只用 caption 会让 HumanML3D 的动作信息被浪费。第三部分讲方法，也就是 teacher top-k 采样、candidate BVH 解码和 HumanML motion-distance selection。第四部分讲评估，我们不只看原来的 style proxy，也新增了和 HumanML3D 动作接近程度相关的指标。最后给出实验发现：top-k 解决了候选几乎不变的问题，但最终学生输出还需要进一步闭环评估。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这一页解释背景。HumanML3D 本身有两类信息：一类是自然语言 caption，另一类是配对的连续动作序列。MoConVQ 的作用是把连续动作压成离散 codebook token，GPT 学的是 caption 到 token 序列的映射。LoRA 则是在不大幅改动预训练模型的情况下，对 GPT 的一部分参数做低成本适配。这里容易混淆的一点是，HumanML3D 动作虽然按帧存储，但每一帧的关节位置、旋转、速度都是连续浮点数；MoConVQ token 才是真正有限词表里的离散编号。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这一页点出原始问题。baseline 训练时，HumanML3D 的 caption 被用到了，但 paired motion 基本没有进入 teacher target 的选择。结果就是同一句话可能对应很多合理动作，例如“walk forward”可以是慢走、普通走、轻盈走，甚至带一点舞蹈感。如果 teacher 只根据 caption 给出一个 token 序列，学生就会强化这个被采到的目标，而不一定接近 HumanML3D 中那条真实动作。因此问题不是 teacher 完全没用，而是 teacher target 没有被数据里的真实 motion 校准。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 baseline pipeline。流程是：HumanML3D 提供 caption，pretrained MoConVQ GPT 作为 teacher 根据 caption 产生伪 token，学生 LoRA 用交叉熵去拟合这些 token，最后通过 decoder 把 token 还原成 BVH 或连续动作。这个流程的优点是简单，完全兼容 GPT 的离散 token 训练目标；缺点是 HumanML3D 的 motion_id 和真实动作没有参与筛选。换句话说，学生学到的是“teacher 对 caption 的一次采样结果”，而不是“和当前 HumanML3D 样本最接近的动作目标”。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这一页说明为什么之前的多候选筛选没有真正发挥作用。右下方新增的图表显示，在 200 个样本中，deterministic sampling 下 candidate 0 被选中 199 次，candidate 1 只被选中 1 次。这意味着虽然代码表面上生成多个 candidate，但这些 candidate 实际上几乎一样，筛选器没有可选空间。也就是说，问题不是评分器一定没用，而是上游采样太确定，导致评分器只能反复选第一个。这个发现推动了后面的 top-k stochastic sampling 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这一页是方法部分的过渡。这里我想强调的是：这次修改的核心不是把 HumanML3D motion 直接塞进 GPT 训练，因为 GPT 需要的是离散 token label。我们的做法是更保守的桥接方案：先让 teacher 产生多个 token candidate，再把这些 token 解码成动作，然后用 HumanML3D 的真实动作统计特征去挑选最合适的 candidate。这样学生训练阶段仍然使用原来的 token CE loss，但 token target 已经被 HumanML3D motion 影响过。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这一页是完整方法流程。第一步，从 HumanML3D row 取出 caption、motion_id 和真实 motion metrics。第二步，teacher 用 top-k stochastic sampling 生成多个候选 token 序列。第三步，把每个候选 token 解码成 BVH 或动作，并计算 duration、root speed、path length、vertical range 等统计量。第四步，用 selection score 比较 candidate 和 HumanML3D motion 的距离。最后，只保留分数最好的 candidate token 作为 LoRA 学生的训练目标。这样做的好处是既使用了 paired motion，又不破坏原来 token-based GPT 训练框架。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这一页讲评分规则。当前 selection distance 不是简单地奖励速度越低越好，也不是人为预设“越轻盈越好”这类风格方向，而是比较 candidate metric 和 HumanML metric 的比例差异：mean absolute log ratio。直观地说，如果 HumanML3D 这条动作本身是快速跑步，candidate 速度降到 0 反而会让距离变大；如果 HumanML3D 是慢动作，过快也会被惩罚。因此它奖励的是“接近这条 HumanML3D 参考动作”，不是奖励某个单调方向。局限是它更擅长全局运动统计，对手部语义、复杂舞蹈身份这类局部细节还不够敏感。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这一页展示 top-k 修改的作用。修改前，多个 teacher candidate 几乎确定，200 个样本里 199 个都选 candidate 0。修改后，top-k stochastic sampling 让候选真的产生差异，选择分布变成 candidate 0 为 114 次，candidate 1 为 31 次，candidate 2 为 32 次，candidate 3 为 23 次。也就是说，第 2、3、4 个候选合计被选中 86 次。这个结果说明筛选机制终于有了实际空间，HumanML motion-distance score 可以影响 teacher target，而不是只是在一个几乎固定的候选上走形式。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这一页解释评估方式。原来的 style proxy win rate 更像是在看生成动作是否沿着某些预设风格方向变化，例如速度、幅度、能量这些方向是否符合预期。但我们后来发现，这不一定等价于“更接近 HumanML3D 真实动作”。所以新增 HumanML alignment 视角：对选中的 teacher candidate，比较它和对应 HumanML3D motion 的统计距离。注意这里目前主要评估的是被选 teacher target 的接近性，还不是最终学生生成 BVH 的完整闭环评估。真正最终的评估应该是：给 baseline 和 LoRA 同样的 HumanML caption，生成 BVH，再和同一 motion_id 的真实动作比较。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这一页是实验结果摘要。top-k 后，teacher target 的 HumanML 对齐略有提升：score 从 0.1443 到 0.1477，distance 从 1.9666 到 1.9419，说明选出来的 teacher candidate 在统计上更接近 HumanML3D motion。但原来的 style proxy 从 original LoRA 的 18/22，降到 deterministic 的 15/22，再到 top-k 的 12/22。这个现象说明两个评分目标没有完全对齐：一个看是否沿着旧的风格方向变好，另一个看是否接近 HumanML3D 参考动作。所以现在不能简单说最终效果更好，只能说 teacher target selection 更数据化了，下一步要验证学生输出。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这一页把数字画成图表，方便讲结果。左边的柱状图说明 top-k 前后最大的变化：原来几乎全部集中在 candidate 0，现在 candidate 1、2、3 也会被选中，合计 86 次。右上角的条形图说明旧 style proxy 反而下降，从 18/22 到 12/22。右下角的条形图说明 HumanML teacher alignment 小幅上升，score 从 0.1443 到 0.1477，同时 distance 从 1.9666 降到 1.9419。这三张图合起来表达一个关键结论：新方法确实改变了 teacher selection，并让 teacher target 更贴近 HumanML3D，但它还没有证明最终学生生成质量更好。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最后一页给结论。已经解决的是：HumanML3D 不再只是提供 caption，它的 paired motion 已经进入 teacher candidate selection；top-k 也解决了候选几乎全选第一个的问题。还没解决的是：teacher target 更接近 HumanML3D，并不自动保证学生最终生成的 BVH 也更接近 HumanML3D，因为学生训练、采样和解码还会引入偏差。下一步应该做闭环实验：用同一批 HumanML caption 分别生成 baseline 和 LoRA BVH，再按 motion_id 和真实 HumanML3D 动作做配对比较。这样才能真正回答“新方法是否提升最终动作质量”。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31423bcca346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9fc29488234133" /><Relationship Type="http://schemas.openxmlformats.org/officeDocument/2006/relationships/slideLayout" Target="/ppt/slideLayouts/slideLayout1.xml" Id="R39a7fd22ab6345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a7fd22ab6345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a4cfa1ffc4155" /><Relationship Type="http://schemas.openxmlformats.org/officeDocument/2006/relationships/notesSlide" Target="/ppt/notesSlides/notesSlide1.xml" Id="R8b6e8219a70c4c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cc7f410a04015" /><Relationship Type="http://schemas.openxmlformats.org/officeDocument/2006/relationships/notesSlide" Target="/ppt/notesSlides/notesSlide2.xml" Id="R02a8f4e13ac640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756ff851f4179" /><Relationship Type="http://schemas.openxmlformats.org/officeDocument/2006/relationships/notesSlide" Target="/ppt/notesSlides/notesSlide3.xml" Id="R45b1151701ad44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8792cf4404fc3" /><Relationship Type="http://schemas.openxmlformats.org/officeDocument/2006/relationships/notesSlide" Target="/ppt/notesSlides/notesSlide4.xml" Id="Rfeae8b456c6f47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dd5ffe38045ec" /><Relationship Type="http://schemas.openxmlformats.org/officeDocument/2006/relationships/notesSlide" Target="/ppt/notesSlides/notesSlide5.xml" Id="Rb0b21ca13e5d48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5e706c6f64058" /><Relationship Type="http://schemas.openxmlformats.org/officeDocument/2006/relationships/notesSlide" Target="/ppt/notesSlides/notesSlide6.xml" Id="R624ccc77bd444f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19ccc15a2429d" /><Relationship Type="http://schemas.openxmlformats.org/officeDocument/2006/relationships/notesSlide" Target="/ppt/notesSlides/notesSlide7.xml" Id="Re1704ea8a7ce46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88fd2cb764c5a" /><Relationship Type="http://schemas.openxmlformats.org/officeDocument/2006/relationships/notesSlide" Target="/ppt/notesSlides/notesSlide8.xml" Id="R1cac11a574d041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1451dfbd142b1" /><Relationship Type="http://schemas.openxmlformats.org/officeDocument/2006/relationships/notesSlide" Target="/ppt/notesSlides/notesSlide9.xml" Id="R7bb056c2193b44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d2dfb78b042df" /><Relationship Type="http://schemas.openxmlformats.org/officeDocument/2006/relationships/notesSlide" Target="/ppt/notesSlides/notesSlide10.xml" Id="R1f5bfc0c0c3744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2518f81514cbc" /><Relationship Type="http://schemas.openxmlformats.org/officeDocument/2006/relationships/notesSlide" Target="/ppt/notesSlides/notesSlide11.xml" Id="Rfb8f4c0b64b643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ec4ba940843ae" /><Relationship Type="http://schemas.openxmlformats.org/officeDocument/2006/relationships/notesSlide" Target="/ppt/notesSlides/notesSlide12.xml" Id="R2d8a8ae082c349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bcc7992444cc4" /><Relationship Type="http://schemas.openxmlformats.org/officeDocument/2006/relationships/notesSlide" Target="/ppt/notesSlides/notesSlide13.xml" Id="R26a74b068d0d4a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843509e6947b6" /><Relationship Type="http://schemas.openxmlformats.org/officeDocument/2006/relationships/notesSlide" Target="/ppt/notesSlides/notesSlide14.xml" Id="Rba125d10e6594b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D96597-0958-48F1-BD45-B69D5E4E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8BD47-FC61-4560-A33A-FC05E9B7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0"/>
                </a:solidFill>
                <a:latin typeface="Aptos"/>
                <a:ea typeface="Aptos"/>
                <a:cs typeface="Aptos"/>
              </a:rPr>
              <a:t>THESIS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8AA6D-4908-4715-95F8-9F41FA45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HumanML3D-Guided</a:t>
            </a:r>
          </a:p>
          <a:p xmlns:a="http://schemas.openxmlformats.org/drawingml/2006/main">
            <a:pPr>
              <a:buNone/>
              <a:defRPr sz="39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Teacher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C9BFE-BC4A-417C-8D80-0A0FFAE1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5C6870"/>
                </a:solidFill>
                <a:latin typeface="Aptos"/>
                <a:ea typeface="Aptos"/>
                <a:cs typeface="Aptos"/>
              </a:rPr>
              <a:t>for MoConVQ LoRA Motion Distillation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B8ED1-C7A3-40BA-AFA3-358BFA96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0A350-39A9-42FF-91C7-302FCC6A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Core contribution: use paired HumanML3D motion to choose teacher pseudo-token targets before LoRA training.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A7654-1857-4FB7-B171-92A30FDC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3067050" cy="10287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424AB-0EC2-426B-A5B0-F1921D00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9B953-53E5-4DD1-AADF-2F3B2F35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71FF2-EB56-4263-9ABA-BD422C44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multi-candidate teacher sampling + HumanML motion-distance selection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C40FD-17FB-48C7-B1B1-ACAF46D3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62500"/>
            <a:ext cx="3067050" cy="10287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89D21-1E79-4A54-90A7-BF253117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625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57455-BEAA-4776-9DA9-6D814A94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1015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E352F-D8CF-4ADD-A61A-F83E3A9B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3340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top-k makes candidate selection non-deterministic: 86/200 non-first choices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C85FE-24AC-41A6-83C0-5C61E577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3067050" cy="10287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6BF074-B1A7-4898-8B48-CF31F1C4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3D253-ED52-4362-8E55-99AABF0A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1015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Finding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217B49-1F9C-49B5-8001-935D356C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3400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teacher alignment improves slightly, final student proxy does not yet improve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072EA-58F9-45D2-82A7-726C2B5D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89EF81-0892-47F0-978B-A2D1B8E9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MoConVQ LoRA Distillation | HumanML3D Motion Alignment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95FC5C-D3E3-4204-B3DE-85CAB17C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1 / 14</a:t>
            </a:r>
          </a:p>
        </p:txBody>
      </p:sp>
    </p:spTree>
    <p:extLst>
      <p:ext uri="{BB962C8B-B14F-4D97-AF65-F5344CB8AC3E}">
        <p14:creationId xmlns:p14="http://schemas.microsoft.com/office/powerpoint/2010/main" val="1244388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62B63E-F594-4833-8CB8-83315815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DF62C-78C4-4987-9A97-16513B12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0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18F71-5E0F-43C2-A21F-C32D580C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A complete presentation 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28271-E4CD-432C-BCB1-A47F3191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27B51-D689-474F-84F3-260D2DEE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HumanML3D-Guided Teacher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E39FF-C19A-42E5-9593-4CF0C08E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2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7DB66-8E04-4D77-8834-5692AFA3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57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12CAD-F7CB-491E-9C47-C02E8AC4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02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1AED5-B7A2-42F3-AA73-56CEF09C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76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Background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E6B02-BCA5-446E-8581-CB192E84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812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C6870"/>
                </a:solidFill>
                <a:latin typeface="Aptos"/>
                <a:ea typeface="Aptos"/>
                <a:cs typeface="Aptos"/>
              </a:rPr>
              <a:t>MoConVQ, HumanML3D, and LoRA distillation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65835-41F3-4D36-B085-2FCB42C4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57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65416-DAD8-4999-BF37-3D4425E3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81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55D57-033A-44C4-8F90-E223648D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57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F17AC-BB88-4A20-8187-34F1772D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C6870"/>
                </a:solidFill>
                <a:latin typeface="Aptos"/>
                <a:ea typeface="Aptos"/>
                <a:cs typeface="Aptos"/>
              </a:rPr>
              <a:t>Caption-only distillation ignores paired motion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C8A5B-DF82-46D3-BE9F-7FEB311A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57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DAE6BF-8E9F-4C85-8D97-AD64C98C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623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3142A-48A4-47AF-9C54-6F58DD89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38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51CAC-4606-48A5-B606-831B174C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433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C6870"/>
                </a:solidFill>
                <a:latin typeface="Aptos"/>
                <a:ea typeface="Aptos"/>
                <a:cs typeface="Aptos"/>
              </a:rPr>
              <a:t>HumanML3D-guided teacher candidate selection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306A10-8FB0-4F0B-A48B-CCFF06CE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57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4AB5B9-8574-46E4-850E-4B252305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433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D5F136-A6FA-4D91-96C0-CE37760E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195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1AADA4-F953-4272-B7DB-E35BAAE8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243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C6870"/>
                </a:solidFill>
                <a:latin typeface="Aptos"/>
                <a:ea typeface="Aptos"/>
                <a:cs typeface="Aptos"/>
              </a:rPr>
              <a:t>Old style proxy vs new HumanML alignment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18D366-C6D2-49E9-B8F4-E1C37F80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57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2D2434-BB9C-41EF-A648-68F7A09F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244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AEA675-A960-46E8-A499-0810FBE0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00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Findings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78781F-F487-4B44-A038-BED1F724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054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C6870"/>
                </a:solidFill>
                <a:latin typeface="Aptos"/>
                <a:ea typeface="Aptos"/>
                <a:cs typeface="Aptos"/>
              </a:rPr>
              <a:t>What improved, what did not, and why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2757F9-0608-42F7-9B03-CF531B72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240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5CEF04-B675-4B39-9B9D-CBC92245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240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F5371B-A3A7-408F-829C-101A1155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14550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Message hierarchy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1C132E-5865-4C9C-AA8F-B4EA4041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00300"/>
            <a:ext cx="27241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Every section answers one question: what was missing, what changed, how it was measured, and what the result means.</a:t>
            </a:r>
          </a:p>
        </p:txBody>
      </p:sp>
    </p:spTree>
    <p:extLst>
      <p:ext uri="{BB962C8B-B14F-4D97-AF65-F5344CB8AC3E}">
        <p14:creationId xmlns:p14="http://schemas.microsoft.com/office/powerpoint/2010/main" val="10276032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003A66-7C33-4F07-B9C9-8963720D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AA517-16E0-4D18-953C-D73863A2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0"/>
                </a:solidFill>
                <a:latin typeface="Aptos"/>
                <a:ea typeface="Aptos"/>
                <a:cs typeface="Aptos"/>
              </a:rPr>
              <a:t>BACKGROUND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12B7A-D617-4029-BFFD-12E86700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Three components and their roles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617C6-8757-47B6-BEC5-AFF3C539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92704-74A0-44AB-B30C-0ADE488D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HumanML3D-Guided Teacher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FEF45-179D-42BD-B89E-900D5AC1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3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E51DC-820B-411F-B953-136E48D9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3048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E6FEA-E398-4513-9D9A-825757CF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E4A45-F912-4983-9C42-1534002D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MoConVQ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A5AFA-649E-4CF4-B0BD-E4173C11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26289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A pretrained language-conditioned humanoid motion generation pipeline. Its GPT component predicts discrete motion tokens.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A84297-8A53-484F-BC6D-3775F6F4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9CEF8-B253-4113-868F-6903BE83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3B873-9AAB-42CE-A6CD-DE11F4D1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00250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HumanML3D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E1891E-308B-4B05-8D86-BE93C4DA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86000"/>
            <a:ext cx="26289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Provides natural-language captions and paired continuous motion features. It is the dataset reference we want to use better.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3076B-375C-4C97-A8EA-F298BE3E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3048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FE622-E5F6-4F39-90B1-5F46A923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ABFD58-8585-450A-B759-33DD910B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00250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LoRA Distillation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D0319D-DA95-4EA7-83A9-95360177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86000"/>
            <a:ext cx="26289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Adds a small trainable adapter. The student learns pseudo-token targets from a frozen teacher instead of retraining the full model.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BF2AD0-6355-4641-BA26-F20CECAC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867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DC480D-CBBE-4A69-B3F1-8D1C2FFB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911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Key constraint: HumanML3D motion is continuous, while MoConVQ GPT training targets are discrete tokens.</a:t>
            </a:r>
          </a:p>
        </p:txBody>
      </p:sp>
    </p:spTree>
    <p:extLst>
      <p:ext uri="{BB962C8B-B14F-4D97-AF65-F5344CB8AC3E}">
        <p14:creationId xmlns:p14="http://schemas.microsoft.com/office/powerpoint/2010/main" val="7761048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82D64E-5E14-4A04-B676-74D08775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7E02C-9CE5-40E4-82AF-A8EBF32D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0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3903C-F6C0-4BBD-B171-0D49D36E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Caption-only distillation leaves HumanML motion unused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408D6-84C3-41C9-B2D5-01A4C903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1A68F-EFB9-46C4-90B1-EE27E9B8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HumanML3D-Guided Teacher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E6FFB-BE99-411E-9019-C85876FB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4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AC8FB-99D9-4854-91E6-461CC898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A150B-1DDE-4546-8410-308CC294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CF80D-C58F-445D-A855-4FFC3176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5267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HumanML3D row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BFCF0-5129-48C6-A535-539FF784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193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caption + motion_id + paired motion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CCBAD-D43D-4D0B-B33F-1EBA9988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907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D4E96-C96C-4CC6-B2EF-F77AC803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907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6A22E-F3E3-4E71-B54A-1A770FD1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5267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Teacher GPT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4193E-26CC-42A5-AFC1-7E538254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193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samples token sequence from caption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FD688-7920-4F06-A4D4-A4324C81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96377-6A64-42A1-A3F8-93E34352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24B"/>
          </a:solidFill>
          <a:ln xmlns:a="http://schemas.openxmlformats.org/drawingml/2006/main" w="0">
            <a:solidFill>
              <a:srgbClr val="54A2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E1E75-3EE2-4D7F-96BD-A630C325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5267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Student LoRA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7C965B-5310-4931-9357-BA55D939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193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learns selected pseudo-tokens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9C646-45F3-4269-B10C-D274C226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9075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71380F-4B14-43B0-B85E-CEA922C6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907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6C104E-A8D1-4CBC-9FA8-3FDD0643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5267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92A267-A098-4EA0-80E1-FC187C75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19375"/>
            <a:ext cx="118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BVH motion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DE4D13-46EE-4413-A806-DD276564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670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6CFDAB-BEDF-4CA5-B567-FDDC4185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670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90C2E3-BCC3-439F-959C-6AE8348C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1A7A17-38FF-4F41-B548-D897F1EF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90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140E57-0B56-4253-8700-51AB5329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02832"/>
                </a:solidFill>
                <a:latin typeface="Aptos"/>
                <a:ea typeface="Aptos"/>
                <a:cs typeface="Aptos"/>
              </a:rPr>
              <a:t>The paired HumanML3D motion is available but does not decide which teacher sample the student learns.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2C11F8-24DC-43D3-B103-C9926D5B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43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8B6FFF-CD7E-41CA-85E3-55399667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577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02832"/>
                </a:solidFill>
                <a:latin typeface="Aptos"/>
                <a:ea typeface="Aptos"/>
                <a:cs typeface="Aptos"/>
              </a:rPr>
              <a:t>If the teacher sample is plausible but not close to HumanML3D, student training still reinforces it.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FE0040-92C2-4D77-864A-7D46F962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BA68D7-3EC0-4626-88D4-9D35B22E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02832"/>
                </a:solidFill>
                <a:latin typeface="Aptos"/>
                <a:ea typeface="Aptos"/>
                <a:cs typeface="Aptos"/>
              </a:rPr>
              <a:t>Therefore the control point is before LoRA training: select a better teacher target.</a:t>
            </a:r>
          </a:p>
        </p:txBody>
      </p:sp>
    </p:spTree>
    <p:extLst>
      <p:ext uri="{BB962C8B-B14F-4D97-AF65-F5344CB8AC3E}">
        <p14:creationId xmlns:p14="http://schemas.microsoft.com/office/powerpoint/2010/main" val="13141779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09CDF6-3769-4B57-8CCF-39AA79AF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2D0E8-6FF6-43EA-AD90-5A221E23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0"/>
                </a:solidFill>
                <a:latin typeface="Aptos"/>
                <a:ea typeface="Aptos"/>
                <a:cs typeface="Aptos"/>
              </a:rPr>
              <a:t>BASELINE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361F4-7743-4A72-B855-17094BBE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What the original LoRA student actually optimizes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BAAD9-7DCC-4319-8664-AAF7ED90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FF247-A44C-46BB-89B7-1069238C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HumanML3D-Guided Teacher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91EDD-363E-44A4-9A16-CBD56963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5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73290-AB5E-4807-96FE-0AAF6BDB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10363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2904B-CF6D-4203-B526-4BE568BF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7642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Training loss = token-level cross entropy against selected teacher pseudo-tokens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1E5E0-1A52-4BB7-B617-7E673D8A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2000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F5892-7EFB-4D18-832D-D3BE9537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954B55-B9B6-4F2C-AA60-47A97F33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0517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Caption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D1938-5922-4199-AF61-8FA221EF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text prompt encoded by T5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0FD03-38B7-487E-AFE3-D9E31044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43250"/>
            <a:ext cx="2000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E9C53-B3F3-4EE7-BDBE-7F74B8FE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432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1DE25-0588-4A31-9661-F124CC60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30517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Frozen teacher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562F2F-DD82-464D-8069-8E8641AA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71875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pretrained MoConVQ GPT samples tokens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8F6595-B014-4852-B4A5-FFE98786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2000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B35BE-1588-4915-854D-2EDB7CD0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24B"/>
          </a:solidFill>
          <a:ln xmlns:a="http://schemas.openxmlformats.org/drawingml/2006/main" w="0">
            <a:solidFill>
              <a:srgbClr val="54A2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37AC37-9729-4B75-ADE2-03A59E7E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0517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LoRA student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1C5586-2233-46BD-8150-A68692E2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71875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predicts teacher token ids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42DE43-BC70-43D4-B8A7-A8C2D329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43250"/>
            <a:ext cx="2000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766DD0-06AF-4A5E-82C5-AB8E5D51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432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E5273-917F-4743-A52D-1B274270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0517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Decoder + controller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5457CA-5A83-44FD-BE9E-046AA8AE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571875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exports BVH motion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EA4924-2F0D-48CC-84A2-860E3897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3855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A23166-0F70-4BFA-9695-B2EF8647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63855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5C0BB6-ECC0-459E-BAE3-50CE85B3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3855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1D5B04-229F-475D-82FB-F8FDD9B7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4095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CC58E5-5EE9-4094-819C-031FFAA8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72F9E7-66FB-4D77-8F1B-622CAD3B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43500"/>
            <a:ext cx="3676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Important implication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D3CEAE-889A-45F6-B88E-AAC09586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29250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Low CE loss means the student copied the teacher target; it does not prove the target matches HumanML3D.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B897EB-2F1C-4CC4-87FB-557C1D5A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3714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E9FA0F-29ED-477C-9B7E-B5BDD7EC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731CD4-86C9-4CB3-A203-12DE019B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43500"/>
            <a:ext cx="3295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Method opportunity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4639EA-9D00-47A4-9CDC-2265D174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29250"/>
            <a:ext cx="329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Improve the target before training by selecting among teacher candidates.</a:t>
            </a:r>
          </a:p>
        </p:txBody>
      </p:sp>
    </p:spTree>
    <p:extLst>
      <p:ext uri="{BB962C8B-B14F-4D97-AF65-F5344CB8AC3E}">
        <p14:creationId xmlns:p14="http://schemas.microsoft.com/office/powerpoint/2010/main" val="4424783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555BF9-67DC-438E-A823-9CC386D3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94284-0F19-4BA5-A72D-9B078D2C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0"/>
                </a:solidFill>
                <a:latin typeface="Aptos"/>
                <a:ea typeface="Aptos"/>
                <a:cs typeface="Aptos"/>
              </a:rPr>
              <a:t>KEY LIMITATION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C8901-7A7E-4149-A349-9AEF3065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Teacher mimicry alone does not guarantee data alignment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36809-0B22-447E-84A7-4A6645DB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607CA-0834-4489-AAE9-A127BAA9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HumanML3D-Guided Teacher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FD122-8C7C-4473-8C4E-E6517449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6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BBEF7-266F-4A0B-8339-F0211E9F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AF3BE-C64A-4E5B-985F-B8CA3561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AD22C-4663-4C15-8F6A-58BE282B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Metric mismatch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7B762-5935-4007-820C-72110BD0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628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Training loss measures token imitation; old style proxy measures direction change; neither directly measures HumanML closeness.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90D6D-B0F1-40D3-95AF-A25FF1C0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05000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5A648-CBFF-4830-88A9-63CA2F92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05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1B410-CD86-40EE-9166-E0B345AA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95500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Sample mismatch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A59F5-0D08-4BE4-8299-D244222C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81250"/>
            <a:ext cx="2628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A single teacher sample can be deterministic or biased toward common pretrained behaviors.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0638F-DACC-4BAC-886F-BE439FDB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05000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6E89DC-82C9-4CF1-A8AA-043056A8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05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485C3-8B44-4689-BB65-A004329C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Evaluation mismatch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FFB06-5FD8-4AD8-B6E2-570B55B5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2628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Style proxy can reward over-shooting, such as lowering speed too much under a lower-is-better rule.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273891-4DE1-4A43-B382-B050DDBB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198D10-67A7-4CA0-8809-064EA0B6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244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question: can paired HumanML3D motion guide teacher selection before the student ever trains?</a:t>
            </a:r>
          </a:p>
        </p:txBody>
      </p:sp>
      <p:sp>
        <p:nvSpPr>
          <p:cNvPr id="21" name="chart-card">
            <a:extLst xmlns:a="http://schemas.openxmlformats.org/drawingml/2006/main">
              <a:ext uri="{FF2B5EF4-FFF2-40B4-BE49-F238E27FC236}">
                <a16:creationId xmlns:a16="http://schemas.microsoft.com/office/drawing/2014/main" id="{B4B1D883-B230-45AB-A301-D29E6DCF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9906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22" name="chart-accent">
            <a:extLst xmlns:a="http://schemas.openxmlformats.org/drawingml/2006/main">
              <a:ext uri="{FF2B5EF4-FFF2-40B4-BE49-F238E27FC236}">
                <a16:creationId xmlns:a16="http://schemas.microsoft.com/office/drawing/2014/main" id="{98F6FA8A-E55E-48DD-AC8B-EEE29924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23" name="s6-chart-title">
            <a:extLst xmlns:a="http://schemas.openxmlformats.org/drawingml/2006/main">
              <a:ext uri="{FF2B5EF4-FFF2-40B4-BE49-F238E27FC236}">
                <a16:creationId xmlns:a16="http://schemas.microsoft.com/office/drawing/2014/main" id="{5AEF8F91-A74C-47E6-950B-0302BCE4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0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Deterministic teacher candidates were almost identical</a:t>
            </a:r>
          </a:p>
        </p:txBody>
      </p:sp>
      <p:sp>
        <p:nvSpPr>
          <p:cNvPr id="24" name="s6-chart-subtitle">
            <a:extLst xmlns:a="http://schemas.openxmlformats.org/drawingml/2006/main">
              <a:ext uri="{FF2B5EF4-FFF2-40B4-BE49-F238E27FC236}">
                <a16:creationId xmlns:a16="http://schemas.microsoft.com/office/drawing/2014/main" id="{695FD2A4-C6CE-4EA9-85C6-BFAF78FC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B6773"/>
                </a:solidFill>
                <a:latin typeface="Aptos"/>
                <a:ea typeface="Aptos"/>
                <a:cs typeface="Aptos"/>
              </a:rPr>
              <a:t>Selected candidate counts on 200 samples</a:t>
            </a:r>
          </a:p>
        </p:txBody>
      </p:sp>
      <p:sp>
        <p:nvSpPr>
          <p:cNvPr id="25" name="bar-label">
            <a:extLst xmlns:a="http://schemas.openxmlformats.org/drawingml/2006/main">
              <a:ext uri="{FF2B5EF4-FFF2-40B4-BE49-F238E27FC236}">
                <a16:creationId xmlns:a16="http://schemas.microsoft.com/office/drawing/2014/main" id="{131D9983-2BB5-4578-8E85-528E44AB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006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candidate 0</a:t>
            </a:r>
          </a:p>
        </p:txBody>
      </p:sp>
      <p:sp>
        <p:nvSpPr>
          <p:cNvPr id="26" name="bar-track">
            <a:extLst xmlns:a="http://schemas.openxmlformats.org/drawingml/2006/main">
              <a:ext uri="{FF2B5EF4-FFF2-40B4-BE49-F238E27FC236}">
                <a16:creationId xmlns:a16="http://schemas.microsoft.com/office/drawing/2014/main" id="{139A5405-2ADC-4F4B-A382-D66F375B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197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E8E1D8"/>
            </a:solidFill>
            <a:prstDash val="solid"/>
          </a:ln>
        </p:spPr>
      </p:sp>
      <p:sp>
        <p:nvSpPr>
          <p:cNvPr id="27" name="bar-value">
            <a:extLst xmlns:a="http://schemas.openxmlformats.org/drawingml/2006/main">
              <a:ext uri="{FF2B5EF4-FFF2-40B4-BE49-F238E27FC236}">
                <a16:creationId xmlns:a16="http://schemas.microsoft.com/office/drawing/2014/main" id="{E28D99DB-A22A-4994-9050-F256627B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19700"/>
            <a:ext cx="6160294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28" name="bar-value-label">
            <a:extLst xmlns:a="http://schemas.openxmlformats.org/drawingml/2006/main">
              <a:ext uri="{FF2B5EF4-FFF2-40B4-BE49-F238E27FC236}">
                <a16:creationId xmlns:a16="http://schemas.microsoft.com/office/drawing/2014/main" id="{CD854886-60A2-4C09-96AD-1D6A2AB1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00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199</a:t>
            </a:r>
          </a:p>
        </p:txBody>
      </p:sp>
      <p:sp>
        <p:nvSpPr>
          <p:cNvPr id="29" name="bar-label">
            <a:extLst xmlns:a="http://schemas.openxmlformats.org/drawingml/2006/main">
              <a:ext uri="{FF2B5EF4-FFF2-40B4-BE49-F238E27FC236}">
                <a16:creationId xmlns:a16="http://schemas.microsoft.com/office/drawing/2014/main" id="{2F1E71C7-F404-4308-8CAC-FB6703E4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435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candidate 1</a:t>
            </a:r>
          </a:p>
        </p:txBody>
      </p:sp>
      <p:sp>
        <p:nvSpPr>
          <p:cNvPr id="30" name="bar-track">
            <a:extLst xmlns:a="http://schemas.openxmlformats.org/drawingml/2006/main">
              <a:ext uri="{FF2B5EF4-FFF2-40B4-BE49-F238E27FC236}">
                <a16:creationId xmlns:a16="http://schemas.microsoft.com/office/drawing/2014/main" id="{99E5BD48-05B1-4B68-A28D-51A41049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626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E8E1D8"/>
            </a:solidFill>
            <a:prstDash val="solid"/>
          </a:ln>
        </p:spPr>
      </p:sp>
      <p:sp>
        <p:nvSpPr>
          <p:cNvPr id="31" name="bar-value">
            <a:extLst xmlns:a="http://schemas.openxmlformats.org/drawingml/2006/main">
              <a:ext uri="{FF2B5EF4-FFF2-40B4-BE49-F238E27FC236}">
                <a16:creationId xmlns:a16="http://schemas.microsoft.com/office/drawing/2014/main" id="{04CBE321-7C6E-48CE-8812-73F3D60D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62600"/>
            <a:ext cx="30956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32" name="bar-value-label">
            <a:extLst xmlns:a="http://schemas.openxmlformats.org/drawingml/2006/main">
              <a:ext uri="{FF2B5EF4-FFF2-40B4-BE49-F238E27FC236}">
                <a16:creationId xmlns:a16="http://schemas.microsoft.com/office/drawing/2014/main" id="{1137395A-B25F-4AD5-8E3E-737CCCE0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435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808574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93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0F675A-79D6-482C-8A89-AE3C2BE7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C2C94-2733-4F32-9695-61BEB076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B8C1C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C1C9"/>
                </a:solidFill>
                <a:latin typeface="Aptos"/>
                <a:ea typeface="Aptos"/>
                <a:cs typeface="Aptos"/>
              </a:rPr>
              <a:t>SECTION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0F098-D241-40F4-A488-02ED0B97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Proposed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67624-007E-4E79-887E-6A63A4D1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DDE4E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DDE4EA"/>
                </a:solidFill>
                <a:latin typeface="Aptos"/>
                <a:ea typeface="Aptos"/>
                <a:cs typeface="Aptos"/>
              </a:rPr>
              <a:t>Use HumanML3D motion as the teacher-selection reference before LoRA distillation.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D9248-FF18-4A30-A962-4F0F5B6B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DDE4EA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DDE4EA"/>
                </a:solidFill>
                <a:latin typeface="Aptos"/>
                <a:ea typeface="Aptos"/>
                <a:cs typeface="Aptos"/>
              </a:rPr>
              <a:t>7 / 14</a:t>
            </a:r>
          </a:p>
        </p:txBody>
      </p:sp>
    </p:spTree>
    <p:extLst>
      <p:ext uri="{BB962C8B-B14F-4D97-AF65-F5344CB8AC3E}">
        <p14:creationId xmlns:p14="http://schemas.microsoft.com/office/powerpoint/2010/main" val="21245839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2BB3AA-86BD-4D7A-99F8-392C7244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C5288-0774-4820-BDC0-57B0EA6F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0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C54DD-DE77-4EC8-B019-A1E5F817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HumanML3D-guided teacher candidate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C4A43-9088-4228-BD1F-D5A33104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C5F61-6931-4F4D-98E2-5041A008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HumanML3D-Guided Teacher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806E3-B6B6-40F4-B38F-E07E7B42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8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1B6B1-59EE-4E10-A295-D6C076BB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7621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E9A14-2E56-43A6-A382-1487E20E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A8317-32BB-431D-B78B-1BEDA328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HumanML row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B69A9-BB0B-4B89-9E91-86589763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1419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caption + motion_id + true motion metrics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08F8BF-93EE-449C-BA77-902414EF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33625"/>
            <a:ext cx="17621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385FD-FACD-4EDB-9C29-ECB9879E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3362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2EFC8-93F4-4024-9436-BD87D1FA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95550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Teacher top-k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EFA02-2371-499B-9D2D-80EC75E2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62250"/>
            <a:ext cx="1419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sample 4 stochastic candidates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259F26-03C3-44F9-B80A-B56FF446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33625"/>
            <a:ext cx="17621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E29834-F762-4856-B9A4-0335116E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3362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24B"/>
          </a:solidFill>
          <a:ln xmlns:a="http://schemas.openxmlformats.org/drawingml/2006/main" w="0">
            <a:solidFill>
              <a:srgbClr val="54A2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67D996-5F8F-4CC3-A6FA-C98BEB3D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95550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Candidate BVHs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96C206-733E-42C3-BD0F-309A1408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62250"/>
            <a:ext cx="1419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decode and measure each candidate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49DD36-9BB4-4682-ADB9-8AF1038C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33625"/>
            <a:ext cx="17621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61B7C9-B662-4E90-A2E9-D0F86532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3362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A85088-A118-4BA9-AB0A-0E5CBF6F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95550"/>
            <a:ext cx="1419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Selection 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C9D31E-0367-443C-B1B6-085342BF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1419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distance to HumanML motion profile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666912-A00A-4110-B150-009B40A8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33625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24A17C-9924-4BEF-8F66-2F2C3104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33625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99189-6003-478B-981A-8EB8F607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4955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LoRA target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E2886C-4C93-4CAF-B8CE-7E15E111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62250"/>
            <a:ext cx="108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C6870"/>
                </a:solidFill>
                <a:latin typeface="Aptos"/>
                <a:ea typeface="Aptos"/>
                <a:cs typeface="Aptos"/>
              </a:rPr>
              <a:t>selected token ids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6F9C7E-4B1E-4CA9-A4AE-4D4C1E96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828925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1D95E4-3E1E-47EC-930C-4DDA5EB6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28925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A369BB-290C-49E8-A99C-D2717B68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828925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ABE7B5-D554-4F97-95B7-8B31EF9A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828925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13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17BB84-36C7-4C31-8B47-02D2D746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2857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27E3F9-51FD-4DFF-B3F0-C1C00847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3E1FF9-AFB2-48D4-8BD3-B63532E5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2438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Data-grounded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EC52CF-C504-4644-8AD4-1B72619B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The paired motion provides a reference profile for the same caption row.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821A44-1D44-4912-8349-296AA263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2857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10F0A0-F9BA-4C37-917D-43C38A8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86D827-E034-41E2-A904-D9D1BA1D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67250"/>
            <a:ext cx="2438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Token-compatible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AED7FC-04EB-4E34-B49C-D5E73FB2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530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The student still trains on MoConVQ pseudo-tokens, so the original pipeline remains usable.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84D861-877F-42BC-8A5B-BE9DA7B0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76750"/>
            <a:ext cx="2857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D30D0D-9ECA-405A-BFF1-6E4EE22A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767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98DFF0-5B4B-4E52-B11B-F89010FE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67250"/>
            <a:ext cx="2438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Selection-only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812FB4-6A4D-4FE9-AB1E-E47CA0DD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530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The score ranks candidates; final LoRA training still uses CE on selected token ids.</a:t>
            </a:r>
          </a:p>
        </p:txBody>
      </p:sp>
    </p:spTree>
    <p:extLst>
      <p:ext uri="{BB962C8B-B14F-4D97-AF65-F5344CB8AC3E}">
        <p14:creationId xmlns:p14="http://schemas.microsoft.com/office/powerpoint/2010/main" val="2086571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484368-EA1A-437E-AAF6-FE557894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92AB3-71A6-403D-B51B-5B2364C8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0"/>
                </a:solidFill>
                <a:latin typeface="Aptos"/>
                <a:ea typeface="Aptos"/>
                <a:cs typeface="Aptos"/>
              </a:rPr>
              <a:t>SCORING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0D4DC-AA51-4CE3-835A-DD7B8324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Selection score rewards closeness, not extreme style direction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7F1A4-C8DC-4E1E-B1BB-F099BE7A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89FDD-D543-4B92-ACC2-062400BF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HumanML3D-Guided Teacher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9488C-5DC9-468C-AE2E-0BBE93D3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9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88C95-B252-4042-A595-1C8B3586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0439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34419-9D5E-4FEA-B881-B6573BB5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288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selection distance = mean | log(candidate_metric / HumanML_metric) |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3E88F-DAB8-4B19-9C8D-2E97DEBE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2266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04E64-B797-43AA-AF7E-617A5AA3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171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87F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7F"/>
                </a:solidFill>
                <a:latin typeface="Aptos"/>
                <a:ea typeface="Aptos"/>
                <a:cs typeface="Aptos"/>
              </a:rPr>
              <a:t>duration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BA28B-9D2C-4507-BCF3-7858E545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048000"/>
            <a:ext cx="2266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006F1-9C33-46ED-8249-4C5C611B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171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87F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7F"/>
                </a:solidFill>
                <a:latin typeface="Aptos"/>
                <a:ea typeface="Aptos"/>
                <a:cs typeface="Aptos"/>
              </a:rPr>
              <a:t>root speed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D5C7F-B514-453D-BC42-96E87ACC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048000"/>
            <a:ext cx="2266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151219-12E3-4629-B342-226890FD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71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87F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7F"/>
                </a:solidFill>
                <a:latin typeface="Aptos"/>
                <a:ea typeface="Aptos"/>
                <a:cs typeface="Aptos"/>
              </a:rPr>
              <a:t>path length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75B4B-D8BF-4BBE-86B5-15EBEE39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48000"/>
            <a:ext cx="2266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FAE58-1284-4E14-8192-F1BCE191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71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87F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7F"/>
                </a:solidFill>
                <a:latin typeface="Aptos"/>
                <a:ea typeface="Aptos"/>
                <a:cs typeface="Aptos"/>
              </a:rPr>
              <a:t>joint velocity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0BB724-A532-41C3-8BD3-233039C9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71900"/>
            <a:ext cx="2266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F2154-F301-42A7-AF6A-567DFDDD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8957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D8B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8BE8"/>
                </a:solidFill>
                <a:latin typeface="Aptos"/>
                <a:ea typeface="Aptos"/>
                <a:cs typeface="Aptos"/>
              </a:rPr>
              <a:t>acceleration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D27B65-5CDE-42D8-95CE-C7212BD7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71900"/>
            <a:ext cx="2266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33211A-1119-488A-97D8-0442BFB8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8957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D8B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8BE8"/>
                </a:solidFill>
                <a:latin typeface="Aptos"/>
                <a:ea typeface="Aptos"/>
                <a:cs typeface="Aptos"/>
              </a:rPr>
              <a:t>jerk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79E00-3D3D-4E57-80B9-153A5EEC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771900"/>
            <a:ext cx="2266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5D21CA-0F05-432B-8D5E-A1B90D3B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957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D8B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8BE8"/>
                </a:solidFill>
                <a:latin typeface="Aptos"/>
                <a:ea typeface="Aptos"/>
                <a:cs typeface="Aptos"/>
              </a:rPr>
              <a:t>root vertical range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970A5D-F87B-4631-B68B-8FD9D5FE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771900"/>
            <a:ext cx="2266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8EA8EA-50EB-4E5B-BF7C-40986BAD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8957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D8B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8BE8"/>
                </a:solidFill>
                <a:latin typeface="Aptos"/>
                <a:ea typeface="Aptos"/>
                <a:cs typeface="Aptos"/>
              </a:rPr>
              <a:t>all-joint vertical range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649770-C62C-40BD-AA13-8281942D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4095750" cy="8763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C15109-B37A-4750-93E2-7B9C5AB6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308B10-39E8-44C0-ACB8-D3331BF1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38750"/>
            <a:ext cx="3676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Why speed = 0 is not rewarded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EF4967-9A31-4D90-9EDD-901918CB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24500"/>
            <a:ext cx="3676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If HumanML speed is not zero, collapsing candidate speed to zero increases the log-ratio distance.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B41059-77AF-4292-8002-72EF9274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48250"/>
            <a:ext cx="4095750" cy="8763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9B9E4B-9BEB-45ED-8B35-80DB9524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482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65CA40-EF6B-4954-84BD-A8EE7C92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676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Still a proxy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BF9E54-D3D4-412E-B026-54A21122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24500"/>
            <a:ext cx="3676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It captures global kinematics better than local hand semantics or complex dance identity.</a:t>
            </a:r>
          </a:p>
        </p:txBody>
      </p:sp>
    </p:spTree>
    <p:extLst>
      <p:ext uri="{BB962C8B-B14F-4D97-AF65-F5344CB8AC3E}">
        <p14:creationId xmlns:p14="http://schemas.microsoft.com/office/powerpoint/2010/main" val="16884856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5AF7CB-4CC5-418E-A31C-69B902B4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DD10C-943A-4554-BDEE-35EB3777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0"/>
                </a:solidFill>
                <a:latin typeface="Aptos"/>
                <a:ea typeface="Aptos"/>
                <a:cs typeface="Aptos"/>
              </a:rPr>
              <a:t>IMPLEMENTATION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771DB-9797-4606-803F-BD4E6BAD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Top-k sampling makes multi-candidate filtering meaningful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096F2-67E7-4A31-A18D-BC9706F2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58B55-86E4-4028-9BE2-5C1F1820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HumanML3D-Guided Teacher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72846-38F3-4FD4-97E6-7BA26B6C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10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91CEB-48DD-4A40-8770-EECEA399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C6870"/>
                </a:solidFill>
                <a:latin typeface="Aptos"/>
                <a:ea typeface="Aptos"/>
                <a:cs typeface="Aptos"/>
              </a:rPr>
              <a:t>Before the fix, multiple teacher candidates were almost deterministic; after top-k sampling, 86/200 selected candidates were not the first sample.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F624D-ABE8-4520-BCD5-CFD4CEA5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Deterministic sampling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94FCA-C435-4EE9-99DE-367F019C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Top-k stochastic sampling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A53D1-282D-4B7D-8157-CE2D02D6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A"/>
          </a:solidFill>
          <a:ln xmlns:a="http://schemas.openxmlformats.org/drawingml/2006/main" w="0">
            <a:solidFill>
              <a:srgbClr val="ECE4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03762-D4A9-40D8-B213-FECDB722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14E78-44E7-40E8-B189-16CB449E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candidate 0: 199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E18D9-5B34-44D1-878B-ECE438F9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A"/>
          </a:solidFill>
          <a:ln xmlns:a="http://schemas.openxmlformats.org/drawingml/2006/main" w="0">
            <a:solidFill>
              <a:srgbClr val="ECE4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CBDD8-0E09-47E9-A118-C8034537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8D72E2-0B26-48AB-90EF-C8F3BE2F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81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candidate 1: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08E41-0F08-401F-9423-4A1A737E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A"/>
          </a:solidFill>
          <a:ln xmlns:a="http://schemas.openxmlformats.org/drawingml/2006/main" w="0">
            <a:solidFill>
              <a:srgbClr val="ECE4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1D1DC2-BEC6-4A6F-80C1-8D814EB5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7615A4-4067-434A-B582-A0061A53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14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candidate 0: 114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31039F-6B89-4D4D-9F04-637417F5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99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A"/>
          </a:solidFill>
          <a:ln xmlns:a="http://schemas.openxmlformats.org/drawingml/2006/main" w="0">
            <a:solidFill>
              <a:srgbClr val="ECE4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7A5DB-3C3A-406F-9AB8-89B64C55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9950"/>
            <a:ext cx="88064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AE25B2-6B66-4CAA-8204-05AC8B09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718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candidate 1: 31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755B8F-50F0-4C63-AFE1-9D85E86F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A"/>
          </a:solidFill>
          <a:ln xmlns:a="http://schemas.openxmlformats.org/drawingml/2006/main" w="0">
            <a:solidFill>
              <a:srgbClr val="ECE4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7F751C-1ED2-4054-B168-DFB44392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90905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24B"/>
          </a:solidFill>
          <a:ln xmlns:a="http://schemas.openxmlformats.org/drawingml/2006/main" w="0">
            <a:solidFill>
              <a:srgbClr val="54A2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8D856E-A5E5-4615-86DC-15397886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290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candidate 2: 32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0AF7D1-0858-4A7A-BDA2-8543AD56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A"/>
          </a:solidFill>
          <a:ln xmlns:a="http://schemas.openxmlformats.org/drawingml/2006/main" w="0">
            <a:solidFill>
              <a:srgbClr val="ECE4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BC0C3F-CBE0-4A46-A602-0CC7D10D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65338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518"/>
          </a:solidFill>
          <a:ln xmlns:a="http://schemas.openxmlformats.org/drawingml/2006/main" w="0">
            <a:solidFill>
              <a:srgbClr val="F5851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2ACC57-7D72-4677-ADC2-869D7160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862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candidate 3: 23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5334E4-4E6B-4418-9FBB-2677F4F8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3429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32C40A-003B-4CC7-A1A0-21BCE97D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CC1298-0B5F-487B-B1E5-A6188E90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48250"/>
            <a:ext cx="300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DA0362-4311-41BA-BA66-E16C2876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340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Filtering existed in code but almost never changed which candidate was selected.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649961-CD37-4DC0-A209-252C137F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57750"/>
            <a:ext cx="3429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61625C-DB24-4457-A35E-A5A93DC2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577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461F47-8F8A-4E04-938C-72255B80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48250"/>
            <a:ext cx="3009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AC4E0E-BB59-4672-B9F2-9CEBEECB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3340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Candidate diversity exists, so HumanML motion can actually influence selection.</a:t>
            </a:r>
          </a:p>
        </p:txBody>
      </p:sp>
    </p:spTree>
    <p:extLst>
      <p:ext uri="{BB962C8B-B14F-4D97-AF65-F5344CB8AC3E}">
        <p14:creationId xmlns:p14="http://schemas.microsoft.com/office/powerpoint/2010/main" val="6413229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6FB3E1-75B6-4B29-90AC-9367D7D7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90EDB-AB8A-4247-B031-6CC0787C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0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A5D28-F07B-4DFA-A300-349A218B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Separate directional style proxy from HumanML alignment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550C1-95EF-4380-A328-DB611EDA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20DB8-35A2-4CE3-BFDD-57980C8C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HumanML3D-Guided Teacher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E472F-14C8-4079-82A0-E3BE24DA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11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22A2C-752F-47CC-9E8C-2650B935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95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6F8EF-4150-452C-90CA-6EC925C8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C453B-1F2A-4BE3-8797-B66FC102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967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9673B"/>
                </a:solidFill>
                <a:latin typeface="Aptos"/>
                <a:ea typeface="Aptos"/>
                <a:cs typeface="Aptos"/>
              </a:rPr>
              <a:t>Direction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62B6A-1DBA-43DF-B471-90CE3E74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00300"/>
            <a:ext cx="3676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Old style proxy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F69DE-1B4D-4777-B7C4-1329180D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86050"/>
            <a:ext cx="3676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Compares LoRA BVH against baseline BVH and checks whether metrics move in a hand-written style direction. It can reward over-shooting.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A6D1B-DA95-46CA-A96B-DFDE650A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4095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38C109-F396-4E8C-940B-215279D1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34588-C04F-4499-98FC-BF3202A0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1930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7F7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7F7F"/>
                </a:solidFill>
                <a:latin typeface="Aptos"/>
                <a:ea typeface="Aptos"/>
                <a:cs typeface="Aptos"/>
              </a:rPr>
              <a:t>Closeness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21D714-78C3-4322-99AE-49F791E1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3676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HumanML alignment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1AA06-3FEE-434A-B4EC-245F1B29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86050"/>
            <a:ext cx="3676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Compares generated or selected BVH against the paired HumanML3D motion and rewards metric closeness.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8EF36B-7586-41AF-9CF8-AD13660B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38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1F563E-B833-49CB-B7B5-E2563469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530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02832"/>
                </a:solidFill>
                <a:latin typeface="Aptos"/>
                <a:ea typeface="Aptos"/>
                <a:cs typeface="Aptos"/>
              </a:rPr>
              <a:t>Style proxy answers: did the output become more slow / energetic / heavy according to a hand-written direction?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6F945C-6C3A-474B-9DE1-8F0541AC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53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72577-CC9F-41ED-B86E-4ED37D3E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6735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202832"/>
                </a:solidFill>
                <a:latin typeface="Aptos"/>
                <a:ea typeface="Aptos"/>
                <a:cs typeface="Aptos"/>
              </a:rPr>
              <a:t>HumanML alignment answers: is the generated motion statistically close to the paired dataset motion?</a:t>
            </a:r>
          </a:p>
        </p:txBody>
      </p:sp>
    </p:spTree>
    <p:extLst>
      <p:ext uri="{BB962C8B-B14F-4D97-AF65-F5344CB8AC3E}">
        <p14:creationId xmlns:p14="http://schemas.microsoft.com/office/powerpoint/2010/main" val="8132784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15F1B8-C14B-4AFE-9236-7E0442E7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C2527-EEA5-4AC3-BD25-5B7DC188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0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0CD8A-2A63-4164-B2AB-7653B231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Top-k improves teacher alignment slightly, but not final student proxy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4F6EF-A5F4-4932-AECE-4864F006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2E41E-891D-47CE-B5EA-00A5326B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HumanML3D-Guided Teacher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816FB-7BC4-4601-8613-186BDFB4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12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EB96A-B360-4CBB-897C-32BBA22F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Original LoRA style proxy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60142-1CD8-4131-A942-9DF259AC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6"/>
          </a:solidFill>
          <a:ln xmlns:a="http://schemas.openxmlformats.org/drawingml/2006/main" w="0">
            <a:solidFill>
              <a:srgbClr val="E8E0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D07CB-69E9-4972-9251-D61EBD0D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202622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0">
            <a:solidFill>
              <a:srgbClr val="4C78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F90EC-81CC-4C7C-B790-8CDC47D3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383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18/22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3A906-7479-47CF-A431-F921E26E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HumanML deterministic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B0A1D-A06F-4C4E-BC98-5CA2F968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859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6"/>
          </a:solidFill>
          <a:ln xmlns:a="http://schemas.openxmlformats.org/drawingml/2006/main" w="0">
            <a:solidFill>
              <a:srgbClr val="E8E0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5B093-F372-4949-B8B3-37D5A7EC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85950"/>
            <a:ext cx="168852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518"/>
          </a:solidFill>
          <a:ln xmlns:a="http://schemas.openxmlformats.org/drawingml/2006/main" w="0">
            <a:solidFill>
              <a:srgbClr val="F5851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3A3DA-F1FB-4BBB-813B-330A210C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383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15/22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5BB7E-3CB6-4002-AF92-BD8339A8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HumanML top-k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19A8B-297A-439A-914B-FABAECDB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6"/>
          </a:solidFill>
          <a:ln xmlns:a="http://schemas.openxmlformats.org/drawingml/2006/main" w="0">
            <a:solidFill>
              <a:srgbClr val="E8E0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1D471-B0E4-46B6-8009-C739D611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135081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A24B"/>
          </a:solidFill>
          <a:ln xmlns:a="http://schemas.openxmlformats.org/drawingml/2006/main" w="0">
            <a:solidFill>
              <a:srgbClr val="54A2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31852A-19C0-4991-897C-11126072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8383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12/22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0016BF-CDBB-4555-9EF3-052D77DC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3067050" cy="1257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9F4744-FA37-456F-986A-57C1141C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850FC4-5036-447D-A088-15524532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28925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967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9673B"/>
                </a:solidFill>
                <a:latin typeface="Aptos"/>
                <a:ea typeface="Aptos"/>
                <a:cs typeface="Aptos"/>
              </a:rPr>
              <a:t>12/22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19C041-2A86-4174-8336-E3BF201B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209925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Style proxy dropped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C4978A-DF78-44BC-9CB7-EA62736A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495675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Old directional score: original 18/22, deterministic 15/22, top-k 12/22.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856D52-DDC8-4EF3-BFEE-1D826D17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14625"/>
            <a:ext cx="3067050" cy="1257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271929-21F7-4D19-AC9A-37E9FA96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14625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1AD520-C6FB-4A09-BE3A-8993D7EB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828925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7F7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7F7F"/>
                </a:solidFill>
                <a:latin typeface="Aptos"/>
                <a:ea typeface="Aptos"/>
                <a:cs typeface="Aptos"/>
              </a:rPr>
              <a:t>0.1477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2E5F02-773B-475D-93B0-BD07676A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209925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Teacher alignment improved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B14789-D7BA-454C-AAC2-CC319E4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495675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Selected teacher score moved from 0.1443 to 0.1477; distance moved from 1.9666 to 1.9419.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BE022D-FCF4-4B69-B419-9A7361E9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14625"/>
            <a:ext cx="3067050" cy="1257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837FC8-535B-43F6-9EF6-8068A3D6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14625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0BDC83-C64E-4877-929E-38B92597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28925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D8BE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D8BE8"/>
                </a:solidFill>
                <a:latin typeface="Aptos"/>
                <a:ea typeface="Aptos"/>
                <a:cs typeface="Aptos"/>
              </a:rPr>
              <a:t>small gain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5392FE-DFAB-4BE1-9A4F-09565E5B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209925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EC5B98-CD7C-48B7-A6D8-93F97F3F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495675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The teacher target improved slightly, but final student generation has not yet been evaluated with paired HumanML BVHs.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6B9613-978B-4416-9A16-A6005722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9125"/>
            <a:ext cx="10363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963941-ED59-464D-BAA7-E947A368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87F7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7F"/>
                </a:solidFill>
                <a:latin typeface="Aptos"/>
                <a:ea typeface="Aptos"/>
                <a:cs typeface="Aptos"/>
              </a:rPr>
              <a:t>Where alignment works better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72898B-84B9-41C5-A59D-DE519243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202832"/>
                </a:solidFill>
                <a:latin typeface="Aptos"/>
                <a:ea typeface="Aptos"/>
                <a:cs typeface="Aptos"/>
              </a:rPr>
              <a:t>running, sprinting, jumping, forward motion; clear root speed, path length, and vertical range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510727-49CB-40FB-B166-1FC8DFF0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0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967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673B"/>
                </a:solidFill>
                <a:latin typeface="Aptos"/>
                <a:ea typeface="Aptos"/>
                <a:cs typeface="Aptos"/>
              </a:rPr>
              <a:t>Where alignment struggles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58175F-CDE4-4C44-AAFA-9AEF8AC3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202832"/>
                </a:solidFill>
                <a:latin typeface="Aptos"/>
                <a:ea typeface="Aptos"/>
                <a:cs typeface="Aptos"/>
              </a:rPr>
              <a:t>hand waving, lifting, object-like actions, complex dances, on-the-spot local motion sequences</a:t>
            </a:r>
          </a:p>
        </p:txBody>
      </p:sp>
    </p:spTree>
    <p:extLst>
      <p:ext uri="{BB962C8B-B14F-4D97-AF65-F5344CB8AC3E}">
        <p14:creationId xmlns:p14="http://schemas.microsoft.com/office/powerpoint/2010/main" val="19312749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">
            <a:extLst xmlns:a="http://schemas.openxmlformats.org/drawingml/2006/main">
              <a:ext uri="{FF2B5EF4-FFF2-40B4-BE49-F238E27FC236}">
                <a16:creationId xmlns:a16="http://schemas.microsoft.com/office/drawing/2014/main" id="{6C30DCC5-70F7-449F-8EEE-A3C5EF3B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868A8CCB-CB5E-4B19-A642-F63C0FAD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RESULT CHARTS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A075F0-0A49-4277-81F9-DEC89910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The new method changes target selection, but not yet final proxy outcome</a:t>
            </a:r>
          </a:p>
        </p:txBody>
      </p:sp>
      <p:sp>
        <p:nvSpPr>
          <p:cNvPr id="4" name="chart-card">
            <a:extLst xmlns:a="http://schemas.openxmlformats.org/drawingml/2006/main">
              <a:ext uri="{FF2B5EF4-FFF2-40B4-BE49-F238E27FC236}">
                <a16:creationId xmlns:a16="http://schemas.microsoft.com/office/drawing/2014/main" id="{5916994B-BF0D-4DFE-B431-281F113D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51435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5" name="chart-accent">
            <a:extLst xmlns:a="http://schemas.openxmlformats.org/drawingml/2006/main">
              <a:ext uri="{FF2B5EF4-FFF2-40B4-BE49-F238E27FC236}">
                <a16:creationId xmlns:a16="http://schemas.microsoft.com/office/drawing/2014/main" id="{36E00E2A-3317-453E-9A96-C6E8F571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762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6" name="chart1-title">
            <a:extLst xmlns:a="http://schemas.openxmlformats.org/drawingml/2006/main">
              <a:ext uri="{FF2B5EF4-FFF2-40B4-BE49-F238E27FC236}">
                <a16:creationId xmlns:a16="http://schemas.microsoft.com/office/drawing/2014/main" id="{C529E38A-4064-4D96-B0CB-97ED9ACD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Candidate selection distribution</a:t>
            </a:r>
          </a:p>
        </p:txBody>
      </p:sp>
      <p:sp>
        <p:nvSpPr>
          <p:cNvPr id="7" name="chart1-subtitle">
            <a:extLst xmlns:a="http://schemas.openxmlformats.org/drawingml/2006/main">
              <a:ext uri="{FF2B5EF4-FFF2-40B4-BE49-F238E27FC236}">
                <a16:creationId xmlns:a16="http://schemas.microsoft.com/office/drawing/2014/main" id="{49B8F3E7-79A9-41F5-82E9-2278DD01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B6773"/>
                </a:solidFill>
                <a:latin typeface="Aptos"/>
                <a:ea typeface="Aptos"/>
                <a:cs typeface="Aptos"/>
              </a:rPr>
              <a:t>Before: nearly all candidate 0. After top-k: 86/200 non-first selections.</a:t>
            </a:r>
          </a:p>
        </p:txBody>
      </p:sp>
      <p:sp>
        <p:nvSpPr>
          <p:cNvPr id="8" name="legend-det">
            <a:extLst xmlns:a="http://schemas.openxmlformats.org/drawingml/2006/main">
              <a:ext uri="{FF2B5EF4-FFF2-40B4-BE49-F238E27FC236}">
                <a16:creationId xmlns:a16="http://schemas.microsoft.com/office/drawing/2014/main" id="{2387E319-0F96-4748-99B5-A94F1A0C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717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B967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9673B"/>
                </a:solidFill>
                <a:latin typeface="Aptos"/>
                <a:ea typeface="Aptos"/>
                <a:cs typeface="Aptos"/>
              </a:rPr>
              <a:t>deterministic</a:t>
            </a:r>
          </a:p>
        </p:txBody>
      </p:sp>
      <p:sp>
        <p:nvSpPr>
          <p:cNvPr id="9" name="legend-det-box">
            <a:extLst xmlns:a="http://schemas.openxmlformats.org/drawingml/2006/main">
              <a:ext uri="{FF2B5EF4-FFF2-40B4-BE49-F238E27FC236}">
                <a16:creationId xmlns:a16="http://schemas.microsoft.com/office/drawing/2014/main" id="{08DF0756-B426-4C6B-9512-35B0EB35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003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0" name="legend-topk">
            <a:extLst xmlns:a="http://schemas.openxmlformats.org/drawingml/2006/main">
              <a:ext uri="{FF2B5EF4-FFF2-40B4-BE49-F238E27FC236}">
                <a16:creationId xmlns:a16="http://schemas.microsoft.com/office/drawing/2014/main" id="{C765CBD5-5E20-4E76-B0F2-DFBF9B8E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87F7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87F7F"/>
                </a:solidFill>
                <a:latin typeface="Aptos"/>
                <a:ea typeface="Aptos"/>
                <a:cs typeface="Aptos"/>
              </a:rPr>
              <a:t>top-k</a:t>
            </a:r>
          </a:p>
        </p:txBody>
      </p:sp>
      <p:sp>
        <p:nvSpPr>
          <p:cNvPr id="11" name="legend-topk-box">
            <a:extLst xmlns:a="http://schemas.openxmlformats.org/drawingml/2006/main">
              <a:ext uri="{FF2B5EF4-FFF2-40B4-BE49-F238E27FC236}">
                <a16:creationId xmlns:a16="http://schemas.microsoft.com/office/drawing/2014/main" id="{121499E2-C885-4769-A1CC-5D3FC505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003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2" name="cat-0">
            <a:extLst xmlns:a="http://schemas.openxmlformats.org/drawingml/2006/main">
              <a:ext uri="{FF2B5EF4-FFF2-40B4-BE49-F238E27FC236}">
                <a16:creationId xmlns:a16="http://schemas.microsoft.com/office/drawing/2014/main" id="{126F90FA-7456-4E36-8EDF-B2509564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B6773"/>
                </a:solidFill>
                <a:latin typeface="Aptos"/>
                <a:ea typeface="Aptos"/>
                <a:cs typeface="Aptos"/>
              </a:rPr>
              <a:t>cand 0</a:t>
            </a:r>
          </a:p>
        </p:txBody>
      </p:sp>
      <p:sp>
        <p:nvSpPr>
          <p:cNvPr id="13" name="vbar-track">
            <a:extLst xmlns:a="http://schemas.openxmlformats.org/drawingml/2006/main">
              <a:ext uri="{FF2B5EF4-FFF2-40B4-BE49-F238E27FC236}">
                <a16:creationId xmlns:a16="http://schemas.microsoft.com/office/drawing/2014/main" id="{AC8A7F2A-CDC1-4361-9513-3CB8331C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28950"/>
            <a:ext cx="266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E8E1D8"/>
            </a:solidFill>
            <a:prstDash val="solid"/>
          </a:ln>
        </p:spPr>
      </p:sp>
      <p:sp>
        <p:nvSpPr>
          <p:cNvPr id="14" name="vbar-value">
            <a:extLst xmlns:a="http://schemas.openxmlformats.org/drawingml/2006/main">
              <a:ext uri="{FF2B5EF4-FFF2-40B4-BE49-F238E27FC236}">
                <a16:creationId xmlns:a16="http://schemas.microsoft.com/office/drawing/2014/main" id="{06FD9C79-D43C-44FF-AD84-2A6FADFF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37523"/>
            <a:ext cx="266700" cy="1705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5" name="vbar-value-label">
            <a:extLst xmlns:a="http://schemas.openxmlformats.org/drawingml/2006/main">
              <a:ext uri="{FF2B5EF4-FFF2-40B4-BE49-F238E27FC236}">
                <a16:creationId xmlns:a16="http://schemas.microsoft.com/office/drawing/2014/main" id="{9350DD82-D863-45D5-90DF-AC28DE1B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27973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199</a:t>
            </a:r>
          </a:p>
        </p:txBody>
      </p:sp>
      <p:sp>
        <p:nvSpPr>
          <p:cNvPr id="16" name="vbar-track">
            <a:extLst xmlns:a="http://schemas.openxmlformats.org/drawingml/2006/main">
              <a:ext uri="{FF2B5EF4-FFF2-40B4-BE49-F238E27FC236}">
                <a16:creationId xmlns:a16="http://schemas.microsoft.com/office/drawing/2014/main" id="{9ED7F280-E9C8-41BE-A0BA-4F365CE4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028950"/>
            <a:ext cx="266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E8E1D8"/>
            </a:solidFill>
            <a:prstDash val="solid"/>
          </a:ln>
        </p:spPr>
      </p:sp>
      <p:sp>
        <p:nvSpPr>
          <p:cNvPr id="17" name="vbar-value">
            <a:extLst xmlns:a="http://schemas.openxmlformats.org/drawingml/2006/main">
              <a:ext uri="{FF2B5EF4-FFF2-40B4-BE49-F238E27FC236}">
                <a16:creationId xmlns:a16="http://schemas.microsoft.com/office/drawing/2014/main" id="{5225C13C-4D8E-4213-AE58-A859024A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766185"/>
            <a:ext cx="266700" cy="9772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8" name="vbar-value-label">
            <a:extLst xmlns:a="http://schemas.openxmlformats.org/drawingml/2006/main">
              <a:ext uri="{FF2B5EF4-FFF2-40B4-BE49-F238E27FC236}">
                <a16:creationId xmlns:a16="http://schemas.microsoft.com/office/drawing/2014/main" id="{37375B81-DA65-42C6-9287-F3B35B1C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55663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114</a:t>
            </a:r>
          </a:p>
        </p:txBody>
      </p:sp>
      <p:sp>
        <p:nvSpPr>
          <p:cNvPr id="19" name="cat-1">
            <a:extLst xmlns:a="http://schemas.openxmlformats.org/drawingml/2006/main">
              <a:ext uri="{FF2B5EF4-FFF2-40B4-BE49-F238E27FC236}">
                <a16:creationId xmlns:a16="http://schemas.microsoft.com/office/drawing/2014/main" id="{5B39CE66-409B-4F10-B09E-8F5B3E5A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8577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B6773"/>
                </a:solidFill>
                <a:latin typeface="Aptos"/>
                <a:ea typeface="Aptos"/>
                <a:cs typeface="Aptos"/>
              </a:rPr>
              <a:t>cand 1</a:t>
            </a:r>
          </a:p>
        </p:txBody>
      </p:sp>
      <p:sp>
        <p:nvSpPr>
          <p:cNvPr id="20" name="vbar-track">
            <a:extLst xmlns:a="http://schemas.openxmlformats.org/drawingml/2006/main">
              <a:ext uri="{FF2B5EF4-FFF2-40B4-BE49-F238E27FC236}">
                <a16:creationId xmlns:a16="http://schemas.microsoft.com/office/drawing/2014/main" id="{2C6A8DB8-9CEE-4D3A-A08B-7D3E0C63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28950"/>
            <a:ext cx="266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E8E1D8"/>
            </a:solidFill>
            <a:prstDash val="solid"/>
          </a:ln>
        </p:spPr>
      </p:sp>
      <p:sp>
        <p:nvSpPr>
          <p:cNvPr id="21" name="vbar-value">
            <a:extLst xmlns:a="http://schemas.openxmlformats.org/drawingml/2006/main">
              <a:ext uri="{FF2B5EF4-FFF2-40B4-BE49-F238E27FC236}">
                <a16:creationId xmlns:a16="http://schemas.microsoft.com/office/drawing/2014/main" id="{514E6C8A-42CA-4DA1-A77F-A1C87A8C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244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22" name="vbar-value-label">
            <a:extLst xmlns:a="http://schemas.openxmlformats.org/drawingml/2006/main">
              <a:ext uri="{FF2B5EF4-FFF2-40B4-BE49-F238E27FC236}">
                <a16:creationId xmlns:a16="http://schemas.microsoft.com/office/drawing/2014/main" id="{EC9082AD-7F21-4262-8FA3-4B702D69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14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vbar-track">
            <a:extLst xmlns:a="http://schemas.openxmlformats.org/drawingml/2006/main">
              <a:ext uri="{FF2B5EF4-FFF2-40B4-BE49-F238E27FC236}">
                <a16:creationId xmlns:a16="http://schemas.microsoft.com/office/drawing/2014/main" id="{DDADA608-7989-40DB-AE24-9B61AEAA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028950"/>
            <a:ext cx="266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E8E1D8"/>
            </a:solidFill>
            <a:prstDash val="solid"/>
          </a:ln>
        </p:spPr>
      </p:sp>
      <p:sp>
        <p:nvSpPr>
          <p:cNvPr id="24" name="vbar-value">
            <a:extLst xmlns:a="http://schemas.openxmlformats.org/drawingml/2006/main">
              <a:ext uri="{FF2B5EF4-FFF2-40B4-BE49-F238E27FC236}">
                <a16:creationId xmlns:a16="http://schemas.microsoft.com/office/drawing/2014/main" id="{66D2C969-09A3-4AC4-BD4D-D27C9B35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477703"/>
            <a:ext cx="266700" cy="2657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5" name="vbar-value-label">
            <a:extLst xmlns:a="http://schemas.openxmlformats.org/drawingml/2006/main">
              <a:ext uri="{FF2B5EF4-FFF2-40B4-BE49-F238E27FC236}">
                <a16:creationId xmlns:a16="http://schemas.microsoft.com/office/drawing/2014/main" id="{8E0EAC64-4CA6-48A7-B149-03F95C06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268153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26" name="cat-2">
            <a:extLst xmlns:a="http://schemas.openxmlformats.org/drawingml/2006/main">
              <a:ext uri="{FF2B5EF4-FFF2-40B4-BE49-F238E27FC236}">
                <a16:creationId xmlns:a16="http://schemas.microsoft.com/office/drawing/2014/main" id="{2D794044-A4AE-4905-9759-3D481EB8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577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B6773"/>
                </a:solidFill>
                <a:latin typeface="Aptos"/>
                <a:ea typeface="Aptos"/>
                <a:cs typeface="Aptos"/>
              </a:rPr>
              <a:t>cand 2</a:t>
            </a:r>
          </a:p>
        </p:txBody>
      </p:sp>
      <p:sp>
        <p:nvSpPr>
          <p:cNvPr id="27" name="vbar-track">
            <a:extLst xmlns:a="http://schemas.openxmlformats.org/drawingml/2006/main">
              <a:ext uri="{FF2B5EF4-FFF2-40B4-BE49-F238E27FC236}">
                <a16:creationId xmlns:a16="http://schemas.microsoft.com/office/drawing/2014/main" id="{D111026D-8BDA-4D83-993D-64040A64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28950"/>
            <a:ext cx="266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E8E1D8"/>
            </a:solidFill>
            <a:prstDash val="solid"/>
          </a:ln>
        </p:spPr>
      </p:sp>
      <p:sp>
        <p:nvSpPr>
          <p:cNvPr id="28" name="vbar-value">
            <a:extLst xmlns:a="http://schemas.openxmlformats.org/drawingml/2006/main">
              <a:ext uri="{FF2B5EF4-FFF2-40B4-BE49-F238E27FC236}">
                <a16:creationId xmlns:a16="http://schemas.microsoft.com/office/drawing/2014/main" id="{3A3B7B8C-CC55-4B02-B845-38585961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244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29" name="vbar-value-label">
            <a:extLst xmlns:a="http://schemas.openxmlformats.org/drawingml/2006/main">
              <a:ext uri="{FF2B5EF4-FFF2-40B4-BE49-F238E27FC236}">
                <a16:creationId xmlns:a16="http://schemas.microsoft.com/office/drawing/2014/main" id="{2DC3CCF0-E9BC-45EC-950F-7B305D71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14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0" name="vbar-track">
            <a:extLst xmlns:a="http://schemas.openxmlformats.org/drawingml/2006/main">
              <a:ext uri="{FF2B5EF4-FFF2-40B4-BE49-F238E27FC236}">
                <a16:creationId xmlns:a16="http://schemas.microsoft.com/office/drawing/2014/main" id="{7D50570F-253E-41E5-A234-1F093F71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028950"/>
            <a:ext cx="266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E8E1D8"/>
            </a:solidFill>
            <a:prstDash val="solid"/>
          </a:ln>
        </p:spPr>
      </p:sp>
      <p:sp>
        <p:nvSpPr>
          <p:cNvPr id="31" name="vbar-value">
            <a:extLst xmlns:a="http://schemas.openxmlformats.org/drawingml/2006/main">
              <a:ext uri="{FF2B5EF4-FFF2-40B4-BE49-F238E27FC236}">
                <a16:creationId xmlns:a16="http://schemas.microsoft.com/office/drawing/2014/main" id="{30C46CD7-1B86-477D-B481-98A97FBA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469130"/>
            <a:ext cx="2667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32" name="vbar-value-label">
            <a:extLst xmlns:a="http://schemas.openxmlformats.org/drawingml/2006/main">
              <a:ext uri="{FF2B5EF4-FFF2-40B4-BE49-F238E27FC236}">
                <a16:creationId xmlns:a16="http://schemas.microsoft.com/office/drawing/2014/main" id="{38308A92-1DED-407C-87A2-39EF7B80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25958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33" name="cat-3">
            <a:extLst xmlns:a="http://schemas.openxmlformats.org/drawingml/2006/main">
              <a:ext uri="{FF2B5EF4-FFF2-40B4-BE49-F238E27FC236}">
                <a16:creationId xmlns:a16="http://schemas.microsoft.com/office/drawing/2014/main" id="{30A79321-9706-4CC2-9AE8-E8A17C22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8577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B6773"/>
                </a:solidFill>
                <a:latin typeface="Aptos"/>
                <a:ea typeface="Aptos"/>
                <a:cs typeface="Aptos"/>
              </a:rPr>
              <a:t>cand 3</a:t>
            </a:r>
          </a:p>
        </p:txBody>
      </p:sp>
      <p:sp>
        <p:nvSpPr>
          <p:cNvPr id="34" name="vbar-track">
            <a:extLst xmlns:a="http://schemas.openxmlformats.org/drawingml/2006/main">
              <a:ext uri="{FF2B5EF4-FFF2-40B4-BE49-F238E27FC236}">
                <a16:creationId xmlns:a16="http://schemas.microsoft.com/office/drawing/2014/main" id="{485781D4-371C-4866-85A5-664371B5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28950"/>
            <a:ext cx="266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E8E1D8"/>
            </a:solidFill>
            <a:prstDash val="solid"/>
          </a:ln>
        </p:spPr>
      </p:sp>
      <p:sp>
        <p:nvSpPr>
          <p:cNvPr id="35" name="vbar-value">
            <a:extLst xmlns:a="http://schemas.openxmlformats.org/drawingml/2006/main">
              <a:ext uri="{FF2B5EF4-FFF2-40B4-BE49-F238E27FC236}">
                <a16:creationId xmlns:a16="http://schemas.microsoft.com/office/drawing/2014/main" id="{247D4FE5-810D-4A89-92D6-E1AEA933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244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36" name="vbar-value-label">
            <a:extLst xmlns:a="http://schemas.openxmlformats.org/drawingml/2006/main">
              <a:ext uri="{FF2B5EF4-FFF2-40B4-BE49-F238E27FC236}">
                <a16:creationId xmlns:a16="http://schemas.microsoft.com/office/drawing/2014/main" id="{5C7992BD-0C1A-43CE-9DC5-418F36AD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14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7" name="vbar-track">
            <a:extLst xmlns:a="http://schemas.openxmlformats.org/drawingml/2006/main">
              <a:ext uri="{FF2B5EF4-FFF2-40B4-BE49-F238E27FC236}">
                <a16:creationId xmlns:a16="http://schemas.microsoft.com/office/drawing/2014/main" id="{DE29E9C9-C7D4-4025-8998-33250CAA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028950"/>
            <a:ext cx="266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E8E1D8"/>
            </a:solidFill>
            <a:prstDash val="solid"/>
          </a:ln>
        </p:spPr>
      </p:sp>
      <p:sp>
        <p:nvSpPr>
          <p:cNvPr id="38" name="vbar-value">
            <a:extLst xmlns:a="http://schemas.openxmlformats.org/drawingml/2006/main">
              <a:ext uri="{FF2B5EF4-FFF2-40B4-BE49-F238E27FC236}">
                <a16:creationId xmlns:a16="http://schemas.microsoft.com/office/drawing/2014/main" id="{1E696441-78D3-4C13-B774-D202752F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546283"/>
            <a:ext cx="266700" cy="197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39" name="vbar-value-label">
            <a:extLst xmlns:a="http://schemas.openxmlformats.org/drawingml/2006/main">
              <a:ext uri="{FF2B5EF4-FFF2-40B4-BE49-F238E27FC236}">
                <a16:creationId xmlns:a16="http://schemas.microsoft.com/office/drawing/2014/main" id="{F8A2A1D2-5B2D-4465-A55D-D1AA8370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336733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x-axis">
            <a:extLst xmlns:a="http://schemas.openxmlformats.org/drawingml/2006/main">
              <a:ext uri="{FF2B5EF4-FFF2-40B4-BE49-F238E27FC236}">
                <a16:creationId xmlns:a16="http://schemas.microsoft.com/office/drawing/2014/main" id="{D46E3AB3-6E18-4D6B-A77B-62E88ABD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434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D8D0C5"/>
            </a:solidFill>
            <a:prstDash val="solid"/>
          </a:ln>
        </p:spPr>
      </p:sp>
      <p:sp>
        <p:nvSpPr>
          <p:cNvPr id="41" name="chart-card">
            <a:extLst xmlns:a="http://schemas.openxmlformats.org/drawingml/2006/main">
              <a:ext uri="{FF2B5EF4-FFF2-40B4-BE49-F238E27FC236}">
                <a16:creationId xmlns:a16="http://schemas.microsoft.com/office/drawing/2014/main" id="{D8F337ED-147D-4ECA-AD8B-B6520DC7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9530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42" name="chart-accent">
            <a:extLst xmlns:a="http://schemas.openxmlformats.org/drawingml/2006/main">
              <a:ext uri="{FF2B5EF4-FFF2-40B4-BE49-F238E27FC236}">
                <a16:creationId xmlns:a16="http://schemas.microsoft.com/office/drawing/2014/main" id="{3C836B84-53EC-41C6-A970-A62C5DA1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43" name="chart2-title">
            <a:extLst xmlns:a="http://schemas.openxmlformats.org/drawingml/2006/main">
              <a:ext uri="{FF2B5EF4-FFF2-40B4-BE49-F238E27FC236}">
                <a16:creationId xmlns:a16="http://schemas.microsoft.com/office/drawing/2014/main" id="{6F7D41A2-E8A1-46EB-9AF2-A2E01CBC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85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Style proxy win count</a:t>
            </a:r>
          </a:p>
        </p:txBody>
      </p:sp>
      <p:sp>
        <p:nvSpPr>
          <p:cNvPr id="44" name="chart2-subtitle">
            <a:extLst xmlns:a="http://schemas.openxmlformats.org/drawingml/2006/main">
              <a:ext uri="{FF2B5EF4-FFF2-40B4-BE49-F238E27FC236}">
                <a16:creationId xmlns:a16="http://schemas.microsoft.com/office/drawing/2014/main" id="{D2E133D3-C0BF-40D1-8A29-616BA6C6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33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B6773"/>
                </a:solidFill>
                <a:latin typeface="Aptos"/>
                <a:ea typeface="Aptos"/>
                <a:cs typeface="Aptos"/>
              </a:rPr>
              <a:t>Old directional proxy: higher is better out of 22.</a:t>
            </a:r>
          </a:p>
        </p:txBody>
      </p:sp>
      <p:sp>
        <p:nvSpPr>
          <p:cNvPr id="45" name="bar-label">
            <a:extLst xmlns:a="http://schemas.openxmlformats.org/drawingml/2006/main">
              <a:ext uri="{FF2B5EF4-FFF2-40B4-BE49-F238E27FC236}">
                <a16:creationId xmlns:a16="http://schemas.microsoft.com/office/drawing/2014/main" id="{7351EF13-F31F-43A1-9529-0B9059EA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574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Original LoRA</a:t>
            </a:r>
          </a:p>
        </p:txBody>
      </p:sp>
      <p:sp>
        <p:nvSpPr>
          <p:cNvPr id="46" name="bar-track">
            <a:extLst xmlns:a="http://schemas.openxmlformats.org/drawingml/2006/main">
              <a:ext uri="{FF2B5EF4-FFF2-40B4-BE49-F238E27FC236}">
                <a16:creationId xmlns:a16="http://schemas.microsoft.com/office/drawing/2014/main" id="{925AF227-FEC2-4C1F-9BE9-9887D1F4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765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E8E1D8"/>
            </a:solidFill>
            <a:prstDash val="solid"/>
          </a:ln>
        </p:spPr>
      </p:sp>
      <p:sp>
        <p:nvSpPr>
          <p:cNvPr id="47" name="bar-value">
            <a:extLst xmlns:a="http://schemas.openxmlformats.org/drawingml/2006/main">
              <a:ext uri="{FF2B5EF4-FFF2-40B4-BE49-F238E27FC236}">
                <a16:creationId xmlns:a16="http://schemas.microsoft.com/office/drawing/2014/main" id="{05416904-871B-4E13-A27A-26B3D7CB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76500"/>
            <a:ext cx="233795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9A7"/>
          </a:solidFill>
          <a:ln xmlns:a="http://schemas.openxmlformats.org/drawingml/2006/main" w="0">
            <a:solidFill>
              <a:srgbClr val="4E79A7"/>
            </a:solidFill>
            <a:prstDash val="solid"/>
          </a:ln>
        </p:spPr>
      </p:sp>
      <p:sp>
        <p:nvSpPr>
          <p:cNvPr id="48" name="bar-value-label">
            <a:extLst xmlns:a="http://schemas.openxmlformats.org/drawingml/2006/main">
              <a:ext uri="{FF2B5EF4-FFF2-40B4-BE49-F238E27FC236}">
                <a16:creationId xmlns:a16="http://schemas.microsoft.com/office/drawing/2014/main" id="{FAB9163C-DDE5-498E-B828-43A6C7AF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2457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18/22</a:t>
            </a:r>
          </a:p>
        </p:txBody>
      </p:sp>
      <p:sp>
        <p:nvSpPr>
          <p:cNvPr id="49" name="bar-label">
            <a:extLst xmlns:a="http://schemas.openxmlformats.org/drawingml/2006/main">
              <a:ext uri="{FF2B5EF4-FFF2-40B4-BE49-F238E27FC236}">
                <a16:creationId xmlns:a16="http://schemas.microsoft.com/office/drawing/2014/main" id="{81EA0277-E70A-40B9-AF96-6D4B713E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622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HumanML det.</a:t>
            </a:r>
          </a:p>
        </p:txBody>
      </p:sp>
      <p:sp>
        <p:nvSpPr>
          <p:cNvPr id="50" name="bar-track">
            <a:extLst xmlns:a="http://schemas.openxmlformats.org/drawingml/2006/main">
              <a:ext uri="{FF2B5EF4-FFF2-40B4-BE49-F238E27FC236}">
                <a16:creationId xmlns:a16="http://schemas.microsoft.com/office/drawing/2014/main" id="{F099B20A-238C-4DAA-A33A-6528D24E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81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E8E1D8"/>
            </a:solidFill>
            <a:prstDash val="solid"/>
          </a:ln>
        </p:spPr>
      </p:sp>
      <p:sp>
        <p:nvSpPr>
          <p:cNvPr id="51" name="bar-value">
            <a:extLst xmlns:a="http://schemas.openxmlformats.org/drawingml/2006/main">
              <a:ext uri="{FF2B5EF4-FFF2-40B4-BE49-F238E27FC236}">
                <a16:creationId xmlns:a16="http://schemas.microsoft.com/office/drawing/2014/main" id="{16F7F7EB-136A-4B36-BFF9-11EB44DE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81300"/>
            <a:ext cx="194829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518"/>
          </a:solidFill>
          <a:ln xmlns:a="http://schemas.openxmlformats.org/drawingml/2006/main" w="0">
            <a:solidFill>
              <a:srgbClr val="F58518"/>
            </a:solidFill>
            <a:prstDash val="solid"/>
          </a:ln>
        </p:spPr>
      </p:sp>
      <p:sp>
        <p:nvSpPr>
          <p:cNvPr id="52" name="bar-value-label">
            <a:extLst xmlns:a="http://schemas.openxmlformats.org/drawingml/2006/main">
              <a:ext uri="{FF2B5EF4-FFF2-40B4-BE49-F238E27FC236}">
                <a16:creationId xmlns:a16="http://schemas.microsoft.com/office/drawing/2014/main" id="{91F1F805-303E-4108-93DE-FC0B711C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2762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15/22</a:t>
            </a:r>
          </a:p>
        </p:txBody>
      </p:sp>
      <p:sp>
        <p:nvSpPr>
          <p:cNvPr id="53" name="bar-label">
            <a:extLst xmlns:a="http://schemas.openxmlformats.org/drawingml/2006/main">
              <a:ext uri="{FF2B5EF4-FFF2-40B4-BE49-F238E27FC236}">
                <a16:creationId xmlns:a16="http://schemas.microsoft.com/office/drawing/2014/main" id="{28693685-ADBF-4AC3-A82F-A5174A41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67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HumanML top-k</a:t>
            </a:r>
          </a:p>
        </p:txBody>
      </p:sp>
      <p:sp>
        <p:nvSpPr>
          <p:cNvPr id="54" name="bar-track">
            <a:extLst xmlns:a="http://schemas.openxmlformats.org/drawingml/2006/main">
              <a:ext uri="{FF2B5EF4-FFF2-40B4-BE49-F238E27FC236}">
                <a16:creationId xmlns:a16="http://schemas.microsoft.com/office/drawing/2014/main" id="{DE9C2158-9CC8-4071-A8A1-E7E749ED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86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E8E1D8"/>
            </a:solidFill>
            <a:prstDash val="solid"/>
          </a:ln>
        </p:spPr>
      </p:sp>
      <p:sp>
        <p:nvSpPr>
          <p:cNvPr id="55" name="bar-value">
            <a:extLst xmlns:a="http://schemas.openxmlformats.org/drawingml/2006/main">
              <a:ext uri="{FF2B5EF4-FFF2-40B4-BE49-F238E27FC236}">
                <a16:creationId xmlns:a16="http://schemas.microsoft.com/office/drawing/2014/main" id="{63A56DE3-1321-4D9E-A7F4-87C5226A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86100"/>
            <a:ext cx="155863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B4B"/>
          </a:solidFill>
          <a:ln xmlns:a="http://schemas.openxmlformats.org/drawingml/2006/main" w="0">
            <a:solidFill>
              <a:srgbClr val="4F9B4B"/>
            </a:solidFill>
            <a:prstDash val="solid"/>
          </a:ln>
        </p:spPr>
      </p:sp>
      <p:sp>
        <p:nvSpPr>
          <p:cNvPr id="56" name="bar-value-label">
            <a:extLst xmlns:a="http://schemas.openxmlformats.org/drawingml/2006/main">
              <a:ext uri="{FF2B5EF4-FFF2-40B4-BE49-F238E27FC236}">
                <a16:creationId xmlns:a16="http://schemas.microsoft.com/office/drawing/2014/main" id="{3D9F284B-6C0B-4651-8A88-0F9F4035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0670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12/22</a:t>
            </a:r>
          </a:p>
        </p:txBody>
      </p:sp>
      <p:sp>
        <p:nvSpPr>
          <p:cNvPr id="57" name="chart-card">
            <a:extLst xmlns:a="http://schemas.openxmlformats.org/drawingml/2006/main">
              <a:ext uri="{FF2B5EF4-FFF2-40B4-BE49-F238E27FC236}">
                <a16:creationId xmlns:a16="http://schemas.microsoft.com/office/drawing/2014/main" id="{120BFAFD-5573-45E9-9F4F-71C9F376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14750"/>
            <a:ext cx="49530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58" name="chart-accent">
            <a:extLst xmlns:a="http://schemas.openxmlformats.org/drawingml/2006/main">
              <a:ext uri="{FF2B5EF4-FFF2-40B4-BE49-F238E27FC236}">
                <a16:creationId xmlns:a16="http://schemas.microsoft.com/office/drawing/2014/main" id="{ACC6F730-A768-4405-B538-3C8D768D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14750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59" name="chart3-title">
            <a:extLst xmlns:a="http://schemas.openxmlformats.org/drawingml/2006/main">
              <a:ext uri="{FF2B5EF4-FFF2-40B4-BE49-F238E27FC236}">
                <a16:creationId xmlns:a16="http://schemas.microsoft.com/office/drawing/2014/main" id="{9D504AC4-2D1B-43B4-A911-A24D602E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81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HumanML teacher alignment</a:t>
            </a:r>
          </a:p>
        </p:txBody>
      </p:sp>
      <p:sp>
        <p:nvSpPr>
          <p:cNvPr id="60" name="chart3-subtitle">
            <a:extLst xmlns:a="http://schemas.openxmlformats.org/drawingml/2006/main">
              <a:ext uri="{FF2B5EF4-FFF2-40B4-BE49-F238E27FC236}">
                <a16:creationId xmlns:a16="http://schemas.microsoft.com/office/drawing/2014/main" id="{09FFD04E-EC5C-4058-A697-450D1A34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291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B6773"/>
                </a:solidFill>
                <a:latin typeface="Aptos"/>
                <a:ea typeface="Aptos"/>
                <a:cs typeface="Aptos"/>
              </a:rPr>
              <a:t>Selected teacher target moved slightly closer to HumanML motion.</a:t>
            </a:r>
          </a:p>
        </p:txBody>
      </p:sp>
      <p:sp>
        <p:nvSpPr>
          <p:cNvPr id="61" name="bar-label">
            <a:extLst xmlns:a="http://schemas.openxmlformats.org/drawingml/2006/main">
              <a:ext uri="{FF2B5EF4-FFF2-40B4-BE49-F238E27FC236}">
                <a16:creationId xmlns:a16="http://schemas.microsoft.com/office/drawing/2014/main" id="{0B22808C-7F9D-4403-8667-6AD41052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339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score det.</a:t>
            </a:r>
          </a:p>
        </p:txBody>
      </p:sp>
      <p:sp>
        <p:nvSpPr>
          <p:cNvPr id="62" name="bar-track">
            <a:extLst xmlns:a="http://schemas.openxmlformats.org/drawingml/2006/main">
              <a:ext uri="{FF2B5EF4-FFF2-40B4-BE49-F238E27FC236}">
                <a16:creationId xmlns:a16="http://schemas.microsoft.com/office/drawing/2014/main" id="{72B48841-8D6A-4BAE-8F2A-106EE5B7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552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E8E1D8"/>
            </a:solidFill>
            <a:prstDash val="solid"/>
          </a:ln>
        </p:spPr>
      </p:sp>
      <p:sp>
        <p:nvSpPr>
          <p:cNvPr id="63" name="bar-value">
            <a:extLst xmlns:a="http://schemas.openxmlformats.org/drawingml/2006/main">
              <a:ext uri="{FF2B5EF4-FFF2-40B4-BE49-F238E27FC236}">
                <a16:creationId xmlns:a16="http://schemas.microsoft.com/office/drawing/2014/main" id="{36F335A1-3035-4AF2-9B8B-72A6C491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552950"/>
            <a:ext cx="223349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64" name="bar-value-label">
            <a:extLst xmlns:a="http://schemas.openxmlformats.org/drawingml/2006/main">
              <a:ext uri="{FF2B5EF4-FFF2-40B4-BE49-F238E27FC236}">
                <a16:creationId xmlns:a16="http://schemas.microsoft.com/office/drawing/2014/main" id="{1032FFFA-2FBC-4A10-AD38-6FC11AAD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339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0.1443</a:t>
            </a:r>
          </a:p>
        </p:txBody>
      </p:sp>
      <p:sp>
        <p:nvSpPr>
          <p:cNvPr id="65" name="bar-label">
            <a:extLst xmlns:a="http://schemas.openxmlformats.org/drawingml/2006/main">
              <a:ext uri="{FF2B5EF4-FFF2-40B4-BE49-F238E27FC236}">
                <a16:creationId xmlns:a16="http://schemas.microsoft.com/office/drawing/2014/main" id="{5D30C52D-540F-44FC-B77F-35948452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38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score top-k</a:t>
            </a:r>
          </a:p>
        </p:txBody>
      </p:sp>
      <p:sp>
        <p:nvSpPr>
          <p:cNvPr id="66" name="bar-track">
            <a:extLst xmlns:a="http://schemas.openxmlformats.org/drawingml/2006/main">
              <a:ext uri="{FF2B5EF4-FFF2-40B4-BE49-F238E27FC236}">
                <a16:creationId xmlns:a16="http://schemas.microsoft.com/office/drawing/2014/main" id="{04B2FDD0-0B4C-420F-8C13-F1A96613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57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E8E1D8"/>
            </a:solidFill>
            <a:prstDash val="solid"/>
          </a:ln>
        </p:spPr>
      </p:sp>
      <p:sp>
        <p:nvSpPr>
          <p:cNvPr id="67" name="bar-value">
            <a:extLst xmlns:a="http://schemas.openxmlformats.org/drawingml/2006/main">
              <a:ext uri="{FF2B5EF4-FFF2-40B4-BE49-F238E27FC236}">
                <a16:creationId xmlns:a16="http://schemas.microsoft.com/office/drawing/2014/main" id="{02C59D70-A0EF-45AE-BE13-C0115EB6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57750"/>
            <a:ext cx="228611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68" name="bar-value-label">
            <a:extLst xmlns:a="http://schemas.openxmlformats.org/drawingml/2006/main">
              <a:ext uri="{FF2B5EF4-FFF2-40B4-BE49-F238E27FC236}">
                <a16:creationId xmlns:a16="http://schemas.microsoft.com/office/drawing/2014/main" id="{391BA842-EB86-47EC-9C0D-39A7A6A2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8387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0.1477</a:t>
            </a:r>
          </a:p>
        </p:txBody>
      </p:sp>
      <p:sp>
        <p:nvSpPr>
          <p:cNvPr id="69" name="distance-note">
            <a:extLst xmlns:a="http://schemas.openxmlformats.org/drawingml/2006/main">
              <a:ext uri="{FF2B5EF4-FFF2-40B4-BE49-F238E27FC236}">
                <a16:creationId xmlns:a16="http://schemas.microsoft.com/office/drawing/2014/main" id="{D704B9D5-13D0-4637-B56A-E7BB1693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625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distance: 1.9666 -&gt; 1.9419</a:t>
            </a:r>
          </a:p>
        </p:txBody>
      </p:sp>
      <p:sp>
        <p:nvSpPr>
          <p:cNvPr id="70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49E73C5-9BF0-4DAF-87B8-2939888C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D8D0C5"/>
            </a:solidFill>
            <a:prstDash val="solid"/>
          </a:ln>
        </p:spPr>
      </p:sp>
      <p:sp>
        <p:nvSpPr>
          <p:cNvPr id="7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7BE412C-6BFF-43B8-A8FC-EEF7628B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450">
                <a:solidFill>
                  <a:srgbClr val="5B6773"/>
                </a:solidFill>
                <a:latin typeface="Aptos"/>
                <a:ea typeface="Aptos"/>
                <a:cs typeface="Aptos"/>
              </a:rPr>
              <a:t>HumanML3D-Guided Teacher Selection</a:t>
            </a:r>
          </a:p>
        </p:txBody>
      </p:sp>
      <p:sp>
        <p:nvSpPr>
          <p:cNvPr id="7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DD3AB5C-73F6-4E10-81DD-16BAA320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2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525">
                <a:solidFill>
                  <a:srgbClr val="5B6773"/>
                </a:solidFill>
                <a:latin typeface="Aptos"/>
                <a:ea typeface="Aptos"/>
                <a:cs typeface="Aptos"/>
              </a:rPr>
              <a:t>13 / 14</a:t>
            </a:r>
          </a:p>
        </p:txBody>
      </p:sp>
    </p:spTree>
    <p:extLst>
      <p:ext uri="{BB962C8B-B14F-4D97-AF65-F5344CB8AC3E}">
        <p14:creationId xmlns:p14="http://schemas.microsoft.com/office/powerpoint/2010/main" val="9245122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BD145E-204F-48D1-9352-A14A2CC7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3F928-D4DA-46CE-895C-96915277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870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90995-21CF-4BA2-B11D-8C715715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A better bridge, not a finished evaluator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9F5E8-EF19-4FC8-AF1A-470D7F6C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C"/>
          </a:solidFill>
          <a:ln xmlns:a="http://schemas.openxmlformats.org/drawingml/2006/main" w="0">
            <a:solidFill>
              <a:srgbClr val="CFC7B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4787C-A766-44E7-8C33-9D38BF60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HumanML3D-Guided Teacher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A9EFE-3D90-4D71-8966-E26511D0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>
                <a:solidFill>
                  <a:srgbClr val="6B7478"/>
                </a:solidFill>
                <a:latin typeface="Aptos"/>
                <a:ea typeface="Aptos"/>
                <a:cs typeface="Aptos"/>
              </a:defRPr>
            </a:pPr>
            <a:r>
              <a:rPr sz="600">
                <a:solidFill>
                  <a:srgbClr val="6B7478"/>
                </a:solidFill>
                <a:latin typeface="Aptos"/>
                <a:ea typeface="Aptos"/>
                <a:cs typeface="Aptos"/>
              </a:rPr>
              <a:t>14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18C0E-2543-4DB2-8980-BE269FED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B5034-D574-47A6-B63A-A0CE71D3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HumanML3D motion can guide teacher selection; the final student still needs paired HumanML generation evaluation.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D5EA5-A2AA-458C-8091-4848416E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3048000" cy="14287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60590-CC9A-49F9-987E-8E138FA2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F54B2-08B7-4B93-A73F-B7A417E2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7F7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7F7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07EB8-D841-4FF7-8DF0-15C54F08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95675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What is solved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B04EE-3C81-4271-90ED-C8E33C8D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81425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HumanML3D motion is used as a reference during teacher candidate selection; top-k creates real candidate diversity.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C3DFD-C892-4142-99E2-562196A2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3048000" cy="14287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52D52A-A98D-44A3-AC9F-63D9F616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F55B8-2F65-4532-A937-43AFA02C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14675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967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9673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A758F-E92A-4D9F-B4D4-48858D0E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95675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What is not solved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3D51B-E645-4948-8A2F-8BE70990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81425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Selected teacher alignment gains are small, and final student outputs have not yet been paired against HumanML motions.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1C6912-AF25-4E38-A587-9F9068A9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0375"/>
            <a:ext cx="3048000" cy="14287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49177-3E05-443A-8C72-36700915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037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18262-08E7-45C2-B317-A9D756C9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14675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D8BE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D8BE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9F3F12-023F-46B0-9B3C-B78636FA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95675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BF7F98-0285-4F10-9132-C4DBA641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81425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C687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6870"/>
                </a:solidFill>
                <a:latin typeface="Aptos"/>
                <a:ea typeface="Aptos"/>
                <a:cs typeface="Aptos"/>
              </a:rPr>
              <a:t>Generate baseline and LoRA BVHs from HumanML captions, then compare each output to its motion_id.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95D149-D8FC-4C98-AAB7-E1A7C28C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Final takeaway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2A2BEF-76F1-406F-8025-0A5CDD8F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02832"/>
                </a:solidFill>
                <a:latin typeface="Aptos"/>
                <a:ea typeface="Aptos"/>
                <a:cs typeface="Aptos"/>
              </a:rPr>
              <a:t>The project moves from caption-only pseudo-token distillation toward data-grounded teacher selection. The next experiment should close the loop at the student-output level.</a:t>
            </a:r>
          </a:p>
        </p:txBody>
      </p:sp>
    </p:spTree>
    <p:extLst>
      <p:ext uri="{BB962C8B-B14F-4D97-AF65-F5344CB8AC3E}">
        <p14:creationId xmlns:p14="http://schemas.microsoft.com/office/powerpoint/2010/main" val="1241476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2026-06-15T12:59:27.1820000Z</dcterms:created>
  <dcterms:modified xsi:type="dcterms:W3CDTF">2026-06-15T12:59:27.1820000Z</dcterms:modified>
</coreProperties>
</file>