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0a4b8d87954542" /><Relationship Type="http://schemas.openxmlformats.org/officeDocument/2006/relationships/extended-properties" Target="/docProps/app.xml" Id="R0a07fc08515e4f3e" /><Relationship Type="http://schemas.openxmlformats.org/officeDocument/2006/relationships/officeDocument" Target="/ppt/presentation.xml" Id="Rf442db8586b64686" /></Relationships>
</file>

<file path=ppt/presentation.xml><?xml version="1.0" encoding="utf-8"?>
<p:presentation xmlns:p="http://schemas.openxmlformats.org/presentationml/2006/main">
  <p:sldMasterIdLst>
    <p:sldMasterId xmlns:r="http://schemas.openxmlformats.org/officeDocument/2006/relationships" id="2147483648" r:id="R9fe470699cc04b8b"/>
    <p:sldMasterId xmlns:r="http://schemas.openxmlformats.org/officeDocument/2006/relationships" id="2147483660" r:id="R2710655ce68c4e06"/>
  </p:sldMasterIdLst>
  <p:notesMasterIdLst>
    <p:notesMasterId xmlns:r="http://schemas.openxmlformats.org/officeDocument/2006/relationships" r:id="R6e2e8a49aac446e0"/>
  </p:notesMasterIdLst>
  <p:sldIdLst>
    <p:sldId xmlns:r="http://schemas.openxmlformats.org/officeDocument/2006/relationships" id="256" r:id="R5416f361099a4359"/>
    <p:sldId xmlns:r="http://schemas.openxmlformats.org/officeDocument/2006/relationships" id="257" r:id="Rc99830788d674b8b"/>
    <p:sldId xmlns:r="http://schemas.openxmlformats.org/officeDocument/2006/relationships" id="258" r:id="Rdbb06a7cd01e4125"/>
    <p:sldId xmlns:r="http://schemas.openxmlformats.org/officeDocument/2006/relationships" id="259" r:id="Ra5d48fe991ab4533"/>
    <p:sldId xmlns:r="http://schemas.openxmlformats.org/officeDocument/2006/relationships" id="260" r:id="R91e35b29cd104191"/>
    <p:sldId xmlns:r="http://schemas.openxmlformats.org/officeDocument/2006/relationships" id="261" r:id="R5a4af5ccc0384853"/>
    <p:sldId xmlns:r="http://schemas.openxmlformats.org/officeDocument/2006/relationships" id="262" r:id="R3e09de9d3e454b45"/>
    <p:sldId xmlns:r="http://schemas.openxmlformats.org/officeDocument/2006/relationships" id="263" r:id="R44e2cb75824b4851"/>
    <p:sldId xmlns:r="http://schemas.openxmlformats.org/officeDocument/2006/relationships" id="264" r:id="R954465e35f714630"/>
    <p:sldId xmlns:r="http://schemas.openxmlformats.org/officeDocument/2006/relationships" id="265" r:id="Rb9afd43e7491496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8f5dbb14694bbb" /><Relationship Type="http://schemas.openxmlformats.org/officeDocument/2006/relationships/slideMaster" Target="/ppt/slideMasters/slideMaster1.xml" Id="R9fe470699cc04b8b" /><Relationship Type="http://schemas.openxmlformats.org/officeDocument/2006/relationships/slideMaster" Target="/ppt/slideMasters/slideMaster2.xml" Id="R2710655ce68c4e06" /><Relationship Type="http://schemas.openxmlformats.org/officeDocument/2006/relationships/notesMaster" Target="/ppt/notesMasters/notesMaster1.xml" Id="R6e2e8a49aac446e0" /><Relationship Type="http://schemas.openxmlformats.org/officeDocument/2006/relationships/presProps" Target="/ppt/presProps.xml" Id="Rf27bc1f9e4054220" /><Relationship Type="http://schemas.openxmlformats.org/officeDocument/2006/relationships/tableStyles" Target="/ppt/tableStyles.xml" Id="R390de3706fad41b6" /><Relationship Type="http://schemas.openxmlformats.org/officeDocument/2006/relationships/slide" Target="/ppt/slides/slide1.xml" Id="R5416f361099a4359" /><Relationship Type="http://schemas.openxmlformats.org/officeDocument/2006/relationships/slide" Target="/ppt/slides/slide2.xml" Id="Rc99830788d674b8b" /><Relationship Type="http://schemas.openxmlformats.org/officeDocument/2006/relationships/slide" Target="/ppt/slides/slide3.xml" Id="Rdbb06a7cd01e4125" /><Relationship Type="http://schemas.openxmlformats.org/officeDocument/2006/relationships/slide" Target="/ppt/slides/slide4.xml" Id="Ra5d48fe991ab4533" /><Relationship Type="http://schemas.openxmlformats.org/officeDocument/2006/relationships/slide" Target="/ppt/slides/slide5.xml" Id="R91e35b29cd104191" /><Relationship Type="http://schemas.openxmlformats.org/officeDocument/2006/relationships/slide" Target="/ppt/slides/slide6.xml" Id="R5a4af5ccc0384853" /><Relationship Type="http://schemas.openxmlformats.org/officeDocument/2006/relationships/slide" Target="/ppt/slides/slide7.xml" Id="R3e09de9d3e454b45" /><Relationship Type="http://schemas.openxmlformats.org/officeDocument/2006/relationships/slide" Target="/ppt/slides/slide8.xml" Id="R44e2cb75824b4851" /><Relationship Type="http://schemas.openxmlformats.org/officeDocument/2006/relationships/slide" Target="/ppt/slides/slide9.xml" Id="R954465e35f714630" /><Relationship Type="http://schemas.openxmlformats.org/officeDocument/2006/relationships/slide" Target="/ppt/slides/slide10.xml" Id="Rb9afd43e749149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550f7f5cb55349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98814e1b634571" /><Relationship Type="http://schemas.openxmlformats.org/officeDocument/2006/relationships/notesMaster" Target="/ppt/notesMasters/notesMaster1.xml" Id="Rb9dbc00f4a1c47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7af45d5a784b49" /><Relationship Type="http://schemas.openxmlformats.org/officeDocument/2006/relationships/notesMaster" Target="/ppt/notesMasters/notesMaster1.xml" Id="Rb30c6a7822d044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16426d0206490e" /><Relationship Type="http://schemas.openxmlformats.org/officeDocument/2006/relationships/notesMaster" Target="/ppt/notesMasters/notesMaster1.xml" Id="R42c2c890062147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a85ebbc6ed4ab9" /><Relationship Type="http://schemas.openxmlformats.org/officeDocument/2006/relationships/notesMaster" Target="/ppt/notesMasters/notesMaster1.xml" Id="R140134b926e349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e2652ed7384358" /><Relationship Type="http://schemas.openxmlformats.org/officeDocument/2006/relationships/notesMaster" Target="/ppt/notesMasters/notesMaster1.xml" Id="Refb7796f935348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efec6321474c6c" /><Relationship Type="http://schemas.openxmlformats.org/officeDocument/2006/relationships/notesMaster" Target="/ppt/notesMasters/notesMaster1.xml" Id="Rc98e67a768e44f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84a848a2634d71" /><Relationship Type="http://schemas.openxmlformats.org/officeDocument/2006/relationships/notesMaster" Target="/ppt/notesMasters/notesMaster1.xml" Id="R8c4cf228e95b4b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1697283fa04127" /><Relationship Type="http://schemas.openxmlformats.org/officeDocument/2006/relationships/notesMaster" Target="/ppt/notesMasters/notesMaster1.xml" Id="Rf85cb8153f9b4b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e100cf452f423a" /><Relationship Type="http://schemas.openxmlformats.org/officeDocument/2006/relationships/notesMaster" Target="/ppt/notesMasters/notesMaster1.xml" Id="Raaa017bcfc164d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fb071be0e24b5b" /><Relationship Type="http://schemas.openxmlformats.org/officeDocument/2006/relationships/notesMaster" Target="/ppt/notesMasters/notesMaster1.xml" Id="R61c8c8f71a944d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200" b="0" i="0" u="none">
                <a:solidFill>
                  <a:srgbClr val="000000"/>
                </a:solidFill>
              </a:rPr>
              <a:t>Hello everyone. Today, I'll present our project on "Style-Aware Adaptation for Language-Conditioned Humanoid Motion Generation." Our goal was to enhance a state-of-the-art model, MoConVQ, to understand and generate specific motion styles from text prompts. We faced a key challenge: the lack of direct supervision data. Our solution was to use a technique called LoRA distillation, which allowed us to adapt the model with minimal trainable parameters—just 1.97 million, or about 1% of the total. Despite this efficiency, we achieved significant success, with 18 out of 22 proxy metrics showing the desired style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200" b="0" i="0" u="none">
                <a:solidFill>
                  <a:srgbClr val="000000"/>
                </a:solidFill>
              </a:rPr>
              <a:t>Let's start with the motivation. Using natural language to control robots is intuitive, and MoConVQ is a leading model for this. However, it's not good at understanding style—like making a walk "slow and deliberate" versus "energetic." Our goal was to fix this, but with a catch: we couldn't retrain the entire massive model. So, we focused on parameter-efficient adaptation. Our key contributions were reproducing the baseline, innovating a new LoRA distillation method, and thoroughly evaluating our results using multiple 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200" b="0" i="0" u="none">
                <a:solidFill>
                  <a:srgbClr val="000000"/>
                </a:solidFill>
              </a:rPr>
              <a:t>A major hurdle was the data. We used the HumanML3D dataset, but there was a critical mismatch: MoConVQ expects discrete "tokens" as training targets, but the dataset only provides continuous motion data. Converting between them is difficult and error-prone. Our elegant solution was knowledge distillation. We used the pre-trained MoConVQ model as a teacher to generate the necessary pseudo-tokens for our style prompts. Then, our LoRA-adapted student model learned to copy the teacher. This bypassed the data conversion problem entirely.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200" b="0" i="0" u="none">
                <a:solidFill>
                  <a:srgbClr val="000000"/>
                </a:solidFill>
              </a:rPr>
              <a:t>Here's a visual overview of our entire method. The process starts with style captions from the HumanML3D dataset. These are fed into the frozen MoConVQ teacher model, which generates the pseudo-tokens used as training targets. The student model, which is MoConVQ with LoRA adapters, is trained to predict these tokens. Crucially, only the LoRA parameters are updated. After training, the adapted student generates tokens that are then passed through the frozen decoder and controller to produce the final motion files (BVH). We evaluate the results by checking if the student learned the tokens, and by measuring changes in the generated motion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200" b="0" i="0" u="none">
                <a:solidFill>
                  <a:srgbClr val="000000"/>
                </a:solidFill>
              </a:rPr>
              <a:t>Now, let's look at our experimental setup. We used the official MoConVQ model and trained on 200 style captions. Our LoRA setup was very efficient, training just 1.97 million parameters, which is about 1% of the generator. The training involved an initial phase followed by a refinement phase with a lower learning rate. For evaluation, we tracked the training loss, used a set of custom "proxy metrics" derived from the motion files to measure style, and also did visual checks by rendering animations.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200" b="0" i="0" u="none">
                <a:solidFill>
                  <a:srgbClr val="000000"/>
                </a:solidFill>
              </a:rPr>
              <a:t>Let's look at the results. First, the training loss. As you can see from the graph, the loss consistently decreased, which is a strong indicator that our LoRA adapter was successfully learning to mimic the teacher model. Beyond the numbers, we also saw clear visual differences. For example, when given a "slow deliberate walk" prompt, our model produced a noticeably different, more crouched gait compared to the baseline. These qualitative results give us confidence that the model is indeed learning the intended styles.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a:solidFill>
                  <a:srgbClr val="000000"/>
                </a:solidFill>
              </a:rPr>
              <a:t>For a more quantitative measure, we used our proxy metrics. The results were very positive. Out of 22 predefined checks across 5 different styles, our model moved in the desired direction 18 times, a win rate of over 80%. As the chart shows, it performed perfectly on styles like "slow deliberate" and "heavy tired," which have clear kinematic signatures. The most challenging style was "Tai Chi," which highlights a limitation: styles requiring more complex, coordinated movements are harder to capture with simple proxies.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200" b="0" i="0" u="none">
                <a:solidFill>
                  <a:srgbClr val="000000"/>
                </a:solidFill>
              </a:rPr>
              <a:t>So, what do these results mean? Our approach is solid for controlling styles that have clear physical correlates, like speed or smoothness. The distillation method was a technically sound solution to our data problem. However, limitations exist. We still lack direct token labels for true supervised training, and we couldn't use standard evaluation metrics. Also, our model can't create new motions the original MoConVQ doesn't know. The best next step is to build a better bridge between the model and standard benchmarks, moving beyond proxies.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113d51f0c2499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a98eebfc8dd4d8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696c32d795140e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f98ce1d2d6a4f5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f353f32f1cc4a8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211e2c897e422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5b3f0fc1e82475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ee084ada3eb41c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2f1fd930cc4493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12294e5ec2a40f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a8e5a976bf84e91"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f17f23d9f73f4b1f" /></Relationships>
</file>

<file path=ppt/slideLayouts/slideLayout1.xml><?xml version="1.0" encoding="utf-8"?>
<p:sldLayout xmlns:p="http://schemas.openxmlformats.org/presentationml/2006/main" matchingName="标题幻灯片" type="title">
  <p:cSld name="TITLE">
    <p:spTree>
      <p:nvGrpSpPr>
        <p:cNvPr id="1" name=""/>
        <p:cNvGrpSpPr/>
        <p:nvPr/>
      </p:nvGrpSpPr>
      <p:grpSpPr>
        <a:xfrm xmlns:a="http://schemas.openxmlformats.org/drawingml/2006/main"/>
      </p:grpSpPr>
      <p:sp>
        <p:nvSpPr>
          <p:cNvPr id="12" name="Shape 30">
            <a:extLst xmlns:a="http://schemas.openxmlformats.org/drawingml/2006/main">
              <a:ext uri="{FF2B5EF4-FFF2-40B4-BE49-F238E27FC236}">
                <a16:creationId xmlns:a16="http://schemas.microsoft.com/office/drawing/2014/main" id="{EE587C1D-2909-42B9-8F8C-738486819F6E}"/>
              </a:ext>
            </a:extLst>
          </p:cNvPr>
          <p:cNvSpPr>
            <a:spLocks xmlns:a="http://schemas.openxmlformats.org/drawingml/2006/main" noGrp="1"/>
          </p:cNvSpPr>
          <p:nvPr>
            <p:ph type="ctrTitle" idx="0"/>
          </p:nvPr>
        </p:nvSpPr>
        <p:spPr>
          <a:xfrm xmlns:a="http://schemas.openxmlformats.org/drawingml/2006/main">
            <a:off x="1143000" y="841772"/>
            <a:ext cx="6858000" cy="179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ctr">
              <a:lnSpc>
                <a:spcPct val="90000"/>
              </a:lnSpc>
              <a:spcBef>
                <a:spcPts val="0"/>
              </a:spcBef>
              <a:spcAft>
                <a:spcPts val="0"/>
              </a:spcAft>
              <a:buNone/>
              <a:defRPr sz="4500"/>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13" name="Shape 31">
            <a:extLst xmlns:a="http://schemas.openxmlformats.org/drawingml/2006/main">
              <a:ext uri="{FF2B5EF4-FFF2-40B4-BE49-F238E27FC236}">
                <a16:creationId xmlns:a16="http://schemas.microsoft.com/office/drawing/2014/main" id="{E4A620CF-0E4B-4203-86C4-BC42B863423B}"/>
              </a:ext>
            </a:extLst>
          </p:cNvPr>
          <p:cNvSpPr>
            <a:spLocks xmlns:a="http://schemas.openxmlformats.org/drawingml/2006/main" noGrp="1"/>
          </p:cNvSpPr>
          <p:nvPr>
            <p:ph type="subTitle" idx="1"/>
          </p:nvPr>
        </p:nvSpPr>
        <p:spPr>
          <a:xfrm xmlns:a="http://schemas.openxmlformats.org/drawingml/2006/main">
            <a:off x="1143000" y="2701528"/>
            <a:ext cx="6858000" cy="12418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algn="ctr">
              <a:lnSpc>
                <a:spcPct val="90000"/>
              </a:lnSpc>
              <a:spcBef>
                <a:spcPts val="800"/>
              </a:spcBef>
              <a:spcAft>
                <a:spcPts val="0"/>
              </a:spcAft>
              <a:buNone/>
              <a:defRPr sz="1800"/>
            </a:lvl1pPr>
            <a:lvl2pPr algn="ctr">
              <a:lnSpc>
                <a:spcPct val="90000"/>
              </a:lnSpc>
              <a:spcBef>
                <a:spcPts val="400"/>
              </a:spcBef>
              <a:spcAft>
                <a:spcPts val="0"/>
              </a:spcAft>
              <a:buNone/>
              <a:defRPr sz="1500"/>
            </a:lvl2pPr>
            <a:lvl3pPr algn="ctr">
              <a:lnSpc>
                <a:spcPct val="90000"/>
              </a:lnSpc>
              <a:spcBef>
                <a:spcPts val="400"/>
              </a:spcBef>
              <a:spcAft>
                <a:spcPts val="0"/>
              </a:spcAft>
              <a:buNone/>
              <a:defRPr sz="1400"/>
            </a:lvl3pPr>
            <a:lvl4pPr algn="ctr">
              <a:lnSpc>
                <a:spcPct val="90000"/>
              </a:lnSpc>
              <a:spcBef>
                <a:spcPts val="400"/>
              </a:spcBef>
              <a:spcAft>
                <a:spcPts val="0"/>
              </a:spcAft>
              <a:buNone/>
              <a:defRPr sz="1200"/>
            </a:lvl4pPr>
            <a:lvl5pPr algn="ctr">
              <a:lnSpc>
                <a:spcPct val="90000"/>
              </a:lnSpc>
              <a:spcBef>
                <a:spcPts val="400"/>
              </a:spcBef>
              <a:spcAft>
                <a:spcPts val="0"/>
              </a:spcAft>
              <a:buNone/>
              <a:defRPr sz="1200"/>
            </a:lvl5pPr>
            <a:lvl6pPr algn="ctr">
              <a:lnSpc>
                <a:spcPct val="90000"/>
              </a:lnSpc>
              <a:spcBef>
                <a:spcPts val="400"/>
              </a:spcBef>
              <a:spcAft>
                <a:spcPts val="0"/>
              </a:spcAft>
              <a:buNone/>
              <a:defRPr sz="1200"/>
            </a:lvl6pPr>
            <a:lvl7pPr algn="ctr">
              <a:lnSpc>
                <a:spcPct val="90000"/>
              </a:lnSpc>
              <a:spcBef>
                <a:spcPts val="400"/>
              </a:spcBef>
              <a:spcAft>
                <a:spcPts val="0"/>
              </a:spcAft>
              <a:buNone/>
              <a:defRPr sz="1200"/>
            </a:lvl7pPr>
            <a:lvl8pPr algn="ctr">
              <a:lnSpc>
                <a:spcPct val="90000"/>
              </a:lnSpc>
              <a:spcBef>
                <a:spcPts val="400"/>
              </a:spcBef>
              <a:spcAft>
                <a:spcPts val="0"/>
              </a:spcAft>
              <a:buNone/>
              <a:defRPr sz="1200"/>
            </a:lvl8pPr>
            <a:lvl9pPr algn="ctr">
              <a:lnSpc>
                <a:spcPct val="90000"/>
              </a:lnSpc>
              <a:spcBef>
                <a:spcPts val="400"/>
              </a:spcBef>
              <a:spcAft>
                <a:spcPts val="0"/>
              </a:spcAft>
              <a:buNone/>
              <a:defRPr sz="1200"/>
            </a:lvl9pPr>
          </a:lstStyle>
          <a:p xmlns:a="http://schemas.openxmlformats.org/drawingml/2006/main"/>
        </p:txBody>
      </p:sp>
      <p:sp>
        <p:nvSpPr>
          <p:cNvPr id="14" name="Shape 32">
            <a:extLst xmlns:a="http://schemas.openxmlformats.org/drawingml/2006/main">
              <a:ext uri="{FF2B5EF4-FFF2-40B4-BE49-F238E27FC236}">
                <a16:creationId xmlns:a16="http://schemas.microsoft.com/office/drawing/2014/main" id="{6F1FD900-6A87-466D-8D4B-B8E9CF5C9072}"/>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15" name="Shape 33">
            <a:extLst xmlns:a="http://schemas.openxmlformats.org/drawingml/2006/main">
              <a:ext uri="{FF2B5EF4-FFF2-40B4-BE49-F238E27FC236}">
                <a16:creationId xmlns:a16="http://schemas.microsoft.com/office/drawing/2014/main" id="{5AF2B34F-FEC0-4878-A78B-89116E314F1D}"/>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16" name="Shape 34">
            <a:extLst xmlns:a="http://schemas.openxmlformats.org/drawingml/2006/main">
              <a:ext uri="{FF2B5EF4-FFF2-40B4-BE49-F238E27FC236}">
                <a16:creationId xmlns:a16="http://schemas.microsoft.com/office/drawing/2014/main" id="{6A155F07-C4B2-4E31-A161-D083D64C41E2}"/>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2.xml><?xml version="1.0" encoding="utf-8"?>
<p:sldLayout xmlns:p="http://schemas.openxmlformats.org/presentationml/2006/main" matchingName="标题和内容" type="obj">
  <p:cSld name="OBJECT">
    <p:spTree>
      <p:nvGrpSpPr>
        <p:cNvPr id="1" name=""/>
        <p:cNvGrpSpPr/>
        <p:nvPr/>
      </p:nvGrpSpPr>
      <p:grpSpPr>
        <a:xfrm xmlns:a="http://schemas.openxmlformats.org/drawingml/2006/main"/>
      </p:grpSpPr>
      <p:sp>
        <p:nvSpPr>
          <p:cNvPr id="18" name="Shape 54">
            <a:extLst xmlns:a="http://schemas.openxmlformats.org/drawingml/2006/main">
              <a:ext uri="{FF2B5EF4-FFF2-40B4-BE49-F238E27FC236}">
                <a16:creationId xmlns:a16="http://schemas.microsoft.com/office/drawing/2014/main" id="{DF6BE7EF-C279-44ED-BACC-E54FF39F231C}"/>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19" name="Shape 55">
            <a:extLst xmlns:a="http://schemas.openxmlformats.org/drawingml/2006/main">
              <a:ext uri="{FF2B5EF4-FFF2-40B4-BE49-F238E27FC236}">
                <a16:creationId xmlns:a16="http://schemas.microsoft.com/office/drawing/2014/main" id="{95AABB20-667D-446A-B382-FEC4FD945B72}"/>
              </a:ext>
            </a:extLst>
          </p:cNvPr>
          <p:cNvSpPr>
            <a:spLocks xmlns:a="http://schemas.openxmlformats.org/drawingml/2006/main" noGrp="1"/>
          </p:cNvSpPr>
          <p:nvPr>
            <p:ph type="body" idx="1"/>
          </p:nvPr>
        </p:nvSpPr>
        <p:spPr>
          <a:xfrm xmlns:a="http://schemas.openxmlformats.org/drawingml/2006/main">
            <a:off x="628650" y="1369219"/>
            <a:ext cx="78867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har char="•"/>
              <a:defRPr/>
            </a:lvl1pPr>
            <a:lvl2pPr marL="914400" indent="-317500" algn="l">
              <a:lnSpc>
                <a:spcPct val="90000"/>
              </a:lnSpc>
              <a:spcBef>
                <a:spcPts val="400"/>
              </a:spcBef>
              <a:spcAft>
                <a:spcPts val="0"/>
              </a:spcAft>
              <a:buChar char="•"/>
              <a:defRPr/>
            </a:lvl2pPr>
            <a:lvl3pPr marL="1371600" indent="-317500" algn="l">
              <a:lnSpc>
                <a:spcPct val="90000"/>
              </a:lnSpc>
              <a:spcBef>
                <a:spcPts val="400"/>
              </a:spcBef>
              <a:spcAft>
                <a:spcPts val="0"/>
              </a:spcAft>
              <a:buChar char="•"/>
              <a:defRPr/>
            </a:lvl3pPr>
            <a:lvl4pPr marL="1828800" indent="-317500" algn="l">
              <a:lnSpc>
                <a:spcPct val="90000"/>
              </a:lnSpc>
              <a:spcBef>
                <a:spcPts val="400"/>
              </a:spcBef>
              <a:spcAft>
                <a:spcPts val="0"/>
              </a:spcAft>
              <a:buChar char="•"/>
              <a:defRPr/>
            </a:lvl4pPr>
            <a:lvl5pPr marL="2286000" indent="-317500" algn="l">
              <a:lnSpc>
                <a:spcPct val="90000"/>
              </a:lnSpc>
              <a:spcBef>
                <a:spcPts val="400"/>
              </a:spcBef>
              <a:spcAft>
                <a:spcPts val="0"/>
              </a:spcAft>
              <a:buChar char="•"/>
              <a:defRPr/>
            </a:lvl5pPr>
            <a:lvl6pPr marL="2743200" indent="-317500" algn="l">
              <a:lnSpc>
                <a:spcPct val="90000"/>
              </a:lnSpc>
              <a:spcBef>
                <a:spcPts val="400"/>
              </a:spcBef>
              <a:spcAft>
                <a:spcPts val="0"/>
              </a:spcAft>
              <a:buChar char="•"/>
              <a:defRPr/>
            </a:lvl6pPr>
            <a:lvl7pPr marL="3200400" indent="-317500" algn="l">
              <a:lnSpc>
                <a:spcPct val="90000"/>
              </a:lnSpc>
              <a:spcBef>
                <a:spcPts val="400"/>
              </a:spcBef>
              <a:spcAft>
                <a:spcPts val="0"/>
              </a:spcAft>
              <a:buChar char="•"/>
              <a:defRPr/>
            </a:lvl7pPr>
            <a:lvl8pPr marL="3657600" indent="-317500" algn="l">
              <a:lnSpc>
                <a:spcPct val="90000"/>
              </a:lnSpc>
              <a:spcBef>
                <a:spcPts val="400"/>
              </a:spcBef>
              <a:spcAft>
                <a:spcPts val="0"/>
              </a:spcAft>
              <a:buChar char="•"/>
              <a:defRPr/>
            </a:lvl8pPr>
            <a:lvl9pPr marL="4114800" indent="-317500" algn="l">
              <a:lnSpc>
                <a:spcPct val="90000"/>
              </a:lnSpc>
              <a:spcBef>
                <a:spcPts val="400"/>
              </a:spcBef>
              <a:spcAft>
                <a:spcPts val="0"/>
              </a:spcAft>
              <a:buChar char="•"/>
              <a:defRPr/>
            </a:lvl9pPr>
          </a:lstStyle>
          <a:p xmlns:a="http://schemas.openxmlformats.org/drawingml/2006/main"/>
        </p:txBody>
      </p:sp>
      <p:sp>
        <p:nvSpPr>
          <p:cNvPr id="20" name="Shape 56">
            <a:extLst xmlns:a="http://schemas.openxmlformats.org/drawingml/2006/main">
              <a:ext uri="{FF2B5EF4-FFF2-40B4-BE49-F238E27FC236}">
                <a16:creationId xmlns:a16="http://schemas.microsoft.com/office/drawing/2014/main" id="{13623196-3933-44EA-A2E0-7F5F200D237A}"/>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21" name="Shape 57">
            <a:extLst xmlns:a="http://schemas.openxmlformats.org/drawingml/2006/main">
              <a:ext uri="{FF2B5EF4-FFF2-40B4-BE49-F238E27FC236}">
                <a16:creationId xmlns:a16="http://schemas.microsoft.com/office/drawing/2014/main" id="{0469F268-1D2A-4742-83DE-8AA2C7AE5E51}"/>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22" name="Shape 58">
            <a:extLst xmlns:a="http://schemas.openxmlformats.org/drawingml/2006/main">
              <a:ext uri="{FF2B5EF4-FFF2-40B4-BE49-F238E27FC236}">
                <a16:creationId xmlns:a16="http://schemas.microsoft.com/office/drawing/2014/main" id="{A01641ED-5F7A-4B94-AD95-0CAC85F9455A}"/>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3.xml><?xml version="1.0" encoding="utf-8"?>
<p:sldLayout xmlns:p="http://schemas.openxmlformats.org/presentationml/2006/main" matchingName="节标题" type="secHead">
  <p:cSld name="SECTION_HEADER">
    <p:spTree>
      <p:nvGrpSpPr>
        <p:cNvPr id="1" name=""/>
        <p:cNvGrpSpPr/>
        <p:nvPr/>
      </p:nvGrpSpPr>
      <p:grpSpPr>
        <a:xfrm xmlns:a="http://schemas.openxmlformats.org/drawingml/2006/main"/>
      </p:grpSpPr>
      <p:sp>
        <p:nvSpPr>
          <p:cNvPr id="24" name="Shape 59">
            <a:extLst xmlns:a="http://schemas.openxmlformats.org/drawingml/2006/main">
              <a:ext uri="{FF2B5EF4-FFF2-40B4-BE49-F238E27FC236}">
                <a16:creationId xmlns:a16="http://schemas.microsoft.com/office/drawing/2014/main" id="{173DFF04-F35B-4EAB-A7E5-E567C5BAEF89}"/>
              </a:ext>
            </a:extLst>
          </p:cNvPr>
          <p:cNvSpPr>
            <a:spLocks xmlns:a="http://schemas.openxmlformats.org/drawingml/2006/main" noGrp="1"/>
          </p:cNvSpPr>
          <p:nvPr>
            <p:ph type="title" idx="0"/>
          </p:nvPr>
        </p:nvSpPr>
        <p:spPr>
          <a:xfrm xmlns:a="http://schemas.openxmlformats.org/drawingml/2006/main">
            <a:off x="623888" y="1282304"/>
            <a:ext cx="7886700" cy="21395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lnSpc>
                <a:spcPct val="90000"/>
              </a:lnSpc>
              <a:spcBef>
                <a:spcPts val="0"/>
              </a:spcBef>
              <a:spcAft>
                <a:spcPts val="0"/>
              </a:spcAft>
              <a:buNone/>
              <a:defRPr sz="4500"/>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25" name="Shape 60">
            <a:extLst xmlns:a="http://schemas.openxmlformats.org/drawingml/2006/main">
              <a:ext uri="{FF2B5EF4-FFF2-40B4-BE49-F238E27FC236}">
                <a16:creationId xmlns:a16="http://schemas.microsoft.com/office/drawing/2014/main" id="{040E1B90-7DB7-41D1-857B-FE675CB279BE}"/>
              </a:ext>
            </a:extLst>
          </p:cNvPr>
          <p:cNvSpPr>
            <a:spLocks xmlns:a="http://schemas.openxmlformats.org/drawingml/2006/main" noGrp="1"/>
          </p:cNvSpPr>
          <p:nvPr>
            <p:ph type="body" idx="1"/>
          </p:nvPr>
        </p:nvSpPr>
        <p:spPr>
          <a:xfrm xmlns:a="http://schemas.openxmlformats.org/drawingml/2006/main">
            <a:off x="623888" y="3442097"/>
            <a:ext cx="7886700" cy="1125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90000"/>
              </a:lnSpc>
              <a:spcBef>
                <a:spcPts val="800"/>
              </a:spcBef>
              <a:spcAft>
                <a:spcPts val="0"/>
              </a:spcAft>
              <a:buNone/>
              <a:defRPr sz="1800">
                <a:solidFill>
                  <a:srgbClr val="888888"/>
                </a:solidFill>
              </a:defRPr>
            </a:lvl1pPr>
            <a:lvl2pPr marL="914400" indent="-228600" algn="l">
              <a:lnSpc>
                <a:spcPct val="90000"/>
              </a:lnSpc>
              <a:spcBef>
                <a:spcPts val="400"/>
              </a:spcBef>
              <a:spcAft>
                <a:spcPts val="0"/>
              </a:spcAft>
              <a:buNone/>
              <a:defRPr sz="1500">
                <a:solidFill>
                  <a:srgbClr val="888888"/>
                </a:solidFill>
              </a:defRPr>
            </a:lvl2pPr>
            <a:lvl3pPr marL="1371600" indent="-228600" algn="l">
              <a:lnSpc>
                <a:spcPct val="90000"/>
              </a:lnSpc>
              <a:spcBef>
                <a:spcPts val="400"/>
              </a:spcBef>
              <a:spcAft>
                <a:spcPts val="0"/>
              </a:spcAft>
              <a:buNone/>
              <a:defRPr sz="1400">
                <a:solidFill>
                  <a:srgbClr val="888888"/>
                </a:solidFill>
              </a:defRPr>
            </a:lvl3pPr>
            <a:lvl4pPr marL="1828800" indent="-228600" algn="l">
              <a:lnSpc>
                <a:spcPct val="90000"/>
              </a:lnSpc>
              <a:spcBef>
                <a:spcPts val="400"/>
              </a:spcBef>
              <a:spcAft>
                <a:spcPts val="0"/>
              </a:spcAft>
              <a:buNone/>
              <a:defRPr sz="1200">
                <a:solidFill>
                  <a:srgbClr val="888888"/>
                </a:solidFill>
              </a:defRPr>
            </a:lvl4pPr>
            <a:lvl5pPr marL="2286000" indent="-228600" algn="l">
              <a:lnSpc>
                <a:spcPct val="90000"/>
              </a:lnSpc>
              <a:spcBef>
                <a:spcPts val="400"/>
              </a:spcBef>
              <a:spcAft>
                <a:spcPts val="0"/>
              </a:spcAft>
              <a:buNone/>
              <a:defRPr sz="1200">
                <a:solidFill>
                  <a:srgbClr val="888888"/>
                </a:solidFill>
              </a:defRPr>
            </a:lvl5pPr>
            <a:lvl6pPr marL="2743200" indent="-228600" algn="l">
              <a:lnSpc>
                <a:spcPct val="90000"/>
              </a:lnSpc>
              <a:spcBef>
                <a:spcPts val="400"/>
              </a:spcBef>
              <a:spcAft>
                <a:spcPts val="0"/>
              </a:spcAft>
              <a:buNone/>
              <a:defRPr sz="1200">
                <a:solidFill>
                  <a:srgbClr val="888888"/>
                </a:solidFill>
              </a:defRPr>
            </a:lvl6pPr>
            <a:lvl7pPr marL="3200400" indent="-228600" algn="l">
              <a:lnSpc>
                <a:spcPct val="90000"/>
              </a:lnSpc>
              <a:spcBef>
                <a:spcPts val="400"/>
              </a:spcBef>
              <a:spcAft>
                <a:spcPts val="0"/>
              </a:spcAft>
              <a:buNone/>
              <a:defRPr sz="1200">
                <a:solidFill>
                  <a:srgbClr val="888888"/>
                </a:solidFill>
              </a:defRPr>
            </a:lvl7pPr>
            <a:lvl8pPr marL="3657600" indent="-228600" algn="l">
              <a:lnSpc>
                <a:spcPct val="90000"/>
              </a:lnSpc>
              <a:spcBef>
                <a:spcPts val="400"/>
              </a:spcBef>
              <a:spcAft>
                <a:spcPts val="0"/>
              </a:spcAft>
              <a:buNone/>
              <a:defRPr sz="1200">
                <a:solidFill>
                  <a:srgbClr val="888888"/>
                </a:solidFill>
              </a:defRPr>
            </a:lvl8pPr>
            <a:lvl9pPr marL="4114800" indent="-228600" algn="l">
              <a:lnSpc>
                <a:spcPct val="90000"/>
              </a:lnSpc>
              <a:spcBef>
                <a:spcPts val="400"/>
              </a:spcBef>
              <a:spcAft>
                <a:spcPts val="0"/>
              </a:spcAft>
              <a:buNone/>
              <a:defRPr sz="1200">
                <a:solidFill>
                  <a:srgbClr val="888888"/>
                </a:solidFill>
              </a:defRPr>
            </a:lvl9pPr>
          </a:lstStyle>
          <a:p xmlns:a="http://schemas.openxmlformats.org/drawingml/2006/main"/>
        </p:txBody>
      </p:sp>
      <p:sp>
        <p:nvSpPr>
          <p:cNvPr id="26" name="Shape 61">
            <a:extLst xmlns:a="http://schemas.openxmlformats.org/drawingml/2006/main">
              <a:ext uri="{FF2B5EF4-FFF2-40B4-BE49-F238E27FC236}">
                <a16:creationId xmlns:a16="http://schemas.microsoft.com/office/drawing/2014/main" id="{F479EE2A-1829-4968-AD0B-81E3D2296EDC}"/>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27" name="Shape 62">
            <a:extLst xmlns:a="http://schemas.openxmlformats.org/drawingml/2006/main">
              <a:ext uri="{FF2B5EF4-FFF2-40B4-BE49-F238E27FC236}">
                <a16:creationId xmlns:a16="http://schemas.microsoft.com/office/drawing/2014/main" id="{28F6AC96-EF2C-4693-AE3D-BFCF92E3F81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28" name="Shape 63">
            <a:extLst xmlns:a="http://schemas.openxmlformats.org/drawingml/2006/main">
              <a:ext uri="{FF2B5EF4-FFF2-40B4-BE49-F238E27FC236}">
                <a16:creationId xmlns:a16="http://schemas.microsoft.com/office/drawing/2014/main" id="{B4B135E1-C231-4762-87CB-5BF3A8871E7B}"/>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4.xml><?xml version="1.0" encoding="utf-8"?>
<p:sldLayout xmlns:p="http://schemas.openxmlformats.org/presentationml/2006/main" matchingName="两栏内容" type="twoObj">
  <p:cSld name="TWO_OBJECTS">
    <p:spTree>
      <p:nvGrpSpPr>
        <p:cNvPr id="1" name=""/>
        <p:cNvGrpSpPr/>
        <p:nvPr/>
      </p:nvGrpSpPr>
      <p:grpSpPr>
        <a:xfrm xmlns:a="http://schemas.openxmlformats.org/drawingml/2006/main"/>
      </p:grpSpPr>
      <p:sp>
        <p:nvSpPr>
          <p:cNvPr id="30" name="Shape 9">
            <a:extLst xmlns:a="http://schemas.openxmlformats.org/drawingml/2006/main">
              <a:ext uri="{FF2B5EF4-FFF2-40B4-BE49-F238E27FC236}">
                <a16:creationId xmlns:a16="http://schemas.microsoft.com/office/drawing/2014/main" id="{B7E22EEE-06C7-4C8D-8555-5292666435E7}"/>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31" name="Shape 10">
            <a:extLst xmlns:a="http://schemas.openxmlformats.org/drawingml/2006/main">
              <a:ext uri="{FF2B5EF4-FFF2-40B4-BE49-F238E27FC236}">
                <a16:creationId xmlns:a16="http://schemas.microsoft.com/office/drawing/2014/main" id="{787BD183-209E-468E-BFD5-B1A72CA70D5D}"/>
              </a:ext>
            </a:extLst>
          </p:cNvPr>
          <p:cNvSpPr>
            <a:spLocks xmlns:a="http://schemas.openxmlformats.org/drawingml/2006/main" noGrp="1"/>
          </p:cNvSpPr>
          <p:nvPr>
            <p:ph type="body" idx="1"/>
          </p:nvPr>
        </p:nvSpPr>
        <p:spPr>
          <a:xfrm xmlns:a="http://schemas.openxmlformats.org/drawingml/2006/main">
            <a:off x="628650" y="1369219"/>
            <a:ext cx="38862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har char="•"/>
              <a:defRPr/>
            </a:lvl1pPr>
            <a:lvl2pPr marL="914400" indent="-317500" algn="l">
              <a:lnSpc>
                <a:spcPct val="90000"/>
              </a:lnSpc>
              <a:spcBef>
                <a:spcPts val="400"/>
              </a:spcBef>
              <a:spcAft>
                <a:spcPts val="0"/>
              </a:spcAft>
              <a:buChar char="•"/>
              <a:defRPr/>
            </a:lvl2pPr>
            <a:lvl3pPr marL="1371600" indent="-317500" algn="l">
              <a:lnSpc>
                <a:spcPct val="90000"/>
              </a:lnSpc>
              <a:spcBef>
                <a:spcPts val="400"/>
              </a:spcBef>
              <a:spcAft>
                <a:spcPts val="0"/>
              </a:spcAft>
              <a:buChar char="•"/>
              <a:defRPr/>
            </a:lvl3pPr>
            <a:lvl4pPr marL="1828800" indent="-317500" algn="l">
              <a:lnSpc>
                <a:spcPct val="90000"/>
              </a:lnSpc>
              <a:spcBef>
                <a:spcPts val="400"/>
              </a:spcBef>
              <a:spcAft>
                <a:spcPts val="0"/>
              </a:spcAft>
              <a:buChar char="•"/>
              <a:defRPr/>
            </a:lvl4pPr>
            <a:lvl5pPr marL="2286000" indent="-317500" algn="l">
              <a:lnSpc>
                <a:spcPct val="90000"/>
              </a:lnSpc>
              <a:spcBef>
                <a:spcPts val="400"/>
              </a:spcBef>
              <a:spcAft>
                <a:spcPts val="0"/>
              </a:spcAft>
              <a:buChar char="•"/>
              <a:defRPr/>
            </a:lvl5pPr>
            <a:lvl6pPr marL="2743200" indent="-317500" algn="l">
              <a:lnSpc>
                <a:spcPct val="90000"/>
              </a:lnSpc>
              <a:spcBef>
                <a:spcPts val="400"/>
              </a:spcBef>
              <a:spcAft>
                <a:spcPts val="0"/>
              </a:spcAft>
              <a:buChar char="•"/>
              <a:defRPr/>
            </a:lvl6pPr>
            <a:lvl7pPr marL="3200400" indent="-317500" algn="l">
              <a:lnSpc>
                <a:spcPct val="90000"/>
              </a:lnSpc>
              <a:spcBef>
                <a:spcPts val="400"/>
              </a:spcBef>
              <a:spcAft>
                <a:spcPts val="0"/>
              </a:spcAft>
              <a:buChar char="•"/>
              <a:defRPr/>
            </a:lvl7pPr>
            <a:lvl8pPr marL="3657600" indent="-317500" algn="l">
              <a:lnSpc>
                <a:spcPct val="90000"/>
              </a:lnSpc>
              <a:spcBef>
                <a:spcPts val="400"/>
              </a:spcBef>
              <a:spcAft>
                <a:spcPts val="0"/>
              </a:spcAft>
              <a:buChar char="•"/>
              <a:defRPr/>
            </a:lvl8pPr>
            <a:lvl9pPr marL="4114800" indent="-317500" algn="l">
              <a:lnSpc>
                <a:spcPct val="90000"/>
              </a:lnSpc>
              <a:spcBef>
                <a:spcPts val="400"/>
              </a:spcBef>
              <a:spcAft>
                <a:spcPts val="0"/>
              </a:spcAft>
              <a:buChar char="•"/>
              <a:defRPr/>
            </a:lvl9pPr>
          </a:lstStyle>
          <a:p xmlns:a="http://schemas.openxmlformats.org/drawingml/2006/main"/>
        </p:txBody>
      </p:sp>
      <p:sp>
        <p:nvSpPr>
          <p:cNvPr id="32" name="Shape 11">
            <a:extLst xmlns:a="http://schemas.openxmlformats.org/drawingml/2006/main">
              <a:ext uri="{FF2B5EF4-FFF2-40B4-BE49-F238E27FC236}">
                <a16:creationId xmlns:a16="http://schemas.microsoft.com/office/drawing/2014/main" id="{00C5213E-81F3-453A-ADB0-3653F408F233}"/>
              </a:ext>
            </a:extLst>
          </p:cNvPr>
          <p:cNvSpPr>
            <a:spLocks xmlns:a="http://schemas.openxmlformats.org/drawingml/2006/main" noGrp="1"/>
          </p:cNvSpPr>
          <p:nvPr>
            <p:ph type="body" idx="2"/>
          </p:nvPr>
        </p:nvSpPr>
        <p:spPr>
          <a:xfrm xmlns:a="http://schemas.openxmlformats.org/drawingml/2006/main">
            <a:off x="4629150" y="1369219"/>
            <a:ext cx="38862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har char="•"/>
              <a:defRPr/>
            </a:lvl1pPr>
            <a:lvl2pPr marL="914400" indent="-317500" algn="l">
              <a:lnSpc>
                <a:spcPct val="90000"/>
              </a:lnSpc>
              <a:spcBef>
                <a:spcPts val="400"/>
              </a:spcBef>
              <a:spcAft>
                <a:spcPts val="0"/>
              </a:spcAft>
              <a:buChar char="•"/>
              <a:defRPr/>
            </a:lvl2pPr>
            <a:lvl3pPr marL="1371600" indent="-317500" algn="l">
              <a:lnSpc>
                <a:spcPct val="90000"/>
              </a:lnSpc>
              <a:spcBef>
                <a:spcPts val="400"/>
              </a:spcBef>
              <a:spcAft>
                <a:spcPts val="0"/>
              </a:spcAft>
              <a:buChar char="•"/>
              <a:defRPr/>
            </a:lvl3pPr>
            <a:lvl4pPr marL="1828800" indent="-317500" algn="l">
              <a:lnSpc>
                <a:spcPct val="90000"/>
              </a:lnSpc>
              <a:spcBef>
                <a:spcPts val="400"/>
              </a:spcBef>
              <a:spcAft>
                <a:spcPts val="0"/>
              </a:spcAft>
              <a:buChar char="•"/>
              <a:defRPr/>
            </a:lvl4pPr>
            <a:lvl5pPr marL="2286000" indent="-317500" algn="l">
              <a:lnSpc>
                <a:spcPct val="90000"/>
              </a:lnSpc>
              <a:spcBef>
                <a:spcPts val="400"/>
              </a:spcBef>
              <a:spcAft>
                <a:spcPts val="0"/>
              </a:spcAft>
              <a:buChar char="•"/>
              <a:defRPr/>
            </a:lvl5pPr>
            <a:lvl6pPr marL="2743200" indent="-317500" algn="l">
              <a:lnSpc>
                <a:spcPct val="90000"/>
              </a:lnSpc>
              <a:spcBef>
                <a:spcPts val="400"/>
              </a:spcBef>
              <a:spcAft>
                <a:spcPts val="0"/>
              </a:spcAft>
              <a:buChar char="•"/>
              <a:defRPr/>
            </a:lvl6pPr>
            <a:lvl7pPr marL="3200400" indent="-317500" algn="l">
              <a:lnSpc>
                <a:spcPct val="90000"/>
              </a:lnSpc>
              <a:spcBef>
                <a:spcPts val="400"/>
              </a:spcBef>
              <a:spcAft>
                <a:spcPts val="0"/>
              </a:spcAft>
              <a:buChar char="•"/>
              <a:defRPr/>
            </a:lvl7pPr>
            <a:lvl8pPr marL="3657600" indent="-317500" algn="l">
              <a:lnSpc>
                <a:spcPct val="90000"/>
              </a:lnSpc>
              <a:spcBef>
                <a:spcPts val="400"/>
              </a:spcBef>
              <a:spcAft>
                <a:spcPts val="0"/>
              </a:spcAft>
              <a:buChar char="•"/>
              <a:defRPr/>
            </a:lvl8pPr>
            <a:lvl9pPr marL="4114800" indent="-317500" algn="l">
              <a:lnSpc>
                <a:spcPct val="90000"/>
              </a:lnSpc>
              <a:spcBef>
                <a:spcPts val="400"/>
              </a:spcBef>
              <a:spcAft>
                <a:spcPts val="0"/>
              </a:spcAft>
              <a:buChar char="•"/>
              <a:defRPr/>
            </a:lvl9pPr>
          </a:lstStyle>
          <a:p xmlns:a="http://schemas.openxmlformats.org/drawingml/2006/main"/>
        </p:txBody>
      </p:sp>
      <p:sp>
        <p:nvSpPr>
          <p:cNvPr id="33" name="Shape 12">
            <a:extLst xmlns:a="http://schemas.openxmlformats.org/drawingml/2006/main">
              <a:ext uri="{FF2B5EF4-FFF2-40B4-BE49-F238E27FC236}">
                <a16:creationId xmlns:a16="http://schemas.microsoft.com/office/drawing/2014/main" id="{B9C4D848-A311-4E30-AF2E-0995EE2F3FD2}"/>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34" name="Shape 13">
            <a:extLst xmlns:a="http://schemas.openxmlformats.org/drawingml/2006/main">
              <a:ext uri="{FF2B5EF4-FFF2-40B4-BE49-F238E27FC236}">
                <a16:creationId xmlns:a16="http://schemas.microsoft.com/office/drawing/2014/main" id="{2A78FB70-4942-4236-AB07-5722B87732A2}"/>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35" name="Shape 14">
            <a:extLst xmlns:a="http://schemas.openxmlformats.org/drawingml/2006/main">
              <a:ext uri="{FF2B5EF4-FFF2-40B4-BE49-F238E27FC236}">
                <a16:creationId xmlns:a16="http://schemas.microsoft.com/office/drawing/2014/main" id="{80C5CF0E-CFE4-41B4-B57B-0D24F4A9D02F}"/>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5.xml><?xml version="1.0" encoding="utf-8"?>
<p:sldLayout xmlns:p="http://schemas.openxmlformats.org/presentationml/2006/main" matchingName="比较" type="twoTxTwoObj">
  <p:cSld name="TWO_OBJECTS_WITH_TEXT">
    <p:spTree>
      <p:nvGrpSpPr>
        <p:cNvPr id="1" name=""/>
        <p:cNvGrpSpPr/>
        <p:nvPr/>
      </p:nvGrpSpPr>
      <p:grpSpPr>
        <a:xfrm xmlns:a="http://schemas.openxmlformats.org/drawingml/2006/main"/>
      </p:grpSpPr>
      <p:sp>
        <p:nvSpPr>
          <p:cNvPr id="37" name="Shape 35">
            <a:extLst xmlns:a="http://schemas.openxmlformats.org/drawingml/2006/main">
              <a:ext uri="{FF2B5EF4-FFF2-40B4-BE49-F238E27FC236}">
                <a16:creationId xmlns:a16="http://schemas.microsoft.com/office/drawing/2014/main" id="{A8EE9F62-8112-4BC6-8ED4-95FD1886884C}"/>
              </a:ext>
            </a:extLst>
          </p:cNvPr>
          <p:cNvSpPr>
            <a:spLocks xmlns:a="http://schemas.openxmlformats.org/drawingml/2006/main" noGrp="1"/>
          </p:cNvSpPr>
          <p:nvPr>
            <p:ph type="title" idx="0"/>
          </p:nvPr>
        </p:nvSpPr>
        <p:spPr>
          <a:xfrm xmlns:a="http://schemas.openxmlformats.org/drawingml/2006/main">
            <a:off x="629841"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38" name="Shape 36">
            <a:extLst xmlns:a="http://schemas.openxmlformats.org/drawingml/2006/main">
              <a:ext uri="{FF2B5EF4-FFF2-40B4-BE49-F238E27FC236}">
                <a16:creationId xmlns:a16="http://schemas.microsoft.com/office/drawing/2014/main" id="{AABBF693-0CEE-4083-A309-3F314AE5B90B}"/>
              </a:ext>
            </a:extLst>
          </p:cNvPr>
          <p:cNvSpPr>
            <a:spLocks xmlns:a="http://schemas.openxmlformats.org/drawingml/2006/main" noGrp="1"/>
          </p:cNvSpPr>
          <p:nvPr>
            <p:ph type="body" idx="1"/>
          </p:nvPr>
        </p:nvSpPr>
        <p:spPr>
          <a:xfrm xmlns:a="http://schemas.openxmlformats.org/drawingml/2006/main">
            <a:off x="629841" y="1260872"/>
            <a:ext cx="3868340" cy="61793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lnSpc>
                <a:spcPct val="90000"/>
              </a:lnSpc>
              <a:spcBef>
                <a:spcPts val="800"/>
              </a:spcBef>
              <a:spcAft>
                <a:spcPts val="0"/>
              </a:spcAft>
              <a:buNone/>
              <a:defRPr sz="1800" b="1"/>
            </a:lvl1pPr>
            <a:lvl2pPr marL="914400" indent="-228600" algn="l">
              <a:lnSpc>
                <a:spcPct val="90000"/>
              </a:lnSpc>
              <a:spcBef>
                <a:spcPts val="400"/>
              </a:spcBef>
              <a:spcAft>
                <a:spcPts val="0"/>
              </a:spcAft>
              <a:buNone/>
              <a:defRPr sz="1500" b="1"/>
            </a:lvl2pPr>
            <a:lvl3pPr marL="1371600" indent="-228600" algn="l">
              <a:lnSpc>
                <a:spcPct val="90000"/>
              </a:lnSpc>
              <a:spcBef>
                <a:spcPts val="400"/>
              </a:spcBef>
              <a:spcAft>
                <a:spcPts val="0"/>
              </a:spcAft>
              <a:buNone/>
              <a:defRPr sz="1400" b="1"/>
            </a:lvl3pPr>
            <a:lvl4pPr marL="1828800" indent="-228600" algn="l">
              <a:lnSpc>
                <a:spcPct val="90000"/>
              </a:lnSpc>
              <a:spcBef>
                <a:spcPts val="400"/>
              </a:spcBef>
              <a:spcAft>
                <a:spcPts val="0"/>
              </a:spcAft>
              <a:buNone/>
              <a:defRPr sz="1200" b="1"/>
            </a:lvl4pPr>
            <a:lvl5pPr marL="2286000" indent="-228600" algn="l">
              <a:lnSpc>
                <a:spcPct val="90000"/>
              </a:lnSpc>
              <a:spcBef>
                <a:spcPts val="400"/>
              </a:spcBef>
              <a:spcAft>
                <a:spcPts val="0"/>
              </a:spcAft>
              <a:buNone/>
              <a:defRPr sz="1200" b="1"/>
            </a:lvl5pPr>
            <a:lvl6pPr marL="2743200" indent="-228600" algn="l">
              <a:lnSpc>
                <a:spcPct val="90000"/>
              </a:lnSpc>
              <a:spcBef>
                <a:spcPts val="400"/>
              </a:spcBef>
              <a:spcAft>
                <a:spcPts val="0"/>
              </a:spcAft>
              <a:buNone/>
              <a:defRPr sz="1200" b="1"/>
            </a:lvl6pPr>
            <a:lvl7pPr marL="3200400" indent="-228600" algn="l">
              <a:lnSpc>
                <a:spcPct val="90000"/>
              </a:lnSpc>
              <a:spcBef>
                <a:spcPts val="400"/>
              </a:spcBef>
              <a:spcAft>
                <a:spcPts val="0"/>
              </a:spcAft>
              <a:buNone/>
              <a:defRPr sz="1200" b="1"/>
            </a:lvl7pPr>
            <a:lvl8pPr marL="3657600" indent="-228600" algn="l">
              <a:lnSpc>
                <a:spcPct val="90000"/>
              </a:lnSpc>
              <a:spcBef>
                <a:spcPts val="400"/>
              </a:spcBef>
              <a:spcAft>
                <a:spcPts val="0"/>
              </a:spcAft>
              <a:buNone/>
              <a:defRPr sz="1200" b="1"/>
            </a:lvl8pPr>
            <a:lvl9pPr marL="4114800" indent="-228600" algn="l">
              <a:lnSpc>
                <a:spcPct val="90000"/>
              </a:lnSpc>
              <a:spcBef>
                <a:spcPts val="400"/>
              </a:spcBef>
              <a:spcAft>
                <a:spcPts val="0"/>
              </a:spcAft>
              <a:buNone/>
              <a:defRPr sz="1200" b="1"/>
            </a:lvl9pPr>
          </a:lstStyle>
          <a:p xmlns:a="http://schemas.openxmlformats.org/drawingml/2006/main"/>
        </p:txBody>
      </p:sp>
      <p:sp>
        <p:nvSpPr>
          <p:cNvPr id="39" name="Shape 37">
            <a:extLst xmlns:a="http://schemas.openxmlformats.org/drawingml/2006/main">
              <a:ext uri="{FF2B5EF4-FFF2-40B4-BE49-F238E27FC236}">
                <a16:creationId xmlns:a16="http://schemas.microsoft.com/office/drawing/2014/main" id="{7A59D2D1-EDAA-4EBB-BA92-1A4434645C40}"/>
              </a:ext>
            </a:extLst>
          </p:cNvPr>
          <p:cNvSpPr>
            <a:spLocks xmlns:a="http://schemas.openxmlformats.org/drawingml/2006/main" noGrp="1"/>
          </p:cNvSpPr>
          <p:nvPr>
            <p:ph type="body" idx="2"/>
          </p:nvPr>
        </p:nvSpPr>
        <p:spPr>
          <a:xfrm xmlns:a="http://schemas.openxmlformats.org/drawingml/2006/main">
            <a:off x="629841" y="1878806"/>
            <a:ext cx="3868340" cy="27634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har char="•"/>
              <a:defRPr/>
            </a:lvl1pPr>
            <a:lvl2pPr marL="914400" indent="-317500" algn="l">
              <a:lnSpc>
                <a:spcPct val="90000"/>
              </a:lnSpc>
              <a:spcBef>
                <a:spcPts val="400"/>
              </a:spcBef>
              <a:spcAft>
                <a:spcPts val="0"/>
              </a:spcAft>
              <a:buChar char="•"/>
              <a:defRPr/>
            </a:lvl2pPr>
            <a:lvl3pPr marL="1371600" indent="-317500" algn="l">
              <a:lnSpc>
                <a:spcPct val="90000"/>
              </a:lnSpc>
              <a:spcBef>
                <a:spcPts val="400"/>
              </a:spcBef>
              <a:spcAft>
                <a:spcPts val="0"/>
              </a:spcAft>
              <a:buChar char="•"/>
              <a:defRPr/>
            </a:lvl3pPr>
            <a:lvl4pPr marL="1828800" indent="-317500" algn="l">
              <a:lnSpc>
                <a:spcPct val="90000"/>
              </a:lnSpc>
              <a:spcBef>
                <a:spcPts val="400"/>
              </a:spcBef>
              <a:spcAft>
                <a:spcPts val="0"/>
              </a:spcAft>
              <a:buChar char="•"/>
              <a:defRPr/>
            </a:lvl4pPr>
            <a:lvl5pPr marL="2286000" indent="-317500" algn="l">
              <a:lnSpc>
                <a:spcPct val="90000"/>
              </a:lnSpc>
              <a:spcBef>
                <a:spcPts val="400"/>
              </a:spcBef>
              <a:spcAft>
                <a:spcPts val="0"/>
              </a:spcAft>
              <a:buChar char="•"/>
              <a:defRPr/>
            </a:lvl5pPr>
            <a:lvl6pPr marL="2743200" indent="-317500" algn="l">
              <a:lnSpc>
                <a:spcPct val="90000"/>
              </a:lnSpc>
              <a:spcBef>
                <a:spcPts val="400"/>
              </a:spcBef>
              <a:spcAft>
                <a:spcPts val="0"/>
              </a:spcAft>
              <a:buChar char="•"/>
              <a:defRPr/>
            </a:lvl6pPr>
            <a:lvl7pPr marL="3200400" indent="-317500" algn="l">
              <a:lnSpc>
                <a:spcPct val="90000"/>
              </a:lnSpc>
              <a:spcBef>
                <a:spcPts val="400"/>
              </a:spcBef>
              <a:spcAft>
                <a:spcPts val="0"/>
              </a:spcAft>
              <a:buChar char="•"/>
              <a:defRPr/>
            </a:lvl7pPr>
            <a:lvl8pPr marL="3657600" indent="-317500" algn="l">
              <a:lnSpc>
                <a:spcPct val="90000"/>
              </a:lnSpc>
              <a:spcBef>
                <a:spcPts val="400"/>
              </a:spcBef>
              <a:spcAft>
                <a:spcPts val="0"/>
              </a:spcAft>
              <a:buChar char="•"/>
              <a:defRPr/>
            </a:lvl8pPr>
            <a:lvl9pPr marL="4114800" indent="-317500" algn="l">
              <a:lnSpc>
                <a:spcPct val="90000"/>
              </a:lnSpc>
              <a:spcBef>
                <a:spcPts val="400"/>
              </a:spcBef>
              <a:spcAft>
                <a:spcPts val="0"/>
              </a:spcAft>
              <a:buChar char="•"/>
              <a:defRPr/>
            </a:lvl9pPr>
          </a:lstStyle>
          <a:p xmlns:a="http://schemas.openxmlformats.org/drawingml/2006/main"/>
        </p:txBody>
      </p:sp>
      <p:sp>
        <p:nvSpPr>
          <p:cNvPr id="40" name="Shape 38">
            <a:extLst xmlns:a="http://schemas.openxmlformats.org/drawingml/2006/main">
              <a:ext uri="{FF2B5EF4-FFF2-40B4-BE49-F238E27FC236}">
                <a16:creationId xmlns:a16="http://schemas.microsoft.com/office/drawing/2014/main" id="{5BB2D27B-6F1E-4F3C-93AE-35B0618EC0F7}"/>
              </a:ext>
            </a:extLst>
          </p:cNvPr>
          <p:cNvSpPr>
            <a:spLocks xmlns:a="http://schemas.openxmlformats.org/drawingml/2006/main" noGrp="1"/>
          </p:cNvSpPr>
          <p:nvPr>
            <p:ph type="body" idx="3"/>
          </p:nvPr>
        </p:nvSpPr>
        <p:spPr>
          <a:xfrm xmlns:a="http://schemas.openxmlformats.org/drawingml/2006/main">
            <a:off x="4629150" y="1260872"/>
            <a:ext cx="3887391" cy="61793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lnSpc>
                <a:spcPct val="90000"/>
              </a:lnSpc>
              <a:spcBef>
                <a:spcPts val="800"/>
              </a:spcBef>
              <a:spcAft>
                <a:spcPts val="0"/>
              </a:spcAft>
              <a:buNone/>
              <a:defRPr sz="1800" b="1"/>
            </a:lvl1pPr>
            <a:lvl2pPr marL="914400" indent="-228600" algn="l">
              <a:lnSpc>
                <a:spcPct val="90000"/>
              </a:lnSpc>
              <a:spcBef>
                <a:spcPts val="400"/>
              </a:spcBef>
              <a:spcAft>
                <a:spcPts val="0"/>
              </a:spcAft>
              <a:buNone/>
              <a:defRPr sz="1500" b="1"/>
            </a:lvl2pPr>
            <a:lvl3pPr marL="1371600" indent="-228600" algn="l">
              <a:lnSpc>
                <a:spcPct val="90000"/>
              </a:lnSpc>
              <a:spcBef>
                <a:spcPts val="400"/>
              </a:spcBef>
              <a:spcAft>
                <a:spcPts val="0"/>
              </a:spcAft>
              <a:buNone/>
              <a:defRPr sz="1400" b="1"/>
            </a:lvl3pPr>
            <a:lvl4pPr marL="1828800" indent="-228600" algn="l">
              <a:lnSpc>
                <a:spcPct val="90000"/>
              </a:lnSpc>
              <a:spcBef>
                <a:spcPts val="400"/>
              </a:spcBef>
              <a:spcAft>
                <a:spcPts val="0"/>
              </a:spcAft>
              <a:buNone/>
              <a:defRPr sz="1200" b="1"/>
            </a:lvl4pPr>
            <a:lvl5pPr marL="2286000" indent="-228600" algn="l">
              <a:lnSpc>
                <a:spcPct val="90000"/>
              </a:lnSpc>
              <a:spcBef>
                <a:spcPts val="400"/>
              </a:spcBef>
              <a:spcAft>
                <a:spcPts val="0"/>
              </a:spcAft>
              <a:buNone/>
              <a:defRPr sz="1200" b="1"/>
            </a:lvl5pPr>
            <a:lvl6pPr marL="2743200" indent="-228600" algn="l">
              <a:lnSpc>
                <a:spcPct val="90000"/>
              </a:lnSpc>
              <a:spcBef>
                <a:spcPts val="400"/>
              </a:spcBef>
              <a:spcAft>
                <a:spcPts val="0"/>
              </a:spcAft>
              <a:buNone/>
              <a:defRPr sz="1200" b="1"/>
            </a:lvl6pPr>
            <a:lvl7pPr marL="3200400" indent="-228600" algn="l">
              <a:lnSpc>
                <a:spcPct val="90000"/>
              </a:lnSpc>
              <a:spcBef>
                <a:spcPts val="400"/>
              </a:spcBef>
              <a:spcAft>
                <a:spcPts val="0"/>
              </a:spcAft>
              <a:buNone/>
              <a:defRPr sz="1200" b="1"/>
            </a:lvl7pPr>
            <a:lvl8pPr marL="3657600" indent="-228600" algn="l">
              <a:lnSpc>
                <a:spcPct val="90000"/>
              </a:lnSpc>
              <a:spcBef>
                <a:spcPts val="400"/>
              </a:spcBef>
              <a:spcAft>
                <a:spcPts val="0"/>
              </a:spcAft>
              <a:buNone/>
              <a:defRPr sz="1200" b="1"/>
            </a:lvl8pPr>
            <a:lvl9pPr marL="4114800" indent="-228600" algn="l">
              <a:lnSpc>
                <a:spcPct val="90000"/>
              </a:lnSpc>
              <a:spcBef>
                <a:spcPts val="400"/>
              </a:spcBef>
              <a:spcAft>
                <a:spcPts val="0"/>
              </a:spcAft>
              <a:buNone/>
              <a:defRPr sz="1200" b="1"/>
            </a:lvl9pPr>
          </a:lstStyle>
          <a:p xmlns:a="http://schemas.openxmlformats.org/drawingml/2006/main"/>
        </p:txBody>
      </p:sp>
      <p:sp>
        <p:nvSpPr>
          <p:cNvPr id="41" name="Shape 39">
            <a:extLst xmlns:a="http://schemas.openxmlformats.org/drawingml/2006/main">
              <a:ext uri="{FF2B5EF4-FFF2-40B4-BE49-F238E27FC236}">
                <a16:creationId xmlns:a16="http://schemas.microsoft.com/office/drawing/2014/main" id="{42E0BFB6-1AC2-432E-BE9D-26BB154B5B67}"/>
              </a:ext>
            </a:extLst>
          </p:cNvPr>
          <p:cNvSpPr>
            <a:spLocks xmlns:a="http://schemas.openxmlformats.org/drawingml/2006/main" noGrp="1"/>
          </p:cNvSpPr>
          <p:nvPr>
            <p:ph type="body" idx="4"/>
          </p:nvPr>
        </p:nvSpPr>
        <p:spPr>
          <a:xfrm xmlns:a="http://schemas.openxmlformats.org/drawingml/2006/main">
            <a:off x="4629150" y="1878806"/>
            <a:ext cx="3887391" cy="27634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har char="•"/>
              <a:defRPr/>
            </a:lvl1pPr>
            <a:lvl2pPr marL="914400" indent="-317500" algn="l">
              <a:lnSpc>
                <a:spcPct val="90000"/>
              </a:lnSpc>
              <a:spcBef>
                <a:spcPts val="400"/>
              </a:spcBef>
              <a:spcAft>
                <a:spcPts val="0"/>
              </a:spcAft>
              <a:buChar char="•"/>
              <a:defRPr/>
            </a:lvl2pPr>
            <a:lvl3pPr marL="1371600" indent="-317500" algn="l">
              <a:lnSpc>
                <a:spcPct val="90000"/>
              </a:lnSpc>
              <a:spcBef>
                <a:spcPts val="400"/>
              </a:spcBef>
              <a:spcAft>
                <a:spcPts val="0"/>
              </a:spcAft>
              <a:buChar char="•"/>
              <a:defRPr/>
            </a:lvl3pPr>
            <a:lvl4pPr marL="1828800" indent="-317500" algn="l">
              <a:lnSpc>
                <a:spcPct val="90000"/>
              </a:lnSpc>
              <a:spcBef>
                <a:spcPts val="400"/>
              </a:spcBef>
              <a:spcAft>
                <a:spcPts val="0"/>
              </a:spcAft>
              <a:buChar char="•"/>
              <a:defRPr/>
            </a:lvl4pPr>
            <a:lvl5pPr marL="2286000" indent="-317500" algn="l">
              <a:lnSpc>
                <a:spcPct val="90000"/>
              </a:lnSpc>
              <a:spcBef>
                <a:spcPts val="400"/>
              </a:spcBef>
              <a:spcAft>
                <a:spcPts val="0"/>
              </a:spcAft>
              <a:buChar char="•"/>
              <a:defRPr/>
            </a:lvl5pPr>
            <a:lvl6pPr marL="2743200" indent="-317500" algn="l">
              <a:lnSpc>
                <a:spcPct val="90000"/>
              </a:lnSpc>
              <a:spcBef>
                <a:spcPts val="400"/>
              </a:spcBef>
              <a:spcAft>
                <a:spcPts val="0"/>
              </a:spcAft>
              <a:buChar char="•"/>
              <a:defRPr/>
            </a:lvl6pPr>
            <a:lvl7pPr marL="3200400" indent="-317500" algn="l">
              <a:lnSpc>
                <a:spcPct val="90000"/>
              </a:lnSpc>
              <a:spcBef>
                <a:spcPts val="400"/>
              </a:spcBef>
              <a:spcAft>
                <a:spcPts val="0"/>
              </a:spcAft>
              <a:buChar char="•"/>
              <a:defRPr/>
            </a:lvl7pPr>
            <a:lvl8pPr marL="3657600" indent="-317500" algn="l">
              <a:lnSpc>
                <a:spcPct val="90000"/>
              </a:lnSpc>
              <a:spcBef>
                <a:spcPts val="400"/>
              </a:spcBef>
              <a:spcAft>
                <a:spcPts val="0"/>
              </a:spcAft>
              <a:buChar char="•"/>
              <a:defRPr/>
            </a:lvl8pPr>
            <a:lvl9pPr marL="4114800" indent="-317500" algn="l">
              <a:lnSpc>
                <a:spcPct val="90000"/>
              </a:lnSpc>
              <a:spcBef>
                <a:spcPts val="400"/>
              </a:spcBef>
              <a:spcAft>
                <a:spcPts val="0"/>
              </a:spcAft>
              <a:buChar char="•"/>
              <a:defRPr/>
            </a:lvl9pPr>
          </a:lstStyle>
          <a:p xmlns:a="http://schemas.openxmlformats.org/drawingml/2006/main"/>
        </p:txBody>
      </p:sp>
      <p:sp>
        <p:nvSpPr>
          <p:cNvPr id="42" name="Shape 40">
            <a:extLst xmlns:a="http://schemas.openxmlformats.org/drawingml/2006/main">
              <a:ext uri="{FF2B5EF4-FFF2-40B4-BE49-F238E27FC236}">
                <a16:creationId xmlns:a16="http://schemas.microsoft.com/office/drawing/2014/main" id="{DFA70895-1438-4417-BC67-F54E66262A0F}"/>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43" name="Shape 41">
            <a:extLst xmlns:a="http://schemas.openxmlformats.org/drawingml/2006/main">
              <a:ext uri="{FF2B5EF4-FFF2-40B4-BE49-F238E27FC236}">
                <a16:creationId xmlns:a16="http://schemas.microsoft.com/office/drawing/2014/main" id="{D4546504-E71D-41C9-8666-7562A30AF377}"/>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44" name="Shape 42">
            <a:extLst xmlns:a="http://schemas.openxmlformats.org/drawingml/2006/main">
              <a:ext uri="{FF2B5EF4-FFF2-40B4-BE49-F238E27FC236}">
                <a16:creationId xmlns:a16="http://schemas.microsoft.com/office/drawing/2014/main" id="{8F45765E-8865-416E-9398-1E5E7BD8214A}"/>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6.xml><?xml version="1.0" encoding="utf-8"?>
<p:sldLayout xmlns:p="http://schemas.openxmlformats.org/presentationml/2006/main" matchingName="仅标题" type="titleOnly">
  <p:cSld name="TITLE_ONLY">
    <p:spTree>
      <p:nvGrpSpPr>
        <p:cNvPr id="1" name=""/>
        <p:cNvGrpSpPr/>
        <p:nvPr/>
      </p:nvGrpSpPr>
      <p:grpSpPr>
        <a:xfrm xmlns:a="http://schemas.openxmlformats.org/drawingml/2006/main"/>
      </p:grpSpPr>
      <p:sp>
        <p:nvSpPr>
          <p:cNvPr id="46" name="Shape 20">
            <a:extLst xmlns:a="http://schemas.openxmlformats.org/drawingml/2006/main">
              <a:ext uri="{FF2B5EF4-FFF2-40B4-BE49-F238E27FC236}">
                <a16:creationId xmlns:a16="http://schemas.microsoft.com/office/drawing/2014/main" id="{6F51EB7B-941E-456B-9B8E-0F154A1BC468}"/>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47" name="Shape 21">
            <a:extLst xmlns:a="http://schemas.openxmlformats.org/drawingml/2006/main">
              <a:ext uri="{FF2B5EF4-FFF2-40B4-BE49-F238E27FC236}">
                <a16:creationId xmlns:a16="http://schemas.microsoft.com/office/drawing/2014/main" id="{B56E5FD3-0A7C-4827-91FF-7E4E900C939D}"/>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48" name="Shape 22">
            <a:extLst xmlns:a="http://schemas.openxmlformats.org/drawingml/2006/main">
              <a:ext uri="{FF2B5EF4-FFF2-40B4-BE49-F238E27FC236}">
                <a16:creationId xmlns:a16="http://schemas.microsoft.com/office/drawing/2014/main" id="{AE275F54-BC86-414A-992D-E2C0A267830B}"/>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49" name="Shape 23">
            <a:extLst xmlns:a="http://schemas.openxmlformats.org/drawingml/2006/main">
              <a:ext uri="{FF2B5EF4-FFF2-40B4-BE49-F238E27FC236}">
                <a16:creationId xmlns:a16="http://schemas.microsoft.com/office/drawing/2014/main" id="{4CBBC77A-6A74-4FF4-BED8-D28E2C79671C}"/>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7.xml><?xml version="1.0" encoding="utf-8"?>
<p:sldLayout xmlns:p="http://schemas.openxmlformats.org/presentationml/2006/main" matchingName="空白" type="blank">
  <p:cSld name="BLANK">
    <p:spTree>
      <p:nvGrpSpPr>
        <p:cNvPr id="1" name=""/>
        <p:cNvGrpSpPr/>
        <p:nvPr/>
      </p:nvGrpSpPr>
      <p:grpSpPr>
        <a:xfrm xmlns:a="http://schemas.openxmlformats.org/drawingml/2006/main"/>
      </p:grpSpPr>
      <p:sp>
        <p:nvSpPr>
          <p:cNvPr id="51" name="Shape 6">
            <a:extLst xmlns:a="http://schemas.openxmlformats.org/drawingml/2006/main">
              <a:ext uri="{FF2B5EF4-FFF2-40B4-BE49-F238E27FC236}">
                <a16:creationId xmlns:a16="http://schemas.microsoft.com/office/drawing/2014/main" id="{AB933492-F09C-4032-A156-FC4E62FEC569}"/>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52" name="Shape 7">
            <a:extLst xmlns:a="http://schemas.openxmlformats.org/drawingml/2006/main">
              <a:ext uri="{FF2B5EF4-FFF2-40B4-BE49-F238E27FC236}">
                <a16:creationId xmlns:a16="http://schemas.microsoft.com/office/drawing/2014/main" id="{E1681359-88EC-42E6-BFF8-749D38E6A3DC}"/>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53" name="Shape 8">
            <a:extLst xmlns:a="http://schemas.openxmlformats.org/drawingml/2006/main">
              <a:ext uri="{FF2B5EF4-FFF2-40B4-BE49-F238E27FC236}">
                <a16:creationId xmlns:a16="http://schemas.microsoft.com/office/drawing/2014/main" id="{4D5D8018-1B24-49CE-87ED-E9EC1A7FF656}"/>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8.xml><?xml version="1.0" encoding="utf-8"?>
<p:sldLayout xmlns:p="http://schemas.openxmlformats.org/presentationml/2006/main" matchingName="内容与标题" type="objTx">
  <p:cSld name="OBJECT_WITH_CAPTION_TEXT">
    <p:spTree>
      <p:nvGrpSpPr>
        <p:cNvPr id="1" name=""/>
        <p:cNvGrpSpPr/>
        <p:nvPr/>
      </p:nvGrpSpPr>
      <p:grpSpPr>
        <a:xfrm xmlns:a="http://schemas.openxmlformats.org/drawingml/2006/main"/>
      </p:grpSpPr>
      <p:sp>
        <p:nvSpPr>
          <p:cNvPr id="55" name="Shape 43">
            <a:extLst xmlns:a="http://schemas.openxmlformats.org/drawingml/2006/main">
              <a:ext uri="{FF2B5EF4-FFF2-40B4-BE49-F238E27FC236}">
                <a16:creationId xmlns:a16="http://schemas.microsoft.com/office/drawing/2014/main" id="{F17240AB-FD17-425A-9EFE-CD63868ECD2D}"/>
              </a:ext>
            </a:extLst>
          </p:cNvPr>
          <p:cNvSpPr>
            <a:spLocks xmlns:a="http://schemas.openxmlformats.org/drawingml/2006/main" noGrp="1"/>
          </p:cNvSpPr>
          <p:nvPr>
            <p:ph type="title" idx="0"/>
          </p:nvPr>
        </p:nvSpPr>
        <p:spPr>
          <a:xfrm xmlns:a="http://schemas.openxmlformats.org/drawingml/2006/main">
            <a:off x="629841" y="342900"/>
            <a:ext cx="2949178"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lnSpc>
                <a:spcPct val="90000"/>
              </a:lnSpc>
              <a:spcBef>
                <a:spcPts val="0"/>
              </a:spcBef>
              <a:spcAft>
                <a:spcPts val="0"/>
              </a:spcAft>
              <a:buNone/>
              <a:defRPr sz="2400"/>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56" name="Shape 44">
            <a:extLst xmlns:a="http://schemas.openxmlformats.org/drawingml/2006/main">
              <a:ext uri="{FF2B5EF4-FFF2-40B4-BE49-F238E27FC236}">
                <a16:creationId xmlns:a16="http://schemas.microsoft.com/office/drawing/2014/main" id="{D8B42796-3EEB-4094-9009-45F5935001D8}"/>
              </a:ext>
            </a:extLst>
          </p:cNvPr>
          <p:cNvSpPr>
            <a:spLocks xmlns:a="http://schemas.openxmlformats.org/drawingml/2006/main" noGrp="1"/>
          </p:cNvSpPr>
          <p:nvPr>
            <p:ph type="body" idx="1"/>
          </p:nvPr>
        </p:nvSpPr>
        <p:spPr>
          <a:xfrm xmlns:a="http://schemas.openxmlformats.org/drawingml/2006/main">
            <a:off x="3887391" y="740569"/>
            <a:ext cx="4629150" cy="36552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81000" algn="l">
              <a:lnSpc>
                <a:spcPct val="90000"/>
              </a:lnSpc>
              <a:spcBef>
                <a:spcPts val="800"/>
              </a:spcBef>
              <a:spcAft>
                <a:spcPts val="0"/>
              </a:spcAft>
              <a:buChar char="•"/>
              <a:defRPr sz="2400"/>
            </a:lvl1pPr>
            <a:lvl2pPr marL="914400" indent="-361950" algn="l">
              <a:lnSpc>
                <a:spcPct val="90000"/>
              </a:lnSpc>
              <a:spcBef>
                <a:spcPts val="400"/>
              </a:spcBef>
              <a:spcAft>
                <a:spcPts val="0"/>
              </a:spcAft>
              <a:buChar char="•"/>
              <a:defRPr sz="2100"/>
            </a:lvl2pPr>
            <a:lvl3pPr marL="1371600" indent="-342900" algn="l">
              <a:lnSpc>
                <a:spcPct val="90000"/>
              </a:lnSpc>
              <a:spcBef>
                <a:spcPts val="400"/>
              </a:spcBef>
              <a:spcAft>
                <a:spcPts val="0"/>
              </a:spcAft>
              <a:buChar char="•"/>
              <a:defRPr sz="1800"/>
            </a:lvl3pPr>
            <a:lvl4pPr marL="1828800" indent="-323850" algn="l">
              <a:lnSpc>
                <a:spcPct val="90000"/>
              </a:lnSpc>
              <a:spcBef>
                <a:spcPts val="400"/>
              </a:spcBef>
              <a:spcAft>
                <a:spcPts val="0"/>
              </a:spcAft>
              <a:buChar char="•"/>
              <a:defRPr sz="1500"/>
            </a:lvl4pPr>
            <a:lvl5pPr marL="2286000" indent="-323850" algn="l">
              <a:lnSpc>
                <a:spcPct val="90000"/>
              </a:lnSpc>
              <a:spcBef>
                <a:spcPts val="400"/>
              </a:spcBef>
              <a:spcAft>
                <a:spcPts val="0"/>
              </a:spcAft>
              <a:buChar char="•"/>
              <a:defRPr sz="1500"/>
            </a:lvl5pPr>
            <a:lvl6pPr marL="2743200" indent="-323850" algn="l">
              <a:lnSpc>
                <a:spcPct val="90000"/>
              </a:lnSpc>
              <a:spcBef>
                <a:spcPts val="400"/>
              </a:spcBef>
              <a:spcAft>
                <a:spcPts val="0"/>
              </a:spcAft>
              <a:buChar char="•"/>
              <a:defRPr sz="1500"/>
            </a:lvl6pPr>
            <a:lvl7pPr marL="3200400" indent="-323850" algn="l">
              <a:lnSpc>
                <a:spcPct val="90000"/>
              </a:lnSpc>
              <a:spcBef>
                <a:spcPts val="400"/>
              </a:spcBef>
              <a:spcAft>
                <a:spcPts val="0"/>
              </a:spcAft>
              <a:buChar char="•"/>
              <a:defRPr sz="1500"/>
            </a:lvl7pPr>
            <a:lvl8pPr marL="3657600" indent="-323850" algn="l">
              <a:lnSpc>
                <a:spcPct val="90000"/>
              </a:lnSpc>
              <a:spcBef>
                <a:spcPts val="400"/>
              </a:spcBef>
              <a:spcAft>
                <a:spcPts val="0"/>
              </a:spcAft>
              <a:buChar char="•"/>
              <a:defRPr sz="1500"/>
            </a:lvl8pPr>
            <a:lvl9pPr marL="4114800" indent="-323850" algn="l">
              <a:lnSpc>
                <a:spcPct val="90000"/>
              </a:lnSpc>
              <a:spcBef>
                <a:spcPts val="400"/>
              </a:spcBef>
              <a:spcAft>
                <a:spcPts val="0"/>
              </a:spcAft>
              <a:buChar char="•"/>
              <a:defRPr sz="1500"/>
            </a:lvl9pPr>
          </a:lstStyle>
          <a:p xmlns:a="http://schemas.openxmlformats.org/drawingml/2006/main"/>
        </p:txBody>
      </p:sp>
      <p:sp>
        <p:nvSpPr>
          <p:cNvPr id="57" name="Shape 45">
            <a:extLst xmlns:a="http://schemas.openxmlformats.org/drawingml/2006/main">
              <a:ext uri="{FF2B5EF4-FFF2-40B4-BE49-F238E27FC236}">
                <a16:creationId xmlns:a16="http://schemas.microsoft.com/office/drawing/2014/main" id="{45318324-A536-4317-884F-325792A573AF}"/>
              </a:ext>
            </a:extLst>
          </p:cNvPr>
          <p:cNvSpPr>
            <a:spLocks xmlns:a="http://schemas.openxmlformats.org/drawingml/2006/main" noGrp="1"/>
          </p:cNvSpPr>
          <p:nvPr>
            <p:ph type="body" idx="2"/>
          </p:nvPr>
        </p:nvSpPr>
        <p:spPr>
          <a:xfrm xmlns:a="http://schemas.openxmlformats.org/drawingml/2006/main">
            <a:off x="629841" y="1543050"/>
            <a:ext cx="2949178" cy="285869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90000"/>
              </a:lnSpc>
              <a:spcBef>
                <a:spcPts val="800"/>
              </a:spcBef>
              <a:spcAft>
                <a:spcPts val="0"/>
              </a:spcAft>
              <a:buNone/>
              <a:defRPr sz="1200"/>
            </a:lvl1pPr>
            <a:lvl2pPr marL="914400" indent="-228600" algn="l">
              <a:lnSpc>
                <a:spcPct val="90000"/>
              </a:lnSpc>
              <a:spcBef>
                <a:spcPts val="400"/>
              </a:spcBef>
              <a:spcAft>
                <a:spcPts val="0"/>
              </a:spcAft>
              <a:buNone/>
              <a:defRPr sz="1100"/>
            </a:lvl2pPr>
            <a:lvl3pPr marL="1371600" indent="-228600" algn="l">
              <a:lnSpc>
                <a:spcPct val="90000"/>
              </a:lnSpc>
              <a:spcBef>
                <a:spcPts val="400"/>
              </a:spcBef>
              <a:spcAft>
                <a:spcPts val="0"/>
              </a:spcAft>
              <a:buNone/>
              <a:defRPr sz="900"/>
            </a:lvl3pPr>
            <a:lvl4pPr marL="1828800" indent="-228600" algn="l">
              <a:lnSpc>
                <a:spcPct val="90000"/>
              </a:lnSpc>
              <a:spcBef>
                <a:spcPts val="400"/>
              </a:spcBef>
              <a:spcAft>
                <a:spcPts val="0"/>
              </a:spcAft>
              <a:buNone/>
              <a:defRPr sz="800"/>
            </a:lvl4pPr>
            <a:lvl5pPr marL="2286000" indent="-228600" algn="l">
              <a:lnSpc>
                <a:spcPct val="90000"/>
              </a:lnSpc>
              <a:spcBef>
                <a:spcPts val="400"/>
              </a:spcBef>
              <a:spcAft>
                <a:spcPts val="0"/>
              </a:spcAft>
              <a:buNone/>
              <a:defRPr sz="800"/>
            </a:lvl5pPr>
            <a:lvl6pPr marL="2743200" indent="-228600" algn="l">
              <a:lnSpc>
                <a:spcPct val="90000"/>
              </a:lnSpc>
              <a:spcBef>
                <a:spcPts val="400"/>
              </a:spcBef>
              <a:spcAft>
                <a:spcPts val="0"/>
              </a:spcAft>
              <a:buNone/>
              <a:defRPr sz="800"/>
            </a:lvl6pPr>
            <a:lvl7pPr marL="3200400" indent="-228600" algn="l">
              <a:lnSpc>
                <a:spcPct val="90000"/>
              </a:lnSpc>
              <a:spcBef>
                <a:spcPts val="400"/>
              </a:spcBef>
              <a:spcAft>
                <a:spcPts val="0"/>
              </a:spcAft>
              <a:buNone/>
              <a:defRPr sz="800"/>
            </a:lvl7pPr>
            <a:lvl8pPr marL="3657600" indent="-228600" algn="l">
              <a:lnSpc>
                <a:spcPct val="90000"/>
              </a:lnSpc>
              <a:spcBef>
                <a:spcPts val="400"/>
              </a:spcBef>
              <a:spcAft>
                <a:spcPts val="0"/>
              </a:spcAft>
              <a:buNone/>
              <a:defRPr sz="800"/>
            </a:lvl8pPr>
            <a:lvl9pPr marL="4114800" indent="-228600" algn="l">
              <a:lnSpc>
                <a:spcPct val="90000"/>
              </a:lnSpc>
              <a:spcBef>
                <a:spcPts val="400"/>
              </a:spcBef>
              <a:spcAft>
                <a:spcPts val="0"/>
              </a:spcAft>
              <a:buNone/>
              <a:defRPr sz="800"/>
            </a:lvl9pPr>
          </a:lstStyle>
          <a:p xmlns:a="http://schemas.openxmlformats.org/drawingml/2006/main"/>
        </p:txBody>
      </p:sp>
      <p:sp>
        <p:nvSpPr>
          <p:cNvPr id="58" name="Shape 46">
            <a:extLst xmlns:a="http://schemas.openxmlformats.org/drawingml/2006/main">
              <a:ext uri="{FF2B5EF4-FFF2-40B4-BE49-F238E27FC236}">
                <a16:creationId xmlns:a16="http://schemas.microsoft.com/office/drawing/2014/main" id="{710DB9FD-1144-493C-876F-B46E143E786F}"/>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59" name="Shape 47">
            <a:extLst xmlns:a="http://schemas.openxmlformats.org/drawingml/2006/main">
              <a:ext uri="{FF2B5EF4-FFF2-40B4-BE49-F238E27FC236}">
                <a16:creationId xmlns:a16="http://schemas.microsoft.com/office/drawing/2014/main" id="{D207F36B-7875-40C7-8A04-E48E9E93B618}"/>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60" name="Shape 48">
            <a:extLst xmlns:a="http://schemas.openxmlformats.org/drawingml/2006/main">
              <a:ext uri="{FF2B5EF4-FFF2-40B4-BE49-F238E27FC236}">
                <a16:creationId xmlns:a16="http://schemas.microsoft.com/office/drawing/2014/main" id="{A119280B-FA15-4C1E-9BD8-0022E14BDE34}"/>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9.xml><?xml version="1.0" encoding="utf-8"?>
<p:sldLayout xmlns:p="http://schemas.openxmlformats.org/presentationml/2006/main" matchingName="图片与标题" type="picTx">
  <p:cSld name="PICTURE_WITH_CAPTION_TEXT">
    <p:spTree>
      <p:nvGrpSpPr>
        <p:cNvPr id="1" name=""/>
        <p:cNvGrpSpPr/>
        <p:nvPr/>
      </p:nvGrpSpPr>
      <p:grpSpPr>
        <a:xfrm xmlns:a="http://schemas.openxmlformats.org/drawingml/2006/main"/>
      </p:grpSpPr>
      <p:sp>
        <p:nvSpPr>
          <p:cNvPr id="62" name="Shape 24">
            <a:extLst xmlns:a="http://schemas.openxmlformats.org/drawingml/2006/main">
              <a:ext uri="{FF2B5EF4-FFF2-40B4-BE49-F238E27FC236}">
                <a16:creationId xmlns:a16="http://schemas.microsoft.com/office/drawing/2014/main" id="{BFDCBD28-6E2B-4B8B-BACF-4B6FDAC02CE2}"/>
              </a:ext>
            </a:extLst>
          </p:cNvPr>
          <p:cNvSpPr>
            <a:spLocks xmlns:a="http://schemas.openxmlformats.org/drawingml/2006/main" noGrp="1"/>
          </p:cNvSpPr>
          <p:nvPr>
            <p:ph type="title" idx="0"/>
          </p:nvPr>
        </p:nvSpPr>
        <p:spPr>
          <a:xfrm xmlns:a="http://schemas.openxmlformats.org/drawingml/2006/main">
            <a:off x="629841" y="342900"/>
            <a:ext cx="2949178"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lnSpc>
                <a:spcPct val="90000"/>
              </a:lnSpc>
              <a:spcBef>
                <a:spcPts val="0"/>
              </a:spcBef>
              <a:spcAft>
                <a:spcPts val="0"/>
              </a:spcAft>
              <a:buNone/>
              <a:defRPr sz="2400"/>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63" name="Shape 25">
            <a:extLst xmlns:a="http://schemas.openxmlformats.org/drawingml/2006/main">
              <a:ext uri="{FF2B5EF4-FFF2-40B4-BE49-F238E27FC236}">
                <a16:creationId xmlns:a16="http://schemas.microsoft.com/office/drawing/2014/main" id="{23A40715-FD17-498D-B6D4-0813CAA48AE4}"/>
              </a:ext>
            </a:extLst>
          </p:cNvPr>
          <p:cNvSpPr>
            <a:spLocks xmlns:a="http://schemas.openxmlformats.org/drawingml/2006/main" noGrp="1"/>
          </p:cNvSpPr>
          <p:nvPr>
            <p:ph type="pic" idx="2"/>
          </p:nvPr>
        </p:nvSpPr>
        <p:spPr>
          <a:xfrm xmlns:a="http://schemas.openxmlformats.org/drawingml/2006/main">
            <a:off x="3887391" y="740569"/>
            <a:ext cx="4629150" cy="3655219"/>
          </a:xfrm>
          <a:prstGeom xmlns:a="http://schemas.openxmlformats.org/drawingml/2006/main" prst="rect">
            <a:avLst/>
          </a:prstGeom>
          <a:noFill xmlns:a="http://schemas.openxmlformats.org/drawingml/2006/main"/>
          <a:ln xmlns:a="http://schemas.openxmlformats.org/drawingml/2006/main">
            <a:noFill/>
          </a:ln>
        </p:spPr>
      </p:sp>
      <p:sp>
        <p:nvSpPr>
          <p:cNvPr id="64" name="Shape 26">
            <a:extLst xmlns:a="http://schemas.openxmlformats.org/drawingml/2006/main">
              <a:ext uri="{FF2B5EF4-FFF2-40B4-BE49-F238E27FC236}">
                <a16:creationId xmlns:a16="http://schemas.microsoft.com/office/drawing/2014/main" id="{3AA25DC4-7999-4CC2-859C-9FEFFC621D6B}"/>
              </a:ext>
            </a:extLst>
          </p:cNvPr>
          <p:cNvSpPr>
            <a:spLocks xmlns:a="http://schemas.openxmlformats.org/drawingml/2006/main" noGrp="1"/>
          </p:cNvSpPr>
          <p:nvPr>
            <p:ph type="body" idx="1"/>
          </p:nvPr>
        </p:nvSpPr>
        <p:spPr>
          <a:xfrm xmlns:a="http://schemas.openxmlformats.org/drawingml/2006/main">
            <a:off x="629841" y="1543050"/>
            <a:ext cx="2949178" cy="285869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90000"/>
              </a:lnSpc>
              <a:spcBef>
                <a:spcPts val="800"/>
              </a:spcBef>
              <a:spcAft>
                <a:spcPts val="0"/>
              </a:spcAft>
              <a:buNone/>
              <a:defRPr sz="1200"/>
            </a:lvl1pPr>
            <a:lvl2pPr marL="914400" indent="-228600" algn="l">
              <a:lnSpc>
                <a:spcPct val="90000"/>
              </a:lnSpc>
              <a:spcBef>
                <a:spcPts val="400"/>
              </a:spcBef>
              <a:spcAft>
                <a:spcPts val="0"/>
              </a:spcAft>
              <a:buNone/>
              <a:defRPr sz="1100"/>
            </a:lvl2pPr>
            <a:lvl3pPr marL="1371600" indent="-228600" algn="l">
              <a:lnSpc>
                <a:spcPct val="90000"/>
              </a:lnSpc>
              <a:spcBef>
                <a:spcPts val="400"/>
              </a:spcBef>
              <a:spcAft>
                <a:spcPts val="0"/>
              </a:spcAft>
              <a:buNone/>
              <a:defRPr sz="900"/>
            </a:lvl3pPr>
            <a:lvl4pPr marL="1828800" indent="-228600" algn="l">
              <a:lnSpc>
                <a:spcPct val="90000"/>
              </a:lnSpc>
              <a:spcBef>
                <a:spcPts val="400"/>
              </a:spcBef>
              <a:spcAft>
                <a:spcPts val="0"/>
              </a:spcAft>
              <a:buNone/>
              <a:defRPr sz="800"/>
            </a:lvl4pPr>
            <a:lvl5pPr marL="2286000" indent="-228600" algn="l">
              <a:lnSpc>
                <a:spcPct val="90000"/>
              </a:lnSpc>
              <a:spcBef>
                <a:spcPts val="400"/>
              </a:spcBef>
              <a:spcAft>
                <a:spcPts val="0"/>
              </a:spcAft>
              <a:buNone/>
              <a:defRPr sz="800"/>
            </a:lvl5pPr>
            <a:lvl6pPr marL="2743200" indent="-228600" algn="l">
              <a:lnSpc>
                <a:spcPct val="90000"/>
              </a:lnSpc>
              <a:spcBef>
                <a:spcPts val="400"/>
              </a:spcBef>
              <a:spcAft>
                <a:spcPts val="0"/>
              </a:spcAft>
              <a:buNone/>
              <a:defRPr sz="800"/>
            </a:lvl6pPr>
            <a:lvl7pPr marL="3200400" indent="-228600" algn="l">
              <a:lnSpc>
                <a:spcPct val="90000"/>
              </a:lnSpc>
              <a:spcBef>
                <a:spcPts val="400"/>
              </a:spcBef>
              <a:spcAft>
                <a:spcPts val="0"/>
              </a:spcAft>
              <a:buNone/>
              <a:defRPr sz="800"/>
            </a:lvl7pPr>
            <a:lvl8pPr marL="3657600" indent="-228600" algn="l">
              <a:lnSpc>
                <a:spcPct val="90000"/>
              </a:lnSpc>
              <a:spcBef>
                <a:spcPts val="400"/>
              </a:spcBef>
              <a:spcAft>
                <a:spcPts val="0"/>
              </a:spcAft>
              <a:buNone/>
              <a:defRPr sz="800"/>
            </a:lvl8pPr>
            <a:lvl9pPr marL="4114800" indent="-228600" algn="l">
              <a:lnSpc>
                <a:spcPct val="90000"/>
              </a:lnSpc>
              <a:spcBef>
                <a:spcPts val="400"/>
              </a:spcBef>
              <a:spcAft>
                <a:spcPts val="0"/>
              </a:spcAft>
              <a:buNone/>
              <a:defRPr sz="800"/>
            </a:lvl9pPr>
          </a:lstStyle>
          <a:p xmlns:a="http://schemas.openxmlformats.org/drawingml/2006/main"/>
        </p:txBody>
      </p:sp>
      <p:sp>
        <p:nvSpPr>
          <p:cNvPr id="65" name="Shape 27">
            <a:extLst xmlns:a="http://schemas.openxmlformats.org/drawingml/2006/main">
              <a:ext uri="{FF2B5EF4-FFF2-40B4-BE49-F238E27FC236}">
                <a16:creationId xmlns:a16="http://schemas.microsoft.com/office/drawing/2014/main" id="{7B5D50CB-1293-41BC-8101-0DDC8F94F630}"/>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66" name="Shape 28">
            <a:extLst xmlns:a="http://schemas.openxmlformats.org/drawingml/2006/main">
              <a:ext uri="{FF2B5EF4-FFF2-40B4-BE49-F238E27FC236}">
                <a16:creationId xmlns:a16="http://schemas.microsoft.com/office/drawing/2014/main" id="{02434609-88F3-4F0E-95D6-989A3564A0A5}"/>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67" name="Shape 29">
            <a:extLst xmlns:a="http://schemas.openxmlformats.org/drawingml/2006/main">
              <a:ext uri="{FF2B5EF4-FFF2-40B4-BE49-F238E27FC236}">
                <a16:creationId xmlns:a16="http://schemas.microsoft.com/office/drawing/2014/main" id="{D9D00598-B4D9-4256-B11A-E52ABAD1D5F8}"/>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0.xml><?xml version="1.0" encoding="utf-8"?>
<p:sldLayout xmlns:p="http://schemas.openxmlformats.org/presentationml/2006/main" matchingName="标题和竖排文字" type="vertTx">
  <p:cSld name="VERTICAL_TEXT">
    <p:spTree>
      <p:nvGrpSpPr>
        <p:cNvPr id="1" name=""/>
        <p:cNvGrpSpPr/>
        <p:nvPr/>
      </p:nvGrpSpPr>
      <p:grpSpPr>
        <a:xfrm xmlns:a="http://schemas.openxmlformats.org/drawingml/2006/main"/>
      </p:grpSpPr>
      <p:sp>
        <p:nvSpPr>
          <p:cNvPr id="69" name="Shape 49">
            <a:extLst xmlns:a="http://schemas.openxmlformats.org/drawingml/2006/main">
              <a:ext uri="{FF2B5EF4-FFF2-40B4-BE49-F238E27FC236}">
                <a16:creationId xmlns:a16="http://schemas.microsoft.com/office/drawing/2014/main" id="{7CCD4DA8-0D2B-4CC8-9D1B-45E2E5D67861}"/>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70" name="Shape 50">
            <a:extLst xmlns:a="http://schemas.openxmlformats.org/drawingml/2006/main">
              <a:ext uri="{FF2B5EF4-FFF2-40B4-BE49-F238E27FC236}">
                <a16:creationId xmlns:a16="http://schemas.microsoft.com/office/drawing/2014/main" id="{B0371635-B3D7-4BFD-9D23-C85E40000AF7}"/>
              </a:ext>
            </a:extLst>
          </p:cNvPr>
          <p:cNvSpPr>
            <a:spLocks xmlns:a="http://schemas.openxmlformats.org/drawingml/2006/main" noGrp="1"/>
          </p:cNvSpPr>
          <p:nvPr>
            <p:ph type="body" idx="1"/>
          </p:nvPr>
        </p:nvSpPr>
        <p:spPr>
          <a:xfrm xmlns:a="http://schemas.openxmlformats.org/drawingml/2006/main" rot="5400000">
            <a:off x="2940248" y="-942379"/>
            <a:ext cx="3263504" cy="788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har char="•"/>
              <a:defRPr/>
            </a:lvl1pPr>
            <a:lvl2pPr marL="914400" indent="-317500" algn="l">
              <a:lnSpc>
                <a:spcPct val="90000"/>
              </a:lnSpc>
              <a:spcBef>
                <a:spcPts val="400"/>
              </a:spcBef>
              <a:spcAft>
                <a:spcPts val="0"/>
              </a:spcAft>
              <a:buChar char="•"/>
              <a:defRPr/>
            </a:lvl2pPr>
            <a:lvl3pPr marL="1371600" indent="-317500" algn="l">
              <a:lnSpc>
                <a:spcPct val="90000"/>
              </a:lnSpc>
              <a:spcBef>
                <a:spcPts val="400"/>
              </a:spcBef>
              <a:spcAft>
                <a:spcPts val="0"/>
              </a:spcAft>
              <a:buChar char="•"/>
              <a:defRPr/>
            </a:lvl3pPr>
            <a:lvl4pPr marL="1828800" indent="-317500" algn="l">
              <a:lnSpc>
                <a:spcPct val="90000"/>
              </a:lnSpc>
              <a:spcBef>
                <a:spcPts val="400"/>
              </a:spcBef>
              <a:spcAft>
                <a:spcPts val="0"/>
              </a:spcAft>
              <a:buChar char="•"/>
              <a:defRPr/>
            </a:lvl4pPr>
            <a:lvl5pPr marL="2286000" indent="-317500" algn="l">
              <a:lnSpc>
                <a:spcPct val="90000"/>
              </a:lnSpc>
              <a:spcBef>
                <a:spcPts val="400"/>
              </a:spcBef>
              <a:spcAft>
                <a:spcPts val="0"/>
              </a:spcAft>
              <a:buChar char="•"/>
              <a:defRPr/>
            </a:lvl5pPr>
            <a:lvl6pPr marL="2743200" indent="-317500" algn="l">
              <a:lnSpc>
                <a:spcPct val="90000"/>
              </a:lnSpc>
              <a:spcBef>
                <a:spcPts val="400"/>
              </a:spcBef>
              <a:spcAft>
                <a:spcPts val="0"/>
              </a:spcAft>
              <a:buChar char="•"/>
              <a:defRPr/>
            </a:lvl6pPr>
            <a:lvl7pPr marL="3200400" indent="-317500" algn="l">
              <a:lnSpc>
                <a:spcPct val="90000"/>
              </a:lnSpc>
              <a:spcBef>
                <a:spcPts val="400"/>
              </a:spcBef>
              <a:spcAft>
                <a:spcPts val="0"/>
              </a:spcAft>
              <a:buChar char="•"/>
              <a:defRPr/>
            </a:lvl7pPr>
            <a:lvl8pPr marL="3657600" indent="-317500" algn="l">
              <a:lnSpc>
                <a:spcPct val="90000"/>
              </a:lnSpc>
              <a:spcBef>
                <a:spcPts val="400"/>
              </a:spcBef>
              <a:spcAft>
                <a:spcPts val="0"/>
              </a:spcAft>
              <a:buChar char="•"/>
              <a:defRPr/>
            </a:lvl8pPr>
            <a:lvl9pPr marL="4114800" indent="-317500" algn="l">
              <a:lnSpc>
                <a:spcPct val="90000"/>
              </a:lnSpc>
              <a:spcBef>
                <a:spcPts val="400"/>
              </a:spcBef>
              <a:spcAft>
                <a:spcPts val="0"/>
              </a:spcAft>
              <a:buChar char="•"/>
              <a:defRPr/>
            </a:lvl9pPr>
          </a:lstStyle>
          <a:p xmlns:a="http://schemas.openxmlformats.org/drawingml/2006/main"/>
        </p:txBody>
      </p:sp>
      <p:sp>
        <p:nvSpPr>
          <p:cNvPr id="71" name="Shape 51">
            <a:extLst xmlns:a="http://schemas.openxmlformats.org/drawingml/2006/main">
              <a:ext uri="{FF2B5EF4-FFF2-40B4-BE49-F238E27FC236}">
                <a16:creationId xmlns:a16="http://schemas.microsoft.com/office/drawing/2014/main" id="{F2DE7895-6A11-47F9-A7DD-A52196B1E907}"/>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72" name="Shape 52">
            <a:extLst xmlns:a="http://schemas.openxmlformats.org/drawingml/2006/main">
              <a:ext uri="{FF2B5EF4-FFF2-40B4-BE49-F238E27FC236}">
                <a16:creationId xmlns:a16="http://schemas.microsoft.com/office/drawing/2014/main" id="{F81B155F-8DEC-45C3-B14C-F93108CDE1ED}"/>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73" name="Shape 53">
            <a:extLst xmlns:a="http://schemas.openxmlformats.org/drawingml/2006/main">
              <a:ext uri="{FF2B5EF4-FFF2-40B4-BE49-F238E27FC236}">
                <a16:creationId xmlns:a16="http://schemas.microsoft.com/office/drawing/2014/main" id="{492895F1-5050-4430-9EA1-F3093FF46EB1}"/>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1.xml><?xml version="1.0" encoding="utf-8"?>
<p:sldLayout xmlns:p="http://schemas.openxmlformats.org/presentationml/2006/main" matchingName="竖排标题与文本" type="vertTitleAndTx">
  <p:cSld name="VERTICAL_TITLE_AND_VERTICAL_TEXT">
    <p:spTree>
      <p:nvGrpSpPr>
        <p:cNvPr id="1" name=""/>
        <p:cNvGrpSpPr/>
        <p:nvPr/>
      </p:nvGrpSpPr>
      <p:grpSpPr>
        <a:xfrm xmlns:a="http://schemas.openxmlformats.org/drawingml/2006/main"/>
      </p:grpSpPr>
      <p:sp>
        <p:nvSpPr>
          <p:cNvPr id="75" name="Shape 15">
            <a:extLst xmlns:a="http://schemas.openxmlformats.org/drawingml/2006/main">
              <a:ext uri="{FF2B5EF4-FFF2-40B4-BE49-F238E27FC236}">
                <a16:creationId xmlns:a16="http://schemas.microsoft.com/office/drawing/2014/main" id="{FFBFB044-E38B-4C5A-82A2-ECACC79C7A9C}"/>
              </a:ext>
            </a:extLst>
          </p:cNvPr>
          <p:cNvSpPr>
            <a:spLocks xmlns:a="http://schemas.openxmlformats.org/drawingml/2006/main" noGrp="1"/>
          </p:cNvSpPr>
          <p:nvPr>
            <p:ph type="title" idx="0"/>
          </p:nvPr>
        </p:nvSpPr>
        <p:spPr>
          <a:xfrm xmlns:a="http://schemas.openxmlformats.org/drawingml/2006/main" rot="5400000">
            <a:off x="5350073" y="1467445"/>
            <a:ext cx="4358879" cy="1971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76" name="Shape 16">
            <a:extLst xmlns:a="http://schemas.openxmlformats.org/drawingml/2006/main">
              <a:ext uri="{FF2B5EF4-FFF2-40B4-BE49-F238E27FC236}">
                <a16:creationId xmlns:a16="http://schemas.microsoft.com/office/drawing/2014/main" id="{D368F8A8-EDE1-4B4A-8EB1-AB3DD977DFDC}"/>
              </a:ext>
            </a:extLst>
          </p:cNvPr>
          <p:cNvSpPr>
            <a:spLocks xmlns:a="http://schemas.openxmlformats.org/drawingml/2006/main" noGrp="1"/>
          </p:cNvSpPr>
          <p:nvPr>
            <p:ph type="body" idx="1"/>
          </p:nvPr>
        </p:nvSpPr>
        <p:spPr>
          <a:xfrm xmlns:a="http://schemas.openxmlformats.org/drawingml/2006/main" rot="5400000">
            <a:off x="1349573" y="-447080"/>
            <a:ext cx="4358879" cy="58007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har char="•"/>
              <a:defRPr/>
            </a:lvl1pPr>
            <a:lvl2pPr marL="914400" indent="-317500" algn="l">
              <a:lnSpc>
                <a:spcPct val="90000"/>
              </a:lnSpc>
              <a:spcBef>
                <a:spcPts val="400"/>
              </a:spcBef>
              <a:spcAft>
                <a:spcPts val="0"/>
              </a:spcAft>
              <a:buChar char="•"/>
              <a:defRPr/>
            </a:lvl2pPr>
            <a:lvl3pPr marL="1371600" indent="-317500" algn="l">
              <a:lnSpc>
                <a:spcPct val="90000"/>
              </a:lnSpc>
              <a:spcBef>
                <a:spcPts val="400"/>
              </a:spcBef>
              <a:spcAft>
                <a:spcPts val="0"/>
              </a:spcAft>
              <a:buChar char="•"/>
              <a:defRPr/>
            </a:lvl3pPr>
            <a:lvl4pPr marL="1828800" indent="-317500" algn="l">
              <a:lnSpc>
                <a:spcPct val="90000"/>
              </a:lnSpc>
              <a:spcBef>
                <a:spcPts val="400"/>
              </a:spcBef>
              <a:spcAft>
                <a:spcPts val="0"/>
              </a:spcAft>
              <a:buChar char="•"/>
              <a:defRPr/>
            </a:lvl4pPr>
            <a:lvl5pPr marL="2286000" indent="-317500" algn="l">
              <a:lnSpc>
                <a:spcPct val="90000"/>
              </a:lnSpc>
              <a:spcBef>
                <a:spcPts val="400"/>
              </a:spcBef>
              <a:spcAft>
                <a:spcPts val="0"/>
              </a:spcAft>
              <a:buChar char="•"/>
              <a:defRPr/>
            </a:lvl5pPr>
            <a:lvl6pPr marL="2743200" indent="-317500" algn="l">
              <a:lnSpc>
                <a:spcPct val="90000"/>
              </a:lnSpc>
              <a:spcBef>
                <a:spcPts val="400"/>
              </a:spcBef>
              <a:spcAft>
                <a:spcPts val="0"/>
              </a:spcAft>
              <a:buChar char="•"/>
              <a:defRPr/>
            </a:lvl6pPr>
            <a:lvl7pPr marL="3200400" indent="-317500" algn="l">
              <a:lnSpc>
                <a:spcPct val="90000"/>
              </a:lnSpc>
              <a:spcBef>
                <a:spcPts val="400"/>
              </a:spcBef>
              <a:spcAft>
                <a:spcPts val="0"/>
              </a:spcAft>
              <a:buChar char="•"/>
              <a:defRPr/>
            </a:lvl7pPr>
            <a:lvl8pPr marL="3657600" indent="-317500" algn="l">
              <a:lnSpc>
                <a:spcPct val="90000"/>
              </a:lnSpc>
              <a:spcBef>
                <a:spcPts val="400"/>
              </a:spcBef>
              <a:spcAft>
                <a:spcPts val="0"/>
              </a:spcAft>
              <a:buChar char="•"/>
              <a:defRPr/>
            </a:lvl8pPr>
            <a:lvl9pPr marL="4114800" indent="-317500" algn="l">
              <a:lnSpc>
                <a:spcPct val="90000"/>
              </a:lnSpc>
              <a:spcBef>
                <a:spcPts val="400"/>
              </a:spcBef>
              <a:spcAft>
                <a:spcPts val="0"/>
              </a:spcAft>
              <a:buChar char="•"/>
              <a:defRPr/>
            </a:lvl9pPr>
          </a:lstStyle>
          <a:p xmlns:a="http://schemas.openxmlformats.org/drawingml/2006/main"/>
        </p:txBody>
      </p:sp>
      <p:sp>
        <p:nvSpPr>
          <p:cNvPr id="77" name="Shape 17">
            <a:extLst xmlns:a="http://schemas.openxmlformats.org/drawingml/2006/main">
              <a:ext uri="{FF2B5EF4-FFF2-40B4-BE49-F238E27FC236}">
                <a16:creationId xmlns:a16="http://schemas.microsoft.com/office/drawing/2014/main" id="{7E5D6FDD-1A55-45C6-87F4-2E844C35A919}"/>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78" name="Shape 18">
            <a:extLst xmlns:a="http://schemas.openxmlformats.org/drawingml/2006/main">
              <a:ext uri="{FF2B5EF4-FFF2-40B4-BE49-F238E27FC236}">
                <a16:creationId xmlns:a16="http://schemas.microsoft.com/office/drawing/2014/main" id="{88FD6B00-6C45-430F-B60D-68D6FF21B148}"/>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79" name="Shape 19">
            <a:extLst xmlns:a="http://schemas.openxmlformats.org/drawingml/2006/main">
              <a:ext uri="{FF2B5EF4-FFF2-40B4-BE49-F238E27FC236}">
                <a16:creationId xmlns:a16="http://schemas.microsoft.com/office/drawing/2014/main" id="{F557E7C4-8033-41FF-A9F0-DC38AA3EAB0C}"/>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2.xml><?xml version="1.0" encoding="utf-8"?>
<p:sldLayout xmlns:p="http://schemas.openxmlformats.org/presentationml/2006/main" type="title" preserve="1">
  <p:cSld>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8026e0690c4682" /><Relationship Type="http://schemas.openxmlformats.org/officeDocument/2006/relationships/slideLayout" Target="/ppt/slideLayouts/slideLayout1.xml" Id="R10c93fa12db34c10" /><Relationship Type="http://schemas.openxmlformats.org/officeDocument/2006/relationships/slideLayout" Target="/ppt/slideLayouts/slideLayout2.xml" Id="R9c6dc2d01b0145c9" /><Relationship Type="http://schemas.openxmlformats.org/officeDocument/2006/relationships/slideLayout" Target="/ppt/slideLayouts/slideLayout3.xml" Id="Ree5d57993fff4171" /><Relationship Type="http://schemas.openxmlformats.org/officeDocument/2006/relationships/slideLayout" Target="/ppt/slideLayouts/slideLayout4.xml" Id="R0ceb42b7ddda47a6" /><Relationship Type="http://schemas.openxmlformats.org/officeDocument/2006/relationships/slideLayout" Target="/ppt/slideLayouts/slideLayout5.xml" Id="R1b3142dc55124cef" /><Relationship Type="http://schemas.openxmlformats.org/officeDocument/2006/relationships/slideLayout" Target="/ppt/slideLayouts/slideLayout6.xml" Id="R0f0fa102781d4f5e" /><Relationship Type="http://schemas.openxmlformats.org/officeDocument/2006/relationships/slideLayout" Target="/ppt/slideLayouts/slideLayout7.xml" Id="R1467009d4c0b43d0" /><Relationship Type="http://schemas.openxmlformats.org/officeDocument/2006/relationships/slideLayout" Target="/ppt/slideLayouts/slideLayout8.xml" Id="Re047bbc2a88e4d94" /><Relationship Type="http://schemas.openxmlformats.org/officeDocument/2006/relationships/slideLayout" Target="/ppt/slideLayouts/slideLayout9.xml" Id="Rc26a765ecb1b4841" /><Relationship Type="http://schemas.openxmlformats.org/officeDocument/2006/relationships/slideLayout" Target="/ppt/slideLayouts/slideLayout10.xml" Id="R44806326147d44ee" /><Relationship Type="http://schemas.openxmlformats.org/officeDocument/2006/relationships/slideLayout" Target="/ppt/slideLayouts/slideLayout11.xml" Id="Rea9751d15d534366"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717021c12f6c419f" /><Relationship Type="http://schemas.openxmlformats.org/officeDocument/2006/relationships/slideLayout" Target="/ppt/slideLayouts/slideLayout12.xml" Id="Rad8f8f46d31b4851"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Shape 1">
            <a:extLst xmlns:a="http://schemas.openxmlformats.org/drawingml/2006/main">
              <a:ext uri="{FF2B5EF4-FFF2-40B4-BE49-F238E27FC236}">
                <a16:creationId xmlns:a16="http://schemas.microsoft.com/office/drawing/2014/main" id="{6AD5681B-C04F-46C4-9D0E-A4EC954570B3}"/>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None/>
              <a:defRPr sz="3300" b="0" i="0" u="none" cap="none">
                <a:solidFill>
                  <a:schemeClr val="dk1"/>
                </a:solidFill>
                <a:latin typeface="Arial"/>
                <a:ea typeface="Arial"/>
                <a:cs typeface="Arial"/>
              </a:defRPr>
            </a:lvl1pPr>
            <a:lvl2pPr>
              <a:spcBef>
                <a:spcPts val="0"/>
              </a:spcBef>
              <a:spcAft>
                <a:spcPts val="0"/>
              </a:spcAft>
              <a:buNone/>
              <a:defRPr sz="1400"/>
            </a:lvl2pPr>
            <a:lvl3pPr>
              <a:spcBef>
                <a:spcPts val="0"/>
              </a:spcBef>
              <a:spcAft>
                <a:spcPts val="0"/>
              </a:spcAft>
              <a:buNone/>
              <a:defRPr sz="1400"/>
            </a:lvl3pPr>
            <a:lvl4pPr>
              <a:spcBef>
                <a:spcPts val="0"/>
              </a:spcBef>
              <a:spcAft>
                <a:spcPts val="0"/>
              </a:spcAft>
              <a:buNone/>
              <a:defRPr sz="1400"/>
            </a:lvl4pPr>
            <a:lvl5pPr>
              <a:spcBef>
                <a:spcPts val="0"/>
              </a:spcBef>
              <a:spcAft>
                <a:spcPts val="0"/>
              </a:spcAft>
              <a:buNone/>
              <a:defRPr sz="1400"/>
            </a:lvl5pPr>
            <a:lvl6pPr>
              <a:spcBef>
                <a:spcPts val="0"/>
              </a:spcBef>
              <a:spcAft>
                <a:spcPts val="0"/>
              </a:spcAft>
              <a:buNone/>
              <a:defRPr sz="1400"/>
            </a:lvl6pPr>
            <a:lvl7pPr>
              <a:spcBef>
                <a:spcPts val="0"/>
              </a:spcBef>
              <a:spcAft>
                <a:spcPts val="0"/>
              </a:spcAft>
              <a:buNone/>
              <a:defRPr sz="1400"/>
            </a:lvl7pPr>
            <a:lvl8pPr>
              <a:spcBef>
                <a:spcPts val="0"/>
              </a:spcBef>
              <a:spcAft>
                <a:spcPts val="0"/>
              </a:spcAft>
              <a:buNone/>
              <a:defRPr sz="1400"/>
            </a:lvl8pPr>
            <a:lvl9pPr>
              <a:spcBef>
                <a:spcPts val="0"/>
              </a:spcBef>
              <a:spcAft>
                <a:spcPts val="0"/>
              </a:spcAft>
              <a:buNone/>
              <a:defRPr sz="1400"/>
            </a:lvl9pPr>
          </a:lstStyle>
          <a:p xmlns:a="http://schemas.openxmlformats.org/drawingml/2006/main"/>
        </p:txBody>
      </p:sp>
      <p:sp>
        <p:nvSpPr>
          <p:cNvPr id="7" name="Shape 2">
            <a:extLst xmlns:a="http://schemas.openxmlformats.org/drawingml/2006/main">
              <a:ext uri="{FF2B5EF4-FFF2-40B4-BE49-F238E27FC236}">
                <a16:creationId xmlns:a16="http://schemas.microsoft.com/office/drawing/2014/main" id="{84664AED-9268-43A8-957B-3D99467D8728}"/>
              </a:ext>
            </a:extLst>
          </p:cNvPr>
          <p:cNvSpPr>
            <a:spLocks xmlns:a="http://schemas.openxmlformats.org/drawingml/2006/main" noGrp="1"/>
          </p:cNvSpPr>
          <p:nvPr>
            <p:ph type="body" idx="1"/>
          </p:nvPr>
        </p:nvSpPr>
        <p:spPr>
          <a:xfrm xmlns:a="http://schemas.openxmlformats.org/drawingml/2006/main">
            <a:off x="628650" y="1369219"/>
            <a:ext cx="78867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61950" algn="l">
              <a:lnSpc>
                <a:spcPct val="90000"/>
              </a:lnSpc>
              <a:spcBef>
                <a:spcPts val="800"/>
              </a:spcBef>
              <a:spcAft>
                <a:spcPts val="0"/>
              </a:spcAft>
              <a:buChar char="•"/>
              <a:defRPr sz="2100" b="0" i="0" u="none" cap="none">
                <a:solidFill>
                  <a:schemeClr val="dk1"/>
                </a:solidFill>
                <a:latin typeface="Arial"/>
                <a:ea typeface="Arial"/>
                <a:cs typeface="Arial"/>
              </a:defRPr>
            </a:lvl1pPr>
            <a:lvl2pPr marL="914400" indent="-342900" algn="l">
              <a:lnSpc>
                <a:spcPct val="90000"/>
              </a:lnSpc>
              <a:spcBef>
                <a:spcPts val="400"/>
              </a:spcBef>
              <a:spcAft>
                <a:spcPts val="0"/>
              </a:spcAft>
              <a:buChar char="•"/>
              <a:defRPr sz="1800" b="0" i="0" u="none" cap="none">
                <a:solidFill>
                  <a:schemeClr val="dk1"/>
                </a:solidFill>
                <a:latin typeface="Arial"/>
                <a:ea typeface="Arial"/>
                <a:cs typeface="Arial"/>
              </a:defRPr>
            </a:lvl2pPr>
            <a:lvl3pPr marL="1371600" indent="-323850" algn="l">
              <a:lnSpc>
                <a:spcPct val="90000"/>
              </a:lnSpc>
              <a:spcBef>
                <a:spcPts val="400"/>
              </a:spcBef>
              <a:spcAft>
                <a:spcPts val="0"/>
              </a:spcAft>
              <a:buChar char="•"/>
              <a:defRPr sz="1500" b="0" i="0" u="none" cap="none">
                <a:solidFill>
                  <a:schemeClr val="dk1"/>
                </a:solidFill>
                <a:latin typeface="Arial"/>
                <a:ea typeface="Arial"/>
                <a:cs typeface="Arial"/>
              </a:defRPr>
            </a:lvl3pPr>
            <a:lvl4pPr marL="1828800" indent="-317500" algn="l">
              <a:lnSpc>
                <a:spcPct val="90000"/>
              </a:lnSpc>
              <a:spcBef>
                <a:spcPts val="400"/>
              </a:spcBef>
              <a:spcAft>
                <a:spcPts val="0"/>
              </a:spcAft>
              <a:buChar char="•"/>
              <a:defRPr sz="1400" b="0" i="0" u="none" cap="none">
                <a:solidFill>
                  <a:schemeClr val="dk1"/>
                </a:solidFill>
                <a:latin typeface="Arial"/>
                <a:ea typeface="Arial"/>
                <a:cs typeface="Arial"/>
              </a:defRPr>
            </a:lvl4pPr>
            <a:lvl5pPr marL="2286000" indent="-317500" algn="l">
              <a:lnSpc>
                <a:spcPct val="90000"/>
              </a:lnSpc>
              <a:spcBef>
                <a:spcPts val="400"/>
              </a:spcBef>
              <a:spcAft>
                <a:spcPts val="0"/>
              </a:spcAft>
              <a:buChar char="•"/>
              <a:defRPr sz="1400" b="0" i="0" u="none" cap="none">
                <a:solidFill>
                  <a:schemeClr val="dk1"/>
                </a:solidFill>
                <a:latin typeface="Arial"/>
                <a:ea typeface="Arial"/>
                <a:cs typeface="Arial"/>
              </a:defRPr>
            </a:lvl5pPr>
            <a:lvl6pPr marL="2743200" indent="-317500" algn="l">
              <a:lnSpc>
                <a:spcPct val="90000"/>
              </a:lnSpc>
              <a:spcBef>
                <a:spcPts val="400"/>
              </a:spcBef>
              <a:spcAft>
                <a:spcPts val="0"/>
              </a:spcAft>
              <a:buChar char="•"/>
              <a:defRPr sz="1400" b="0" i="0" u="none" cap="none">
                <a:solidFill>
                  <a:schemeClr val="dk1"/>
                </a:solidFill>
                <a:latin typeface="Arial"/>
                <a:ea typeface="Arial"/>
                <a:cs typeface="Arial"/>
              </a:defRPr>
            </a:lvl6pPr>
            <a:lvl7pPr marL="3200400" indent="-317500" algn="l">
              <a:lnSpc>
                <a:spcPct val="90000"/>
              </a:lnSpc>
              <a:spcBef>
                <a:spcPts val="400"/>
              </a:spcBef>
              <a:spcAft>
                <a:spcPts val="0"/>
              </a:spcAft>
              <a:buChar char="•"/>
              <a:defRPr sz="1400" b="0" i="0" u="none" cap="none">
                <a:solidFill>
                  <a:schemeClr val="dk1"/>
                </a:solidFill>
                <a:latin typeface="Arial"/>
                <a:ea typeface="Arial"/>
                <a:cs typeface="Arial"/>
              </a:defRPr>
            </a:lvl7pPr>
            <a:lvl8pPr marL="3657600" indent="-317500" algn="l">
              <a:lnSpc>
                <a:spcPct val="90000"/>
              </a:lnSpc>
              <a:spcBef>
                <a:spcPts val="400"/>
              </a:spcBef>
              <a:spcAft>
                <a:spcPts val="0"/>
              </a:spcAft>
              <a:buChar char="•"/>
              <a:defRPr sz="1400" b="0" i="0" u="none" cap="none">
                <a:solidFill>
                  <a:schemeClr val="dk1"/>
                </a:solidFill>
                <a:latin typeface="Arial"/>
                <a:ea typeface="Arial"/>
                <a:cs typeface="Arial"/>
              </a:defRPr>
            </a:lvl8pPr>
            <a:lvl9pPr marL="4114800" indent="-317500" algn="l">
              <a:lnSpc>
                <a:spcPct val="90000"/>
              </a:lnSpc>
              <a:spcBef>
                <a:spcPts val="400"/>
              </a:spcBef>
              <a:spcAft>
                <a:spcPts val="0"/>
              </a:spcAft>
              <a:buChar char="•"/>
              <a:defRPr sz="1400" b="0" i="0" u="none" cap="none">
                <a:solidFill>
                  <a:schemeClr val="dk1"/>
                </a:solidFill>
                <a:latin typeface="Arial"/>
                <a:ea typeface="Arial"/>
                <a:cs typeface="Arial"/>
              </a:defRPr>
            </a:lvl9pPr>
          </a:lstStyle>
          <a:p xmlns:a="http://schemas.openxmlformats.org/drawingml/2006/main"/>
        </p:txBody>
      </p:sp>
      <p:sp>
        <p:nvSpPr>
          <p:cNvPr id="8" name="Shape 3">
            <a:extLst xmlns:a="http://schemas.openxmlformats.org/drawingml/2006/main">
              <a:ext uri="{FF2B5EF4-FFF2-40B4-BE49-F238E27FC236}">
                <a16:creationId xmlns:a16="http://schemas.microsoft.com/office/drawing/2014/main" id="{256C0DCA-6F85-4BD4-9612-D3AFC8F021CF}"/>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sz="900" b="0" i="0" u="none" cap="none">
                <a:solidFill>
                  <a:srgbClr val="888888"/>
                </a:solidFill>
                <a:latin typeface="Arial"/>
                <a:ea typeface="Arial"/>
                <a:cs typeface="Arial"/>
              </a:defRPr>
            </a:lvl1pPr>
            <a:lvl2pPr algn="l">
              <a:spcBef>
                <a:spcPts val="0"/>
              </a:spcBef>
              <a:spcAft>
                <a:spcPts val="0"/>
              </a:spcAft>
              <a:buNone/>
              <a:defRPr sz="1400" b="0" i="0" u="none" cap="none">
                <a:solidFill>
                  <a:schemeClr val="dk1"/>
                </a:solidFill>
                <a:latin typeface="Arial"/>
                <a:ea typeface="Arial"/>
                <a:cs typeface="Arial"/>
              </a:defRPr>
            </a:lvl2pPr>
            <a:lvl3pPr algn="l">
              <a:spcBef>
                <a:spcPts val="0"/>
              </a:spcBef>
              <a:spcAft>
                <a:spcPts val="0"/>
              </a:spcAft>
              <a:buNone/>
              <a:defRPr sz="1400" b="0" i="0" u="none" cap="none">
                <a:solidFill>
                  <a:schemeClr val="dk1"/>
                </a:solidFill>
                <a:latin typeface="Arial"/>
                <a:ea typeface="Arial"/>
                <a:cs typeface="Arial"/>
              </a:defRPr>
            </a:lvl3pPr>
            <a:lvl4pPr algn="l">
              <a:spcBef>
                <a:spcPts val="0"/>
              </a:spcBef>
              <a:spcAft>
                <a:spcPts val="0"/>
              </a:spcAft>
              <a:buNone/>
              <a:defRPr sz="1400" b="0" i="0" u="none" cap="none">
                <a:solidFill>
                  <a:schemeClr val="dk1"/>
                </a:solidFill>
                <a:latin typeface="Arial"/>
                <a:ea typeface="Arial"/>
                <a:cs typeface="Arial"/>
              </a:defRPr>
            </a:lvl4pPr>
            <a:lvl5pPr algn="l">
              <a:spcBef>
                <a:spcPts val="0"/>
              </a:spcBef>
              <a:spcAft>
                <a:spcPts val="0"/>
              </a:spcAft>
              <a:buNone/>
              <a:defRPr sz="1400" b="0" i="0" u="none" cap="none">
                <a:solidFill>
                  <a:schemeClr val="dk1"/>
                </a:solidFill>
                <a:latin typeface="Arial"/>
                <a:ea typeface="Arial"/>
                <a:cs typeface="Arial"/>
              </a:defRPr>
            </a:lvl5pPr>
            <a:lvl6pPr algn="l">
              <a:spcBef>
                <a:spcPts val="0"/>
              </a:spcBef>
              <a:spcAft>
                <a:spcPts val="0"/>
              </a:spcAft>
              <a:buNone/>
              <a:defRPr sz="1400" b="0" i="0" u="none" cap="none">
                <a:solidFill>
                  <a:schemeClr val="dk1"/>
                </a:solidFill>
                <a:latin typeface="Arial"/>
                <a:ea typeface="Arial"/>
                <a:cs typeface="Arial"/>
              </a:defRPr>
            </a:lvl6pPr>
            <a:lvl7pPr algn="l">
              <a:spcBef>
                <a:spcPts val="0"/>
              </a:spcBef>
              <a:spcAft>
                <a:spcPts val="0"/>
              </a:spcAft>
              <a:buNone/>
              <a:defRPr sz="1400" b="0" i="0" u="none" cap="none">
                <a:solidFill>
                  <a:schemeClr val="dk1"/>
                </a:solidFill>
                <a:latin typeface="Arial"/>
                <a:ea typeface="Arial"/>
                <a:cs typeface="Arial"/>
              </a:defRPr>
            </a:lvl7pPr>
            <a:lvl8pPr algn="l">
              <a:spcBef>
                <a:spcPts val="0"/>
              </a:spcBef>
              <a:spcAft>
                <a:spcPts val="0"/>
              </a:spcAft>
              <a:buNone/>
              <a:defRPr sz="1400" b="0" i="0" u="none" cap="none">
                <a:solidFill>
                  <a:schemeClr val="dk1"/>
                </a:solidFill>
                <a:latin typeface="Arial"/>
                <a:ea typeface="Arial"/>
                <a:cs typeface="Arial"/>
              </a:defRPr>
            </a:lvl8pPr>
            <a:lvl9pPr algn="l">
              <a:spcBef>
                <a:spcPts val="0"/>
              </a:spcBef>
              <a:spcAft>
                <a:spcPts val="0"/>
              </a:spcAft>
              <a:buNone/>
              <a:defRPr sz="1400" b="0" i="0" u="none" cap="none">
                <a:solidFill>
                  <a:schemeClr val="dk1"/>
                </a:solidFill>
                <a:latin typeface="Arial"/>
                <a:ea typeface="Arial"/>
                <a:cs typeface="Arial"/>
              </a:defRPr>
            </a:lvl9pPr>
          </a:lstStyle>
          <a:p xmlns:a="http://schemas.openxmlformats.org/drawingml/2006/main"/>
        </p:txBody>
      </p:sp>
      <p:sp>
        <p:nvSpPr>
          <p:cNvPr id="9" name="Shape 4">
            <a:extLst xmlns:a="http://schemas.openxmlformats.org/drawingml/2006/main">
              <a:ext uri="{FF2B5EF4-FFF2-40B4-BE49-F238E27FC236}">
                <a16:creationId xmlns:a16="http://schemas.microsoft.com/office/drawing/2014/main" id="{4A2D740E-8C31-427C-8A6A-ADA627E2B69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sz="900" b="0" i="0" u="none" cap="none">
                <a:solidFill>
                  <a:srgbClr val="888888"/>
                </a:solidFill>
                <a:latin typeface="Arial"/>
                <a:ea typeface="Arial"/>
                <a:cs typeface="Arial"/>
              </a:defRPr>
            </a:lvl1pPr>
            <a:lvl2pPr algn="l">
              <a:spcBef>
                <a:spcPts val="0"/>
              </a:spcBef>
              <a:spcAft>
                <a:spcPts val="0"/>
              </a:spcAft>
              <a:buNone/>
              <a:defRPr sz="1400" b="0" i="0" u="none" cap="none">
                <a:solidFill>
                  <a:schemeClr val="dk1"/>
                </a:solidFill>
                <a:latin typeface="Arial"/>
                <a:ea typeface="Arial"/>
                <a:cs typeface="Arial"/>
              </a:defRPr>
            </a:lvl2pPr>
            <a:lvl3pPr algn="l">
              <a:spcBef>
                <a:spcPts val="0"/>
              </a:spcBef>
              <a:spcAft>
                <a:spcPts val="0"/>
              </a:spcAft>
              <a:buNone/>
              <a:defRPr sz="1400" b="0" i="0" u="none" cap="none">
                <a:solidFill>
                  <a:schemeClr val="dk1"/>
                </a:solidFill>
                <a:latin typeface="Arial"/>
                <a:ea typeface="Arial"/>
                <a:cs typeface="Arial"/>
              </a:defRPr>
            </a:lvl3pPr>
            <a:lvl4pPr algn="l">
              <a:spcBef>
                <a:spcPts val="0"/>
              </a:spcBef>
              <a:spcAft>
                <a:spcPts val="0"/>
              </a:spcAft>
              <a:buNone/>
              <a:defRPr sz="1400" b="0" i="0" u="none" cap="none">
                <a:solidFill>
                  <a:schemeClr val="dk1"/>
                </a:solidFill>
                <a:latin typeface="Arial"/>
                <a:ea typeface="Arial"/>
                <a:cs typeface="Arial"/>
              </a:defRPr>
            </a:lvl4pPr>
            <a:lvl5pPr algn="l">
              <a:spcBef>
                <a:spcPts val="0"/>
              </a:spcBef>
              <a:spcAft>
                <a:spcPts val="0"/>
              </a:spcAft>
              <a:buNone/>
              <a:defRPr sz="1400" b="0" i="0" u="none" cap="none">
                <a:solidFill>
                  <a:schemeClr val="dk1"/>
                </a:solidFill>
                <a:latin typeface="Arial"/>
                <a:ea typeface="Arial"/>
                <a:cs typeface="Arial"/>
              </a:defRPr>
            </a:lvl5pPr>
            <a:lvl6pPr algn="l">
              <a:spcBef>
                <a:spcPts val="0"/>
              </a:spcBef>
              <a:spcAft>
                <a:spcPts val="0"/>
              </a:spcAft>
              <a:buNone/>
              <a:defRPr sz="1400" b="0" i="0" u="none" cap="none">
                <a:solidFill>
                  <a:schemeClr val="dk1"/>
                </a:solidFill>
                <a:latin typeface="Arial"/>
                <a:ea typeface="Arial"/>
                <a:cs typeface="Arial"/>
              </a:defRPr>
            </a:lvl6pPr>
            <a:lvl7pPr algn="l">
              <a:spcBef>
                <a:spcPts val="0"/>
              </a:spcBef>
              <a:spcAft>
                <a:spcPts val="0"/>
              </a:spcAft>
              <a:buNone/>
              <a:defRPr sz="1400" b="0" i="0" u="none" cap="none">
                <a:solidFill>
                  <a:schemeClr val="dk1"/>
                </a:solidFill>
                <a:latin typeface="Arial"/>
                <a:ea typeface="Arial"/>
                <a:cs typeface="Arial"/>
              </a:defRPr>
            </a:lvl7pPr>
            <a:lvl8pPr algn="l">
              <a:spcBef>
                <a:spcPts val="0"/>
              </a:spcBef>
              <a:spcAft>
                <a:spcPts val="0"/>
              </a:spcAft>
              <a:buNone/>
              <a:defRPr sz="1400" b="0" i="0" u="none" cap="none">
                <a:solidFill>
                  <a:schemeClr val="dk1"/>
                </a:solidFill>
                <a:latin typeface="Arial"/>
                <a:ea typeface="Arial"/>
                <a:cs typeface="Arial"/>
              </a:defRPr>
            </a:lvl8pPr>
            <a:lvl9pPr algn="l">
              <a:spcBef>
                <a:spcPts val="0"/>
              </a:spcBef>
              <a:spcAft>
                <a:spcPts val="0"/>
              </a:spcAft>
              <a:buNone/>
              <a:defRPr sz="1400" b="0" i="0" u="none" cap="none">
                <a:solidFill>
                  <a:schemeClr val="dk1"/>
                </a:solidFill>
                <a:latin typeface="Arial"/>
                <a:ea typeface="Arial"/>
                <a:cs typeface="Arial"/>
              </a:defRPr>
            </a:lvl9pPr>
          </a:lstStyle>
          <a:p xmlns:a="http://schemas.openxmlformats.org/drawingml/2006/main"/>
        </p:txBody>
      </p:sp>
      <p:sp>
        <p:nvSpPr>
          <p:cNvPr id="10" name="Shape 5">
            <a:extLst xmlns:a="http://schemas.openxmlformats.org/drawingml/2006/main">
              <a:ext uri="{FF2B5EF4-FFF2-40B4-BE49-F238E27FC236}">
                <a16:creationId xmlns:a16="http://schemas.microsoft.com/office/drawing/2014/main" id="{CD689E67-8A0C-4CD8-9EA2-B5C5D05738C4}"/>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sz="900" b="0" i="0" u="none" cap="none">
                <a:solidFill>
                  <a:srgbClr val="888888"/>
                </a:solidFill>
                <a:latin typeface="Arial"/>
                <a:ea typeface="Arial"/>
                <a:cs typeface="Arial"/>
              </a:defRPr>
            </a:lvl1pPr>
            <a:lvl2pPr marL="0" indent="0" algn="r">
              <a:spcBef>
                <a:spcPts val="0"/>
              </a:spcBef>
              <a:buNone/>
              <a:defRPr sz="900" b="0" i="0" u="none" cap="none">
                <a:solidFill>
                  <a:srgbClr val="888888"/>
                </a:solidFill>
                <a:latin typeface="Arial"/>
                <a:ea typeface="Arial"/>
                <a:cs typeface="Arial"/>
              </a:defRPr>
            </a:lvl2pPr>
            <a:lvl3pPr marL="0" indent="0" algn="r">
              <a:spcBef>
                <a:spcPts val="0"/>
              </a:spcBef>
              <a:buNone/>
              <a:defRPr sz="900" b="0" i="0" u="none" cap="none">
                <a:solidFill>
                  <a:srgbClr val="888888"/>
                </a:solidFill>
                <a:latin typeface="Arial"/>
                <a:ea typeface="Arial"/>
                <a:cs typeface="Arial"/>
              </a:defRPr>
            </a:lvl3pPr>
            <a:lvl4pPr marL="0" indent="0" algn="r">
              <a:spcBef>
                <a:spcPts val="0"/>
              </a:spcBef>
              <a:buNone/>
              <a:defRPr sz="900" b="0" i="0" u="none" cap="none">
                <a:solidFill>
                  <a:srgbClr val="888888"/>
                </a:solidFill>
                <a:latin typeface="Arial"/>
                <a:ea typeface="Arial"/>
                <a:cs typeface="Arial"/>
              </a:defRPr>
            </a:lvl4pPr>
            <a:lvl5pPr marL="0" indent="0" algn="r">
              <a:spcBef>
                <a:spcPts val="0"/>
              </a:spcBef>
              <a:buNone/>
              <a:defRPr sz="900" b="0" i="0" u="none" cap="none">
                <a:solidFill>
                  <a:srgbClr val="888888"/>
                </a:solidFill>
                <a:latin typeface="Arial"/>
                <a:ea typeface="Arial"/>
                <a:cs typeface="Arial"/>
              </a:defRPr>
            </a:lvl5pPr>
            <a:lvl6pPr marL="0" indent="0" algn="r">
              <a:spcBef>
                <a:spcPts val="0"/>
              </a:spcBef>
              <a:buNone/>
              <a:defRPr sz="900" b="0" i="0" u="none" cap="none">
                <a:solidFill>
                  <a:srgbClr val="888888"/>
                </a:solidFill>
                <a:latin typeface="Arial"/>
                <a:ea typeface="Arial"/>
                <a:cs typeface="Arial"/>
              </a:defRPr>
            </a:lvl6pPr>
            <a:lvl7pPr marL="0" indent="0" algn="r">
              <a:spcBef>
                <a:spcPts val="0"/>
              </a:spcBef>
              <a:buNone/>
              <a:defRPr sz="900" b="0" i="0" u="none" cap="none">
                <a:solidFill>
                  <a:srgbClr val="888888"/>
                </a:solidFill>
                <a:latin typeface="Arial"/>
                <a:ea typeface="Arial"/>
                <a:cs typeface="Arial"/>
              </a:defRPr>
            </a:lvl7pPr>
            <a:lvl8pPr marL="0" indent="0" algn="r">
              <a:spcBef>
                <a:spcPts val="0"/>
              </a:spcBef>
              <a:buNone/>
              <a:defRPr sz="900" b="0" i="0" u="none" cap="none">
                <a:solidFill>
                  <a:srgbClr val="888888"/>
                </a:solidFill>
                <a:latin typeface="Arial"/>
                <a:ea typeface="Arial"/>
                <a:cs typeface="Arial"/>
              </a:defRPr>
            </a:lvl8pPr>
            <a:lvl9pPr marL="0" indent="0" algn="r">
              <a:spcBef>
                <a:spcPts val="0"/>
              </a:spcBef>
              <a:buNone/>
              <a:defRPr sz="900" b="0" i="0" u="none" cap="none">
                <a:solidFill>
                  <a:srgbClr val="888888"/>
                </a:solidFill>
                <a:latin typeface="Arial"/>
                <a:ea typeface="Arial"/>
                <a:cs typeface="Arial"/>
              </a:defRPr>
            </a:lvl9pPr>
          </a:lstStyle>
          <a:p xmlns:a="http://schemas.openxmlformats.org/drawingml/2006/main">
            <a:pPr marL="0" indent="0" algn="r">
              <a:spcBef>
                <a:spcPts val="0"/>
              </a:spcBef>
              <a:spcAft>
                <a:spcPts val="0"/>
              </a:spcAft>
              <a:buNone/>
            </a:pPr>
            <a:fld id="{00000000-1234-1234-1234-123412341234}" type="slidenum">
              <a:t>‹#›</a:t>
            </a:fld>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0c93fa12db34c10"/>
    <p:sldLayoutId xmlns:r="http://schemas.openxmlformats.org/officeDocument/2006/relationships" id="2147483650" r:id="R9c6dc2d01b0145c9"/>
    <p:sldLayoutId xmlns:r="http://schemas.openxmlformats.org/officeDocument/2006/relationships" id="2147483651" r:id="Ree5d57993fff4171"/>
    <p:sldLayoutId xmlns:r="http://schemas.openxmlformats.org/officeDocument/2006/relationships" id="2147483652" r:id="R0ceb42b7ddda47a6"/>
    <p:sldLayoutId xmlns:r="http://schemas.openxmlformats.org/officeDocument/2006/relationships" id="2147483653" r:id="R1b3142dc55124cef"/>
    <p:sldLayoutId xmlns:r="http://schemas.openxmlformats.org/officeDocument/2006/relationships" id="2147483654" r:id="R0f0fa102781d4f5e"/>
    <p:sldLayoutId xmlns:r="http://schemas.openxmlformats.org/officeDocument/2006/relationships" id="2147483655" r:id="R1467009d4c0b43d0"/>
    <p:sldLayoutId xmlns:r="http://schemas.openxmlformats.org/officeDocument/2006/relationships" id="2147483656" r:id="Re047bbc2a88e4d94"/>
    <p:sldLayoutId xmlns:r="http://schemas.openxmlformats.org/officeDocument/2006/relationships" id="2147483657" r:id="Rc26a765ecb1b4841"/>
    <p:sldLayoutId xmlns:r="http://schemas.openxmlformats.org/officeDocument/2006/relationships" id="2147483658" r:id="R44806326147d44ee"/>
    <p:sldLayoutId xmlns:r="http://schemas.openxmlformats.org/officeDocument/2006/relationships" id="2147483659" r:id="Rea9751d15d534366"/>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61" r:id="Rad8f8f46d31b4851"/>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d6939b6301b449c1" /><Relationship Type="http://schemas.openxmlformats.org/officeDocument/2006/relationships/notesSlide" Target="/ppt/notesSlides/notesSlide1.xml" Id="Rd0ad67086f5149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2.xml" Id="R41ee0fc8335a4cd0" /><Relationship Type="http://schemas.openxmlformats.org/officeDocument/2006/relationships/notesSlide" Target="/ppt/notesSlides/notesSlide2.xml" Id="R707b1a8160be44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2.xml" Id="R235fdc2a29d94ca4" /><Relationship Type="http://schemas.openxmlformats.org/officeDocument/2006/relationships/notesSlide" Target="/ppt/notesSlides/notesSlide3.xml" Id="R50c857d70b7245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1a3ac87427bc4f42" /><Relationship Type="http://schemas.openxmlformats.org/officeDocument/2006/relationships/notesSlide" Target="/ppt/notesSlides/notesSlide4.xml" Id="Rd648b591aebc4d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44777d77199e429d" /><Relationship Type="http://schemas.openxmlformats.org/officeDocument/2006/relationships/notesSlide" Target="/ppt/notesSlides/notesSlide5.xml" Id="R82039edcf78246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2.xml" Id="Rbdd1cb4c138a4636" /><Relationship Type="http://schemas.openxmlformats.org/officeDocument/2006/relationships/image" Target="/ppt/media/image.png" Id="R937a1df900f446e1" /><Relationship Type="http://schemas.openxmlformats.org/officeDocument/2006/relationships/notesSlide" Target="/ppt/notesSlides/notesSlide6.xml" Id="R59825a7555bf4b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2.xml" Id="R2a02cb1eede84783" /><Relationship Type="http://schemas.openxmlformats.org/officeDocument/2006/relationships/image" Target="/ppt/media/image2.png" Id="Rd6214eb16b984e6c" /><Relationship Type="http://schemas.openxmlformats.org/officeDocument/2006/relationships/notesSlide" Target="/ppt/notesSlides/notesSlide7.xml" Id="R57bb8c638a6e45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2.xml" Id="R3652b810f29e4c03" /><Relationship Type="http://schemas.openxmlformats.org/officeDocument/2006/relationships/image" Target="/ppt/media/image3.png" Id="Rd05fddb5c5a049cb" /><Relationship Type="http://schemas.openxmlformats.org/officeDocument/2006/relationships/notesSlide" Target="/ppt/notesSlides/notesSlide8.xml" Id="Rcd1ae28e526b4cb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d12531ba8424bc7" /><Relationship Type="http://schemas.openxmlformats.org/officeDocument/2006/relationships/notesSlide" Target="/ppt/notesSlides/notesSlide9.xml" Id="R3faac6b4d09148f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9ad50d534a54fd2" /><Relationship Type="http://schemas.openxmlformats.org/officeDocument/2006/relationships/image" Target="/ppt/media/image4.png" Id="R085676ec22f1475e" /><Relationship Type="http://schemas.openxmlformats.org/officeDocument/2006/relationships/notesSlide" Target="/ppt/notesSlides/notesSlide10.xml" Id="R0b9ae5566cab4391" /></Relationships>
</file>

<file path=ppt/slides/slide1.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CFEBA8A2-D777-4117-ACFC-F30019749A7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oundRect">
            <a:avLst>
              <a:gd name="adj" fmla="val 0"/>
            </a:avLst>
          </a:prstGeom>
          <a:solidFill xmlns:a="http://schemas.openxmlformats.org/drawingml/2006/main">
            <a:srgbClr val="F7F4ED">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7723455E-047F-4081-BC39-7A13CF825CFC}"/>
              </a:ext>
            </a:extLst>
          </p:cNvPr>
          <p:cNvSpPr>
            <a:spLocks xmlns:a="http://schemas.openxmlformats.org/drawingml/2006/main" noGrp="1"/>
          </p:cNvSpPr>
          <p:nvPr/>
        </p:nvSpPr>
        <p:spPr>
          <a:xfrm xmlns:a="http://schemas.openxmlformats.org/drawingml/2006/main">
            <a:off x="685800" y="419100"/>
            <a:ext cx="266700" cy="38100"/>
          </a:xfrm>
          <a:prstGeom xmlns:a="http://schemas.openxmlformats.org/drawingml/2006/main" prst="roundRect">
            <a:avLst>
              <a:gd name="adj" fmla="val 0"/>
            </a:avLst>
          </a:prstGeom>
          <a:solidFill xmlns:a="http://schemas.openxmlformats.org/drawingml/2006/main">
            <a:srgbClr val="167C8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4" name="AutoShape 4">
            <a:extLst xmlns:a="http://schemas.openxmlformats.org/drawingml/2006/main">
              <a:ext uri="{FF2B5EF4-FFF2-40B4-BE49-F238E27FC236}">
                <a16:creationId xmlns:a16="http://schemas.microsoft.com/office/drawing/2014/main" id="{EFEA009A-DEFB-4844-BC25-7780DF7F50E5}"/>
              </a:ext>
            </a:extLst>
          </p:cNvPr>
          <p:cNvSpPr>
            <a:spLocks xmlns:a="http://schemas.openxmlformats.org/drawingml/2006/main" noGrp="1"/>
          </p:cNvSpPr>
          <p:nvPr/>
        </p:nvSpPr>
        <p:spPr>
          <a:xfrm xmlns:a="http://schemas.openxmlformats.org/drawingml/2006/main">
            <a:off x="1066800" y="330200"/>
            <a:ext cx="4953000" cy="2540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r>
              <a:rPr sz="1000" b="1" i="0" u="none">
                <a:solidFill>
                  <a:srgbClr val="5E6975"/>
                </a:solidFill>
                <a:latin typeface="Aptos"/>
                <a:ea typeface="Aptos"/>
                <a:cs typeface="Aptos"/>
              </a:rPr>
              <a:t>PROJECT THESIS</a:t>
            </a:r>
          </a:p>
        </p:txBody>
      </p:sp>
      <p:sp>
        <p:nvSpPr>
          <p:cNvPr id="5" name="AutoShape 5">
            <a:extLst xmlns:a="http://schemas.openxmlformats.org/drawingml/2006/main">
              <a:ext uri="{FF2B5EF4-FFF2-40B4-BE49-F238E27FC236}">
                <a16:creationId xmlns:a16="http://schemas.microsoft.com/office/drawing/2014/main" id="{381BCEED-1DF8-4927-AB2E-A7CA07E888B9}"/>
              </a:ext>
            </a:extLst>
          </p:cNvPr>
          <p:cNvSpPr>
            <a:spLocks xmlns:a="http://schemas.openxmlformats.org/drawingml/2006/main" noGrp="1"/>
          </p:cNvSpPr>
          <p:nvPr/>
        </p:nvSpPr>
        <p:spPr>
          <a:xfrm xmlns:a="http://schemas.openxmlformats.org/drawingml/2006/main">
            <a:off x="685800" y="838200"/>
            <a:ext cx="9652000" cy="123444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3300"/>
            </a:pPr>
            <a:r>
              <a:rPr sz="3300" b="1" i="0" u="none">
                <a:solidFill>
                  <a:srgbClr val="1E252B"/>
                </a:solidFill>
                <a:latin typeface="Play"/>
                <a:ea typeface="Play"/>
                <a:cs typeface="Play"/>
              </a:rPr>
              <a:t>Style-Aware Adaptation for Language-Conditioned Humanoid Motion Generation</a:t>
            </a:r>
          </a:p>
        </p:txBody>
      </p:sp>
      <p:sp>
        <p:nvSpPr>
          <p:cNvPr id="6" name="AutoShape 6">
            <a:extLst xmlns:a="http://schemas.openxmlformats.org/drawingml/2006/main">
              <a:ext uri="{FF2B5EF4-FFF2-40B4-BE49-F238E27FC236}">
                <a16:creationId xmlns:a16="http://schemas.microsoft.com/office/drawing/2014/main" id="{03619F97-45EA-46B1-9ED8-88180B27AD4B}"/>
              </a:ext>
            </a:extLst>
          </p:cNvPr>
          <p:cNvSpPr>
            <a:spLocks xmlns:a="http://schemas.openxmlformats.org/drawingml/2006/main" noGrp="1"/>
          </p:cNvSpPr>
          <p:nvPr/>
        </p:nvSpPr>
        <p:spPr>
          <a:xfrm xmlns:a="http://schemas.openxmlformats.org/drawingml/2006/main">
            <a:off x="711200" y="2273300"/>
            <a:ext cx="8140700" cy="4572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700">
                <a:solidFill>
                  <a:srgbClr val="5E6975"/>
                </a:solidFill>
                <a:latin typeface="Aptos"/>
                <a:ea typeface="Aptos"/>
                <a:cs typeface="Aptos"/>
              </a:rPr>
              <a:t>R</a:t>
            </a:r>
            <a:r>
              <a:rPr sz="1700" b="0" i="0" u="none">
                <a:solidFill>
                  <a:srgbClr val="5E6975"/>
                </a:solidFill>
                <a:latin typeface="Aptos"/>
                <a:ea typeface="Aptos"/>
                <a:cs typeface="Aptos"/>
              </a:rPr>
              <a:t>eport on </a:t>
            </a:r>
            <a:r>
              <a:rPr sz="1700" b="0" i="0" u="none">
                <a:solidFill>
                  <a:srgbClr val="5E6975"/>
                </a:solidFill>
                <a:latin typeface="Aptos"/>
                <a:ea typeface="Aptos"/>
                <a:cs typeface="Aptos"/>
              </a:rPr>
              <a:t>MoConVQ</a:t>
            </a:r>
            <a:r>
              <a:rPr sz="1700" b="0" i="0" u="none">
                <a:solidFill>
                  <a:srgbClr val="5E6975"/>
                </a:solidFill>
                <a:latin typeface="Aptos"/>
                <a:ea typeface="Aptos"/>
                <a:cs typeface="Aptos"/>
              </a:rPr>
              <a:t> style steering with </a:t>
            </a:r>
            <a:r>
              <a:rPr sz="1700" b="0" i="0" u="none">
                <a:solidFill>
                  <a:srgbClr val="5E6975"/>
                </a:solidFill>
                <a:latin typeface="Aptos"/>
                <a:ea typeface="Aptos"/>
                <a:cs typeface="Aptos"/>
              </a:rPr>
              <a:t>LoRA</a:t>
            </a:r>
            <a:r>
              <a:rPr sz="1700" b="0" i="0" u="none">
                <a:solidFill>
                  <a:srgbClr val="5E6975"/>
                </a:solidFill>
                <a:latin typeface="Aptos"/>
                <a:ea typeface="Aptos"/>
                <a:cs typeface="Aptos"/>
              </a:rPr>
              <a:t> distillation.</a:t>
            </a:r>
          </a:p>
        </p:txBody>
      </p:sp>
      <p:sp>
        <p:nvSpPr>
          <p:cNvPr id="7" name="AutoShape 7">
            <a:extLst xmlns:a="http://schemas.openxmlformats.org/drawingml/2006/main">
              <a:ext uri="{FF2B5EF4-FFF2-40B4-BE49-F238E27FC236}">
                <a16:creationId xmlns:a16="http://schemas.microsoft.com/office/drawing/2014/main" id="{91A80977-418A-4951-83BC-5153750D4216}"/>
              </a:ext>
            </a:extLst>
          </p:cNvPr>
          <p:cNvSpPr>
            <a:spLocks xmlns:a="http://schemas.openxmlformats.org/drawingml/2006/main" noGrp="1"/>
          </p:cNvSpPr>
          <p:nvPr/>
        </p:nvSpPr>
        <p:spPr>
          <a:xfrm xmlns:a="http://schemas.openxmlformats.org/drawingml/2006/main">
            <a:off x="685800" y="3251200"/>
            <a:ext cx="10820400" cy="1233179"/>
          </a:xfrm>
          <a:prstGeom xmlns:a="http://schemas.openxmlformats.org/drawingml/2006/main" prst="roundRect">
            <a:avLst>
              <a:gd name="adj" fmla="val 0"/>
            </a:avLst>
          </a:prstGeom>
          <a:solidFill xmlns:a="http://schemas.openxmlformats.org/drawingml/2006/main">
            <a:srgbClr val="2D344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8" name="AutoShape 8">
            <a:extLst xmlns:a="http://schemas.openxmlformats.org/drawingml/2006/main">
              <a:ext uri="{FF2B5EF4-FFF2-40B4-BE49-F238E27FC236}">
                <a16:creationId xmlns:a16="http://schemas.microsoft.com/office/drawing/2014/main" id="{DE3C51DA-21CB-44E7-8659-14FDDA2E73DE}"/>
              </a:ext>
            </a:extLst>
          </p:cNvPr>
          <p:cNvSpPr>
            <a:spLocks xmlns:a="http://schemas.openxmlformats.org/drawingml/2006/main" noGrp="1"/>
          </p:cNvSpPr>
          <p:nvPr/>
        </p:nvSpPr>
        <p:spPr>
          <a:xfrm xmlns:a="http://schemas.openxmlformats.org/drawingml/2006/main">
            <a:off x="1054100" y="3530600"/>
            <a:ext cx="9652000" cy="713232"/>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1950"/>
            </a:pPr>
            <a:r>
              <a:rPr sz="1950" b="1" i="0" u="none">
                <a:solidFill>
                  <a:srgbClr val="FFFFFF"/>
                </a:solidFill>
                <a:latin typeface="Play"/>
                <a:ea typeface="Play"/>
                <a:cs typeface="Play"/>
              </a:rPr>
              <a:t>When direct HumanML3D-to-MoConVQ supervision was unavailable, the final system switched to pseudo-token distillation and still produced measurable style-direction changes.</a:t>
            </a:r>
          </a:p>
        </p:txBody>
      </p:sp>
      <p:sp>
        <p:nvSpPr>
          <p:cNvPr id="9" name="AutoShape 9">
            <a:extLst xmlns:a="http://schemas.openxmlformats.org/drawingml/2006/main">
              <a:ext uri="{FF2B5EF4-FFF2-40B4-BE49-F238E27FC236}">
                <a16:creationId xmlns:a16="http://schemas.microsoft.com/office/drawing/2014/main" id="{7191C947-7078-4114-8D71-B7961529F774}"/>
              </a:ext>
            </a:extLst>
          </p:cNvPr>
          <p:cNvSpPr>
            <a:spLocks xmlns:a="http://schemas.openxmlformats.org/drawingml/2006/main" noGrp="1"/>
          </p:cNvSpPr>
          <p:nvPr/>
        </p:nvSpPr>
        <p:spPr>
          <a:xfrm xmlns:a="http://schemas.openxmlformats.org/drawingml/2006/main">
            <a:off x="914400" y="5080000"/>
            <a:ext cx="3162300" cy="863600"/>
          </a:xfrm>
          <a:prstGeom xmlns:a="http://schemas.openxmlformats.org/drawingml/2006/main" prst="roundRect">
            <a:avLst>
              <a:gd name="adj" fmla="val 0"/>
            </a:avLst>
          </a:prstGeom>
          <a:solidFill xmlns:a="http://schemas.openxmlformats.org/drawingml/2006/main">
            <a:srgbClr val="FFFFFF">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0" name="AutoShape 10">
            <a:extLst xmlns:a="http://schemas.openxmlformats.org/drawingml/2006/main">
              <a:ext uri="{FF2B5EF4-FFF2-40B4-BE49-F238E27FC236}">
                <a16:creationId xmlns:a16="http://schemas.microsoft.com/office/drawing/2014/main" id="{E35E0BCB-9FF5-403C-ABAE-1879CC330ACB}"/>
              </a:ext>
            </a:extLst>
          </p:cNvPr>
          <p:cNvSpPr>
            <a:spLocks xmlns:a="http://schemas.openxmlformats.org/drawingml/2006/main" noGrp="1"/>
          </p:cNvSpPr>
          <p:nvPr/>
        </p:nvSpPr>
        <p:spPr>
          <a:xfrm xmlns:a="http://schemas.openxmlformats.org/drawingml/2006/main">
            <a:off x="914400" y="5080000"/>
            <a:ext cx="76200" cy="863600"/>
          </a:xfrm>
          <a:prstGeom xmlns:a="http://schemas.openxmlformats.org/drawingml/2006/main" prst="roundRect">
            <a:avLst>
              <a:gd name="adj" fmla="val 0"/>
            </a:avLst>
          </a:prstGeom>
          <a:solidFill xmlns:a="http://schemas.openxmlformats.org/drawingml/2006/main">
            <a:srgbClr val="B15A35">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1" name="AutoShape 11">
            <a:extLst xmlns:a="http://schemas.openxmlformats.org/drawingml/2006/main">
              <a:ext uri="{FF2B5EF4-FFF2-40B4-BE49-F238E27FC236}">
                <a16:creationId xmlns:a16="http://schemas.microsoft.com/office/drawing/2014/main" id="{0D8DBB66-4684-492B-98F9-A4BBE7BD0260}"/>
              </a:ext>
            </a:extLst>
          </p:cNvPr>
          <p:cNvSpPr>
            <a:spLocks xmlns:a="http://schemas.openxmlformats.org/drawingml/2006/main" noGrp="1"/>
          </p:cNvSpPr>
          <p:nvPr/>
        </p:nvSpPr>
        <p:spPr>
          <a:xfrm xmlns:a="http://schemas.openxmlformats.org/drawingml/2006/main">
            <a:off x="1143000" y="5181600"/>
            <a:ext cx="2781300" cy="2794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1850"/>
            </a:pPr>
            <a:r>
              <a:rPr sz="1850" b="1" i="0" u="none">
                <a:solidFill>
                  <a:srgbClr val="B15A35"/>
                </a:solidFill>
                <a:latin typeface="Play"/>
                <a:ea typeface="Play"/>
                <a:cs typeface="Play"/>
              </a:rPr>
              <a:t>Format pivot</a:t>
            </a:r>
          </a:p>
        </p:txBody>
      </p:sp>
      <p:sp>
        <p:nvSpPr>
          <p:cNvPr id="12" name="AutoShape 12">
            <a:extLst xmlns:a="http://schemas.openxmlformats.org/drawingml/2006/main">
              <a:ext uri="{FF2B5EF4-FFF2-40B4-BE49-F238E27FC236}">
                <a16:creationId xmlns:a16="http://schemas.microsoft.com/office/drawing/2014/main" id="{D24554EC-21D0-47A8-99E9-ED84DBC5926A}"/>
              </a:ext>
            </a:extLst>
          </p:cNvPr>
          <p:cNvSpPr>
            <a:spLocks xmlns:a="http://schemas.openxmlformats.org/drawingml/2006/main" noGrp="1"/>
          </p:cNvSpPr>
          <p:nvPr/>
        </p:nvSpPr>
        <p:spPr>
          <a:xfrm xmlns:a="http://schemas.openxmlformats.org/drawingml/2006/main">
            <a:off x="1143000" y="5473700"/>
            <a:ext cx="2781300" cy="1778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100" b="1" i="0" u="none">
                <a:solidFill>
                  <a:srgbClr val="1E252B"/>
                </a:solidFill>
                <a:latin typeface="Aptos"/>
                <a:ea typeface="Aptos"/>
                <a:cs typeface="Aptos"/>
              </a:rPr>
              <a:t>No unsupported token labels required</a:t>
            </a:r>
          </a:p>
        </p:txBody>
      </p:sp>
      <p:sp>
        <p:nvSpPr>
          <p:cNvPr id="13" name="AutoShape 13">
            <a:extLst xmlns:a="http://schemas.openxmlformats.org/drawingml/2006/main">
              <a:ext uri="{FF2B5EF4-FFF2-40B4-BE49-F238E27FC236}">
                <a16:creationId xmlns:a16="http://schemas.microsoft.com/office/drawing/2014/main" id="{77CDDA98-20FC-43B6-B56B-87FEF25C1733}"/>
              </a:ext>
            </a:extLst>
          </p:cNvPr>
          <p:cNvSpPr>
            <a:spLocks xmlns:a="http://schemas.openxmlformats.org/drawingml/2006/main" noGrp="1"/>
          </p:cNvSpPr>
          <p:nvPr/>
        </p:nvSpPr>
        <p:spPr>
          <a:xfrm xmlns:a="http://schemas.openxmlformats.org/drawingml/2006/main">
            <a:off x="1143000" y="5664200"/>
            <a:ext cx="2781300" cy="2159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800" b="0" i="0" u="none">
                <a:solidFill>
                  <a:srgbClr val="5E6975"/>
                </a:solidFill>
                <a:latin typeface="Aptos"/>
                <a:ea typeface="Aptos"/>
                <a:cs typeface="Aptos"/>
              </a:rPr>
              <a:t>Avoids invalid supervision by leveraging pseudo-token distillation method.</a:t>
            </a:r>
          </a:p>
        </p:txBody>
      </p:sp>
      <p:sp>
        <p:nvSpPr>
          <p:cNvPr id="14" name="AutoShape 14">
            <a:extLst xmlns:a="http://schemas.openxmlformats.org/drawingml/2006/main">
              <a:ext uri="{FF2B5EF4-FFF2-40B4-BE49-F238E27FC236}">
                <a16:creationId xmlns:a16="http://schemas.microsoft.com/office/drawing/2014/main" id="{B38C3EB9-D54C-4550-AD7F-5F43F3B2F4EB}"/>
              </a:ext>
            </a:extLst>
          </p:cNvPr>
          <p:cNvSpPr>
            <a:spLocks xmlns:a="http://schemas.openxmlformats.org/drawingml/2006/main" noGrp="1"/>
          </p:cNvSpPr>
          <p:nvPr/>
        </p:nvSpPr>
        <p:spPr>
          <a:xfrm xmlns:a="http://schemas.openxmlformats.org/drawingml/2006/main">
            <a:off x="4521200" y="5080000"/>
            <a:ext cx="3162300" cy="863600"/>
          </a:xfrm>
          <a:prstGeom xmlns:a="http://schemas.openxmlformats.org/drawingml/2006/main" prst="roundRect">
            <a:avLst>
              <a:gd name="adj" fmla="val 0"/>
            </a:avLst>
          </a:prstGeom>
          <a:solidFill xmlns:a="http://schemas.openxmlformats.org/drawingml/2006/main">
            <a:srgbClr val="FFFFFF">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5" name="AutoShape 15">
            <a:extLst xmlns:a="http://schemas.openxmlformats.org/drawingml/2006/main">
              <a:ext uri="{FF2B5EF4-FFF2-40B4-BE49-F238E27FC236}">
                <a16:creationId xmlns:a16="http://schemas.microsoft.com/office/drawing/2014/main" id="{110E1148-6528-4574-BEAD-2BB44D25A626}"/>
              </a:ext>
            </a:extLst>
          </p:cNvPr>
          <p:cNvSpPr>
            <a:spLocks xmlns:a="http://schemas.openxmlformats.org/drawingml/2006/main" noGrp="1"/>
          </p:cNvSpPr>
          <p:nvPr/>
        </p:nvSpPr>
        <p:spPr>
          <a:xfrm xmlns:a="http://schemas.openxmlformats.org/drawingml/2006/main">
            <a:off x="4521200" y="5080000"/>
            <a:ext cx="76200" cy="863600"/>
          </a:xfrm>
          <a:prstGeom xmlns:a="http://schemas.openxmlformats.org/drawingml/2006/main" prst="roundRect">
            <a:avLst>
              <a:gd name="adj" fmla="val 0"/>
            </a:avLst>
          </a:prstGeom>
          <a:solidFill xmlns:a="http://schemas.openxmlformats.org/drawingml/2006/main">
            <a:srgbClr val="2F7DE1">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6" name="AutoShape 16">
            <a:extLst xmlns:a="http://schemas.openxmlformats.org/drawingml/2006/main">
              <a:ext uri="{FF2B5EF4-FFF2-40B4-BE49-F238E27FC236}">
                <a16:creationId xmlns:a16="http://schemas.microsoft.com/office/drawing/2014/main" id="{3D2CABFB-80F9-4BD8-9F6B-F5449869DB8D}"/>
              </a:ext>
            </a:extLst>
          </p:cNvPr>
          <p:cNvSpPr>
            <a:spLocks xmlns:a="http://schemas.openxmlformats.org/drawingml/2006/main" noGrp="1"/>
          </p:cNvSpPr>
          <p:nvPr/>
        </p:nvSpPr>
        <p:spPr>
          <a:xfrm xmlns:a="http://schemas.openxmlformats.org/drawingml/2006/main">
            <a:off x="4749800" y="5181600"/>
            <a:ext cx="2781300" cy="2794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1850"/>
            </a:pPr>
            <a:r>
              <a:rPr sz="1850" b="1" i="0" u="none">
                <a:solidFill>
                  <a:srgbClr val="2F7DE1"/>
                </a:solidFill>
                <a:latin typeface="Play"/>
                <a:ea typeface="Play"/>
                <a:cs typeface="Play"/>
              </a:rPr>
              <a:t>1.97M</a:t>
            </a:r>
          </a:p>
        </p:txBody>
      </p:sp>
      <p:sp>
        <p:nvSpPr>
          <p:cNvPr id="17" name="AutoShape 17">
            <a:extLst xmlns:a="http://schemas.openxmlformats.org/drawingml/2006/main">
              <a:ext uri="{FF2B5EF4-FFF2-40B4-BE49-F238E27FC236}">
                <a16:creationId xmlns:a16="http://schemas.microsoft.com/office/drawing/2014/main" id="{C0197160-DE1C-4294-9251-3245ECDEA6DD}"/>
              </a:ext>
            </a:extLst>
          </p:cNvPr>
          <p:cNvSpPr>
            <a:spLocks xmlns:a="http://schemas.openxmlformats.org/drawingml/2006/main" noGrp="1"/>
          </p:cNvSpPr>
          <p:nvPr/>
        </p:nvSpPr>
        <p:spPr>
          <a:xfrm xmlns:a="http://schemas.openxmlformats.org/drawingml/2006/main">
            <a:off x="4749800" y="5473700"/>
            <a:ext cx="2781300" cy="1778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100" b="1" i="0" u="none">
                <a:solidFill>
                  <a:srgbClr val="1E252B"/>
                </a:solidFill>
                <a:latin typeface="Aptos"/>
                <a:ea typeface="Aptos"/>
                <a:cs typeface="Aptos"/>
              </a:rPr>
              <a:t>Trainable LoRA parameters</a:t>
            </a:r>
          </a:p>
        </p:txBody>
      </p:sp>
      <p:sp>
        <p:nvSpPr>
          <p:cNvPr id="18" name="AutoShape 18">
            <a:extLst xmlns:a="http://schemas.openxmlformats.org/drawingml/2006/main">
              <a:ext uri="{FF2B5EF4-FFF2-40B4-BE49-F238E27FC236}">
                <a16:creationId xmlns:a16="http://schemas.microsoft.com/office/drawing/2014/main" id="{0C917789-0F8C-46B0-A1DF-38B941BF38C3}"/>
              </a:ext>
            </a:extLst>
          </p:cNvPr>
          <p:cNvSpPr>
            <a:spLocks xmlns:a="http://schemas.openxmlformats.org/drawingml/2006/main" noGrp="1"/>
          </p:cNvSpPr>
          <p:nvPr/>
        </p:nvSpPr>
        <p:spPr>
          <a:xfrm xmlns:a="http://schemas.openxmlformats.org/drawingml/2006/main">
            <a:off x="4749800" y="5664200"/>
            <a:ext cx="2781300" cy="2159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800" b="0" i="0" u="none">
                <a:solidFill>
                  <a:srgbClr val="5E6975"/>
                </a:solidFill>
                <a:latin typeface="Aptos"/>
                <a:ea typeface="Aptos"/>
                <a:cs typeface="Aptos"/>
              </a:rPr>
              <a:t>Only 1.005% of the total generator parameters are updated.</a:t>
            </a:r>
          </a:p>
        </p:txBody>
      </p:sp>
      <p:sp>
        <p:nvSpPr>
          <p:cNvPr id="19" name="AutoShape 19">
            <a:extLst xmlns:a="http://schemas.openxmlformats.org/drawingml/2006/main">
              <a:ext uri="{FF2B5EF4-FFF2-40B4-BE49-F238E27FC236}">
                <a16:creationId xmlns:a16="http://schemas.microsoft.com/office/drawing/2014/main" id="{4222BFF8-7457-4F4D-8639-F9636BD52FBD}"/>
              </a:ext>
            </a:extLst>
          </p:cNvPr>
          <p:cNvSpPr>
            <a:spLocks xmlns:a="http://schemas.openxmlformats.org/drawingml/2006/main" noGrp="1"/>
          </p:cNvSpPr>
          <p:nvPr/>
        </p:nvSpPr>
        <p:spPr>
          <a:xfrm xmlns:a="http://schemas.openxmlformats.org/drawingml/2006/main">
            <a:off x="8115300" y="5080000"/>
            <a:ext cx="3162300" cy="863600"/>
          </a:xfrm>
          <a:prstGeom xmlns:a="http://schemas.openxmlformats.org/drawingml/2006/main" prst="roundRect">
            <a:avLst>
              <a:gd name="adj" fmla="val 0"/>
            </a:avLst>
          </a:prstGeom>
          <a:solidFill xmlns:a="http://schemas.openxmlformats.org/drawingml/2006/main">
            <a:srgbClr val="FFFFFF">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0" name="AutoShape 20">
            <a:extLst xmlns:a="http://schemas.openxmlformats.org/drawingml/2006/main">
              <a:ext uri="{FF2B5EF4-FFF2-40B4-BE49-F238E27FC236}">
                <a16:creationId xmlns:a16="http://schemas.microsoft.com/office/drawing/2014/main" id="{6D5D8619-5940-447F-8132-064AA9768DCC}"/>
              </a:ext>
            </a:extLst>
          </p:cNvPr>
          <p:cNvSpPr>
            <a:spLocks xmlns:a="http://schemas.openxmlformats.org/drawingml/2006/main" noGrp="1"/>
          </p:cNvSpPr>
          <p:nvPr/>
        </p:nvSpPr>
        <p:spPr>
          <a:xfrm xmlns:a="http://schemas.openxmlformats.org/drawingml/2006/main">
            <a:off x="8115300" y="5080000"/>
            <a:ext cx="76200" cy="863600"/>
          </a:xfrm>
          <a:prstGeom xmlns:a="http://schemas.openxmlformats.org/drawingml/2006/main" prst="roundRect">
            <a:avLst>
              <a:gd name="adj" fmla="val 0"/>
            </a:avLst>
          </a:prstGeom>
          <a:solidFill xmlns:a="http://schemas.openxmlformats.org/drawingml/2006/main">
            <a:srgbClr val="167C8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1" name="AutoShape 21">
            <a:extLst xmlns:a="http://schemas.openxmlformats.org/drawingml/2006/main">
              <a:ext uri="{FF2B5EF4-FFF2-40B4-BE49-F238E27FC236}">
                <a16:creationId xmlns:a16="http://schemas.microsoft.com/office/drawing/2014/main" id="{918CC6A8-8FC4-465C-AE83-42102FAB568D}"/>
              </a:ext>
            </a:extLst>
          </p:cNvPr>
          <p:cNvSpPr>
            <a:spLocks xmlns:a="http://schemas.openxmlformats.org/drawingml/2006/main" noGrp="1"/>
          </p:cNvSpPr>
          <p:nvPr/>
        </p:nvSpPr>
        <p:spPr>
          <a:xfrm xmlns:a="http://schemas.openxmlformats.org/drawingml/2006/main">
            <a:off x="8343900" y="5181600"/>
            <a:ext cx="2781300" cy="2794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1850"/>
            </a:pPr>
            <a:r>
              <a:rPr sz="1850" b="1" i="0" u="none">
                <a:solidFill>
                  <a:srgbClr val="167C80"/>
                </a:solidFill>
                <a:latin typeface="Play"/>
                <a:ea typeface="Play"/>
                <a:cs typeface="Play"/>
              </a:rPr>
              <a:t>18/22</a:t>
            </a:r>
          </a:p>
        </p:txBody>
      </p:sp>
      <p:sp>
        <p:nvSpPr>
          <p:cNvPr id="22" name="AutoShape 22">
            <a:extLst xmlns:a="http://schemas.openxmlformats.org/drawingml/2006/main">
              <a:ext uri="{FF2B5EF4-FFF2-40B4-BE49-F238E27FC236}">
                <a16:creationId xmlns:a16="http://schemas.microsoft.com/office/drawing/2014/main" id="{6C81330A-4C74-4019-8DDD-8C4938B3AA2B}"/>
              </a:ext>
            </a:extLst>
          </p:cNvPr>
          <p:cNvSpPr>
            <a:spLocks xmlns:a="http://schemas.openxmlformats.org/drawingml/2006/main" noGrp="1"/>
          </p:cNvSpPr>
          <p:nvPr/>
        </p:nvSpPr>
        <p:spPr>
          <a:xfrm xmlns:a="http://schemas.openxmlformats.org/drawingml/2006/main">
            <a:off x="8343900" y="5473700"/>
            <a:ext cx="2781300" cy="1778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100" b="1" i="0" u="none">
                <a:solidFill>
                  <a:srgbClr val="1E252B"/>
                </a:solidFill>
                <a:latin typeface="Aptos"/>
                <a:ea typeface="Aptos"/>
                <a:cs typeface="Aptos"/>
              </a:rPr>
              <a:t>Proxy checks improved</a:t>
            </a:r>
          </a:p>
        </p:txBody>
      </p:sp>
      <p:sp>
        <p:nvSpPr>
          <p:cNvPr id="23" name="AutoShape 23">
            <a:extLst xmlns:a="http://schemas.openxmlformats.org/drawingml/2006/main">
              <a:ext uri="{FF2B5EF4-FFF2-40B4-BE49-F238E27FC236}">
                <a16:creationId xmlns:a16="http://schemas.microsoft.com/office/drawing/2014/main" id="{2583DA88-F0D2-4EB8-A353-3736F8669F4A}"/>
              </a:ext>
            </a:extLst>
          </p:cNvPr>
          <p:cNvSpPr>
            <a:spLocks xmlns:a="http://schemas.openxmlformats.org/drawingml/2006/main" noGrp="1"/>
          </p:cNvSpPr>
          <p:nvPr/>
        </p:nvSpPr>
        <p:spPr>
          <a:xfrm xmlns:a="http://schemas.openxmlformats.org/drawingml/2006/main">
            <a:off x="8343900" y="5664200"/>
            <a:ext cx="2781300" cy="2159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800" b="0" i="0" u="none">
                <a:solidFill>
                  <a:srgbClr val="5E6975"/>
                </a:solidFill>
                <a:latin typeface="Aptos"/>
                <a:ea typeface="Aptos"/>
                <a:cs typeface="Aptos"/>
              </a:rPr>
              <a:t>81.8% expected-direction proxy win rate.</a:t>
            </a:r>
          </a:p>
        </p:txBody>
      </p:sp>
      <p:sp>
        <p:nvSpPr>
          <p:cNvPr id="24" name="AutoShape 24">
            <a:extLst xmlns:a="http://schemas.openxmlformats.org/drawingml/2006/main">
              <a:ext uri="{FF2B5EF4-FFF2-40B4-BE49-F238E27FC236}">
                <a16:creationId xmlns:a16="http://schemas.microsoft.com/office/drawing/2014/main" id="{E1B29D58-6761-4705-9318-E9EDB3E3C23E}"/>
              </a:ext>
            </a:extLst>
          </p:cNvPr>
          <p:cNvSpPr>
            <a:spLocks xmlns:a="http://schemas.openxmlformats.org/drawingml/2006/main" noGrp="1"/>
          </p:cNvSpPr>
          <p:nvPr/>
        </p:nvSpPr>
        <p:spPr>
          <a:xfrm xmlns:a="http://schemas.openxmlformats.org/drawingml/2006/main">
            <a:off x="685800" y="6350000"/>
            <a:ext cx="10820400" cy="12700"/>
          </a:xfrm>
          <a:prstGeom xmlns:a="http://schemas.openxmlformats.org/drawingml/2006/main" prst="roundRect">
            <a:avLst>
              <a:gd name="adj" fmla="val 0"/>
            </a:avLst>
          </a:prstGeom>
          <a:solidFill xmlns:a="http://schemas.openxmlformats.org/drawingml/2006/main">
            <a:srgbClr val="D8D0C2">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5" name="AutoShape 25">
            <a:extLst xmlns:a="http://schemas.openxmlformats.org/drawingml/2006/main">
              <a:ext uri="{FF2B5EF4-FFF2-40B4-BE49-F238E27FC236}">
                <a16:creationId xmlns:a16="http://schemas.microsoft.com/office/drawing/2014/main" id="{ADC840B4-E150-4B23-B074-27260FE1AA60}"/>
              </a:ext>
            </a:extLst>
          </p:cNvPr>
          <p:cNvSpPr>
            <a:spLocks xmlns:a="http://schemas.openxmlformats.org/drawingml/2006/main" noGrp="1"/>
          </p:cNvSpPr>
          <p:nvPr/>
        </p:nvSpPr>
        <p:spPr>
          <a:xfrm xmlns:a="http://schemas.openxmlformats.org/drawingml/2006/main">
            <a:off x="685800" y="6426200"/>
            <a:ext cx="5905500" cy="190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800" b="0" i="0" u="none">
                <a:solidFill>
                  <a:srgbClr val="7A746A"/>
                </a:solidFill>
                <a:latin typeface="Aptos"/>
                <a:ea typeface="Aptos"/>
                <a:cs typeface="Aptos"/>
              </a:rPr>
              <a:t>Source: Project Report on MoConVQ Style Steering</a:t>
            </a:r>
          </a:p>
        </p:txBody>
      </p:sp>
      <p:sp>
        <p:nvSpPr>
          <p:cNvPr id="26" name="AutoShape 26">
            <a:extLst xmlns:a="http://schemas.openxmlformats.org/drawingml/2006/main">
              <a:ext uri="{FF2B5EF4-FFF2-40B4-BE49-F238E27FC236}">
                <a16:creationId xmlns:a16="http://schemas.microsoft.com/office/drawing/2014/main" id="{3B2AE432-2B88-43FC-AC32-2A926F1EBCFF}"/>
              </a:ext>
            </a:extLst>
          </p:cNvPr>
          <p:cNvSpPr>
            <a:spLocks xmlns:a="http://schemas.openxmlformats.org/drawingml/2006/main" noGrp="1"/>
          </p:cNvSpPr>
          <p:nvPr/>
        </p:nvSpPr>
        <p:spPr>
          <a:xfrm xmlns:a="http://schemas.openxmlformats.org/drawingml/2006/main">
            <a:off x="9626600" y="6426200"/>
            <a:ext cx="1892300" cy="190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r">
              <a:lnSpc>
                <a:spcPct val="100000"/>
              </a:lnSpc>
              <a:buNone/>
            </a:pPr>
            <a:r>
              <a:rPr sz="800" b="0" i="0" u="none">
                <a:solidFill>
                  <a:srgbClr val="7A746A"/>
                </a:solidFill>
                <a:latin typeface="Aptos"/>
                <a:ea typeface="Aptos"/>
                <a:cs typeface="Aptos"/>
              </a:rPr>
              <a:t>1 / 8 - 5-Minute Thesis Report</a:t>
            </a:r>
          </a:p>
        </p:txBody>
      </p:sp>
    </p:spTree>
    <p:extLst>
      <p:ext uri="{BB962C8B-B14F-4D97-AF65-F5344CB8AC3E}">
        <p14:creationId xmlns:p14="http://schemas.microsoft.com/office/powerpoint/2010/main" val="1284977627"/>
      </p:ext>
    </p:extLst>
  </p:cSld>
</p:sld>
</file>

<file path=ppt/slides/slide2.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C8AA9465-D3D9-486C-B98C-9DB6F66956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oundRect">
            <a:avLst>
              <a:gd name="adj" fmla="val 0"/>
            </a:avLst>
          </a:prstGeom>
          <a:solidFill xmlns:a="http://schemas.openxmlformats.org/drawingml/2006/main">
            <a:srgbClr val="F7F4ED">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E7C75221-99A0-40F2-95E9-DB62211C98D8}"/>
              </a:ext>
            </a:extLst>
          </p:cNvPr>
          <p:cNvSpPr>
            <a:spLocks xmlns:a="http://schemas.openxmlformats.org/drawingml/2006/main" noGrp="1"/>
          </p:cNvSpPr>
          <p:nvPr/>
        </p:nvSpPr>
        <p:spPr>
          <a:xfrm xmlns:a="http://schemas.openxmlformats.org/drawingml/2006/main">
            <a:off x="685800" y="419100"/>
            <a:ext cx="266700" cy="38100"/>
          </a:xfrm>
          <a:prstGeom xmlns:a="http://schemas.openxmlformats.org/drawingml/2006/main" prst="roundRect">
            <a:avLst>
              <a:gd name="adj" fmla="val 0"/>
            </a:avLst>
          </a:prstGeom>
          <a:solidFill xmlns:a="http://schemas.openxmlformats.org/drawingml/2006/main">
            <a:srgbClr val="167C8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4" name="AutoShape 4">
            <a:extLst xmlns:a="http://schemas.openxmlformats.org/drawingml/2006/main">
              <a:ext uri="{FF2B5EF4-FFF2-40B4-BE49-F238E27FC236}">
                <a16:creationId xmlns:a16="http://schemas.microsoft.com/office/drawing/2014/main" id="{1125C191-23F3-49EC-90DB-747D3FAAD972}"/>
              </a:ext>
            </a:extLst>
          </p:cNvPr>
          <p:cNvSpPr>
            <a:spLocks xmlns:a="http://schemas.openxmlformats.org/drawingml/2006/main" noGrp="1"/>
          </p:cNvSpPr>
          <p:nvPr/>
        </p:nvSpPr>
        <p:spPr>
          <a:xfrm xmlns:a="http://schemas.openxmlformats.org/drawingml/2006/main">
            <a:off x="1066800" y="330200"/>
            <a:ext cx="4953000" cy="2540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r>
              <a:rPr sz="1000" b="1" i="0" u="none">
                <a:solidFill>
                  <a:srgbClr val="5E6975"/>
                </a:solidFill>
                <a:latin typeface="Aptos"/>
                <a:ea typeface="Aptos"/>
                <a:cs typeface="Aptos"/>
              </a:rPr>
              <a:t>RESEARCH MOTIVATION</a:t>
            </a:r>
          </a:p>
        </p:txBody>
      </p:sp>
      <p:sp>
        <p:nvSpPr>
          <p:cNvPr id="5" name="AutoShape 5">
            <a:extLst xmlns:a="http://schemas.openxmlformats.org/drawingml/2006/main">
              <a:ext uri="{FF2B5EF4-FFF2-40B4-BE49-F238E27FC236}">
                <a16:creationId xmlns:a16="http://schemas.microsoft.com/office/drawing/2014/main" id="{C1227CA9-49FA-4096-9359-965EC10EDA5E}"/>
              </a:ext>
            </a:extLst>
          </p:cNvPr>
          <p:cNvSpPr>
            <a:spLocks xmlns:a="http://schemas.openxmlformats.org/drawingml/2006/main" noGrp="1"/>
          </p:cNvSpPr>
          <p:nvPr/>
        </p:nvSpPr>
        <p:spPr>
          <a:xfrm xmlns:a="http://schemas.openxmlformats.org/drawingml/2006/main">
            <a:off x="685800" y="723900"/>
            <a:ext cx="8953500" cy="658368"/>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2500"/>
            </a:pPr>
            <a:r>
              <a:rPr sz="2500" b="1" i="0" u="none">
                <a:solidFill>
                  <a:srgbClr val="1E252B"/>
                </a:solidFill>
                <a:latin typeface="Play"/>
                <a:ea typeface="Play"/>
                <a:cs typeface="Play"/>
              </a:rPr>
              <a:t>Why style control matters for language-guided motion</a:t>
            </a:r>
          </a:p>
        </p:txBody>
      </p:sp>
      <p:sp>
        <p:nvSpPr>
          <p:cNvPr id="6" name="AutoShape 6">
            <a:extLst xmlns:a="http://schemas.openxmlformats.org/drawingml/2006/main">
              <a:ext uri="{FF2B5EF4-FFF2-40B4-BE49-F238E27FC236}">
                <a16:creationId xmlns:a16="http://schemas.microsoft.com/office/drawing/2014/main" id="{8D0BE226-D222-4B87-AFEA-B1913495C285}"/>
              </a:ext>
            </a:extLst>
          </p:cNvPr>
          <p:cNvSpPr>
            <a:spLocks xmlns:a="http://schemas.openxmlformats.org/drawingml/2006/main" noGrp="1"/>
          </p:cNvSpPr>
          <p:nvPr/>
        </p:nvSpPr>
        <p:spPr>
          <a:xfrm xmlns:a="http://schemas.openxmlformats.org/drawingml/2006/main">
            <a:off x="685800" y="1968500"/>
            <a:ext cx="3162300" cy="3263900"/>
          </a:xfrm>
          <a:prstGeom xmlns:a="http://schemas.openxmlformats.org/drawingml/2006/main" prst="roundRect">
            <a:avLst>
              <a:gd name="adj" fmla="val 0"/>
            </a:avLst>
          </a:prstGeom>
          <a:solidFill xmlns:a="http://schemas.openxmlformats.org/drawingml/2006/main">
            <a:srgbClr val="DDE8F7">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7" name="AutoShape 7">
            <a:extLst xmlns:a="http://schemas.openxmlformats.org/drawingml/2006/main">
              <a:ext uri="{FF2B5EF4-FFF2-40B4-BE49-F238E27FC236}">
                <a16:creationId xmlns:a16="http://schemas.microsoft.com/office/drawing/2014/main" id="{5012639D-F704-4246-B80B-0C7230B4DCEF}"/>
              </a:ext>
            </a:extLst>
          </p:cNvPr>
          <p:cNvSpPr>
            <a:spLocks xmlns:a="http://schemas.openxmlformats.org/drawingml/2006/main" noGrp="1"/>
          </p:cNvSpPr>
          <p:nvPr/>
        </p:nvSpPr>
        <p:spPr>
          <a:xfrm xmlns:a="http://schemas.openxmlformats.org/drawingml/2006/main">
            <a:off x="914400" y="2197100"/>
            <a:ext cx="2667000" cy="2159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900" b="1" i="0" u="none">
                <a:solidFill>
                  <a:srgbClr val="2F7DE1"/>
                </a:solidFill>
                <a:latin typeface="Aptos"/>
                <a:ea typeface="Aptos"/>
                <a:cs typeface="Aptos"/>
              </a:rPr>
              <a:t>BACKGROUND &amp; CORE PROBLEM</a:t>
            </a:r>
          </a:p>
        </p:txBody>
      </p:sp>
      <p:sp>
        <p:nvSpPr>
          <p:cNvPr id="8" name="AutoShape 8">
            <a:extLst xmlns:a="http://schemas.openxmlformats.org/drawingml/2006/main">
              <a:ext uri="{FF2B5EF4-FFF2-40B4-BE49-F238E27FC236}">
                <a16:creationId xmlns:a16="http://schemas.microsoft.com/office/drawing/2014/main" id="{11269F7D-31F7-4DBE-975B-1C55341CA813}"/>
              </a:ext>
            </a:extLst>
          </p:cNvPr>
          <p:cNvSpPr>
            <a:spLocks xmlns:a="http://schemas.openxmlformats.org/drawingml/2006/main" noGrp="1"/>
          </p:cNvSpPr>
          <p:nvPr/>
        </p:nvSpPr>
        <p:spPr>
          <a:xfrm xmlns:a="http://schemas.openxmlformats.org/drawingml/2006/main">
            <a:off x="914400" y="2514600"/>
            <a:ext cx="2628900" cy="6731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1800"/>
            </a:pPr>
            <a:r>
              <a:rPr sz="1800" b="1" i="0" u="none">
                <a:solidFill>
                  <a:srgbClr val="1E252B"/>
                </a:solidFill>
                <a:latin typeface="Play"/>
                <a:ea typeface="Play"/>
                <a:cs typeface="Play"/>
              </a:rPr>
              <a:t>Style Understanding Gap</a:t>
            </a:r>
          </a:p>
        </p:txBody>
      </p:sp>
      <p:sp>
        <p:nvSpPr>
          <p:cNvPr id="9" name="AutoShape 9">
            <a:extLst xmlns:a="http://schemas.openxmlformats.org/drawingml/2006/main">
              <a:ext uri="{FF2B5EF4-FFF2-40B4-BE49-F238E27FC236}">
                <a16:creationId xmlns:a16="http://schemas.microsoft.com/office/drawing/2014/main" id="{D9D77749-CE65-45FA-9B9B-7965B62E915D}"/>
              </a:ext>
            </a:extLst>
          </p:cNvPr>
          <p:cNvSpPr>
            <a:spLocks xmlns:a="http://schemas.openxmlformats.org/drawingml/2006/main" noGrp="1"/>
          </p:cNvSpPr>
          <p:nvPr/>
        </p:nvSpPr>
        <p:spPr>
          <a:xfrm xmlns:a="http://schemas.openxmlformats.org/drawingml/2006/main">
            <a:off x="914400" y="3441700"/>
            <a:ext cx="88900" cy="88900"/>
          </a:xfrm>
          <a:prstGeom xmlns:a="http://schemas.openxmlformats.org/drawingml/2006/main" prst="roundRect">
            <a:avLst>
              <a:gd name="adj" fmla="val 0"/>
            </a:avLst>
          </a:prstGeom>
          <a:solidFill xmlns:a="http://schemas.openxmlformats.org/drawingml/2006/main">
            <a:srgbClr val="2F7DE1">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0" name="AutoShape 10">
            <a:extLst xmlns:a="http://schemas.openxmlformats.org/drawingml/2006/main">
              <a:ext uri="{FF2B5EF4-FFF2-40B4-BE49-F238E27FC236}">
                <a16:creationId xmlns:a16="http://schemas.microsoft.com/office/drawing/2014/main" id="{A1D7DC64-BFB8-43FF-ACC8-F1960AB059BF}"/>
              </a:ext>
            </a:extLst>
          </p:cNvPr>
          <p:cNvSpPr>
            <a:spLocks xmlns:a="http://schemas.openxmlformats.org/drawingml/2006/main" noGrp="1"/>
          </p:cNvSpPr>
          <p:nvPr/>
        </p:nvSpPr>
        <p:spPr>
          <a:xfrm xmlns:a="http://schemas.openxmlformats.org/drawingml/2006/main">
            <a:off x="1143000" y="3352800"/>
            <a:ext cx="2463800" cy="5207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1050"/>
            </a:pPr>
            <a:r>
              <a:rPr sz="1050" b="0" i="0" u="none">
                <a:solidFill>
                  <a:srgbClr val="1E252B"/>
                </a:solidFill>
                <a:latin typeface="Aptos"/>
                <a:ea typeface="Aptos"/>
                <a:cs typeface="Aptos"/>
              </a:rPr>
              <a:t>Natural language interfaces for humanoid motion control are intuitive but current models like </a:t>
            </a:r>
            <a:r>
              <a:rPr sz="1050" b="0" i="0" u="none">
                <a:solidFill>
                  <a:srgbClr val="1E252B"/>
                </a:solidFill>
                <a:latin typeface="Aptos"/>
                <a:ea typeface="Aptos"/>
                <a:cs typeface="Aptos"/>
              </a:rPr>
              <a:t>MoConVQ</a:t>
            </a:r>
            <a:r>
              <a:rPr sz="1050" b="0" i="0" u="none">
                <a:solidFill>
                  <a:srgbClr val="1E252B"/>
                </a:solidFill>
                <a:latin typeface="Aptos"/>
                <a:ea typeface="Aptos"/>
                <a:cs typeface="Aptos"/>
              </a:rPr>
              <a:t> lack fine-grained style adaptation.</a:t>
            </a:r>
          </a:p>
        </p:txBody>
      </p:sp>
      <p:sp>
        <p:nvSpPr>
          <p:cNvPr id="11" name="AutoShape 11">
            <a:extLst xmlns:a="http://schemas.openxmlformats.org/drawingml/2006/main">
              <a:ext uri="{FF2B5EF4-FFF2-40B4-BE49-F238E27FC236}">
                <a16:creationId xmlns:a16="http://schemas.microsoft.com/office/drawing/2014/main" id="{E3EE46DD-281D-43BC-937E-73167453009A}"/>
              </a:ext>
            </a:extLst>
          </p:cNvPr>
          <p:cNvSpPr>
            <a:spLocks xmlns:a="http://schemas.openxmlformats.org/drawingml/2006/main" noGrp="1"/>
          </p:cNvSpPr>
          <p:nvPr/>
        </p:nvSpPr>
        <p:spPr>
          <a:xfrm xmlns:a="http://schemas.openxmlformats.org/drawingml/2006/main">
            <a:off x="914400" y="4241800"/>
            <a:ext cx="88900" cy="88900"/>
          </a:xfrm>
          <a:prstGeom xmlns:a="http://schemas.openxmlformats.org/drawingml/2006/main" prst="roundRect">
            <a:avLst>
              <a:gd name="adj" fmla="val 0"/>
            </a:avLst>
          </a:prstGeom>
          <a:solidFill xmlns:a="http://schemas.openxmlformats.org/drawingml/2006/main">
            <a:srgbClr val="2F7DE1">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2" name="AutoShape 12">
            <a:extLst xmlns:a="http://schemas.openxmlformats.org/drawingml/2006/main">
              <a:ext uri="{FF2B5EF4-FFF2-40B4-BE49-F238E27FC236}">
                <a16:creationId xmlns:a16="http://schemas.microsoft.com/office/drawing/2014/main" id="{1B626A50-0E55-4489-A961-7F75E9CE4528}"/>
              </a:ext>
            </a:extLst>
          </p:cNvPr>
          <p:cNvSpPr>
            <a:spLocks xmlns:a="http://schemas.openxmlformats.org/drawingml/2006/main" noGrp="1"/>
          </p:cNvSpPr>
          <p:nvPr/>
        </p:nvSpPr>
        <p:spPr>
          <a:xfrm xmlns:a="http://schemas.openxmlformats.org/drawingml/2006/main">
            <a:off x="1143000" y="4165600"/>
            <a:ext cx="2463800" cy="7620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1050"/>
            </a:pPr>
            <a:r>
              <a:rPr sz="1050" b="0" i="0" u="none">
                <a:solidFill>
                  <a:srgbClr val="1E252B"/>
                </a:solidFill>
                <a:latin typeface="Aptos"/>
                <a:ea typeface="Aptos"/>
                <a:cs typeface="Aptos"/>
              </a:rPr>
              <a:t>Existing systems fail to interpret adjectival style cues (e.g., "slow", "graceful") accurately, limiting expressive motion generation.</a:t>
            </a:r>
          </a:p>
        </p:txBody>
      </p:sp>
      <p:sp>
        <p:nvSpPr>
          <p:cNvPr id="13" name="AutoShape 13">
            <a:extLst xmlns:a="http://schemas.openxmlformats.org/drawingml/2006/main">
              <a:ext uri="{FF2B5EF4-FFF2-40B4-BE49-F238E27FC236}">
                <a16:creationId xmlns:a16="http://schemas.microsoft.com/office/drawing/2014/main" id="{31B41C7B-4E18-4147-B60D-7B48961D9B1D}"/>
              </a:ext>
            </a:extLst>
          </p:cNvPr>
          <p:cNvSpPr>
            <a:spLocks xmlns:a="http://schemas.openxmlformats.org/drawingml/2006/main" noGrp="1"/>
          </p:cNvSpPr>
          <p:nvPr/>
        </p:nvSpPr>
        <p:spPr>
          <a:xfrm xmlns:a="http://schemas.openxmlformats.org/drawingml/2006/main">
            <a:off x="4521200" y="1968500"/>
            <a:ext cx="3162300" cy="3263900"/>
          </a:xfrm>
          <a:prstGeom xmlns:a="http://schemas.openxmlformats.org/drawingml/2006/main" prst="roundRect">
            <a:avLst>
              <a:gd name="adj" fmla="val 0"/>
            </a:avLst>
          </a:prstGeom>
          <a:solidFill xmlns:a="http://schemas.openxmlformats.org/drawingml/2006/main">
            <a:srgbClr val="F3E0D5">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4" name="AutoShape 14">
            <a:extLst xmlns:a="http://schemas.openxmlformats.org/drawingml/2006/main">
              <a:ext uri="{FF2B5EF4-FFF2-40B4-BE49-F238E27FC236}">
                <a16:creationId xmlns:a16="http://schemas.microsoft.com/office/drawing/2014/main" id="{93AF4A2F-91AE-4747-B486-04DDF3DBB154}"/>
              </a:ext>
            </a:extLst>
          </p:cNvPr>
          <p:cNvSpPr>
            <a:spLocks xmlns:a="http://schemas.openxmlformats.org/drawingml/2006/main" noGrp="1"/>
          </p:cNvSpPr>
          <p:nvPr/>
        </p:nvSpPr>
        <p:spPr>
          <a:xfrm xmlns:a="http://schemas.openxmlformats.org/drawingml/2006/main">
            <a:off x="4749800" y="2197100"/>
            <a:ext cx="2667000" cy="2159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900" b="1" i="0" u="none">
                <a:solidFill>
                  <a:srgbClr val="B15A35"/>
                </a:solidFill>
                <a:latin typeface="Aptos"/>
                <a:ea typeface="Aptos"/>
                <a:cs typeface="Aptos"/>
              </a:rPr>
              <a:t>PROJECT OBJECTIVE &amp; CONSTRAINT</a:t>
            </a:r>
          </a:p>
        </p:txBody>
      </p:sp>
      <p:sp>
        <p:nvSpPr>
          <p:cNvPr id="15" name="AutoShape 15">
            <a:extLst xmlns:a="http://schemas.openxmlformats.org/drawingml/2006/main">
              <a:ext uri="{FF2B5EF4-FFF2-40B4-BE49-F238E27FC236}">
                <a16:creationId xmlns:a16="http://schemas.microsoft.com/office/drawing/2014/main" id="{C7C43C20-9A69-40A9-B61B-D88D9805D924}"/>
              </a:ext>
            </a:extLst>
          </p:cNvPr>
          <p:cNvSpPr>
            <a:spLocks xmlns:a="http://schemas.openxmlformats.org/drawingml/2006/main" noGrp="1"/>
          </p:cNvSpPr>
          <p:nvPr/>
        </p:nvSpPr>
        <p:spPr>
          <a:xfrm xmlns:a="http://schemas.openxmlformats.org/drawingml/2006/main">
            <a:off x="4749800" y="2514600"/>
            <a:ext cx="2628900" cy="6731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1800"/>
            </a:pPr>
            <a:r>
              <a:rPr sz="1800" b="1" i="0" u="none">
                <a:solidFill>
                  <a:srgbClr val="1E252B"/>
                </a:solidFill>
                <a:latin typeface="Play"/>
                <a:ea typeface="Play"/>
                <a:cs typeface="Play"/>
              </a:rPr>
              <a:t>Efficient Style Injection</a:t>
            </a:r>
          </a:p>
        </p:txBody>
      </p:sp>
      <p:sp>
        <p:nvSpPr>
          <p:cNvPr id="16" name="AutoShape 16">
            <a:extLst xmlns:a="http://schemas.openxmlformats.org/drawingml/2006/main">
              <a:ext uri="{FF2B5EF4-FFF2-40B4-BE49-F238E27FC236}">
                <a16:creationId xmlns:a16="http://schemas.microsoft.com/office/drawing/2014/main" id="{22FDD0D2-ABE5-4902-AB74-12022BBF4193}"/>
              </a:ext>
            </a:extLst>
          </p:cNvPr>
          <p:cNvSpPr>
            <a:spLocks xmlns:a="http://schemas.openxmlformats.org/drawingml/2006/main" noGrp="1"/>
          </p:cNvSpPr>
          <p:nvPr/>
        </p:nvSpPr>
        <p:spPr>
          <a:xfrm xmlns:a="http://schemas.openxmlformats.org/drawingml/2006/main">
            <a:off x="4749800" y="3441700"/>
            <a:ext cx="88900" cy="88900"/>
          </a:xfrm>
          <a:prstGeom xmlns:a="http://schemas.openxmlformats.org/drawingml/2006/main" prst="roundRect">
            <a:avLst>
              <a:gd name="adj" fmla="val 0"/>
            </a:avLst>
          </a:prstGeom>
          <a:solidFill xmlns:a="http://schemas.openxmlformats.org/drawingml/2006/main">
            <a:srgbClr val="B15A35">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7" name="AutoShape 17">
            <a:extLst xmlns:a="http://schemas.openxmlformats.org/drawingml/2006/main">
              <a:ext uri="{FF2B5EF4-FFF2-40B4-BE49-F238E27FC236}">
                <a16:creationId xmlns:a16="http://schemas.microsoft.com/office/drawing/2014/main" id="{DFFE5C0B-42FB-4F18-8BFD-EA4B630720FE}"/>
              </a:ext>
            </a:extLst>
          </p:cNvPr>
          <p:cNvSpPr>
            <a:spLocks xmlns:a="http://schemas.openxmlformats.org/drawingml/2006/main" noGrp="1"/>
          </p:cNvSpPr>
          <p:nvPr/>
        </p:nvSpPr>
        <p:spPr>
          <a:xfrm xmlns:a="http://schemas.openxmlformats.org/drawingml/2006/main">
            <a:off x="4978400" y="3352800"/>
            <a:ext cx="2463800" cy="5207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1050"/>
            </a:pPr>
            <a:r>
              <a:rPr sz="1050" b="0" i="0" u="none">
                <a:solidFill>
                  <a:srgbClr val="1E252B"/>
                </a:solidFill>
                <a:latin typeface="Aptos"/>
                <a:ea typeface="Aptos"/>
                <a:cs typeface="Aptos"/>
              </a:rPr>
              <a:t>Enhance MoConVQ to generate motions adhering to specific linguistic style cues while preserving baseline capabilities.</a:t>
            </a:r>
          </a:p>
        </p:txBody>
      </p:sp>
      <p:sp>
        <p:nvSpPr>
          <p:cNvPr id="18" name="AutoShape 18">
            <a:extLst xmlns:a="http://schemas.openxmlformats.org/drawingml/2006/main">
              <a:ext uri="{FF2B5EF4-FFF2-40B4-BE49-F238E27FC236}">
                <a16:creationId xmlns:a16="http://schemas.microsoft.com/office/drawing/2014/main" id="{57DEC3EA-51DE-413A-8CAF-501A2D6662D5}"/>
              </a:ext>
            </a:extLst>
          </p:cNvPr>
          <p:cNvSpPr>
            <a:spLocks xmlns:a="http://schemas.openxmlformats.org/drawingml/2006/main" noGrp="1"/>
          </p:cNvSpPr>
          <p:nvPr/>
        </p:nvSpPr>
        <p:spPr>
          <a:xfrm xmlns:a="http://schemas.openxmlformats.org/drawingml/2006/main">
            <a:off x="4749800" y="4241800"/>
            <a:ext cx="88900" cy="88900"/>
          </a:xfrm>
          <a:prstGeom xmlns:a="http://schemas.openxmlformats.org/drawingml/2006/main" prst="roundRect">
            <a:avLst>
              <a:gd name="adj" fmla="val 0"/>
            </a:avLst>
          </a:prstGeom>
          <a:solidFill xmlns:a="http://schemas.openxmlformats.org/drawingml/2006/main">
            <a:srgbClr val="B15A35">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9" name="AutoShape 19">
            <a:extLst xmlns:a="http://schemas.openxmlformats.org/drawingml/2006/main">
              <a:ext uri="{FF2B5EF4-FFF2-40B4-BE49-F238E27FC236}">
                <a16:creationId xmlns:a16="http://schemas.microsoft.com/office/drawing/2014/main" id="{42ABAEB7-08A1-42AC-B24B-F5F4F1D16E9D}"/>
              </a:ext>
            </a:extLst>
          </p:cNvPr>
          <p:cNvSpPr>
            <a:spLocks xmlns:a="http://schemas.openxmlformats.org/drawingml/2006/main" noGrp="1"/>
          </p:cNvSpPr>
          <p:nvPr/>
        </p:nvSpPr>
        <p:spPr>
          <a:xfrm xmlns:a="http://schemas.openxmlformats.org/drawingml/2006/main">
            <a:off x="4978400" y="4165600"/>
            <a:ext cx="2463800" cy="7620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1050"/>
            </a:pPr>
            <a:r>
              <a:rPr sz="1050" b="0" i="0" u="none">
                <a:solidFill>
                  <a:srgbClr val="1E252B"/>
                </a:solidFill>
                <a:latin typeface="Aptos"/>
                <a:ea typeface="Aptos"/>
                <a:cs typeface="Aptos"/>
              </a:rPr>
              <a:t>Strict constraint: Use parameter-efficient adaptation (PEFT) with the core model frozen to avoid catastrophic forgetting.</a:t>
            </a:r>
          </a:p>
        </p:txBody>
      </p:sp>
      <p:sp>
        <p:nvSpPr>
          <p:cNvPr id="20" name="AutoShape 20">
            <a:extLst xmlns:a="http://schemas.openxmlformats.org/drawingml/2006/main">
              <a:ext uri="{FF2B5EF4-FFF2-40B4-BE49-F238E27FC236}">
                <a16:creationId xmlns:a16="http://schemas.microsoft.com/office/drawing/2014/main" id="{919CCD09-EE66-409B-B22B-2797FF4B338B}"/>
              </a:ext>
            </a:extLst>
          </p:cNvPr>
          <p:cNvSpPr>
            <a:spLocks xmlns:a="http://schemas.openxmlformats.org/drawingml/2006/main" noGrp="1"/>
          </p:cNvSpPr>
          <p:nvPr/>
        </p:nvSpPr>
        <p:spPr>
          <a:xfrm xmlns:a="http://schemas.openxmlformats.org/drawingml/2006/main">
            <a:off x="8343900" y="1968500"/>
            <a:ext cx="3162300" cy="3263900"/>
          </a:xfrm>
          <a:prstGeom xmlns:a="http://schemas.openxmlformats.org/drawingml/2006/main" prst="roundRect">
            <a:avLst>
              <a:gd name="adj" fmla="val 0"/>
            </a:avLst>
          </a:prstGeom>
          <a:solidFill xmlns:a="http://schemas.openxmlformats.org/drawingml/2006/main">
            <a:srgbClr val="DDEBDD">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1" name="AutoShape 21">
            <a:extLst xmlns:a="http://schemas.openxmlformats.org/drawingml/2006/main">
              <a:ext uri="{FF2B5EF4-FFF2-40B4-BE49-F238E27FC236}">
                <a16:creationId xmlns:a16="http://schemas.microsoft.com/office/drawing/2014/main" id="{5D8C3270-287E-4595-945D-7399F5BBC032}"/>
              </a:ext>
            </a:extLst>
          </p:cNvPr>
          <p:cNvSpPr>
            <a:spLocks xmlns:a="http://schemas.openxmlformats.org/drawingml/2006/main" noGrp="1"/>
          </p:cNvSpPr>
          <p:nvPr/>
        </p:nvSpPr>
        <p:spPr>
          <a:xfrm xmlns:a="http://schemas.openxmlformats.org/drawingml/2006/main">
            <a:off x="8572500" y="2197100"/>
            <a:ext cx="2667000" cy="2159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900" b="1" i="0" u="none">
                <a:solidFill>
                  <a:srgbClr val="167C80"/>
                </a:solidFill>
                <a:latin typeface="Aptos"/>
                <a:ea typeface="Aptos"/>
                <a:cs typeface="Aptos"/>
              </a:rPr>
              <a:t>KEY METHODOLOGICAL CONTRIBUTIONS</a:t>
            </a:r>
          </a:p>
        </p:txBody>
      </p:sp>
      <p:sp>
        <p:nvSpPr>
          <p:cNvPr id="22" name="AutoShape 22">
            <a:extLst xmlns:a="http://schemas.openxmlformats.org/drawingml/2006/main">
              <a:ext uri="{FF2B5EF4-FFF2-40B4-BE49-F238E27FC236}">
                <a16:creationId xmlns:a16="http://schemas.microsoft.com/office/drawing/2014/main" id="{6D41BAF1-522B-46E0-92E2-4250AA400220}"/>
              </a:ext>
            </a:extLst>
          </p:cNvPr>
          <p:cNvSpPr>
            <a:spLocks xmlns:a="http://schemas.openxmlformats.org/drawingml/2006/main" noGrp="1"/>
          </p:cNvSpPr>
          <p:nvPr/>
        </p:nvSpPr>
        <p:spPr>
          <a:xfrm xmlns:a="http://schemas.openxmlformats.org/drawingml/2006/main">
            <a:off x="8572500" y="2514600"/>
            <a:ext cx="2628900" cy="6731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1800"/>
            </a:pPr>
            <a:r>
              <a:rPr sz="1800" b="1" i="0" u="none">
                <a:solidFill>
                  <a:srgbClr val="1E252B"/>
                </a:solidFill>
                <a:latin typeface="Play"/>
                <a:ea typeface="Play"/>
                <a:cs typeface="Play"/>
              </a:rPr>
              <a:t>LoRA Distillation &amp; Validation</a:t>
            </a:r>
          </a:p>
        </p:txBody>
      </p:sp>
      <p:sp>
        <p:nvSpPr>
          <p:cNvPr id="23" name="AutoShape 23">
            <a:extLst xmlns:a="http://schemas.openxmlformats.org/drawingml/2006/main">
              <a:ext uri="{FF2B5EF4-FFF2-40B4-BE49-F238E27FC236}">
                <a16:creationId xmlns:a16="http://schemas.microsoft.com/office/drawing/2014/main" id="{F92CECCA-430B-4EE2-9794-EAAE5444229C}"/>
              </a:ext>
            </a:extLst>
          </p:cNvPr>
          <p:cNvSpPr>
            <a:spLocks xmlns:a="http://schemas.openxmlformats.org/drawingml/2006/main" noGrp="1"/>
          </p:cNvSpPr>
          <p:nvPr/>
        </p:nvSpPr>
        <p:spPr>
          <a:xfrm xmlns:a="http://schemas.openxmlformats.org/drawingml/2006/main">
            <a:off x="8572500" y="3441700"/>
            <a:ext cx="88900" cy="88900"/>
          </a:xfrm>
          <a:prstGeom xmlns:a="http://schemas.openxmlformats.org/drawingml/2006/main" prst="roundRect">
            <a:avLst>
              <a:gd name="adj" fmla="val 0"/>
            </a:avLst>
          </a:prstGeom>
          <a:solidFill xmlns:a="http://schemas.openxmlformats.org/drawingml/2006/main">
            <a:srgbClr val="167C8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4" name="AutoShape 24">
            <a:extLst xmlns:a="http://schemas.openxmlformats.org/drawingml/2006/main">
              <a:ext uri="{FF2B5EF4-FFF2-40B4-BE49-F238E27FC236}">
                <a16:creationId xmlns:a16="http://schemas.microsoft.com/office/drawing/2014/main" id="{83EF2A39-40B3-4FD4-9AA2-8D2B82E2553E}"/>
              </a:ext>
            </a:extLst>
          </p:cNvPr>
          <p:cNvSpPr>
            <a:spLocks xmlns:a="http://schemas.openxmlformats.org/drawingml/2006/main" noGrp="1"/>
          </p:cNvSpPr>
          <p:nvPr/>
        </p:nvSpPr>
        <p:spPr>
          <a:xfrm xmlns:a="http://schemas.openxmlformats.org/drawingml/2006/main">
            <a:off x="8801100" y="3352800"/>
            <a:ext cx="2463800" cy="5207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1050"/>
            </a:pPr>
            <a:r>
              <a:rPr sz="1050" b="0" i="0" u="none">
                <a:solidFill>
                  <a:srgbClr val="1E252B"/>
                </a:solidFill>
                <a:latin typeface="Aptos"/>
                <a:ea typeface="Aptos"/>
                <a:cs typeface="Aptos"/>
              </a:rPr>
              <a:t>Successfully reproduced MoConVQ’s text-to-BVH pipeline and proposed a robust LoRA distillation approach for style tuning.</a:t>
            </a:r>
          </a:p>
        </p:txBody>
      </p:sp>
      <p:sp>
        <p:nvSpPr>
          <p:cNvPr id="25" name="AutoShape 25">
            <a:extLst xmlns:a="http://schemas.openxmlformats.org/drawingml/2006/main">
              <a:ext uri="{FF2B5EF4-FFF2-40B4-BE49-F238E27FC236}">
                <a16:creationId xmlns:a16="http://schemas.microsoft.com/office/drawing/2014/main" id="{E9F8A8B0-D02A-4AB1-B98E-DF34B367D878}"/>
              </a:ext>
            </a:extLst>
          </p:cNvPr>
          <p:cNvSpPr>
            <a:spLocks xmlns:a="http://schemas.openxmlformats.org/drawingml/2006/main" noGrp="1"/>
          </p:cNvSpPr>
          <p:nvPr/>
        </p:nvSpPr>
        <p:spPr>
          <a:xfrm xmlns:a="http://schemas.openxmlformats.org/drawingml/2006/main">
            <a:off x="8572500" y="4241800"/>
            <a:ext cx="88900" cy="88900"/>
          </a:xfrm>
          <a:prstGeom xmlns:a="http://schemas.openxmlformats.org/drawingml/2006/main" prst="roundRect">
            <a:avLst>
              <a:gd name="adj" fmla="val 0"/>
            </a:avLst>
          </a:prstGeom>
          <a:solidFill xmlns:a="http://schemas.openxmlformats.org/drawingml/2006/main">
            <a:srgbClr val="167C8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6" name="AutoShape 26">
            <a:extLst xmlns:a="http://schemas.openxmlformats.org/drawingml/2006/main">
              <a:ext uri="{FF2B5EF4-FFF2-40B4-BE49-F238E27FC236}">
                <a16:creationId xmlns:a16="http://schemas.microsoft.com/office/drawing/2014/main" id="{16A82BEB-63F6-4760-BDAF-8A7C84E34A9F}"/>
              </a:ext>
            </a:extLst>
          </p:cNvPr>
          <p:cNvSpPr>
            <a:spLocks xmlns:a="http://schemas.openxmlformats.org/drawingml/2006/main" noGrp="1"/>
          </p:cNvSpPr>
          <p:nvPr/>
        </p:nvSpPr>
        <p:spPr>
          <a:xfrm xmlns:a="http://schemas.openxmlformats.org/drawingml/2006/main">
            <a:off x="8801100" y="4165600"/>
            <a:ext cx="2463800" cy="7620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1050"/>
            </a:pPr>
            <a:r>
              <a:rPr sz="1050" b="0" i="0" u="none">
                <a:solidFill>
                  <a:srgbClr val="1E252B"/>
                </a:solidFill>
                <a:latin typeface="Aptos"/>
                <a:ea typeface="Aptos"/>
                <a:cs typeface="Aptos"/>
              </a:rPr>
              <a:t>Validated the model comprehensively using training loss, visual comparisons, and kinematic proxy metrics for style accuracy.</a:t>
            </a:r>
          </a:p>
        </p:txBody>
      </p:sp>
      <p:sp>
        <p:nvSpPr>
          <p:cNvPr id="27" name="AutoShape 27">
            <a:extLst xmlns:a="http://schemas.openxmlformats.org/drawingml/2006/main">
              <a:ext uri="{FF2B5EF4-FFF2-40B4-BE49-F238E27FC236}">
                <a16:creationId xmlns:a16="http://schemas.microsoft.com/office/drawing/2014/main" id="{88BB9865-E973-44B9-BBC9-14D10356FD1B}"/>
              </a:ext>
            </a:extLst>
          </p:cNvPr>
          <p:cNvSpPr>
            <a:spLocks xmlns:a="http://schemas.openxmlformats.org/drawingml/2006/main" noGrp="1"/>
          </p:cNvSpPr>
          <p:nvPr/>
        </p:nvSpPr>
        <p:spPr>
          <a:xfrm xmlns:a="http://schemas.openxmlformats.org/drawingml/2006/main">
            <a:off x="685800" y="5626100"/>
            <a:ext cx="10820400" cy="406400"/>
          </a:xfrm>
          <a:prstGeom xmlns:a="http://schemas.openxmlformats.org/drawingml/2006/main" prst="roundRect">
            <a:avLst>
              <a:gd name="adj" fmla="val 0"/>
            </a:avLst>
          </a:prstGeom>
          <a:solidFill xmlns:a="http://schemas.openxmlformats.org/drawingml/2006/main">
            <a:srgbClr val="2D344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8" name="AutoShape 28">
            <a:extLst xmlns:a="http://schemas.openxmlformats.org/drawingml/2006/main">
              <a:ext uri="{FF2B5EF4-FFF2-40B4-BE49-F238E27FC236}">
                <a16:creationId xmlns:a16="http://schemas.microsoft.com/office/drawing/2014/main" id="{6A4EF0C9-CA11-40CB-93FC-09B81F09B2BD}"/>
              </a:ext>
            </a:extLst>
          </p:cNvPr>
          <p:cNvSpPr>
            <a:spLocks xmlns:a="http://schemas.openxmlformats.org/drawingml/2006/main" noGrp="1"/>
          </p:cNvSpPr>
          <p:nvPr/>
        </p:nvSpPr>
        <p:spPr>
          <a:xfrm xmlns:a="http://schemas.openxmlformats.org/drawingml/2006/main">
            <a:off x="977900" y="5715000"/>
            <a:ext cx="10172700" cy="2286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1050"/>
            </a:pPr>
            <a:r>
              <a:rPr sz="1050" b="1" i="0" u="none">
                <a:solidFill>
                  <a:srgbClr val="FFFFFF"/>
                </a:solidFill>
                <a:latin typeface="Aptos"/>
                <a:ea typeface="Aptos"/>
                <a:cs typeface="Aptos"/>
              </a:rPr>
              <a:t>Core Insight: Parameter-efficient LoRA distillation enables fine-grained style control without sacrificing the pre-trained MoConVQ's core performance.</a:t>
            </a:r>
          </a:p>
        </p:txBody>
      </p:sp>
      <p:sp>
        <p:nvSpPr>
          <p:cNvPr id="29" name="AutoShape 29">
            <a:extLst xmlns:a="http://schemas.openxmlformats.org/drawingml/2006/main">
              <a:ext uri="{FF2B5EF4-FFF2-40B4-BE49-F238E27FC236}">
                <a16:creationId xmlns:a16="http://schemas.microsoft.com/office/drawing/2014/main" id="{BCE8B3C3-C765-4578-9265-B8DFAEEE913C}"/>
              </a:ext>
            </a:extLst>
          </p:cNvPr>
          <p:cNvSpPr>
            <a:spLocks xmlns:a="http://schemas.openxmlformats.org/drawingml/2006/main" noGrp="1"/>
          </p:cNvSpPr>
          <p:nvPr/>
        </p:nvSpPr>
        <p:spPr>
          <a:xfrm xmlns:a="http://schemas.openxmlformats.org/drawingml/2006/main">
            <a:off x="685800" y="6350000"/>
            <a:ext cx="10820400" cy="12700"/>
          </a:xfrm>
          <a:prstGeom xmlns:a="http://schemas.openxmlformats.org/drawingml/2006/main" prst="roundRect">
            <a:avLst>
              <a:gd name="adj" fmla="val 0"/>
            </a:avLst>
          </a:prstGeom>
          <a:solidFill xmlns:a="http://schemas.openxmlformats.org/drawingml/2006/main">
            <a:srgbClr val="D8D0C2">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30" name="AutoShape 30">
            <a:extLst xmlns:a="http://schemas.openxmlformats.org/drawingml/2006/main">
              <a:ext uri="{FF2B5EF4-FFF2-40B4-BE49-F238E27FC236}">
                <a16:creationId xmlns:a16="http://schemas.microsoft.com/office/drawing/2014/main" id="{C1F0E9A4-72EA-4ADA-84E5-64B6A12993F6}"/>
              </a:ext>
            </a:extLst>
          </p:cNvPr>
          <p:cNvSpPr>
            <a:spLocks xmlns:a="http://schemas.openxmlformats.org/drawingml/2006/main" noGrp="1"/>
          </p:cNvSpPr>
          <p:nvPr/>
        </p:nvSpPr>
        <p:spPr>
          <a:xfrm xmlns:a="http://schemas.openxmlformats.org/drawingml/2006/main">
            <a:off x="685800" y="6426200"/>
            <a:ext cx="5905500" cy="190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800" b="0" i="0" u="none">
                <a:solidFill>
                  <a:srgbClr val="7A746A"/>
                </a:solidFill>
                <a:latin typeface="Aptos"/>
                <a:ea typeface="Aptos"/>
                <a:cs typeface="Aptos"/>
              </a:rPr>
              <a:t>Source: MoConVQ Baseline Analysis &amp; PEFT Strategy Development</a:t>
            </a:r>
          </a:p>
        </p:txBody>
      </p:sp>
      <p:sp>
        <p:nvSpPr>
          <p:cNvPr id="31" name="AutoShape 31">
            <a:extLst xmlns:a="http://schemas.openxmlformats.org/drawingml/2006/main">
              <a:ext uri="{FF2B5EF4-FFF2-40B4-BE49-F238E27FC236}">
                <a16:creationId xmlns:a16="http://schemas.microsoft.com/office/drawing/2014/main" id="{5825A45E-0701-42A2-8A91-D44A253E477C}"/>
              </a:ext>
            </a:extLst>
          </p:cNvPr>
          <p:cNvSpPr>
            <a:spLocks xmlns:a="http://schemas.openxmlformats.org/drawingml/2006/main" noGrp="1"/>
          </p:cNvSpPr>
          <p:nvPr/>
        </p:nvSpPr>
        <p:spPr>
          <a:xfrm xmlns:a="http://schemas.openxmlformats.org/drawingml/2006/main">
            <a:off x="9626600" y="6426200"/>
            <a:ext cx="1892300" cy="190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r">
              <a:lnSpc>
                <a:spcPct val="100000"/>
              </a:lnSpc>
              <a:buNone/>
            </a:pPr>
            <a:r>
              <a:rPr sz="800" b="0" i="0" u="none">
                <a:solidFill>
                  <a:srgbClr val="7A746A"/>
                </a:solidFill>
                <a:latin typeface="Aptos"/>
                <a:ea typeface="Aptos"/>
                <a:cs typeface="Aptos"/>
              </a:rPr>
              <a:t>2 / 8 - Motivation</a:t>
            </a:r>
          </a:p>
        </p:txBody>
      </p:sp>
    </p:spTree>
    <p:extLst>
      <p:ext uri="{BB962C8B-B14F-4D97-AF65-F5344CB8AC3E}">
        <p14:creationId xmlns:p14="http://schemas.microsoft.com/office/powerpoint/2010/main" val="589131815"/>
      </p:ext>
    </p:extLst>
  </p:cSld>
</p:sld>
</file>

<file path=ppt/slides/slide3.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2AF7D4DB-C8C3-4A81-9F81-5844FB1FCA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oundRect">
            <a:avLst>
              <a:gd name="adj" fmla="val 0"/>
            </a:avLst>
          </a:prstGeom>
          <a:solidFill xmlns:a="http://schemas.openxmlformats.org/drawingml/2006/main">
            <a:srgbClr val="F7F4ED">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9D6D3418-530E-4E79-816A-D78513F56570}"/>
              </a:ext>
            </a:extLst>
          </p:cNvPr>
          <p:cNvSpPr>
            <a:spLocks xmlns:a="http://schemas.openxmlformats.org/drawingml/2006/main" noGrp="1"/>
          </p:cNvSpPr>
          <p:nvPr/>
        </p:nvSpPr>
        <p:spPr>
          <a:xfrm xmlns:a="http://schemas.openxmlformats.org/drawingml/2006/main">
            <a:off x="685800" y="419100"/>
            <a:ext cx="266700" cy="38100"/>
          </a:xfrm>
          <a:prstGeom xmlns:a="http://schemas.openxmlformats.org/drawingml/2006/main" prst="roundRect">
            <a:avLst>
              <a:gd name="adj" fmla="val 0"/>
            </a:avLst>
          </a:prstGeom>
          <a:solidFill xmlns:a="http://schemas.openxmlformats.org/drawingml/2006/main">
            <a:srgbClr val="167C8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4" name="AutoShape 4">
            <a:extLst xmlns:a="http://schemas.openxmlformats.org/drawingml/2006/main">
              <a:ext uri="{FF2B5EF4-FFF2-40B4-BE49-F238E27FC236}">
                <a16:creationId xmlns:a16="http://schemas.microsoft.com/office/drawing/2014/main" id="{8D07E3CD-0C21-48D1-9002-88AD264865D8}"/>
              </a:ext>
            </a:extLst>
          </p:cNvPr>
          <p:cNvSpPr>
            <a:spLocks xmlns:a="http://schemas.openxmlformats.org/drawingml/2006/main" noGrp="1"/>
          </p:cNvSpPr>
          <p:nvPr/>
        </p:nvSpPr>
        <p:spPr>
          <a:xfrm xmlns:a="http://schemas.openxmlformats.org/drawingml/2006/main">
            <a:off x="1066800" y="330200"/>
            <a:ext cx="4953000" cy="2540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r>
              <a:rPr sz="1000" b="1" i="0" u="none">
                <a:solidFill>
                  <a:srgbClr val="5E6975"/>
                </a:solidFill>
                <a:latin typeface="Aptos"/>
                <a:ea typeface="Aptos"/>
                <a:cs typeface="Aptos"/>
              </a:rPr>
              <a:t>DATA CHALLENGE</a:t>
            </a:r>
          </a:p>
        </p:txBody>
      </p:sp>
      <p:sp>
        <p:nvSpPr>
          <p:cNvPr id="5" name="AutoShape 5">
            <a:extLst xmlns:a="http://schemas.openxmlformats.org/drawingml/2006/main">
              <a:ext uri="{FF2B5EF4-FFF2-40B4-BE49-F238E27FC236}">
                <a16:creationId xmlns:a16="http://schemas.microsoft.com/office/drawing/2014/main" id="{58E3CAE0-5883-4026-8024-EE795A0036D2}"/>
              </a:ext>
            </a:extLst>
          </p:cNvPr>
          <p:cNvSpPr>
            <a:spLocks xmlns:a="http://schemas.openxmlformats.org/drawingml/2006/main" noGrp="1"/>
          </p:cNvSpPr>
          <p:nvPr/>
        </p:nvSpPr>
        <p:spPr>
          <a:xfrm xmlns:a="http://schemas.openxmlformats.org/drawingml/2006/main">
            <a:off x="685800" y="723900"/>
            <a:ext cx="8953500" cy="658368"/>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2600"/>
            </a:pPr>
            <a:r>
              <a:rPr sz="2600" b="1" i="0" u="none">
                <a:solidFill>
                  <a:srgbClr val="1E252B"/>
                </a:solidFill>
                <a:latin typeface="Play"/>
                <a:ea typeface="Play"/>
                <a:cs typeface="Play"/>
              </a:rPr>
              <a:t>Data mismatch forced a distillation route.</a:t>
            </a:r>
          </a:p>
        </p:txBody>
      </p:sp>
      <p:sp>
        <p:nvSpPr>
          <p:cNvPr id="6" name="AutoShape 6">
            <a:extLst xmlns:a="http://schemas.openxmlformats.org/drawingml/2006/main">
              <a:ext uri="{FF2B5EF4-FFF2-40B4-BE49-F238E27FC236}">
                <a16:creationId xmlns:a16="http://schemas.microsoft.com/office/drawing/2014/main" id="{AC75BCF2-8E47-4DAF-B4CB-6A4B738E739E}"/>
              </a:ext>
            </a:extLst>
          </p:cNvPr>
          <p:cNvSpPr>
            <a:spLocks xmlns:a="http://schemas.openxmlformats.org/drawingml/2006/main" noGrp="1"/>
          </p:cNvSpPr>
          <p:nvPr/>
        </p:nvSpPr>
        <p:spPr>
          <a:xfrm xmlns:a="http://schemas.openxmlformats.org/drawingml/2006/main">
            <a:off x="685800" y="1968500"/>
            <a:ext cx="3162300" cy="3263900"/>
          </a:xfrm>
          <a:prstGeom xmlns:a="http://schemas.openxmlformats.org/drawingml/2006/main" prst="roundRect">
            <a:avLst>
              <a:gd name="adj" fmla="val 0"/>
            </a:avLst>
          </a:prstGeom>
          <a:solidFill xmlns:a="http://schemas.openxmlformats.org/drawingml/2006/main">
            <a:srgbClr val="DDE8F7">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7" name="AutoShape 7">
            <a:extLst xmlns:a="http://schemas.openxmlformats.org/drawingml/2006/main">
              <a:ext uri="{FF2B5EF4-FFF2-40B4-BE49-F238E27FC236}">
                <a16:creationId xmlns:a16="http://schemas.microsoft.com/office/drawing/2014/main" id="{5EE2C033-E18F-44C3-90B7-AB6DA8C9DE04}"/>
              </a:ext>
            </a:extLst>
          </p:cNvPr>
          <p:cNvSpPr>
            <a:spLocks xmlns:a="http://schemas.openxmlformats.org/drawingml/2006/main" noGrp="1"/>
          </p:cNvSpPr>
          <p:nvPr/>
        </p:nvSpPr>
        <p:spPr>
          <a:xfrm xmlns:a="http://schemas.openxmlformats.org/drawingml/2006/main">
            <a:off x="914400" y="2197100"/>
            <a:ext cx="2667000" cy="2159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900" b="1" i="0" u="none">
                <a:solidFill>
                  <a:srgbClr val="2F7DE1"/>
                </a:solidFill>
                <a:latin typeface="Aptos"/>
                <a:ea typeface="Aptos"/>
                <a:cs typeface="Aptos"/>
              </a:rPr>
              <a:t>DATASET: HUMANML3D</a:t>
            </a:r>
          </a:p>
        </p:txBody>
      </p:sp>
      <p:sp>
        <p:nvSpPr>
          <p:cNvPr id="8" name="AutoShape 8">
            <a:extLst xmlns:a="http://schemas.openxmlformats.org/drawingml/2006/main">
              <a:ext uri="{FF2B5EF4-FFF2-40B4-BE49-F238E27FC236}">
                <a16:creationId xmlns:a16="http://schemas.microsoft.com/office/drawing/2014/main" id="{FE7E55CF-B6FF-49A6-A3EB-0E917DD5FD4E}"/>
              </a:ext>
            </a:extLst>
          </p:cNvPr>
          <p:cNvSpPr>
            <a:spLocks xmlns:a="http://schemas.openxmlformats.org/drawingml/2006/main" noGrp="1"/>
          </p:cNvSpPr>
          <p:nvPr/>
        </p:nvSpPr>
        <p:spPr>
          <a:xfrm xmlns:a="http://schemas.openxmlformats.org/drawingml/2006/main">
            <a:off x="914400" y="2514600"/>
            <a:ext cx="2628900" cy="6731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2000" b="1" i="0" u="none">
                <a:solidFill>
                  <a:srgbClr val="1E252B"/>
                </a:solidFill>
                <a:latin typeface="Play"/>
                <a:ea typeface="Play"/>
                <a:cs typeface="Play"/>
              </a:rPr>
              <a:t>Curated Motion-Text Data</a:t>
            </a:r>
          </a:p>
        </p:txBody>
      </p:sp>
      <p:sp>
        <p:nvSpPr>
          <p:cNvPr id="9" name="AutoShape 9">
            <a:extLst xmlns:a="http://schemas.openxmlformats.org/drawingml/2006/main">
              <a:ext uri="{FF2B5EF4-FFF2-40B4-BE49-F238E27FC236}">
                <a16:creationId xmlns:a16="http://schemas.microsoft.com/office/drawing/2014/main" id="{0C0BD164-F882-4BA8-97AD-A80F245C1DD4}"/>
              </a:ext>
            </a:extLst>
          </p:cNvPr>
          <p:cNvSpPr>
            <a:spLocks xmlns:a="http://schemas.openxmlformats.org/drawingml/2006/main" noGrp="1"/>
          </p:cNvSpPr>
          <p:nvPr/>
        </p:nvSpPr>
        <p:spPr>
          <a:xfrm xmlns:a="http://schemas.openxmlformats.org/drawingml/2006/main">
            <a:off x="914400" y="3441700"/>
            <a:ext cx="88900" cy="88900"/>
          </a:xfrm>
          <a:prstGeom xmlns:a="http://schemas.openxmlformats.org/drawingml/2006/main" prst="roundRect">
            <a:avLst>
              <a:gd name="adj" fmla="val 0"/>
            </a:avLst>
          </a:prstGeom>
          <a:solidFill xmlns:a="http://schemas.openxmlformats.org/drawingml/2006/main">
            <a:srgbClr val="2F7DE1">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0" name="AutoShape 10">
            <a:extLst xmlns:a="http://schemas.openxmlformats.org/drawingml/2006/main">
              <a:ext uri="{FF2B5EF4-FFF2-40B4-BE49-F238E27FC236}">
                <a16:creationId xmlns:a16="http://schemas.microsoft.com/office/drawing/2014/main" id="{27749805-2595-48A7-8ECB-E874D1D52B71}"/>
              </a:ext>
            </a:extLst>
          </p:cNvPr>
          <p:cNvSpPr>
            <a:spLocks xmlns:a="http://schemas.openxmlformats.org/drawingml/2006/main" noGrp="1"/>
          </p:cNvSpPr>
          <p:nvPr/>
        </p:nvSpPr>
        <p:spPr>
          <a:xfrm xmlns:a="http://schemas.openxmlformats.org/drawingml/2006/main">
            <a:off x="1143000" y="3352800"/>
            <a:ext cx="2463800" cy="5207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100" b="0" i="0" u="none">
                <a:solidFill>
                  <a:srgbClr val="1E252B"/>
                </a:solidFill>
                <a:latin typeface="Aptos"/>
                <a:ea typeface="Aptos"/>
                <a:cs typeface="Aptos"/>
              </a:rPr>
              <a:t>Utilize HumanML3D, a large dataset pairing human motions with descriptive text annotations.</a:t>
            </a:r>
          </a:p>
        </p:txBody>
      </p:sp>
      <p:sp>
        <p:nvSpPr>
          <p:cNvPr id="11" name="AutoShape 11">
            <a:extLst xmlns:a="http://schemas.openxmlformats.org/drawingml/2006/main">
              <a:ext uri="{FF2B5EF4-FFF2-40B4-BE49-F238E27FC236}">
                <a16:creationId xmlns:a16="http://schemas.microsoft.com/office/drawing/2014/main" id="{0CD925B1-52F2-47AD-B8B9-0173C0543E03}"/>
              </a:ext>
            </a:extLst>
          </p:cNvPr>
          <p:cNvSpPr>
            <a:spLocks xmlns:a="http://schemas.openxmlformats.org/drawingml/2006/main" noGrp="1"/>
          </p:cNvSpPr>
          <p:nvPr/>
        </p:nvSpPr>
        <p:spPr>
          <a:xfrm xmlns:a="http://schemas.openxmlformats.org/drawingml/2006/main">
            <a:off x="914400" y="3987800"/>
            <a:ext cx="88900" cy="88900"/>
          </a:xfrm>
          <a:prstGeom xmlns:a="http://schemas.openxmlformats.org/drawingml/2006/main" prst="roundRect">
            <a:avLst>
              <a:gd name="adj" fmla="val 0"/>
            </a:avLst>
          </a:prstGeom>
          <a:solidFill xmlns:a="http://schemas.openxmlformats.org/drawingml/2006/main">
            <a:srgbClr val="2F7DE1">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2" name="AutoShape 12">
            <a:extLst xmlns:a="http://schemas.openxmlformats.org/drawingml/2006/main">
              <a:ext uri="{FF2B5EF4-FFF2-40B4-BE49-F238E27FC236}">
                <a16:creationId xmlns:a16="http://schemas.microsoft.com/office/drawing/2014/main" id="{B8F38D14-E053-48F8-8D9B-1731AD1A12DA}"/>
              </a:ext>
            </a:extLst>
          </p:cNvPr>
          <p:cNvSpPr>
            <a:spLocks xmlns:a="http://schemas.openxmlformats.org/drawingml/2006/main" noGrp="1"/>
          </p:cNvSpPr>
          <p:nvPr/>
        </p:nvSpPr>
        <p:spPr>
          <a:xfrm xmlns:a="http://schemas.openxmlformats.org/drawingml/2006/main">
            <a:off x="1143000" y="3911600"/>
            <a:ext cx="2463800" cy="5207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100" b="0" i="0" u="none">
                <a:solidFill>
                  <a:srgbClr val="1E252B"/>
                </a:solidFill>
                <a:latin typeface="Aptos"/>
                <a:ea typeface="Aptos"/>
                <a:cs typeface="Aptos"/>
              </a:rPr>
              <a:t>Filter a subset using style keywords like "graceful", "energetic", and "heavy" for focus.</a:t>
            </a:r>
          </a:p>
        </p:txBody>
      </p:sp>
      <p:sp>
        <p:nvSpPr>
          <p:cNvPr id="13" name="AutoShape 13">
            <a:extLst xmlns:a="http://schemas.openxmlformats.org/drawingml/2006/main">
              <a:ext uri="{FF2B5EF4-FFF2-40B4-BE49-F238E27FC236}">
                <a16:creationId xmlns:a16="http://schemas.microsoft.com/office/drawing/2014/main" id="{08159C72-FA8A-45E6-8868-1FBFF4F234B6}"/>
              </a:ext>
            </a:extLst>
          </p:cNvPr>
          <p:cNvSpPr>
            <a:spLocks xmlns:a="http://schemas.openxmlformats.org/drawingml/2006/main" noGrp="1"/>
          </p:cNvSpPr>
          <p:nvPr/>
        </p:nvSpPr>
        <p:spPr>
          <a:xfrm xmlns:a="http://schemas.openxmlformats.org/drawingml/2006/main">
            <a:off x="4521200" y="1968500"/>
            <a:ext cx="3162300" cy="3263900"/>
          </a:xfrm>
          <a:prstGeom xmlns:a="http://schemas.openxmlformats.org/drawingml/2006/main" prst="roundRect">
            <a:avLst>
              <a:gd name="adj" fmla="val 0"/>
            </a:avLst>
          </a:prstGeom>
          <a:solidFill xmlns:a="http://schemas.openxmlformats.org/drawingml/2006/main">
            <a:srgbClr val="F3E0D5">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4" name="AutoShape 14">
            <a:extLst xmlns:a="http://schemas.openxmlformats.org/drawingml/2006/main">
              <a:ext uri="{FF2B5EF4-FFF2-40B4-BE49-F238E27FC236}">
                <a16:creationId xmlns:a16="http://schemas.microsoft.com/office/drawing/2014/main" id="{C4CF7AB4-5B08-4160-9F85-E48238B31689}"/>
              </a:ext>
            </a:extLst>
          </p:cNvPr>
          <p:cNvSpPr>
            <a:spLocks xmlns:a="http://schemas.openxmlformats.org/drawingml/2006/main" noGrp="1"/>
          </p:cNvSpPr>
          <p:nvPr/>
        </p:nvSpPr>
        <p:spPr>
          <a:xfrm xmlns:a="http://schemas.openxmlformats.org/drawingml/2006/main">
            <a:off x="4749800" y="2197100"/>
            <a:ext cx="2667000" cy="2159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900" b="1" i="0" u="none">
                <a:solidFill>
                  <a:srgbClr val="B15A35"/>
                </a:solidFill>
                <a:latin typeface="Aptos"/>
                <a:ea typeface="Aptos"/>
                <a:cs typeface="Aptos"/>
              </a:rPr>
              <a:t>CRITICAL MISMATCH</a:t>
            </a:r>
          </a:p>
        </p:txBody>
      </p:sp>
      <p:sp>
        <p:nvSpPr>
          <p:cNvPr id="15" name="AutoShape 15">
            <a:extLst xmlns:a="http://schemas.openxmlformats.org/drawingml/2006/main">
              <a:ext uri="{FF2B5EF4-FFF2-40B4-BE49-F238E27FC236}">
                <a16:creationId xmlns:a16="http://schemas.microsoft.com/office/drawing/2014/main" id="{8181D075-E3DE-4E7C-BE5E-27FB248F58DD}"/>
              </a:ext>
            </a:extLst>
          </p:cNvPr>
          <p:cNvSpPr>
            <a:spLocks xmlns:a="http://schemas.openxmlformats.org/drawingml/2006/main" noGrp="1"/>
          </p:cNvSpPr>
          <p:nvPr/>
        </p:nvSpPr>
        <p:spPr>
          <a:xfrm xmlns:a="http://schemas.openxmlformats.org/drawingml/2006/main">
            <a:off x="4749800" y="2514600"/>
            <a:ext cx="2628900" cy="6731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2000" b="1" i="0" u="none">
                <a:solidFill>
                  <a:srgbClr val="1E252B"/>
                </a:solidFill>
                <a:latin typeface="Play"/>
                <a:ea typeface="Play"/>
                <a:cs typeface="Play"/>
              </a:rPr>
              <a:t>Discrete vs. Continuous Gap</a:t>
            </a:r>
          </a:p>
        </p:txBody>
      </p:sp>
      <p:sp>
        <p:nvSpPr>
          <p:cNvPr id="16" name="AutoShape 16">
            <a:extLst xmlns:a="http://schemas.openxmlformats.org/drawingml/2006/main">
              <a:ext uri="{FF2B5EF4-FFF2-40B4-BE49-F238E27FC236}">
                <a16:creationId xmlns:a16="http://schemas.microsoft.com/office/drawing/2014/main" id="{9D6BDB65-DD20-43B0-A044-94C379219D60}"/>
              </a:ext>
            </a:extLst>
          </p:cNvPr>
          <p:cNvSpPr>
            <a:spLocks xmlns:a="http://schemas.openxmlformats.org/drawingml/2006/main" noGrp="1"/>
          </p:cNvSpPr>
          <p:nvPr/>
        </p:nvSpPr>
        <p:spPr>
          <a:xfrm xmlns:a="http://schemas.openxmlformats.org/drawingml/2006/main">
            <a:off x="4749800" y="3441700"/>
            <a:ext cx="88900" cy="88900"/>
          </a:xfrm>
          <a:prstGeom xmlns:a="http://schemas.openxmlformats.org/drawingml/2006/main" prst="roundRect">
            <a:avLst>
              <a:gd name="adj" fmla="val 0"/>
            </a:avLst>
          </a:prstGeom>
          <a:solidFill xmlns:a="http://schemas.openxmlformats.org/drawingml/2006/main">
            <a:srgbClr val="B15A35">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7" name="AutoShape 17">
            <a:extLst xmlns:a="http://schemas.openxmlformats.org/drawingml/2006/main">
              <a:ext uri="{FF2B5EF4-FFF2-40B4-BE49-F238E27FC236}">
                <a16:creationId xmlns:a16="http://schemas.microsoft.com/office/drawing/2014/main" id="{2666B06B-DAD9-4471-A9E7-A8582FC3FD23}"/>
              </a:ext>
            </a:extLst>
          </p:cNvPr>
          <p:cNvSpPr>
            <a:spLocks xmlns:a="http://schemas.openxmlformats.org/drawingml/2006/main" noGrp="1"/>
          </p:cNvSpPr>
          <p:nvPr/>
        </p:nvSpPr>
        <p:spPr>
          <a:xfrm xmlns:a="http://schemas.openxmlformats.org/drawingml/2006/main">
            <a:off x="4978400" y="3352800"/>
            <a:ext cx="2463800" cy="5207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100" b="0" i="0" u="none">
                <a:solidFill>
                  <a:srgbClr val="1E252B"/>
                </a:solidFill>
                <a:latin typeface="Aptos"/>
                <a:ea typeface="Aptos"/>
                <a:cs typeface="Aptos"/>
              </a:rPr>
              <a:t>MoConVQ</a:t>
            </a:r>
            <a:r>
              <a:rPr sz="1100" b="0" i="0" u="none">
                <a:solidFill>
                  <a:srgbClr val="1E252B"/>
                </a:solidFill>
                <a:latin typeface="Aptos"/>
                <a:ea typeface="Aptos"/>
                <a:cs typeface="Aptos"/>
              </a:rPr>
              <a:t> expects discrete motion tokens, but HumanML3D only provides continuous motion features.</a:t>
            </a:r>
          </a:p>
        </p:txBody>
      </p:sp>
      <p:sp>
        <p:nvSpPr>
          <p:cNvPr id="18" name="AutoShape 18">
            <a:extLst xmlns:a="http://schemas.openxmlformats.org/drawingml/2006/main">
              <a:ext uri="{FF2B5EF4-FFF2-40B4-BE49-F238E27FC236}">
                <a16:creationId xmlns:a16="http://schemas.microsoft.com/office/drawing/2014/main" id="{461EEAEF-AB82-4DBA-BF31-EA9622C6BA49}"/>
              </a:ext>
            </a:extLst>
          </p:cNvPr>
          <p:cNvSpPr>
            <a:spLocks xmlns:a="http://schemas.openxmlformats.org/drawingml/2006/main" noGrp="1"/>
          </p:cNvSpPr>
          <p:nvPr/>
        </p:nvSpPr>
        <p:spPr>
          <a:xfrm xmlns:a="http://schemas.openxmlformats.org/drawingml/2006/main">
            <a:off x="4749800" y="3987800"/>
            <a:ext cx="88900" cy="88900"/>
          </a:xfrm>
          <a:prstGeom xmlns:a="http://schemas.openxmlformats.org/drawingml/2006/main" prst="roundRect">
            <a:avLst>
              <a:gd name="adj" fmla="val 0"/>
            </a:avLst>
          </a:prstGeom>
          <a:solidFill xmlns:a="http://schemas.openxmlformats.org/drawingml/2006/main">
            <a:srgbClr val="B15A35">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9" name="AutoShape 19">
            <a:extLst xmlns:a="http://schemas.openxmlformats.org/drawingml/2006/main">
              <a:ext uri="{FF2B5EF4-FFF2-40B4-BE49-F238E27FC236}">
                <a16:creationId xmlns:a16="http://schemas.microsoft.com/office/drawing/2014/main" id="{42BCCFD4-F615-4F58-A511-A6FBC22529DC}"/>
              </a:ext>
            </a:extLst>
          </p:cNvPr>
          <p:cNvSpPr>
            <a:spLocks xmlns:a="http://schemas.openxmlformats.org/drawingml/2006/main" noGrp="1"/>
          </p:cNvSpPr>
          <p:nvPr/>
        </p:nvSpPr>
        <p:spPr>
          <a:xfrm xmlns:a="http://schemas.openxmlformats.org/drawingml/2006/main">
            <a:off x="4978400" y="3911600"/>
            <a:ext cx="2463800" cy="5207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100" b="0" i="0" u="none">
                <a:solidFill>
                  <a:srgbClr val="1E252B"/>
                </a:solidFill>
                <a:latin typeface="Aptos"/>
                <a:ea typeface="Aptos"/>
                <a:cs typeface="Aptos"/>
              </a:rPr>
              <a:t>Directly converting continuous features to discrete tokens is non-trivial and error-prone.</a:t>
            </a:r>
          </a:p>
        </p:txBody>
      </p:sp>
      <p:sp>
        <p:nvSpPr>
          <p:cNvPr id="20" name="AutoShape 20">
            <a:extLst xmlns:a="http://schemas.openxmlformats.org/drawingml/2006/main">
              <a:ext uri="{FF2B5EF4-FFF2-40B4-BE49-F238E27FC236}">
                <a16:creationId xmlns:a16="http://schemas.microsoft.com/office/drawing/2014/main" id="{4152A005-E9FE-4B32-ABC7-4CE7F1807001}"/>
              </a:ext>
            </a:extLst>
          </p:cNvPr>
          <p:cNvSpPr>
            <a:spLocks xmlns:a="http://schemas.openxmlformats.org/drawingml/2006/main" noGrp="1"/>
          </p:cNvSpPr>
          <p:nvPr/>
        </p:nvSpPr>
        <p:spPr>
          <a:xfrm xmlns:a="http://schemas.openxmlformats.org/drawingml/2006/main">
            <a:off x="8343900" y="1968500"/>
            <a:ext cx="3162300" cy="3263900"/>
          </a:xfrm>
          <a:prstGeom xmlns:a="http://schemas.openxmlformats.org/drawingml/2006/main" prst="roundRect">
            <a:avLst>
              <a:gd name="adj" fmla="val 0"/>
            </a:avLst>
          </a:prstGeom>
          <a:solidFill xmlns:a="http://schemas.openxmlformats.org/drawingml/2006/main">
            <a:srgbClr val="DDEBDD">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1" name="AutoShape 21">
            <a:extLst xmlns:a="http://schemas.openxmlformats.org/drawingml/2006/main">
              <a:ext uri="{FF2B5EF4-FFF2-40B4-BE49-F238E27FC236}">
                <a16:creationId xmlns:a16="http://schemas.microsoft.com/office/drawing/2014/main" id="{E01B99D2-0778-42C3-9E6F-FE010EBDA4EA}"/>
              </a:ext>
            </a:extLst>
          </p:cNvPr>
          <p:cNvSpPr>
            <a:spLocks xmlns:a="http://schemas.openxmlformats.org/drawingml/2006/main" noGrp="1"/>
          </p:cNvSpPr>
          <p:nvPr/>
        </p:nvSpPr>
        <p:spPr>
          <a:xfrm xmlns:a="http://schemas.openxmlformats.org/drawingml/2006/main">
            <a:off x="8572500" y="2197100"/>
            <a:ext cx="2667000" cy="2159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900" b="1" i="0" u="none">
                <a:solidFill>
                  <a:srgbClr val="167C80"/>
                </a:solidFill>
                <a:latin typeface="Aptos"/>
                <a:ea typeface="Aptos"/>
                <a:cs typeface="Aptos"/>
              </a:rPr>
              <a:t>SOLUTION: DISTILLATION</a:t>
            </a:r>
          </a:p>
        </p:txBody>
      </p:sp>
      <p:sp>
        <p:nvSpPr>
          <p:cNvPr id="22" name="AutoShape 22">
            <a:extLst xmlns:a="http://schemas.openxmlformats.org/drawingml/2006/main">
              <a:ext uri="{FF2B5EF4-FFF2-40B4-BE49-F238E27FC236}">
                <a16:creationId xmlns:a16="http://schemas.microsoft.com/office/drawing/2014/main" id="{873B4DE7-7D3A-45DB-B8C3-DDBA5F78ED2B}"/>
              </a:ext>
            </a:extLst>
          </p:cNvPr>
          <p:cNvSpPr>
            <a:spLocks xmlns:a="http://schemas.openxmlformats.org/drawingml/2006/main" noGrp="1"/>
          </p:cNvSpPr>
          <p:nvPr/>
        </p:nvSpPr>
        <p:spPr>
          <a:xfrm xmlns:a="http://schemas.openxmlformats.org/drawingml/2006/main">
            <a:off x="8572500" y="2514600"/>
            <a:ext cx="2628900" cy="6731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2000" b="1" i="0" u="none">
                <a:solidFill>
                  <a:srgbClr val="1E252B"/>
                </a:solidFill>
                <a:latin typeface="Play"/>
                <a:ea typeface="Play"/>
                <a:cs typeface="Play"/>
              </a:rPr>
              <a:t>Pseudo-Token Distillation</a:t>
            </a:r>
          </a:p>
        </p:txBody>
      </p:sp>
      <p:sp>
        <p:nvSpPr>
          <p:cNvPr id="23" name="AutoShape 23">
            <a:extLst xmlns:a="http://schemas.openxmlformats.org/drawingml/2006/main">
              <a:ext uri="{FF2B5EF4-FFF2-40B4-BE49-F238E27FC236}">
                <a16:creationId xmlns:a16="http://schemas.microsoft.com/office/drawing/2014/main" id="{AF068232-DC0A-4F61-9DC0-5B7302823DC7}"/>
              </a:ext>
            </a:extLst>
          </p:cNvPr>
          <p:cNvSpPr>
            <a:spLocks xmlns:a="http://schemas.openxmlformats.org/drawingml/2006/main" noGrp="1"/>
          </p:cNvSpPr>
          <p:nvPr/>
        </p:nvSpPr>
        <p:spPr>
          <a:xfrm xmlns:a="http://schemas.openxmlformats.org/drawingml/2006/main">
            <a:off x="8572500" y="3441700"/>
            <a:ext cx="88900" cy="88900"/>
          </a:xfrm>
          <a:prstGeom xmlns:a="http://schemas.openxmlformats.org/drawingml/2006/main" prst="roundRect">
            <a:avLst>
              <a:gd name="adj" fmla="val 0"/>
            </a:avLst>
          </a:prstGeom>
          <a:solidFill xmlns:a="http://schemas.openxmlformats.org/drawingml/2006/main">
            <a:srgbClr val="167C8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4" name="AutoShape 24">
            <a:extLst xmlns:a="http://schemas.openxmlformats.org/drawingml/2006/main">
              <a:ext uri="{FF2B5EF4-FFF2-40B4-BE49-F238E27FC236}">
                <a16:creationId xmlns:a16="http://schemas.microsoft.com/office/drawing/2014/main" id="{F1B5AFB3-1D33-4E85-A62F-6053782C71A1}"/>
              </a:ext>
            </a:extLst>
          </p:cNvPr>
          <p:cNvSpPr>
            <a:spLocks xmlns:a="http://schemas.openxmlformats.org/drawingml/2006/main" noGrp="1"/>
          </p:cNvSpPr>
          <p:nvPr/>
        </p:nvSpPr>
        <p:spPr>
          <a:xfrm xmlns:a="http://schemas.openxmlformats.org/drawingml/2006/main">
            <a:off x="8801100" y="3352800"/>
            <a:ext cx="2463800" cy="5207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100" b="0" i="0" u="none">
                <a:solidFill>
                  <a:srgbClr val="1E252B"/>
                </a:solidFill>
                <a:latin typeface="Aptos"/>
                <a:ea typeface="Aptos"/>
                <a:cs typeface="Aptos"/>
              </a:rPr>
              <a:t>Use the pre-trained </a:t>
            </a:r>
            <a:r>
              <a:rPr sz="1100" b="0" i="0" u="none">
                <a:solidFill>
                  <a:srgbClr val="1E252B"/>
                </a:solidFill>
                <a:latin typeface="Aptos"/>
                <a:ea typeface="Aptos"/>
                <a:cs typeface="Aptos"/>
              </a:rPr>
              <a:t>MoConVQ</a:t>
            </a:r>
            <a:r>
              <a:rPr sz="1100" b="0" i="0" u="none">
                <a:solidFill>
                  <a:srgbClr val="1E252B"/>
                </a:solidFill>
                <a:latin typeface="Aptos"/>
                <a:ea typeface="Aptos"/>
                <a:cs typeface="Aptos"/>
              </a:rPr>
              <a:t> model as a "teacher" to generate "pseudo-tokens" for style captions.</a:t>
            </a:r>
          </a:p>
        </p:txBody>
      </p:sp>
      <p:sp>
        <p:nvSpPr>
          <p:cNvPr id="25" name="AutoShape 25">
            <a:extLst xmlns:a="http://schemas.openxmlformats.org/drawingml/2006/main">
              <a:ext uri="{FF2B5EF4-FFF2-40B4-BE49-F238E27FC236}">
                <a16:creationId xmlns:a16="http://schemas.microsoft.com/office/drawing/2014/main" id="{459A9AA5-D4EB-4DA0-ADE2-D479D33BEB06}"/>
              </a:ext>
            </a:extLst>
          </p:cNvPr>
          <p:cNvSpPr>
            <a:spLocks xmlns:a="http://schemas.openxmlformats.org/drawingml/2006/main" noGrp="1"/>
          </p:cNvSpPr>
          <p:nvPr/>
        </p:nvSpPr>
        <p:spPr>
          <a:xfrm xmlns:a="http://schemas.openxmlformats.org/drawingml/2006/main">
            <a:off x="8572500" y="3987800"/>
            <a:ext cx="88900" cy="88900"/>
          </a:xfrm>
          <a:prstGeom xmlns:a="http://schemas.openxmlformats.org/drawingml/2006/main" prst="roundRect">
            <a:avLst>
              <a:gd name="adj" fmla="val 0"/>
            </a:avLst>
          </a:prstGeom>
          <a:solidFill xmlns:a="http://schemas.openxmlformats.org/drawingml/2006/main">
            <a:srgbClr val="167C8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6" name="AutoShape 26">
            <a:extLst xmlns:a="http://schemas.openxmlformats.org/drawingml/2006/main">
              <a:ext uri="{FF2B5EF4-FFF2-40B4-BE49-F238E27FC236}">
                <a16:creationId xmlns:a16="http://schemas.microsoft.com/office/drawing/2014/main" id="{62BCDE41-92A8-446E-814D-16214BFCCBDD}"/>
              </a:ext>
            </a:extLst>
          </p:cNvPr>
          <p:cNvSpPr>
            <a:spLocks xmlns:a="http://schemas.openxmlformats.org/drawingml/2006/main" noGrp="1"/>
          </p:cNvSpPr>
          <p:nvPr/>
        </p:nvSpPr>
        <p:spPr>
          <a:xfrm xmlns:a="http://schemas.openxmlformats.org/drawingml/2006/main">
            <a:off x="8801100" y="3911600"/>
            <a:ext cx="2463800" cy="5207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100" b="0" i="0" u="none">
                <a:solidFill>
                  <a:srgbClr val="1E252B"/>
                </a:solidFill>
                <a:latin typeface="Aptos"/>
                <a:ea typeface="Aptos"/>
                <a:cs typeface="Aptos"/>
              </a:rPr>
              <a:t>Train a "student" model with </a:t>
            </a:r>
            <a:r>
              <a:rPr sz="1100" b="0" i="0" u="none">
                <a:solidFill>
                  <a:srgbClr val="1E252B"/>
                </a:solidFill>
                <a:latin typeface="Aptos"/>
                <a:ea typeface="Aptos"/>
                <a:cs typeface="Aptos"/>
              </a:rPr>
              <a:t>LoRA</a:t>
            </a:r>
            <a:r>
              <a:rPr sz="1100" b="0" i="0" u="none">
                <a:solidFill>
                  <a:srgbClr val="1E252B"/>
                </a:solidFill>
                <a:latin typeface="Aptos"/>
                <a:ea typeface="Aptos"/>
                <a:cs typeface="Aptos"/>
              </a:rPr>
              <a:t> adapters to mimic the teacher's outputs.</a:t>
            </a:r>
          </a:p>
        </p:txBody>
      </p:sp>
      <p:sp>
        <p:nvSpPr>
          <p:cNvPr id="27" name="AutoShape 27">
            <a:extLst xmlns:a="http://schemas.openxmlformats.org/drawingml/2006/main">
              <a:ext uri="{FF2B5EF4-FFF2-40B4-BE49-F238E27FC236}">
                <a16:creationId xmlns:a16="http://schemas.microsoft.com/office/drawing/2014/main" id="{081E9316-A695-43F2-9CD5-B027B3F804EA}"/>
              </a:ext>
            </a:extLst>
          </p:cNvPr>
          <p:cNvSpPr>
            <a:spLocks xmlns:a="http://schemas.openxmlformats.org/drawingml/2006/main" noGrp="1"/>
          </p:cNvSpPr>
          <p:nvPr/>
        </p:nvSpPr>
        <p:spPr>
          <a:xfrm xmlns:a="http://schemas.openxmlformats.org/drawingml/2006/main">
            <a:off x="8572500" y="4546600"/>
            <a:ext cx="88900" cy="88900"/>
          </a:xfrm>
          <a:prstGeom xmlns:a="http://schemas.openxmlformats.org/drawingml/2006/main" prst="roundRect">
            <a:avLst>
              <a:gd name="adj" fmla="val 0"/>
            </a:avLst>
          </a:prstGeom>
          <a:solidFill xmlns:a="http://schemas.openxmlformats.org/drawingml/2006/main">
            <a:srgbClr val="167C8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8" name="AutoShape 28">
            <a:extLst xmlns:a="http://schemas.openxmlformats.org/drawingml/2006/main">
              <a:ext uri="{FF2B5EF4-FFF2-40B4-BE49-F238E27FC236}">
                <a16:creationId xmlns:a16="http://schemas.microsoft.com/office/drawing/2014/main" id="{13046E6C-CD0D-406B-B92B-811C9C809B98}"/>
              </a:ext>
            </a:extLst>
          </p:cNvPr>
          <p:cNvSpPr>
            <a:spLocks xmlns:a="http://schemas.openxmlformats.org/drawingml/2006/main" noGrp="1"/>
          </p:cNvSpPr>
          <p:nvPr/>
        </p:nvSpPr>
        <p:spPr>
          <a:xfrm xmlns:a="http://schemas.openxmlformats.org/drawingml/2006/main">
            <a:off x="8801100" y="4457700"/>
            <a:ext cx="2463800" cy="5207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100" b="0" i="0" u="none">
                <a:solidFill>
                  <a:srgbClr val="1E252B"/>
                </a:solidFill>
                <a:latin typeface="Aptos"/>
                <a:ea typeface="Aptos"/>
                <a:cs typeface="Aptos"/>
              </a:rPr>
              <a:t>This approach bypasses conversion errors and provides robust training signals.</a:t>
            </a:r>
          </a:p>
        </p:txBody>
      </p:sp>
      <p:sp>
        <p:nvSpPr>
          <p:cNvPr id="29" name="AutoShape 29">
            <a:extLst xmlns:a="http://schemas.openxmlformats.org/drawingml/2006/main">
              <a:ext uri="{FF2B5EF4-FFF2-40B4-BE49-F238E27FC236}">
                <a16:creationId xmlns:a16="http://schemas.microsoft.com/office/drawing/2014/main" id="{873B3ED9-73A0-4233-9590-02F2CFF8D46B}"/>
              </a:ext>
            </a:extLst>
          </p:cNvPr>
          <p:cNvSpPr>
            <a:spLocks xmlns:a="http://schemas.openxmlformats.org/drawingml/2006/main" noGrp="1"/>
          </p:cNvSpPr>
          <p:nvPr/>
        </p:nvSpPr>
        <p:spPr>
          <a:xfrm xmlns:a="http://schemas.openxmlformats.org/drawingml/2006/main">
            <a:off x="685800" y="5626100"/>
            <a:ext cx="10820400" cy="406400"/>
          </a:xfrm>
          <a:prstGeom xmlns:a="http://schemas.openxmlformats.org/drawingml/2006/main" prst="roundRect">
            <a:avLst>
              <a:gd name="adj" fmla="val 0"/>
            </a:avLst>
          </a:prstGeom>
          <a:solidFill xmlns:a="http://schemas.openxmlformats.org/drawingml/2006/main">
            <a:srgbClr val="2D344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30" name="AutoShape 30">
            <a:extLst xmlns:a="http://schemas.openxmlformats.org/drawingml/2006/main">
              <a:ext uri="{FF2B5EF4-FFF2-40B4-BE49-F238E27FC236}">
                <a16:creationId xmlns:a16="http://schemas.microsoft.com/office/drawing/2014/main" id="{8B5BE4DC-12DB-4966-B5CB-4677CBE9C756}"/>
              </a:ext>
            </a:extLst>
          </p:cNvPr>
          <p:cNvSpPr>
            <a:spLocks xmlns:a="http://schemas.openxmlformats.org/drawingml/2006/main" noGrp="1"/>
          </p:cNvSpPr>
          <p:nvPr/>
        </p:nvSpPr>
        <p:spPr>
          <a:xfrm xmlns:a="http://schemas.openxmlformats.org/drawingml/2006/main">
            <a:off x="977900" y="5715000"/>
            <a:ext cx="10172700" cy="2286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1050"/>
            </a:pPr>
            <a:r>
              <a:rPr sz="1050" b="1" i="0" u="none">
                <a:solidFill>
                  <a:srgbClr val="FFFFFF"/>
                </a:solidFill>
                <a:latin typeface="Aptos"/>
                <a:ea typeface="Aptos"/>
                <a:cs typeface="Aptos"/>
              </a:rPr>
              <a:t>By leveraging knowledge distillation, we bypass the token conversion barrier and create a robust training signal.</a:t>
            </a:r>
          </a:p>
        </p:txBody>
      </p:sp>
      <p:sp>
        <p:nvSpPr>
          <p:cNvPr id="31" name="AutoShape 31">
            <a:extLst xmlns:a="http://schemas.openxmlformats.org/drawingml/2006/main">
              <a:ext uri="{FF2B5EF4-FFF2-40B4-BE49-F238E27FC236}">
                <a16:creationId xmlns:a16="http://schemas.microsoft.com/office/drawing/2014/main" id="{C1E9CD42-44CA-4F0A-B1B5-9573C7F78EDD}"/>
              </a:ext>
            </a:extLst>
          </p:cNvPr>
          <p:cNvSpPr>
            <a:spLocks xmlns:a="http://schemas.openxmlformats.org/drawingml/2006/main" noGrp="1"/>
          </p:cNvSpPr>
          <p:nvPr/>
        </p:nvSpPr>
        <p:spPr>
          <a:xfrm xmlns:a="http://schemas.openxmlformats.org/drawingml/2006/main">
            <a:off x="685800" y="6350000"/>
            <a:ext cx="10820400" cy="12700"/>
          </a:xfrm>
          <a:prstGeom xmlns:a="http://schemas.openxmlformats.org/drawingml/2006/main" prst="roundRect">
            <a:avLst>
              <a:gd name="adj" fmla="val 0"/>
            </a:avLst>
          </a:prstGeom>
          <a:solidFill xmlns:a="http://schemas.openxmlformats.org/drawingml/2006/main">
            <a:srgbClr val="D8D0C2">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32" name="AutoShape 32">
            <a:extLst xmlns:a="http://schemas.openxmlformats.org/drawingml/2006/main">
              <a:ext uri="{FF2B5EF4-FFF2-40B4-BE49-F238E27FC236}">
                <a16:creationId xmlns:a16="http://schemas.microsoft.com/office/drawing/2014/main" id="{63688AD8-FF14-4AA6-B4F3-E14D15DDFBE8}"/>
              </a:ext>
            </a:extLst>
          </p:cNvPr>
          <p:cNvSpPr>
            <a:spLocks xmlns:a="http://schemas.openxmlformats.org/drawingml/2006/main" noGrp="1"/>
          </p:cNvSpPr>
          <p:nvPr/>
        </p:nvSpPr>
        <p:spPr>
          <a:xfrm xmlns:a="http://schemas.openxmlformats.org/drawingml/2006/main">
            <a:off x="685800" y="6426200"/>
            <a:ext cx="5905500" cy="190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800" b="0" i="0" u="none">
                <a:solidFill>
                  <a:srgbClr val="7A746A"/>
                </a:solidFill>
                <a:latin typeface="Aptos"/>
                <a:ea typeface="Aptos"/>
                <a:cs typeface="Aptos"/>
              </a:rPr>
              <a:t>Source: HumanML3D Dataset Analysis; Knowledge Distillation Methodology</a:t>
            </a:r>
          </a:p>
        </p:txBody>
      </p:sp>
      <p:sp>
        <p:nvSpPr>
          <p:cNvPr id="33" name="AutoShape 33">
            <a:extLst xmlns:a="http://schemas.openxmlformats.org/drawingml/2006/main">
              <a:ext uri="{FF2B5EF4-FFF2-40B4-BE49-F238E27FC236}">
                <a16:creationId xmlns:a16="http://schemas.microsoft.com/office/drawing/2014/main" id="{41B124E0-0FA6-4D41-A776-0EF2BE1FEECA}"/>
              </a:ext>
            </a:extLst>
          </p:cNvPr>
          <p:cNvSpPr>
            <a:spLocks xmlns:a="http://schemas.openxmlformats.org/drawingml/2006/main" noGrp="1"/>
          </p:cNvSpPr>
          <p:nvPr/>
        </p:nvSpPr>
        <p:spPr>
          <a:xfrm xmlns:a="http://schemas.openxmlformats.org/drawingml/2006/main">
            <a:off x="9626600" y="6426200"/>
            <a:ext cx="1892300" cy="190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r">
              <a:lnSpc>
                <a:spcPct val="100000"/>
              </a:lnSpc>
              <a:buNone/>
            </a:pPr>
            <a:r>
              <a:rPr sz="800" b="0" i="0" u="none">
                <a:solidFill>
                  <a:srgbClr val="7A746A"/>
                </a:solidFill>
                <a:latin typeface="Aptos"/>
                <a:ea typeface="Aptos"/>
                <a:cs typeface="Aptos"/>
              </a:rPr>
              <a:t>3 / 8 - Data Challenge &amp; Solution</a:t>
            </a:r>
          </a:p>
        </p:txBody>
      </p:sp>
    </p:spTree>
    <p:extLst>
      <p:ext uri="{BB962C8B-B14F-4D97-AF65-F5344CB8AC3E}">
        <p14:creationId xmlns:p14="http://schemas.microsoft.com/office/powerpoint/2010/main" val="567492764"/>
      </p:ext>
    </p:extLst>
  </p:cSld>
</p:sld>
</file>

<file path=ppt/slides/slide4.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12ECB10D-80D3-484C-AB67-A010E4D409F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oundRect">
            <a:avLst>
              <a:gd name="adj" fmla="val 0"/>
            </a:avLst>
          </a:prstGeom>
          <a:solidFill xmlns:a="http://schemas.openxmlformats.org/drawingml/2006/main">
            <a:srgbClr val="F7F4ED">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67825A9E-7C2C-4BD7-B3C5-3D0E32639AF6}"/>
              </a:ext>
            </a:extLst>
          </p:cNvPr>
          <p:cNvSpPr>
            <a:spLocks xmlns:a="http://schemas.openxmlformats.org/drawingml/2006/main" noGrp="1"/>
          </p:cNvSpPr>
          <p:nvPr/>
        </p:nvSpPr>
        <p:spPr>
          <a:xfrm xmlns:a="http://schemas.openxmlformats.org/drawingml/2006/main">
            <a:off x="685800" y="419100"/>
            <a:ext cx="266700" cy="38100"/>
          </a:xfrm>
          <a:prstGeom xmlns:a="http://schemas.openxmlformats.org/drawingml/2006/main" prst="roundRect">
            <a:avLst>
              <a:gd name="adj" fmla="val 0"/>
            </a:avLst>
          </a:prstGeom>
          <a:solidFill xmlns:a="http://schemas.openxmlformats.org/drawingml/2006/main">
            <a:srgbClr val="167C8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4" name="AutoShape 4">
            <a:extLst xmlns:a="http://schemas.openxmlformats.org/drawingml/2006/main">
              <a:ext uri="{FF2B5EF4-FFF2-40B4-BE49-F238E27FC236}">
                <a16:creationId xmlns:a16="http://schemas.microsoft.com/office/drawing/2014/main" id="{4680D5DB-8B6C-4FE1-98AD-A3F5A9EE65FB}"/>
              </a:ext>
            </a:extLst>
          </p:cNvPr>
          <p:cNvSpPr>
            <a:spLocks xmlns:a="http://schemas.openxmlformats.org/drawingml/2006/main" noGrp="1"/>
          </p:cNvSpPr>
          <p:nvPr/>
        </p:nvSpPr>
        <p:spPr>
          <a:xfrm xmlns:a="http://schemas.openxmlformats.org/drawingml/2006/main">
            <a:off x="1066800" y="330200"/>
            <a:ext cx="4953000" cy="2540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r>
              <a:rPr sz="1000" b="1" i="0" u="none">
                <a:solidFill>
                  <a:srgbClr val="5E6975"/>
                </a:solidFill>
                <a:latin typeface="Aptos"/>
                <a:ea typeface="Aptos"/>
                <a:cs typeface="Aptos"/>
              </a:rPr>
              <a:t>FINAL METHOD</a:t>
            </a:r>
          </a:p>
        </p:txBody>
      </p:sp>
      <p:sp>
        <p:nvSpPr>
          <p:cNvPr id="5" name="AutoShape 5">
            <a:extLst xmlns:a="http://schemas.openxmlformats.org/drawingml/2006/main">
              <a:ext uri="{FF2B5EF4-FFF2-40B4-BE49-F238E27FC236}">
                <a16:creationId xmlns:a16="http://schemas.microsoft.com/office/drawing/2014/main" id="{3B33EF4F-68EF-4BD2-9CDC-1F435A9E3231}"/>
              </a:ext>
            </a:extLst>
          </p:cNvPr>
          <p:cNvSpPr>
            <a:spLocks xmlns:a="http://schemas.openxmlformats.org/drawingml/2006/main" noGrp="1"/>
          </p:cNvSpPr>
          <p:nvPr/>
        </p:nvSpPr>
        <p:spPr>
          <a:xfrm xmlns:a="http://schemas.openxmlformats.org/drawingml/2006/main">
            <a:off x="685800" y="723900"/>
            <a:ext cx="8953500" cy="713232"/>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2500"/>
            </a:pPr>
            <a:r>
              <a:rPr sz="2500" b="1" i="0" u="none">
                <a:solidFill>
                  <a:srgbClr val="1E252B"/>
                </a:solidFill>
                <a:latin typeface="Play"/>
                <a:ea typeface="Play"/>
                <a:cs typeface="Play"/>
              </a:rPr>
              <a:t>LoRA distillation adapts the language-to-token interface while motion execution stays frozen.</a:t>
            </a:r>
          </a:p>
        </p:txBody>
      </p:sp>
      <p:sp>
        <p:nvSpPr>
          <p:cNvPr id="6" name="AutoShape 6">
            <a:extLst xmlns:a="http://schemas.openxmlformats.org/drawingml/2006/main">
              <a:ext uri="{FF2B5EF4-FFF2-40B4-BE49-F238E27FC236}">
                <a16:creationId xmlns:a16="http://schemas.microsoft.com/office/drawing/2014/main" id="{C880E7C0-9868-468E-8CBA-D6E05784A8B3}"/>
              </a:ext>
            </a:extLst>
          </p:cNvPr>
          <p:cNvSpPr>
            <a:spLocks xmlns:a="http://schemas.openxmlformats.org/drawingml/2006/main" noGrp="1"/>
          </p:cNvSpPr>
          <p:nvPr/>
        </p:nvSpPr>
        <p:spPr>
          <a:xfrm xmlns:a="http://schemas.openxmlformats.org/drawingml/2006/main">
            <a:off x="673100" y="2349500"/>
            <a:ext cx="1752600" cy="990600"/>
          </a:xfrm>
          <a:prstGeom xmlns:a="http://schemas.openxmlformats.org/drawingml/2006/main" prst="roundRect">
            <a:avLst>
              <a:gd name="adj" fmla="val 0"/>
            </a:avLst>
          </a:prstGeom>
          <a:solidFill xmlns:a="http://schemas.openxmlformats.org/drawingml/2006/main">
            <a:srgbClr val="DDE8F7">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7" name="AutoShape 7">
            <a:extLst xmlns:a="http://schemas.openxmlformats.org/drawingml/2006/main">
              <a:ext uri="{FF2B5EF4-FFF2-40B4-BE49-F238E27FC236}">
                <a16:creationId xmlns:a16="http://schemas.microsoft.com/office/drawing/2014/main" id="{7C1D6401-2E59-4F9A-9E1B-27D2F37DCE75}"/>
              </a:ext>
            </a:extLst>
          </p:cNvPr>
          <p:cNvSpPr>
            <a:spLocks xmlns:a="http://schemas.openxmlformats.org/drawingml/2006/main" noGrp="1"/>
          </p:cNvSpPr>
          <p:nvPr/>
        </p:nvSpPr>
        <p:spPr>
          <a:xfrm xmlns:a="http://schemas.openxmlformats.org/drawingml/2006/main">
            <a:off x="838200" y="2552700"/>
            <a:ext cx="1409700" cy="571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101600" tIns="76200" rIns="101600" bIns="76200" anchor="ctr"/>
          <a:lstStyle xmlns:a="http://schemas.openxmlformats.org/drawingml/2006/main"/>
          <a:p xmlns:a="http://schemas.openxmlformats.org/drawingml/2006/main">
            <a:pPr marL="0" indent="0" algn="ctr">
              <a:lnSpc>
                <a:spcPct val="100000"/>
              </a:lnSpc>
              <a:buNone/>
            </a:pPr>
            <a:r>
              <a:rPr sz="1600" b="1" i="0" u="none">
                <a:solidFill>
                  <a:srgbClr val="1E252B"/>
                </a:solidFill>
                <a:latin typeface="Aptos"/>
                <a:ea typeface="Aptos"/>
                <a:cs typeface="Aptos"/>
              </a:rPr>
              <a:t>HumanML3D</a:t>
            </a:r>
          </a:p>
          <a:p xmlns:a="http://schemas.openxmlformats.org/drawingml/2006/main">
            <a:pPr marL="0" indent="0" algn="ctr">
              <a:lnSpc>
                <a:spcPct val="100000"/>
              </a:lnSpc>
              <a:buNone/>
            </a:pPr>
            <a:r>
              <a:rPr sz="1600" b="1" i="0" u="none">
                <a:solidFill>
                  <a:srgbClr val="1E252B"/>
                </a:solidFill>
                <a:latin typeface="Aptos"/>
                <a:ea typeface="Aptos"/>
                <a:cs typeface="Aptos"/>
              </a:rPr>
              <a:t>style captions</a:t>
            </a:r>
          </a:p>
        </p:txBody>
      </p:sp>
      <p:sp>
        <p:nvSpPr>
          <p:cNvPr id="8" name="AutoShape 8">
            <a:extLst xmlns:a="http://schemas.openxmlformats.org/drawingml/2006/main">
              <a:ext uri="{FF2B5EF4-FFF2-40B4-BE49-F238E27FC236}">
                <a16:creationId xmlns:a16="http://schemas.microsoft.com/office/drawing/2014/main" id="{90273CB4-435C-4203-B8B8-B8B3224A7372}"/>
              </a:ext>
            </a:extLst>
          </p:cNvPr>
          <p:cNvSpPr>
            <a:spLocks xmlns:a="http://schemas.openxmlformats.org/drawingml/2006/main" noGrp="1"/>
          </p:cNvSpPr>
          <p:nvPr/>
        </p:nvSpPr>
        <p:spPr>
          <a:xfrm xmlns:a="http://schemas.openxmlformats.org/drawingml/2006/main">
            <a:off x="2449608" y="2705100"/>
            <a:ext cx="381000" cy="266700"/>
          </a:xfrm>
          <a:prstGeom xmlns:a="http://schemas.openxmlformats.org/drawingml/2006/main" prst="rightArrow">
            <a:avLst>
              <a:gd name="adj1" fmla="val 50000"/>
              <a:gd name="adj2" fmla="val 50000"/>
            </a:avLst>
          </a:prstGeom>
          <a:solidFill xmlns:a="http://schemas.openxmlformats.org/drawingml/2006/main">
            <a:srgbClr val="2D344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9" name="AutoShape 9">
            <a:extLst xmlns:a="http://schemas.openxmlformats.org/drawingml/2006/main">
              <a:ext uri="{FF2B5EF4-FFF2-40B4-BE49-F238E27FC236}">
                <a16:creationId xmlns:a16="http://schemas.microsoft.com/office/drawing/2014/main" id="{DBADF95A-D47C-4230-AB4E-A7895DC3211C}"/>
              </a:ext>
            </a:extLst>
          </p:cNvPr>
          <p:cNvSpPr>
            <a:spLocks xmlns:a="http://schemas.openxmlformats.org/drawingml/2006/main" noGrp="1"/>
          </p:cNvSpPr>
          <p:nvPr/>
        </p:nvSpPr>
        <p:spPr>
          <a:xfrm xmlns:a="http://schemas.openxmlformats.org/drawingml/2006/main">
            <a:off x="2857500" y="2349500"/>
            <a:ext cx="1752600" cy="990600"/>
          </a:xfrm>
          <a:prstGeom xmlns:a="http://schemas.openxmlformats.org/drawingml/2006/main" prst="roundRect">
            <a:avLst>
              <a:gd name="adj" fmla="val 0"/>
            </a:avLst>
          </a:prstGeom>
          <a:solidFill xmlns:a="http://schemas.openxmlformats.org/drawingml/2006/main">
            <a:srgbClr val="F2E3D6">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0" name="AutoShape 10">
            <a:extLst xmlns:a="http://schemas.openxmlformats.org/drawingml/2006/main">
              <a:ext uri="{FF2B5EF4-FFF2-40B4-BE49-F238E27FC236}">
                <a16:creationId xmlns:a16="http://schemas.microsoft.com/office/drawing/2014/main" id="{0C2FDE9F-209A-4CED-8424-4F526998701E}"/>
              </a:ext>
            </a:extLst>
          </p:cNvPr>
          <p:cNvSpPr>
            <a:spLocks xmlns:a="http://schemas.openxmlformats.org/drawingml/2006/main" noGrp="1"/>
          </p:cNvSpPr>
          <p:nvPr/>
        </p:nvSpPr>
        <p:spPr>
          <a:xfrm xmlns:a="http://schemas.openxmlformats.org/drawingml/2006/main">
            <a:off x="3035300" y="2552700"/>
            <a:ext cx="1409700" cy="571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101600" tIns="76200" rIns="101600" bIns="76200" anchor="ctr"/>
          <a:lstStyle xmlns:a="http://schemas.openxmlformats.org/drawingml/2006/main"/>
          <a:p xmlns:a="http://schemas.openxmlformats.org/drawingml/2006/main">
            <a:pPr marL="0" indent="0" algn="ctr">
              <a:lnSpc>
                <a:spcPct val="100000"/>
              </a:lnSpc>
              <a:buNone/>
            </a:pPr>
            <a:r>
              <a:rPr sz="1600" b="1" i="0" u="none">
                <a:solidFill>
                  <a:srgbClr val="1E252B"/>
                </a:solidFill>
                <a:latin typeface="Aptos"/>
                <a:ea typeface="Aptos"/>
                <a:cs typeface="Aptos"/>
              </a:rPr>
              <a:t>MoConVQ</a:t>
            </a:r>
            <a:r>
              <a:rPr sz="1600" b="1" i="0" u="none">
                <a:solidFill>
                  <a:srgbClr val="1E252B"/>
                </a:solidFill>
                <a:latin typeface="Aptos"/>
                <a:ea typeface="Aptos"/>
                <a:cs typeface="Aptos"/>
              </a:rPr>
              <a:t> teacher</a:t>
            </a:r>
          </a:p>
          <a:p xmlns:a="http://schemas.openxmlformats.org/drawingml/2006/main">
            <a:pPr marL="0" indent="0" algn="ctr">
              <a:lnSpc>
                <a:spcPct val="100000"/>
              </a:lnSpc>
              <a:buNone/>
            </a:pPr>
            <a:r>
              <a:rPr sz="1600" b="1" i="0" u="none">
                <a:solidFill>
                  <a:srgbClr val="1E252B"/>
                </a:solidFill>
                <a:latin typeface="Aptos"/>
                <a:ea typeface="Aptos"/>
                <a:cs typeface="Aptos"/>
              </a:rPr>
              <a:t>pseudo tokens</a:t>
            </a:r>
          </a:p>
        </p:txBody>
      </p:sp>
      <p:sp>
        <p:nvSpPr>
          <p:cNvPr id="11" name="AutoShape 11">
            <a:extLst xmlns:a="http://schemas.openxmlformats.org/drawingml/2006/main">
              <a:ext uri="{FF2B5EF4-FFF2-40B4-BE49-F238E27FC236}">
                <a16:creationId xmlns:a16="http://schemas.microsoft.com/office/drawing/2014/main" id="{22D0C096-250B-47E6-8DF4-108846ADC48B}"/>
              </a:ext>
            </a:extLst>
          </p:cNvPr>
          <p:cNvSpPr>
            <a:spLocks xmlns:a="http://schemas.openxmlformats.org/drawingml/2006/main" noGrp="1"/>
          </p:cNvSpPr>
          <p:nvPr/>
        </p:nvSpPr>
        <p:spPr>
          <a:xfrm xmlns:a="http://schemas.openxmlformats.org/drawingml/2006/main">
            <a:off x="4641850" y="2705100"/>
            <a:ext cx="381000" cy="266700"/>
          </a:xfrm>
          <a:prstGeom xmlns:a="http://schemas.openxmlformats.org/drawingml/2006/main" prst="rightArrow">
            <a:avLst>
              <a:gd name="adj1" fmla="val 50000"/>
              <a:gd name="adj2" fmla="val 50000"/>
            </a:avLst>
          </a:prstGeom>
          <a:solidFill xmlns:a="http://schemas.openxmlformats.org/drawingml/2006/main">
            <a:srgbClr val="2D344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2" name="AutoShape 12">
            <a:extLst xmlns:a="http://schemas.openxmlformats.org/drawingml/2006/main">
              <a:ext uri="{FF2B5EF4-FFF2-40B4-BE49-F238E27FC236}">
                <a16:creationId xmlns:a16="http://schemas.microsoft.com/office/drawing/2014/main" id="{26715F1D-F557-49CB-95D6-A80F26ABA01F}"/>
              </a:ext>
            </a:extLst>
          </p:cNvPr>
          <p:cNvSpPr>
            <a:spLocks xmlns:a="http://schemas.openxmlformats.org/drawingml/2006/main" noGrp="1"/>
          </p:cNvSpPr>
          <p:nvPr/>
        </p:nvSpPr>
        <p:spPr>
          <a:xfrm xmlns:a="http://schemas.openxmlformats.org/drawingml/2006/main">
            <a:off x="5054600" y="2349500"/>
            <a:ext cx="1752600" cy="990600"/>
          </a:xfrm>
          <a:prstGeom xmlns:a="http://schemas.openxmlformats.org/drawingml/2006/main" prst="roundRect">
            <a:avLst>
              <a:gd name="adj" fmla="val 0"/>
            </a:avLst>
          </a:prstGeom>
          <a:solidFill xmlns:a="http://schemas.openxmlformats.org/drawingml/2006/main">
            <a:srgbClr val="DDEBDD">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3" name="AutoShape 13">
            <a:extLst xmlns:a="http://schemas.openxmlformats.org/drawingml/2006/main">
              <a:ext uri="{FF2B5EF4-FFF2-40B4-BE49-F238E27FC236}">
                <a16:creationId xmlns:a16="http://schemas.microsoft.com/office/drawing/2014/main" id="{BD0666D7-3124-4A48-9E6E-D606FECD8C53}"/>
              </a:ext>
            </a:extLst>
          </p:cNvPr>
          <p:cNvSpPr>
            <a:spLocks xmlns:a="http://schemas.openxmlformats.org/drawingml/2006/main" noGrp="1"/>
          </p:cNvSpPr>
          <p:nvPr/>
        </p:nvSpPr>
        <p:spPr>
          <a:xfrm xmlns:a="http://schemas.openxmlformats.org/drawingml/2006/main">
            <a:off x="5219700" y="2552700"/>
            <a:ext cx="1409700" cy="571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101600" tIns="76200" rIns="101600" bIns="76200" anchor="ctr"/>
          <a:lstStyle xmlns:a="http://schemas.openxmlformats.org/drawingml/2006/main"/>
          <a:p xmlns:a="http://schemas.openxmlformats.org/drawingml/2006/main">
            <a:pPr marL="0" indent="0" algn="ctr">
              <a:lnSpc>
                <a:spcPct val="100000"/>
              </a:lnSpc>
              <a:buNone/>
            </a:pPr>
            <a:r>
              <a:rPr sz="1600" b="1" i="0" u="none">
                <a:solidFill>
                  <a:srgbClr val="1E252B"/>
                </a:solidFill>
                <a:latin typeface="Aptos"/>
                <a:ea typeface="Aptos"/>
                <a:cs typeface="Aptos"/>
              </a:rPr>
              <a:t>Frozen student</a:t>
            </a:r>
          </a:p>
          <a:p xmlns:a="http://schemas.openxmlformats.org/drawingml/2006/main">
            <a:pPr marL="0" indent="0" algn="ctr">
              <a:lnSpc>
                <a:spcPct val="100000"/>
              </a:lnSpc>
              <a:buNone/>
            </a:pPr>
            <a:r>
              <a:rPr sz="1600" b="1" i="0" u="none">
                <a:solidFill>
                  <a:srgbClr val="1E252B"/>
                </a:solidFill>
                <a:latin typeface="Aptos"/>
                <a:ea typeface="Aptos"/>
                <a:cs typeface="Aptos"/>
              </a:rPr>
              <a:t>+ </a:t>
            </a:r>
            <a:r>
              <a:rPr sz="1600" b="1" i="0" u="none">
                <a:solidFill>
                  <a:srgbClr val="1E252B"/>
                </a:solidFill>
                <a:latin typeface="Aptos"/>
                <a:ea typeface="Aptos"/>
                <a:cs typeface="Aptos"/>
              </a:rPr>
              <a:t>LoRA</a:t>
            </a:r>
            <a:r>
              <a:rPr sz="1600" b="1" i="0" u="none">
                <a:solidFill>
                  <a:srgbClr val="1E252B"/>
                </a:solidFill>
                <a:latin typeface="Aptos"/>
                <a:ea typeface="Aptos"/>
                <a:cs typeface="Aptos"/>
              </a:rPr>
              <a:t> adapter</a:t>
            </a:r>
          </a:p>
        </p:txBody>
      </p:sp>
      <p:sp>
        <p:nvSpPr>
          <p:cNvPr id="14" name="AutoShape 14">
            <a:extLst xmlns:a="http://schemas.openxmlformats.org/drawingml/2006/main">
              <a:ext uri="{FF2B5EF4-FFF2-40B4-BE49-F238E27FC236}">
                <a16:creationId xmlns:a16="http://schemas.microsoft.com/office/drawing/2014/main" id="{808BC0D7-17BB-40AF-BA5B-3C24693325C4}"/>
              </a:ext>
            </a:extLst>
          </p:cNvPr>
          <p:cNvSpPr>
            <a:spLocks xmlns:a="http://schemas.openxmlformats.org/drawingml/2006/main" noGrp="1"/>
          </p:cNvSpPr>
          <p:nvPr/>
        </p:nvSpPr>
        <p:spPr>
          <a:xfrm xmlns:a="http://schemas.openxmlformats.org/drawingml/2006/main">
            <a:off x="6838950" y="2705100"/>
            <a:ext cx="381000" cy="266700"/>
          </a:xfrm>
          <a:prstGeom xmlns:a="http://schemas.openxmlformats.org/drawingml/2006/main" prst="rightArrow">
            <a:avLst>
              <a:gd name="adj1" fmla="val 50000"/>
              <a:gd name="adj2" fmla="val 50000"/>
            </a:avLst>
          </a:prstGeom>
          <a:solidFill xmlns:a="http://schemas.openxmlformats.org/drawingml/2006/main">
            <a:srgbClr val="2D344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5" name="AutoShape 15">
            <a:extLst xmlns:a="http://schemas.openxmlformats.org/drawingml/2006/main">
              <a:ext uri="{FF2B5EF4-FFF2-40B4-BE49-F238E27FC236}">
                <a16:creationId xmlns:a16="http://schemas.microsoft.com/office/drawing/2014/main" id="{6E0D4BAB-FBF1-41AD-A0F4-78D134CEFC66}"/>
              </a:ext>
            </a:extLst>
          </p:cNvPr>
          <p:cNvSpPr>
            <a:spLocks xmlns:a="http://schemas.openxmlformats.org/drawingml/2006/main" noGrp="1"/>
          </p:cNvSpPr>
          <p:nvPr/>
        </p:nvSpPr>
        <p:spPr>
          <a:xfrm xmlns:a="http://schemas.openxmlformats.org/drawingml/2006/main">
            <a:off x="7239000" y="2349500"/>
            <a:ext cx="1752600" cy="990600"/>
          </a:xfrm>
          <a:prstGeom xmlns:a="http://schemas.openxmlformats.org/drawingml/2006/main" prst="roundRect">
            <a:avLst>
              <a:gd name="adj" fmla="val 0"/>
            </a:avLst>
          </a:prstGeom>
          <a:solidFill xmlns:a="http://schemas.openxmlformats.org/drawingml/2006/main">
            <a:srgbClr val="E7DDF1">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6" name="AutoShape 16">
            <a:extLst xmlns:a="http://schemas.openxmlformats.org/drawingml/2006/main">
              <a:ext uri="{FF2B5EF4-FFF2-40B4-BE49-F238E27FC236}">
                <a16:creationId xmlns:a16="http://schemas.microsoft.com/office/drawing/2014/main" id="{A3B94537-AF4C-4643-91ED-37A1A1FDCA84}"/>
              </a:ext>
            </a:extLst>
          </p:cNvPr>
          <p:cNvSpPr>
            <a:spLocks xmlns:a="http://schemas.openxmlformats.org/drawingml/2006/main" noGrp="1"/>
          </p:cNvSpPr>
          <p:nvPr/>
        </p:nvSpPr>
        <p:spPr>
          <a:xfrm xmlns:a="http://schemas.openxmlformats.org/drawingml/2006/main">
            <a:off x="7416800" y="2552700"/>
            <a:ext cx="1409700" cy="571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101600" tIns="76200" rIns="101600" bIns="76200" anchor="ctr"/>
          <a:lstStyle xmlns:a="http://schemas.openxmlformats.org/drawingml/2006/main"/>
          <a:p xmlns:a="http://schemas.openxmlformats.org/drawingml/2006/main">
            <a:pPr marL="0" indent="0" algn="ctr">
              <a:lnSpc>
                <a:spcPct val="100000"/>
              </a:lnSpc>
              <a:buNone/>
            </a:pPr>
            <a:r>
              <a:rPr sz="1600" b="1" i="0" u="none">
                <a:solidFill>
                  <a:srgbClr val="1E252B"/>
                </a:solidFill>
                <a:latin typeface="Aptos"/>
                <a:ea typeface="Aptos"/>
                <a:cs typeface="Aptos"/>
              </a:rPr>
              <a:t>BVH motion</a:t>
            </a:r>
          </a:p>
          <a:p xmlns:a="http://schemas.openxmlformats.org/drawingml/2006/main">
            <a:pPr marL="0" indent="0" algn="ctr">
              <a:lnSpc>
                <a:spcPct val="100000"/>
              </a:lnSpc>
              <a:buNone/>
            </a:pPr>
            <a:r>
              <a:rPr sz="1600" b="1" i="0" u="none">
                <a:solidFill>
                  <a:srgbClr val="1E252B"/>
                </a:solidFill>
                <a:latin typeface="Aptos"/>
                <a:ea typeface="Aptos"/>
                <a:cs typeface="Aptos"/>
              </a:rPr>
              <a:t>outputs</a:t>
            </a:r>
          </a:p>
        </p:txBody>
      </p:sp>
      <p:sp>
        <p:nvSpPr>
          <p:cNvPr id="17" name="AutoShape 17">
            <a:extLst xmlns:a="http://schemas.openxmlformats.org/drawingml/2006/main">
              <a:ext uri="{FF2B5EF4-FFF2-40B4-BE49-F238E27FC236}">
                <a16:creationId xmlns:a16="http://schemas.microsoft.com/office/drawing/2014/main" id="{010E0E12-5482-44C9-80F9-2C6AE81497DE}"/>
              </a:ext>
            </a:extLst>
          </p:cNvPr>
          <p:cNvSpPr>
            <a:spLocks xmlns:a="http://schemas.openxmlformats.org/drawingml/2006/main" noGrp="1"/>
          </p:cNvSpPr>
          <p:nvPr/>
        </p:nvSpPr>
        <p:spPr>
          <a:xfrm xmlns:a="http://schemas.openxmlformats.org/drawingml/2006/main">
            <a:off x="9023350" y="2705100"/>
            <a:ext cx="381000" cy="266700"/>
          </a:xfrm>
          <a:prstGeom xmlns:a="http://schemas.openxmlformats.org/drawingml/2006/main" prst="rightArrow">
            <a:avLst>
              <a:gd name="adj1" fmla="val 50000"/>
              <a:gd name="adj2" fmla="val 50000"/>
            </a:avLst>
          </a:prstGeom>
          <a:solidFill xmlns:a="http://schemas.openxmlformats.org/drawingml/2006/main">
            <a:srgbClr val="2D344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8" name="AutoShape 18">
            <a:extLst xmlns:a="http://schemas.openxmlformats.org/drawingml/2006/main">
              <a:ext uri="{FF2B5EF4-FFF2-40B4-BE49-F238E27FC236}">
                <a16:creationId xmlns:a16="http://schemas.microsoft.com/office/drawing/2014/main" id="{E63A66E6-50BF-40B1-996D-4C638856514A}"/>
              </a:ext>
            </a:extLst>
          </p:cNvPr>
          <p:cNvSpPr>
            <a:spLocks xmlns:a="http://schemas.openxmlformats.org/drawingml/2006/main" noGrp="1"/>
          </p:cNvSpPr>
          <p:nvPr/>
        </p:nvSpPr>
        <p:spPr>
          <a:xfrm xmlns:a="http://schemas.openxmlformats.org/drawingml/2006/main">
            <a:off x="9436100" y="2349500"/>
            <a:ext cx="1752600" cy="990600"/>
          </a:xfrm>
          <a:prstGeom xmlns:a="http://schemas.openxmlformats.org/drawingml/2006/main" prst="roundRect">
            <a:avLst>
              <a:gd name="adj" fmla="val 0"/>
            </a:avLst>
          </a:prstGeom>
          <a:solidFill xmlns:a="http://schemas.openxmlformats.org/drawingml/2006/main">
            <a:srgbClr val="F0DDDA">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9" name="AutoShape 19">
            <a:extLst xmlns:a="http://schemas.openxmlformats.org/drawingml/2006/main">
              <a:ext uri="{FF2B5EF4-FFF2-40B4-BE49-F238E27FC236}">
                <a16:creationId xmlns:a16="http://schemas.microsoft.com/office/drawing/2014/main" id="{813C33E6-5D09-44E9-A527-0765A3A3A023}"/>
              </a:ext>
            </a:extLst>
          </p:cNvPr>
          <p:cNvSpPr>
            <a:spLocks xmlns:a="http://schemas.openxmlformats.org/drawingml/2006/main" noGrp="1"/>
          </p:cNvSpPr>
          <p:nvPr/>
        </p:nvSpPr>
        <p:spPr>
          <a:xfrm xmlns:a="http://schemas.openxmlformats.org/drawingml/2006/main">
            <a:off x="9601200" y="2552700"/>
            <a:ext cx="1409700" cy="571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101600" tIns="76200" rIns="101600" bIns="76200" anchor="ctr"/>
          <a:lstStyle xmlns:a="http://schemas.openxmlformats.org/drawingml/2006/main"/>
          <a:p xmlns:a="http://schemas.openxmlformats.org/drawingml/2006/main">
            <a:pPr marL="0" indent="0" algn="ctr">
              <a:lnSpc>
                <a:spcPct val="100000"/>
              </a:lnSpc>
              <a:buNone/>
            </a:pPr>
            <a:r>
              <a:rPr sz="1600" b="1" i="0" u="none">
                <a:solidFill>
                  <a:srgbClr val="1E252B"/>
                </a:solidFill>
                <a:latin typeface="Aptos"/>
                <a:ea typeface="Aptos"/>
                <a:cs typeface="Aptos"/>
              </a:rPr>
              <a:t>Style proxy</a:t>
            </a:r>
          </a:p>
          <a:p xmlns:a="http://schemas.openxmlformats.org/drawingml/2006/main">
            <a:pPr marL="0" indent="0" algn="ctr">
              <a:lnSpc>
                <a:spcPct val="100000"/>
              </a:lnSpc>
              <a:buNone/>
            </a:pPr>
            <a:r>
              <a:rPr sz="1600" b="1" i="0" u="none">
                <a:solidFill>
                  <a:srgbClr val="1E252B"/>
                </a:solidFill>
                <a:latin typeface="Aptos"/>
                <a:ea typeface="Aptos"/>
                <a:cs typeface="Aptos"/>
              </a:rPr>
              <a:t>metrics</a:t>
            </a:r>
          </a:p>
        </p:txBody>
      </p:sp>
      <p:sp>
        <p:nvSpPr>
          <p:cNvPr id="20" name="AutoShape 20">
            <a:extLst xmlns:a="http://schemas.openxmlformats.org/drawingml/2006/main">
              <a:ext uri="{FF2B5EF4-FFF2-40B4-BE49-F238E27FC236}">
                <a16:creationId xmlns:a16="http://schemas.microsoft.com/office/drawing/2014/main" id="{5682A07E-FE49-4A3A-9A72-30F38D0F1871}"/>
              </a:ext>
            </a:extLst>
          </p:cNvPr>
          <p:cNvSpPr>
            <a:spLocks xmlns:a="http://schemas.openxmlformats.org/drawingml/2006/main" noGrp="1"/>
          </p:cNvSpPr>
          <p:nvPr/>
        </p:nvSpPr>
        <p:spPr>
          <a:xfrm xmlns:a="http://schemas.openxmlformats.org/drawingml/2006/main">
            <a:off x="3378200" y="3606800"/>
            <a:ext cx="25400" cy="533400"/>
          </a:xfrm>
          <a:prstGeom xmlns:a="http://schemas.openxmlformats.org/drawingml/2006/main" prst="roundRect">
            <a:avLst>
              <a:gd name="adj" fmla="val 0"/>
            </a:avLst>
          </a:prstGeom>
          <a:solidFill xmlns:a="http://schemas.openxmlformats.org/drawingml/2006/main">
            <a:srgbClr val="A7A19A">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1" name="AutoShape 21">
            <a:extLst xmlns:a="http://schemas.openxmlformats.org/drawingml/2006/main">
              <a:ext uri="{FF2B5EF4-FFF2-40B4-BE49-F238E27FC236}">
                <a16:creationId xmlns:a16="http://schemas.microsoft.com/office/drawing/2014/main" id="{2BA0C587-4F5B-441A-B004-12DEA2F7A4EA}"/>
              </a:ext>
            </a:extLst>
          </p:cNvPr>
          <p:cNvSpPr>
            <a:spLocks xmlns:a="http://schemas.openxmlformats.org/drawingml/2006/main" noGrp="1"/>
          </p:cNvSpPr>
          <p:nvPr/>
        </p:nvSpPr>
        <p:spPr>
          <a:xfrm xmlns:a="http://schemas.openxmlformats.org/drawingml/2006/main">
            <a:off x="2692400" y="4267200"/>
            <a:ext cx="2006600" cy="5588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ctr">
              <a:lnSpc>
                <a:spcPct val="100000"/>
              </a:lnSpc>
              <a:buNone/>
            </a:pPr>
            <a:r>
              <a:rPr sz="1400" b="0" i="0" u="none">
                <a:solidFill>
                  <a:srgbClr val="B15A35"/>
                </a:solidFill>
                <a:latin typeface="Aptos"/>
                <a:ea typeface="Aptos"/>
                <a:cs typeface="Aptos"/>
              </a:rPr>
              <a:t>distillation target</a:t>
            </a:r>
          </a:p>
        </p:txBody>
      </p:sp>
      <p:sp>
        <p:nvSpPr>
          <p:cNvPr id="22" name="AutoShape 22">
            <a:extLst xmlns:a="http://schemas.openxmlformats.org/drawingml/2006/main">
              <a:ext uri="{FF2B5EF4-FFF2-40B4-BE49-F238E27FC236}">
                <a16:creationId xmlns:a16="http://schemas.microsoft.com/office/drawing/2014/main" id="{130C0A37-7615-46A1-9BAD-4C90237524A7}"/>
              </a:ext>
            </a:extLst>
          </p:cNvPr>
          <p:cNvSpPr>
            <a:spLocks xmlns:a="http://schemas.openxmlformats.org/drawingml/2006/main" noGrp="1"/>
          </p:cNvSpPr>
          <p:nvPr/>
        </p:nvSpPr>
        <p:spPr>
          <a:xfrm xmlns:a="http://schemas.openxmlformats.org/drawingml/2006/main">
            <a:off x="5600700" y="3606800"/>
            <a:ext cx="25400" cy="533400"/>
          </a:xfrm>
          <a:prstGeom xmlns:a="http://schemas.openxmlformats.org/drawingml/2006/main" prst="roundRect">
            <a:avLst>
              <a:gd name="adj" fmla="val 0"/>
            </a:avLst>
          </a:prstGeom>
          <a:solidFill xmlns:a="http://schemas.openxmlformats.org/drawingml/2006/main">
            <a:srgbClr val="A7A19A">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3" name="AutoShape 23">
            <a:extLst xmlns:a="http://schemas.openxmlformats.org/drawingml/2006/main">
              <a:ext uri="{FF2B5EF4-FFF2-40B4-BE49-F238E27FC236}">
                <a16:creationId xmlns:a16="http://schemas.microsoft.com/office/drawing/2014/main" id="{EFFA243C-DCBF-42A5-B9E5-4141EC9D999C}"/>
              </a:ext>
            </a:extLst>
          </p:cNvPr>
          <p:cNvSpPr>
            <a:spLocks xmlns:a="http://schemas.openxmlformats.org/drawingml/2006/main" noGrp="1"/>
          </p:cNvSpPr>
          <p:nvPr/>
        </p:nvSpPr>
        <p:spPr>
          <a:xfrm xmlns:a="http://schemas.openxmlformats.org/drawingml/2006/main">
            <a:off x="4914900" y="4267200"/>
            <a:ext cx="2006600" cy="5588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ctr">
              <a:lnSpc>
                <a:spcPct val="100000"/>
              </a:lnSpc>
              <a:buNone/>
            </a:pPr>
            <a:r>
              <a:rPr sz="1400" b="0" i="0" u="none">
                <a:solidFill>
                  <a:srgbClr val="167C80"/>
                </a:solidFill>
                <a:latin typeface="Aptos"/>
                <a:ea typeface="Aptos"/>
                <a:cs typeface="Aptos"/>
              </a:rPr>
              <a:t>train low-rank updates</a:t>
            </a:r>
          </a:p>
          <a:p xmlns:a="http://schemas.openxmlformats.org/drawingml/2006/main">
            <a:pPr marL="0" indent="0" algn="ctr">
              <a:lnSpc>
                <a:spcPct val="100000"/>
              </a:lnSpc>
              <a:buNone/>
            </a:pPr>
            <a:r>
              <a:rPr sz="1400" b="0" i="0" u="none">
                <a:solidFill>
                  <a:srgbClr val="167C80"/>
                </a:solidFill>
                <a:latin typeface="Aptos"/>
                <a:ea typeface="Aptos"/>
                <a:cs typeface="Aptos"/>
              </a:rPr>
              <a:t>freeze decoder/controller</a:t>
            </a:r>
          </a:p>
        </p:txBody>
      </p:sp>
      <p:sp>
        <p:nvSpPr>
          <p:cNvPr id="24" name="AutoShape 24">
            <a:extLst xmlns:a="http://schemas.openxmlformats.org/drawingml/2006/main">
              <a:ext uri="{FF2B5EF4-FFF2-40B4-BE49-F238E27FC236}">
                <a16:creationId xmlns:a16="http://schemas.microsoft.com/office/drawing/2014/main" id="{B14FCB3D-7494-4113-B492-53D4421AF771}"/>
              </a:ext>
            </a:extLst>
          </p:cNvPr>
          <p:cNvSpPr>
            <a:spLocks xmlns:a="http://schemas.openxmlformats.org/drawingml/2006/main" noGrp="1"/>
          </p:cNvSpPr>
          <p:nvPr/>
        </p:nvSpPr>
        <p:spPr>
          <a:xfrm xmlns:a="http://schemas.openxmlformats.org/drawingml/2006/main">
            <a:off x="8293100" y="3606800"/>
            <a:ext cx="25400" cy="533400"/>
          </a:xfrm>
          <a:prstGeom xmlns:a="http://schemas.openxmlformats.org/drawingml/2006/main" prst="roundRect">
            <a:avLst>
              <a:gd name="adj" fmla="val 0"/>
            </a:avLst>
          </a:prstGeom>
          <a:solidFill xmlns:a="http://schemas.openxmlformats.org/drawingml/2006/main">
            <a:srgbClr val="A7A19A">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5" name="AutoShape 25">
            <a:extLst xmlns:a="http://schemas.openxmlformats.org/drawingml/2006/main">
              <a:ext uri="{FF2B5EF4-FFF2-40B4-BE49-F238E27FC236}">
                <a16:creationId xmlns:a16="http://schemas.microsoft.com/office/drawing/2014/main" id="{BD580435-CBB5-4481-8135-AC2D9D933EE0}"/>
              </a:ext>
            </a:extLst>
          </p:cNvPr>
          <p:cNvSpPr>
            <a:spLocks xmlns:a="http://schemas.openxmlformats.org/drawingml/2006/main" noGrp="1"/>
          </p:cNvSpPr>
          <p:nvPr/>
        </p:nvSpPr>
        <p:spPr>
          <a:xfrm xmlns:a="http://schemas.openxmlformats.org/drawingml/2006/main">
            <a:off x="7607300" y="4267200"/>
            <a:ext cx="2006600" cy="5588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ctr">
              <a:lnSpc>
                <a:spcPct val="100000"/>
              </a:lnSpc>
              <a:buNone/>
            </a:pPr>
            <a:r>
              <a:rPr sz="1400" b="0" i="0" u="none">
                <a:solidFill>
                  <a:srgbClr val="2F7DE1"/>
                </a:solidFill>
                <a:latin typeface="Aptos"/>
                <a:ea typeface="Aptos"/>
                <a:cs typeface="Aptos"/>
              </a:rPr>
              <a:t>render and parse</a:t>
            </a:r>
          </a:p>
          <a:p xmlns:a="http://schemas.openxmlformats.org/drawingml/2006/main">
            <a:pPr marL="0" indent="0" algn="ctr">
              <a:lnSpc>
                <a:spcPct val="100000"/>
              </a:lnSpc>
              <a:buNone/>
            </a:pPr>
            <a:r>
              <a:rPr sz="1400" b="0" i="0" u="none">
                <a:solidFill>
                  <a:srgbClr val="2F7DE1"/>
                </a:solidFill>
                <a:latin typeface="Aptos"/>
                <a:ea typeface="Aptos"/>
                <a:cs typeface="Aptos"/>
              </a:rPr>
              <a:t>kinematic motion files</a:t>
            </a:r>
          </a:p>
        </p:txBody>
      </p:sp>
      <p:sp>
        <p:nvSpPr>
          <p:cNvPr id="26" name="AutoShape 26">
            <a:extLst xmlns:a="http://schemas.openxmlformats.org/drawingml/2006/main">
              <a:ext uri="{FF2B5EF4-FFF2-40B4-BE49-F238E27FC236}">
                <a16:creationId xmlns:a16="http://schemas.microsoft.com/office/drawing/2014/main" id="{B2CC8C65-DE51-4291-8723-B88B087346FC}"/>
              </a:ext>
            </a:extLst>
          </p:cNvPr>
          <p:cNvSpPr>
            <a:spLocks xmlns:a="http://schemas.openxmlformats.org/drawingml/2006/main" noGrp="1"/>
          </p:cNvSpPr>
          <p:nvPr/>
        </p:nvSpPr>
        <p:spPr>
          <a:xfrm xmlns:a="http://schemas.openxmlformats.org/drawingml/2006/main">
            <a:off x="1181100" y="5257800"/>
            <a:ext cx="9829800" cy="4826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ctr">
              <a:lnSpc>
                <a:spcPct val="100000"/>
              </a:lnSpc>
              <a:buNone/>
            </a:pPr>
            <a:r>
              <a:rPr sz="1900" b="1" i="0" u="none">
                <a:solidFill>
                  <a:srgbClr val="1E252B"/>
                </a:solidFill>
                <a:latin typeface="Play"/>
                <a:ea typeface="Play"/>
                <a:cs typeface="Play"/>
              </a:rPr>
              <a:t>Evaluation separates three signals: teacher-token learning, BVH kinematic proxy movement, and qualitative motion inspection.</a:t>
            </a:r>
          </a:p>
        </p:txBody>
      </p:sp>
      <p:sp>
        <p:nvSpPr>
          <p:cNvPr id="27" name="AutoShape 27">
            <a:extLst xmlns:a="http://schemas.openxmlformats.org/drawingml/2006/main">
              <a:ext uri="{FF2B5EF4-FFF2-40B4-BE49-F238E27FC236}">
                <a16:creationId xmlns:a16="http://schemas.microsoft.com/office/drawing/2014/main" id="{566AD03D-4ED5-499F-B1B0-EC65ADEC0F72}"/>
              </a:ext>
            </a:extLst>
          </p:cNvPr>
          <p:cNvSpPr>
            <a:spLocks xmlns:a="http://schemas.openxmlformats.org/drawingml/2006/main" noGrp="1"/>
          </p:cNvSpPr>
          <p:nvPr/>
        </p:nvSpPr>
        <p:spPr>
          <a:xfrm xmlns:a="http://schemas.openxmlformats.org/drawingml/2006/main">
            <a:off x="685800" y="6350000"/>
            <a:ext cx="10820400" cy="12700"/>
          </a:xfrm>
          <a:prstGeom xmlns:a="http://schemas.openxmlformats.org/drawingml/2006/main" prst="roundRect">
            <a:avLst>
              <a:gd name="adj" fmla="val 0"/>
            </a:avLst>
          </a:prstGeom>
          <a:solidFill xmlns:a="http://schemas.openxmlformats.org/drawingml/2006/main">
            <a:srgbClr val="D8D0C2">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8" name="AutoShape 28">
            <a:extLst xmlns:a="http://schemas.openxmlformats.org/drawingml/2006/main">
              <a:ext uri="{FF2B5EF4-FFF2-40B4-BE49-F238E27FC236}">
                <a16:creationId xmlns:a16="http://schemas.microsoft.com/office/drawing/2014/main" id="{5E1A6EF9-3291-4ABD-BFAB-8A2430D221B0}"/>
              </a:ext>
            </a:extLst>
          </p:cNvPr>
          <p:cNvSpPr>
            <a:spLocks xmlns:a="http://schemas.openxmlformats.org/drawingml/2006/main" noGrp="1"/>
          </p:cNvSpPr>
          <p:nvPr/>
        </p:nvSpPr>
        <p:spPr>
          <a:xfrm xmlns:a="http://schemas.openxmlformats.org/drawingml/2006/main">
            <a:off x="685800" y="6426200"/>
            <a:ext cx="5905500" cy="190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800" b="0" i="0" u="none">
                <a:solidFill>
                  <a:srgbClr val="7A746A"/>
                </a:solidFill>
                <a:latin typeface="Aptos"/>
                <a:ea typeface="Aptos"/>
                <a:cs typeface="Aptos"/>
              </a:rPr>
              <a:t>Source: LoRA Adaptation Pipeline Methodology &amp; Evaluation Framework</a:t>
            </a:r>
          </a:p>
        </p:txBody>
      </p:sp>
      <p:sp>
        <p:nvSpPr>
          <p:cNvPr id="29" name="AutoShape 29">
            <a:extLst xmlns:a="http://schemas.openxmlformats.org/drawingml/2006/main">
              <a:ext uri="{FF2B5EF4-FFF2-40B4-BE49-F238E27FC236}">
                <a16:creationId xmlns:a16="http://schemas.microsoft.com/office/drawing/2014/main" id="{FA8E2E50-83F7-418B-8D9B-862B6239EF25}"/>
              </a:ext>
            </a:extLst>
          </p:cNvPr>
          <p:cNvSpPr>
            <a:spLocks xmlns:a="http://schemas.openxmlformats.org/drawingml/2006/main" noGrp="1"/>
          </p:cNvSpPr>
          <p:nvPr/>
        </p:nvSpPr>
        <p:spPr>
          <a:xfrm xmlns:a="http://schemas.openxmlformats.org/drawingml/2006/main">
            <a:off x="9626600" y="6426200"/>
            <a:ext cx="1892300" cy="190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r">
              <a:lnSpc>
                <a:spcPct val="100000"/>
              </a:lnSpc>
              <a:buNone/>
            </a:pPr>
            <a:r>
              <a:rPr sz="800" b="0" i="0" u="none">
                <a:solidFill>
                  <a:srgbClr val="7A746A"/>
                </a:solidFill>
                <a:latin typeface="Aptos"/>
                <a:ea typeface="Aptos"/>
                <a:cs typeface="Aptos"/>
              </a:rPr>
              <a:t>4 / 8 - Final Method</a:t>
            </a:r>
          </a:p>
        </p:txBody>
      </p:sp>
    </p:spTree>
    <p:extLst>
      <p:ext uri="{BB962C8B-B14F-4D97-AF65-F5344CB8AC3E}">
        <p14:creationId xmlns:p14="http://schemas.microsoft.com/office/powerpoint/2010/main" val="1062995322"/>
      </p:ext>
    </p:extLst>
  </p:cSld>
</p:sld>
</file>

<file path=ppt/slides/slide5.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DBF75816-BA15-4C7A-B0B2-97554C7174C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oundRect">
            <a:avLst>
              <a:gd name="adj" fmla="val 0"/>
            </a:avLst>
          </a:prstGeom>
          <a:solidFill xmlns:a="http://schemas.openxmlformats.org/drawingml/2006/main">
            <a:srgbClr val="F7F4ED">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F7459065-B254-45DD-A460-9A1CD36FC8B4}"/>
              </a:ext>
            </a:extLst>
          </p:cNvPr>
          <p:cNvSpPr>
            <a:spLocks xmlns:a="http://schemas.openxmlformats.org/drawingml/2006/main" noGrp="1"/>
          </p:cNvSpPr>
          <p:nvPr/>
        </p:nvSpPr>
        <p:spPr>
          <a:xfrm xmlns:a="http://schemas.openxmlformats.org/drawingml/2006/main">
            <a:off x="685800" y="419100"/>
            <a:ext cx="266700" cy="38100"/>
          </a:xfrm>
          <a:prstGeom xmlns:a="http://schemas.openxmlformats.org/drawingml/2006/main" prst="roundRect">
            <a:avLst>
              <a:gd name="adj" fmla="val 0"/>
            </a:avLst>
          </a:prstGeom>
          <a:solidFill xmlns:a="http://schemas.openxmlformats.org/drawingml/2006/main">
            <a:srgbClr val="167C8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4" name="AutoShape 4">
            <a:extLst xmlns:a="http://schemas.openxmlformats.org/drawingml/2006/main">
              <a:ext uri="{FF2B5EF4-FFF2-40B4-BE49-F238E27FC236}">
                <a16:creationId xmlns:a16="http://schemas.microsoft.com/office/drawing/2014/main" id="{8472D84D-727D-4A31-BC9C-80840E16E81D}"/>
              </a:ext>
            </a:extLst>
          </p:cNvPr>
          <p:cNvSpPr>
            <a:spLocks xmlns:a="http://schemas.openxmlformats.org/drawingml/2006/main" noGrp="1"/>
          </p:cNvSpPr>
          <p:nvPr/>
        </p:nvSpPr>
        <p:spPr>
          <a:xfrm xmlns:a="http://schemas.openxmlformats.org/drawingml/2006/main">
            <a:off x="1066800" y="330200"/>
            <a:ext cx="4953000" cy="2540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r>
              <a:rPr sz="1000" b="1" i="0" u="none">
                <a:solidFill>
                  <a:srgbClr val="5E6975"/>
                </a:solidFill>
                <a:latin typeface="Aptos"/>
                <a:ea typeface="Aptos"/>
                <a:cs typeface="Aptos"/>
              </a:rPr>
              <a:t>EXPERIMENTAL SETUP</a:t>
            </a:r>
          </a:p>
        </p:txBody>
      </p:sp>
      <p:sp>
        <p:nvSpPr>
          <p:cNvPr id="5" name="AutoShape 5">
            <a:extLst xmlns:a="http://schemas.openxmlformats.org/drawingml/2006/main">
              <a:ext uri="{FF2B5EF4-FFF2-40B4-BE49-F238E27FC236}">
                <a16:creationId xmlns:a16="http://schemas.microsoft.com/office/drawing/2014/main" id="{A7CB1D0B-0DA5-44E6-8170-353E3ACE3DEC}"/>
              </a:ext>
            </a:extLst>
          </p:cNvPr>
          <p:cNvSpPr>
            <a:spLocks xmlns:a="http://schemas.openxmlformats.org/drawingml/2006/main" noGrp="1"/>
          </p:cNvSpPr>
          <p:nvPr/>
        </p:nvSpPr>
        <p:spPr>
          <a:xfrm xmlns:a="http://schemas.openxmlformats.org/drawingml/2006/main">
            <a:off x="685800" y="723900"/>
            <a:ext cx="8953500" cy="676656"/>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2500"/>
            </a:pPr>
            <a:r>
              <a:rPr sz="2500" b="1" i="0" u="none">
                <a:solidFill>
                  <a:srgbClr val="1E252B"/>
                </a:solidFill>
                <a:latin typeface="Play"/>
                <a:ea typeface="Play"/>
                <a:cs typeface="Play"/>
              </a:rPr>
              <a:t>Setup: small LoRA adapter, frozen motion stack, measured proxies.</a:t>
            </a:r>
          </a:p>
        </p:txBody>
      </p:sp>
      <p:sp>
        <p:nvSpPr>
          <p:cNvPr id="6" name="AutoShape 6">
            <a:extLst xmlns:a="http://schemas.openxmlformats.org/drawingml/2006/main">
              <a:ext uri="{FF2B5EF4-FFF2-40B4-BE49-F238E27FC236}">
                <a16:creationId xmlns:a16="http://schemas.microsoft.com/office/drawing/2014/main" id="{D587492F-A4FD-47AD-8491-C7A045A0BF14}"/>
              </a:ext>
            </a:extLst>
          </p:cNvPr>
          <p:cNvSpPr>
            <a:spLocks xmlns:a="http://schemas.openxmlformats.org/drawingml/2006/main" noGrp="1"/>
          </p:cNvSpPr>
          <p:nvPr/>
        </p:nvSpPr>
        <p:spPr>
          <a:xfrm xmlns:a="http://schemas.openxmlformats.org/drawingml/2006/main">
            <a:off x="685800" y="1968500"/>
            <a:ext cx="3162300" cy="3263900"/>
          </a:xfrm>
          <a:prstGeom xmlns:a="http://schemas.openxmlformats.org/drawingml/2006/main" prst="roundRect">
            <a:avLst>
              <a:gd name="adj" fmla="val 0"/>
            </a:avLst>
          </a:prstGeom>
          <a:solidFill xmlns:a="http://schemas.openxmlformats.org/drawingml/2006/main">
            <a:srgbClr val="DDE8F7">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7" name="AutoShape 7">
            <a:extLst xmlns:a="http://schemas.openxmlformats.org/drawingml/2006/main">
              <a:ext uri="{FF2B5EF4-FFF2-40B4-BE49-F238E27FC236}">
                <a16:creationId xmlns:a16="http://schemas.microsoft.com/office/drawing/2014/main" id="{8745A083-0C71-4F8B-88EB-5696448BAFFD}"/>
              </a:ext>
            </a:extLst>
          </p:cNvPr>
          <p:cNvSpPr>
            <a:spLocks xmlns:a="http://schemas.openxmlformats.org/drawingml/2006/main" noGrp="1"/>
          </p:cNvSpPr>
          <p:nvPr/>
        </p:nvSpPr>
        <p:spPr>
          <a:xfrm xmlns:a="http://schemas.openxmlformats.org/drawingml/2006/main">
            <a:off x="914400" y="2197100"/>
            <a:ext cx="2667000" cy="2159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900" b="1" i="0" u="none">
                <a:solidFill>
                  <a:srgbClr val="2F7DE1"/>
                </a:solidFill>
                <a:latin typeface="Aptos"/>
                <a:ea typeface="Aptos"/>
                <a:cs typeface="Aptos"/>
              </a:rPr>
              <a:t>IMPLEMENTATION DETAILS</a:t>
            </a:r>
          </a:p>
        </p:txBody>
      </p:sp>
      <p:sp>
        <p:nvSpPr>
          <p:cNvPr id="8" name="AutoShape 8">
            <a:extLst xmlns:a="http://schemas.openxmlformats.org/drawingml/2006/main">
              <a:ext uri="{FF2B5EF4-FFF2-40B4-BE49-F238E27FC236}">
                <a16:creationId xmlns:a16="http://schemas.microsoft.com/office/drawing/2014/main" id="{F201AF21-F179-4334-9681-3FE5D8AD58C6}"/>
              </a:ext>
            </a:extLst>
          </p:cNvPr>
          <p:cNvSpPr>
            <a:spLocks xmlns:a="http://schemas.openxmlformats.org/drawingml/2006/main" noGrp="1"/>
          </p:cNvSpPr>
          <p:nvPr/>
        </p:nvSpPr>
        <p:spPr>
          <a:xfrm xmlns:a="http://schemas.openxmlformats.org/drawingml/2006/main">
            <a:off x="914400" y="2514600"/>
            <a:ext cx="2628900" cy="6731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2000" b="1" i="0" u="none">
                <a:solidFill>
                  <a:srgbClr val="1E252B"/>
                </a:solidFill>
                <a:latin typeface="Play"/>
                <a:ea typeface="Play"/>
                <a:cs typeface="Play"/>
              </a:rPr>
              <a:t>Model &amp; Data Config</a:t>
            </a:r>
          </a:p>
        </p:txBody>
      </p:sp>
      <p:sp>
        <p:nvSpPr>
          <p:cNvPr id="9" name="AutoShape 9">
            <a:extLst xmlns:a="http://schemas.openxmlformats.org/drawingml/2006/main">
              <a:ext uri="{FF2B5EF4-FFF2-40B4-BE49-F238E27FC236}">
                <a16:creationId xmlns:a16="http://schemas.microsoft.com/office/drawing/2014/main" id="{5495F67A-6516-4EF6-9D73-8263C1F35E01}"/>
              </a:ext>
            </a:extLst>
          </p:cNvPr>
          <p:cNvSpPr>
            <a:spLocks xmlns:a="http://schemas.openxmlformats.org/drawingml/2006/main" noGrp="1"/>
          </p:cNvSpPr>
          <p:nvPr/>
        </p:nvSpPr>
        <p:spPr>
          <a:xfrm xmlns:a="http://schemas.openxmlformats.org/drawingml/2006/main">
            <a:off x="914400" y="3441700"/>
            <a:ext cx="88900" cy="88900"/>
          </a:xfrm>
          <a:prstGeom xmlns:a="http://schemas.openxmlformats.org/drawingml/2006/main" prst="roundRect">
            <a:avLst>
              <a:gd name="adj" fmla="val 0"/>
            </a:avLst>
          </a:prstGeom>
          <a:solidFill xmlns:a="http://schemas.openxmlformats.org/drawingml/2006/main">
            <a:srgbClr val="2F7DE1">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0" name="AutoShape 10">
            <a:extLst xmlns:a="http://schemas.openxmlformats.org/drawingml/2006/main">
              <a:ext uri="{FF2B5EF4-FFF2-40B4-BE49-F238E27FC236}">
                <a16:creationId xmlns:a16="http://schemas.microsoft.com/office/drawing/2014/main" id="{6E8A1E7B-89D5-4CE0-BEF7-E60165C0401D}"/>
              </a:ext>
            </a:extLst>
          </p:cNvPr>
          <p:cNvSpPr>
            <a:spLocks xmlns:a="http://schemas.openxmlformats.org/drawingml/2006/main" noGrp="1"/>
          </p:cNvSpPr>
          <p:nvPr/>
        </p:nvSpPr>
        <p:spPr>
          <a:xfrm xmlns:a="http://schemas.openxmlformats.org/drawingml/2006/main">
            <a:off x="1143000" y="3352800"/>
            <a:ext cx="2463800" cy="5207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1050"/>
            </a:pPr>
            <a:r>
              <a:rPr sz="1050" b="0" i="0" u="none">
                <a:solidFill>
                  <a:srgbClr val="1E252B"/>
                </a:solidFill>
                <a:latin typeface="Aptos"/>
                <a:ea typeface="Aptos"/>
                <a:cs typeface="Aptos"/>
              </a:rPr>
              <a:t>Baseline: Official pre-trained MoConVQ model; Data: 200 curated style captions from HumanML3D subset.</a:t>
            </a:r>
          </a:p>
        </p:txBody>
      </p:sp>
      <p:sp>
        <p:nvSpPr>
          <p:cNvPr id="11" name="AutoShape 11">
            <a:extLst xmlns:a="http://schemas.openxmlformats.org/drawingml/2006/main">
              <a:ext uri="{FF2B5EF4-FFF2-40B4-BE49-F238E27FC236}">
                <a16:creationId xmlns:a16="http://schemas.microsoft.com/office/drawing/2014/main" id="{473A1261-1CBD-4CB5-B0D9-706D968545D4}"/>
              </a:ext>
            </a:extLst>
          </p:cNvPr>
          <p:cNvSpPr>
            <a:spLocks xmlns:a="http://schemas.openxmlformats.org/drawingml/2006/main" noGrp="1"/>
          </p:cNvSpPr>
          <p:nvPr/>
        </p:nvSpPr>
        <p:spPr>
          <a:xfrm xmlns:a="http://schemas.openxmlformats.org/drawingml/2006/main">
            <a:off x="914400" y="4241800"/>
            <a:ext cx="88900" cy="88900"/>
          </a:xfrm>
          <a:prstGeom xmlns:a="http://schemas.openxmlformats.org/drawingml/2006/main" prst="roundRect">
            <a:avLst>
              <a:gd name="adj" fmla="val 0"/>
            </a:avLst>
          </a:prstGeom>
          <a:solidFill xmlns:a="http://schemas.openxmlformats.org/drawingml/2006/main">
            <a:srgbClr val="2F7DE1">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2" name="AutoShape 12">
            <a:extLst xmlns:a="http://schemas.openxmlformats.org/drawingml/2006/main">
              <a:ext uri="{FF2B5EF4-FFF2-40B4-BE49-F238E27FC236}">
                <a16:creationId xmlns:a16="http://schemas.microsoft.com/office/drawing/2014/main" id="{CD0CC3C4-0DEE-4E27-8ACA-B8F9258EF7DF}"/>
              </a:ext>
            </a:extLst>
          </p:cNvPr>
          <p:cNvSpPr>
            <a:spLocks xmlns:a="http://schemas.openxmlformats.org/drawingml/2006/main" noGrp="1"/>
          </p:cNvSpPr>
          <p:nvPr/>
        </p:nvSpPr>
        <p:spPr>
          <a:xfrm xmlns:a="http://schemas.openxmlformats.org/drawingml/2006/main">
            <a:off x="1143000" y="4165600"/>
            <a:ext cx="2463800" cy="825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1050"/>
            </a:pPr>
            <a:r>
              <a:rPr sz="1050" b="0" i="0" u="none">
                <a:solidFill>
                  <a:srgbClr val="1E252B"/>
                </a:solidFill>
                <a:latin typeface="Aptos"/>
                <a:ea typeface="Aptos"/>
                <a:cs typeface="Aptos"/>
              </a:rPr>
              <a:t>LoRA: Rank=8, Alpha=16, Dropout=0.05. Only 1.97M params (1.005%) trained for extreme efficiency.</a:t>
            </a:r>
          </a:p>
        </p:txBody>
      </p:sp>
      <p:sp>
        <p:nvSpPr>
          <p:cNvPr id="13" name="AutoShape 13">
            <a:extLst xmlns:a="http://schemas.openxmlformats.org/drawingml/2006/main">
              <a:ext uri="{FF2B5EF4-FFF2-40B4-BE49-F238E27FC236}">
                <a16:creationId xmlns:a16="http://schemas.microsoft.com/office/drawing/2014/main" id="{399449DE-790B-43B3-98AE-135C4D62ECF9}"/>
              </a:ext>
            </a:extLst>
          </p:cNvPr>
          <p:cNvSpPr>
            <a:spLocks xmlns:a="http://schemas.openxmlformats.org/drawingml/2006/main" noGrp="1"/>
          </p:cNvSpPr>
          <p:nvPr/>
        </p:nvSpPr>
        <p:spPr>
          <a:xfrm xmlns:a="http://schemas.openxmlformats.org/drawingml/2006/main">
            <a:off x="4521200" y="1968500"/>
            <a:ext cx="3162300" cy="3263900"/>
          </a:xfrm>
          <a:prstGeom xmlns:a="http://schemas.openxmlformats.org/drawingml/2006/main" prst="roundRect">
            <a:avLst>
              <a:gd name="adj" fmla="val 0"/>
            </a:avLst>
          </a:prstGeom>
          <a:solidFill xmlns:a="http://schemas.openxmlformats.org/drawingml/2006/main">
            <a:srgbClr val="F3E0D5">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4" name="AutoShape 14">
            <a:extLst xmlns:a="http://schemas.openxmlformats.org/drawingml/2006/main">
              <a:ext uri="{FF2B5EF4-FFF2-40B4-BE49-F238E27FC236}">
                <a16:creationId xmlns:a16="http://schemas.microsoft.com/office/drawing/2014/main" id="{2F57CBD5-32CA-4BD5-A082-381939CC3922}"/>
              </a:ext>
            </a:extLst>
          </p:cNvPr>
          <p:cNvSpPr>
            <a:spLocks xmlns:a="http://schemas.openxmlformats.org/drawingml/2006/main" noGrp="1"/>
          </p:cNvSpPr>
          <p:nvPr/>
        </p:nvSpPr>
        <p:spPr>
          <a:xfrm xmlns:a="http://schemas.openxmlformats.org/drawingml/2006/main">
            <a:off x="4749800" y="2197100"/>
            <a:ext cx="2667000" cy="2159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900" b="1" i="0" u="none">
                <a:solidFill>
                  <a:srgbClr val="B15A35"/>
                </a:solidFill>
                <a:latin typeface="Aptos"/>
                <a:ea typeface="Aptos"/>
                <a:cs typeface="Aptos"/>
              </a:rPr>
              <a:t>TRAINING PROCEDURE</a:t>
            </a:r>
          </a:p>
        </p:txBody>
      </p:sp>
      <p:sp>
        <p:nvSpPr>
          <p:cNvPr id="15" name="AutoShape 15">
            <a:extLst xmlns:a="http://schemas.openxmlformats.org/drawingml/2006/main">
              <a:ext uri="{FF2B5EF4-FFF2-40B4-BE49-F238E27FC236}">
                <a16:creationId xmlns:a16="http://schemas.microsoft.com/office/drawing/2014/main" id="{5A1A8D30-7D8C-4CCA-920F-676B1A9446D4}"/>
              </a:ext>
            </a:extLst>
          </p:cNvPr>
          <p:cNvSpPr>
            <a:spLocks xmlns:a="http://schemas.openxmlformats.org/drawingml/2006/main" noGrp="1"/>
          </p:cNvSpPr>
          <p:nvPr/>
        </p:nvSpPr>
        <p:spPr>
          <a:xfrm xmlns:a="http://schemas.openxmlformats.org/drawingml/2006/main">
            <a:off x="4749800" y="2514600"/>
            <a:ext cx="2628900" cy="6731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2000" b="1" i="0" u="none">
                <a:solidFill>
                  <a:srgbClr val="1E252B"/>
                </a:solidFill>
                <a:latin typeface="Play"/>
                <a:ea typeface="Play"/>
                <a:cs typeface="Play"/>
              </a:rPr>
              <a:t>Dual-Phase Optimization</a:t>
            </a:r>
          </a:p>
        </p:txBody>
      </p:sp>
      <p:sp>
        <p:nvSpPr>
          <p:cNvPr id="16" name="AutoShape 16">
            <a:extLst xmlns:a="http://schemas.openxmlformats.org/drawingml/2006/main">
              <a:ext uri="{FF2B5EF4-FFF2-40B4-BE49-F238E27FC236}">
                <a16:creationId xmlns:a16="http://schemas.microsoft.com/office/drawing/2014/main" id="{E822CC05-DDAA-466A-BF5A-45D6689760A0}"/>
              </a:ext>
            </a:extLst>
          </p:cNvPr>
          <p:cNvSpPr>
            <a:spLocks xmlns:a="http://schemas.openxmlformats.org/drawingml/2006/main" noGrp="1"/>
          </p:cNvSpPr>
          <p:nvPr/>
        </p:nvSpPr>
        <p:spPr>
          <a:xfrm xmlns:a="http://schemas.openxmlformats.org/drawingml/2006/main">
            <a:off x="4749800" y="3441700"/>
            <a:ext cx="88900" cy="88900"/>
          </a:xfrm>
          <a:prstGeom xmlns:a="http://schemas.openxmlformats.org/drawingml/2006/main" prst="roundRect">
            <a:avLst>
              <a:gd name="adj" fmla="val 0"/>
            </a:avLst>
          </a:prstGeom>
          <a:solidFill xmlns:a="http://schemas.openxmlformats.org/drawingml/2006/main">
            <a:srgbClr val="B15A35">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7" name="AutoShape 17">
            <a:extLst xmlns:a="http://schemas.openxmlformats.org/drawingml/2006/main">
              <a:ext uri="{FF2B5EF4-FFF2-40B4-BE49-F238E27FC236}">
                <a16:creationId xmlns:a16="http://schemas.microsoft.com/office/drawing/2014/main" id="{E85B8FB3-E93E-459C-B302-A7678714B075}"/>
              </a:ext>
            </a:extLst>
          </p:cNvPr>
          <p:cNvSpPr>
            <a:spLocks xmlns:a="http://schemas.openxmlformats.org/drawingml/2006/main" noGrp="1"/>
          </p:cNvSpPr>
          <p:nvPr/>
        </p:nvSpPr>
        <p:spPr>
          <a:xfrm xmlns:a="http://schemas.openxmlformats.org/drawingml/2006/main">
            <a:off x="4978400" y="3352800"/>
            <a:ext cx="2463800" cy="5207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1050"/>
            </a:pPr>
            <a:r>
              <a:rPr sz="1050" b="0" i="0" u="none">
                <a:solidFill>
                  <a:srgbClr val="1E252B"/>
                </a:solidFill>
                <a:latin typeface="Aptos"/>
                <a:ea typeface="Aptos"/>
                <a:cs typeface="Aptos"/>
              </a:rPr>
              <a:t>Initial Phase: Train the LoRA adapter for 5 epochs to capture core style patterns from data.</a:t>
            </a:r>
          </a:p>
        </p:txBody>
      </p:sp>
      <p:sp>
        <p:nvSpPr>
          <p:cNvPr id="18" name="AutoShape 18">
            <a:extLst xmlns:a="http://schemas.openxmlformats.org/drawingml/2006/main">
              <a:ext uri="{FF2B5EF4-FFF2-40B4-BE49-F238E27FC236}">
                <a16:creationId xmlns:a16="http://schemas.microsoft.com/office/drawing/2014/main" id="{5FEEED02-88AC-45C6-894F-1FA420C172EF}"/>
              </a:ext>
            </a:extLst>
          </p:cNvPr>
          <p:cNvSpPr>
            <a:spLocks xmlns:a="http://schemas.openxmlformats.org/drawingml/2006/main" noGrp="1"/>
          </p:cNvSpPr>
          <p:nvPr/>
        </p:nvSpPr>
        <p:spPr>
          <a:xfrm xmlns:a="http://schemas.openxmlformats.org/drawingml/2006/main">
            <a:off x="4749800" y="4241800"/>
            <a:ext cx="88900" cy="88900"/>
          </a:xfrm>
          <a:prstGeom xmlns:a="http://schemas.openxmlformats.org/drawingml/2006/main" prst="roundRect">
            <a:avLst>
              <a:gd name="adj" fmla="val 0"/>
            </a:avLst>
          </a:prstGeom>
          <a:solidFill xmlns:a="http://schemas.openxmlformats.org/drawingml/2006/main">
            <a:srgbClr val="B15A35">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9" name="AutoShape 19">
            <a:extLst xmlns:a="http://schemas.openxmlformats.org/drawingml/2006/main">
              <a:ext uri="{FF2B5EF4-FFF2-40B4-BE49-F238E27FC236}">
                <a16:creationId xmlns:a16="http://schemas.microsoft.com/office/drawing/2014/main" id="{776D917B-526F-4FEF-A8E1-23930DF6FC94}"/>
              </a:ext>
            </a:extLst>
          </p:cNvPr>
          <p:cNvSpPr>
            <a:spLocks xmlns:a="http://schemas.openxmlformats.org/drawingml/2006/main" noGrp="1"/>
          </p:cNvSpPr>
          <p:nvPr/>
        </p:nvSpPr>
        <p:spPr>
          <a:xfrm xmlns:a="http://schemas.openxmlformats.org/drawingml/2006/main">
            <a:off x="4978400" y="4165600"/>
            <a:ext cx="2463800" cy="825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1050"/>
            </a:pPr>
            <a:r>
              <a:rPr sz="1050" b="0" i="0" u="none">
                <a:solidFill>
                  <a:srgbClr val="1E252B"/>
                </a:solidFill>
                <a:latin typeface="Aptos"/>
                <a:ea typeface="Aptos"/>
                <a:cs typeface="Aptos"/>
              </a:rPr>
              <a:t>Refinement: Select best checkpoint, then fine-tune for 2 epochs with lower LR for conservative stabilization.</a:t>
            </a:r>
          </a:p>
        </p:txBody>
      </p:sp>
      <p:sp>
        <p:nvSpPr>
          <p:cNvPr id="20" name="AutoShape 20">
            <a:extLst xmlns:a="http://schemas.openxmlformats.org/drawingml/2006/main">
              <a:ext uri="{FF2B5EF4-FFF2-40B4-BE49-F238E27FC236}">
                <a16:creationId xmlns:a16="http://schemas.microsoft.com/office/drawing/2014/main" id="{BFC309F1-D50D-4C87-969D-D9450A475D85}"/>
              </a:ext>
            </a:extLst>
          </p:cNvPr>
          <p:cNvSpPr>
            <a:spLocks xmlns:a="http://schemas.openxmlformats.org/drawingml/2006/main" noGrp="1"/>
          </p:cNvSpPr>
          <p:nvPr/>
        </p:nvSpPr>
        <p:spPr>
          <a:xfrm xmlns:a="http://schemas.openxmlformats.org/drawingml/2006/main">
            <a:off x="8343900" y="1968500"/>
            <a:ext cx="3162300" cy="3263900"/>
          </a:xfrm>
          <a:prstGeom xmlns:a="http://schemas.openxmlformats.org/drawingml/2006/main" prst="roundRect">
            <a:avLst>
              <a:gd name="adj" fmla="val 0"/>
            </a:avLst>
          </a:prstGeom>
          <a:solidFill xmlns:a="http://schemas.openxmlformats.org/drawingml/2006/main">
            <a:srgbClr val="DDEBDD">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1" name="AutoShape 21">
            <a:extLst xmlns:a="http://schemas.openxmlformats.org/drawingml/2006/main">
              <a:ext uri="{FF2B5EF4-FFF2-40B4-BE49-F238E27FC236}">
                <a16:creationId xmlns:a16="http://schemas.microsoft.com/office/drawing/2014/main" id="{4394A246-AC4D-475A-BF9F-97BBCB85016F}"/>
              </a:ext>
            </a:extLst>
          </p:cNvPr>
          <p:cNvSpPr>
            <a:spLocks xmlns:a="http://schemas.openxmlformats.org/drawingml/2006/main" noGrp="1"/>
          </p:cNvSpPr>
          <p:nvPr/>
        </p:nvSpPr>
        <p:spPr>
          <a:xfrm xmlns:a="http://schemas.openxmlformats.org/drawingml/2006/main">
            <a:off x="8572500" y="2197100"/>
            <a:ext cx="2667000" cy="2159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900" b="1" i="0" u="none">
                <a:solidFill>
                  <a:srgbClr val="167C80"/>
                </a:solidFill>
                <a:latin typeface="Aptos"/>
                <a:ea typeface="Aptos"/>
                <a:cs typeface="Aptos"/>
              </a:rPr>
              <a:t>EVALUATION METRICS</a:t>
            </a:r>
          </a:p>
        </p:txBody>
      </p:sp>
      <p:sp>
        <p:nvSpPr>
          <p:cNvPr id="22" name="AutoShape 22">
            <a:extLst xmlns:a="http://schemas.openxmlformats.org/drawingml/2006/main">
              <a:ext uri="{FF2B5EF4-FFF2-40B4-BE49-F238E27FC236}">
                <a16:creationId xmlns:a16="http://schemas.microsoft.com/office/drawing/2014/main" id="{E1EAA8A2-D413-4225-905A-66A2E9E502E0}"/>
              </a:ext>
            </a:extLst>
          </p:cNvPr>
          <p:cNvSpPr>
            <a:spLocks xmlns:a="http://schemas.openxmlformats.org/drawingml/2006/main" noGrp="1"/>
          </p:cNvSpPr>
          <p:nvPr/>
        </p:nvSpPr>
        <p:spPr>
          <a:xfrm xmlns:a="http://schemas.openxmlformats.org/drawingml/2006/main">
            <a:off x="8572500" y="2514600"/>
            <a:ext cx="2628900" cy="6731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2000" b="1" i="0" u="none">
                <a:solidFill>
                  <a:srgbClr val="1E252B"/>
                </a:solidFill>
                <a:latin typeface="Play"/>
                <a:ea typeface="Play"/>
                <a:cs typeface="Play"/>
              </a:rPr>
              <a:t>Quantitative &amp; Qualitative</a:t>
            </a:r>
          </a:p>
        </p:txBody>
      </p:sp>
      <p:sp>
        <p:nvSpPr>
          <p:cNvPr id="23" name="AutoShape 23">
            <a:extLst xmlns:a="http://schemas.openxmlformats.org/drawingml/2006/main">
              <a:ext uri="{FF2B5EF4-FFF2-40B4-BE49-F238E27FC236}">
                <a16:creationId xmlns:a16="http://schemas.microsoft.com/office/drawing/2014/main" id="{AEC54089-E70A-4C04-BDAF-6B1D40030F5D}"/>
              </a:ext>
            </a:extLst>
          </p:cNvPr>
          <p:cNvSpPr>
            <a:spLocks xmlns:a="http://schemas.openxmlformats.org/drawingml/2006/main" noGrp="1"/>
          </p:cNvSpPr>
          <p:nvPr/>
        </p:nvSpPr>
        <p:spPr>
          <a:xfrm xmlns:a="http://schemas.openxmlformats.org/drawingml/2006/main">
            <a:off x="8572500" y="3441700"/>
            <a:ext cx="88900" cy="88900"/>
          </a:xfrm>
          <a:prstGeom xmlns:a="http://schemas.openxmlformats.org/drawingml/2006/main" prst="roundRect">
            <a:avLst>
              <a:gd name="adj" fmla="val 0"/>
            </a:avLst>
          </a:prstGeom>
          <a:solidFill xmlns:a="http://schemas.openxmlformats.org/drawingml/2006/main">
            <a:srgbClr val="167C8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4" name="AutoShape 24">
            <a:extLst xmlns:a="http://schemas.openxmlformats.org/drawingml/2006/main">
              <a:ext uri="{FF2B5EF4-FFF2-40B4-BE49-F238E27FC236}">
                <a16:creationId xmlns:a16="http://schemas.microsoft.com/office/drawing/2014/main" id="{19CAE0D4-E52F-4088-ADDE-880B3EE24240}"/>
              </a:ext>
            </a:extLst>
          </p:cNvPr>
          <p:cNvSpPr>
            <a:spLocks xmlns:a="http://schemas.openxmlformats.org/drawingml/2006/main" noGrp="1"/>
          </p:cNvSpPr>
          <p:nvPr/>
        </p:nvSpPr>
        <p:spPr>
          <a:xfrm xmlns:a="http://schemas.openxmlformats.org/drawingml/2006/main">
            <a:off x="8801100" y="3352800"/>
            <a:ext cx="2463800" cy="5207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1050"/>
            </a:pPr>
            <a:r>
              <a:rPr sz="1050" b="0" i="0" u="none">
                <a:solidFill>
                  <a:srgbClr val="1E252B"/>
                </a:solidFill>
                <a:latin typeface="Aptos"/>
                <a:ea typeface="Aptos"/>
                <a:cs typeface="Aptos"/>
              </a:rPr>
              <a:t>Training Loss: Verify adapter aligns with teacher's distribution; BVH Proxy: 8 kinematic metrics (speed, jerk).</a:t>
            </a:r>
          </a:p>
        </p:txBody>
      </p:sp>
      <p:sp>
        <p:nvSpPr>
          <p:cNvPr id="25" name="AutoShape 25">
            <a:extLst xmlns:a="http://schemas.openxmlformats.org/drawingml/2006/main">
              <a:ext uri="{FF2B5EF4-FFF2-40B4-BE49-F238E27FC236}">
                <a16:creationId xmlns:a16="http://schemas.microsoft.com/office/drawing/2014/main" id="{CDA65F32-7448-42DF-B6CE-C97EA277B8F7}"/>
              </a:ext>
            </a:extLst>
          </p:cNvPr>
          <p:cNvSpPr>
            <a:spLocks xmlns:a="http://schemas.openxmlformats.org/drawingml/2006/main" noGrp="1"/>
          </p:cNvSpPr>
          <p:nvPr/>
        </p:nvSpPr>
        <p:spPr>
          <a:xfrm xmlns:a="http://schemas.openxmlformats.org/drawingml/2006/main">
            <a:off x="8572500" y="4241800"/>
            <a:ext cx="88900" cy="88900"/>
          </a:xfrm>
          <a:prstGeom xmlns:a="http://schemas.openxmlformats.org/drawingml/2006/main" prst="roundRect">
            <a:avLst>
              <a:gd name="adj" fmla="val 0"/>
            </a:avLst>
          </a:prstGeom>
          <a:solidFill xmlns:a="http://schemas.openxmlformats.org/drawingml/2006/main">
            <a:srgbClr val="167C8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6" name="AutoShape 26">
            <a:extLst xmlns:a="http://schemas.openxmlformats.org/drawingml/2006/main">
              <a:ext uri="{FF2B5EF4-FFF2-40B4-BE49-F238E27FC236}">
                <a16:creationId xmlns:a16="http://schemas.microsoft.com/office/drawing/2014/main" id="{0B65C3BB-F8C5-4EC0-BEBB-505B1D1D408E}"/>
              </a:ext>
            </a:extLst>
          </p:cNvPr>
          <p:cNvSpPr>
            <a:spLocks xmlns:a="http://schemas.openxmlformats.org/drawingml/2006/main" noGrp="1"/>
          </p:cNvSpPr>
          <p:nvPr/>
        </p:nvSpPr>
        <p:spPr>
          <a:xfrm xmlns:a="http://schemas.openxmlformats.org/drawingml/2006/main">
            <a:off x="8801100" y="4165600"/>
            <a:ext cx="2463800" cy="825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1050"/>
            </a:pPr>
            <a:r>
              <a:rPr sz="1050" b="0" i="0" u="none">
                <a:solidFill>
                  <a:srgbClr val="1E252B"/>
                </a:solidFill>
                <a:latin typeface="Aptos"/>
                <a:ea typeface="Aptos"/>
                <a:cs typeface="Aptos"/>
              </a:rPr>
              <a:t>Visual Inspection: Render stick-figure animations to qualitatively assess style transfer and motion coherence.</a:t>
            </a:r>
          </a:p>
        </p:txBody>
      </p:sp>
      <p:sp>
        <p:nvSpPr>
          <p:cNvPr id="27" name="AutoShape 27">
            <a:extLst xmlns:a="http://schemas.openxmlformats.org/drawingml/2006/main">
              <a:ext uri="{FF2B5EF4-FFF2-40B4-BE49-F238E27FC236}">
                <a16:creationId xmlns:a16="http://schemas.microsoft.com/office/drawing/2014/main" id="{D1671941-BB72-407A-908D-078044270C68}"/>
              </a:ext>
            </a:extLst>
          </p:cNvPr>
          <p:cNvSpPr>
            <a:spLocks xmlns:a="http://schemas.openxmlformats.org/drawingml/2006/main" noGrp="1"/>
          </p:cNvSpPr>
          <p:nvPr/>
        </p:nvSpPr>
        <p:spPr>
          <a:xfrm xmlns:a="http://schemas.openxmlformats.org/drawingml/2006/main">
            <a:off x="685800" y="5626100"/>
            <a:ext cx="10820400" cy="406400"/>
          </a:xfrm>
          <a:prstGeom xmlns:a="http://schemas.openxmlformats.org/drawingml/2006/main" prst="roundRect">
            <a:avLst>
              <a:gd name="adj" fmla="val 0"/>
            </a:avLst>
          </a:prstGeom>
          <a:solidFill xmlns:a="http://schemas.openxmlformats.org/drawingml/2006/main">
            <a:srgbClr val="2D344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8" name="AutoShape 28">
            <a:extLst xmlns:a="http://schemas.openxmlformats.org/drawingml/2006/main">
              <a:ext uri="{FF2B5EF4-FFF2-40B4-BE49-F238E27FC236}">
                <a16:creationId xmlns:a16="http://schemas.microsoft.com/office/drawing/2014/main" id="{5EF96433-EE47-4A73-ADB9-82F49EB01F02}"/>
              </a:ext>
            </a:extLst>
          </p:cNvPr>
          <p:cNvSpPr>
            <a:spLocks xmlns:a="http://schemas.openxmlformats.org/drawingml/2006/main" noGrp="1"/>
          </p:cNvSpPr>
          <p:nvPr/>
        </p:nvSpPr>
        <p:spPr>
          <a:xfrm xmlns:a="http://schemas.openxmlformats.org/drawingml/2006/main">
            <a:off x="977900" y="5715000"/>
            <a:ext cx="10172700" cy="2286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1050"/>
            </a:pPr>
            <a:r>
              <a:rPr sz="1050" b="1" i="0" u="none">
                <a:solidFill>
                  <a:srgbClr val="FFFFFF"/>
                </a:solidFill>
                <a:latin typeface="Aptos"/>
                <a:ea typeface="Aptos"/>
                <a:cs typeface="Aptos"/>
              </a:rPr>
              <a:t>Key Outcome: Efficient LoRA adaptation achieved 1% parameter tuning with robust style capture and measurable motion quality.</a:t>
            </a:r>
          </a:p>
        </p:txBody>
      </p:sp>
      <p:sp>
        <p:nvSpPr>
          <p:cNvPr id="29" name="AutoShape 29">
            <a:extLst xmlns:a="http://schemas.openxmlformats.org/drawingml/2006/main">
              <a:ext uri="{FF2B5EF4-FFF2-40B4-BE49-F238E27FC236}">
                <a16:creationId xmlns:a16="http://schemas.microsoft.com/office/drawing/2014/main" id="{1D87EC2E-2D02-4A04-9DC5-17E8965D29C0}"/>
              </a:ext>
            </a:extLst>
          </p:cNvPr>
          <p:cNvSpPr>
            <a:spLocks xmlns:a="http://schemas.openxmlformats.org/drawingml/2006/main" noGrp="1"/>
          </p:cNvSpPr>
          <p:nvPr/>
        </p:nvSpPr>
        <p:spPr>
          <a:xfrm xmlns:a="http://schemas.openxmlformats.org/drawingml/2006/main">
            <a:off x="685800" y="6350000"/>
            <a:ext cx="10820400" cy="12700"/>
          </a:xfrm>
          <a:prstGeom xmlns:a="http://schemas.openxmlformats.org/drawingml/2006/main" prst="roundRect">
            <a:avLst>
              <a:gd name="adj" fmla="val 0"/>
            </a:avLst>
          </a:prstGeom>
          <a:solidFill xmlns:a="http://schemas.openxmlformats.org/drawingml/2006/main">
            <a:srgbClr val="D8D0C2">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30" name="AutoShape 30">
            <a:extLst xmlns:a="http://schemas.openxmlformats.org/drawingml/2006/main">
              <a:ext uri="{FF2B5EF4-FFF2-40B4-BE49-F238E27FC236}">
                <a16:creationId xmlns:a16="http://schemas.microsoft.com/office/drawing/2014/main" id="{BFFB2010-F3E8-403C-91FC-5451C013ECCF}"/>
              </a:ext>
            </a:extLst>
          </p:cNvPr>
          <p:cNvSpPr>
            <a:spLocks xmlns:a="http://schemas.openxmlformats.org/drawingml/2006/main" noGrp="1"/>
          </p:cNvSpPr>
          <p:nvPr/>
        </p:nvSpPr>
        <p:spPr>
          <a:xfrm xmlns:a="http://schemas.openxmlformats.org/drawingml/2006/main">
            <a:off x="685800" y="6426200"/>
            <a:ext cx="5905500" cy="190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800" b="0" i="0" u="none">
                <a:solidFill>
                  <a:srgbClr val="7A746A"/>
                </a:solidFill>
                <a:latin typeface="Aptos"/>
                <a:ea typeface="Aptos"/>
                <a:cs typeface="Aptos"/>
              </a:rPr>
              <a:t>Source: Experimental Protocol; Model Architecture &amp; Evaluation Methods</a:t>
            </a:r>
          </a:p>
        </p:txBody>
      </p:sp>
      <p:sp>
        <p:nvSpPr>
          <p:cNvPr id="31" name="AutoShape 31">
            <a:extLst xmlns:a="http://schemas.openxmlformats.org/drawingml/2006/main">
              <a:ext uri="{FF2B5EF4-FFF2-40B4-BE49-F238E27FC236}">
                <a16:creationId xmlns:a16="http://schemas.microsoft.com/office/drawing/2014/main" id="{C99F7503-87C3-4704-B6D1-8358642AE0AF}"/>
              </a:ext>
            </a:extLst>
          </p:cNvPr>
          <p:cNvSpPr>
            <a:spLocks xmlns:a="http://schemas.openxmlformats.org/drawingml/2006/main" noGrp="1"/>
          </p:cNvSpPr>
          <p:nvPr/>
        </p:nvSpPr>
        <p:spPr>
          <a:xfrm xmlns:a="http://schemas.openxmlformats.org/drawingml/2006/main">
            <a:off x="9626600" y="6426200"/>
            <a:ext cx="1892300" cy="190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r">
              <a:lnSpc>
                <a:spcPct val="100000"/>
              </a:lnSpc>
              <a:buNone/>
            </a:pPr>
            <a:r>
              <a:rPr sz="800" b="0" i="0" u="none">
                <a:solidFill>
                  <a:srgbClr val="7A746A"/>
                </a:solidFill>
                <a:latin typeface="Aptos"/>
                <a:ea typeface="Aptos"/>
                <a:cs typeface="Aptos"/>
              </a:rPr>
              <a:t>5 / 8 - Experimental Setup</a:t>
            </a:r>
          </a:p>
        </p:txBody>
      </p:sp>
    </p:spTree>
    <p:extLst>
      <p:ext uri="{BB962C8B-B14F-4D97-AF65-F5344CB8AC3E}">
        <p14:creationId xmlns:p14="http://schemas.microsoft.com/office/powerpoint/2010/main" val="1669243387"/>
      </p:ext>
    </p:extLst>
  </p:cSld>
</p:sld>
</file>

<file path=ppt/slides/slide6.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3D1FD604-C4ED-4A90-802C-B051468BDD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oundRect">
            <a:avLst>
              <a:gd name="adj" fmla="val 0"/>
            </a:avLst>
          </a:prstGeom>
          <a:solidFill xmlns:a="http://schemas.openxmlformats.org/drawingml/2006/main">
            <a:srgbClr val="F7F4ED">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573EF10B-FA4B-4A4E-8A83-5D1BE6C0A4AB}"/>
              </a:ext>
            </a:extLst>
          </p:cNvPr>
          <p:cNvSpPr>
            <a:spLocks xmlns:a="http://schemas.openxmlformats.org/drawingml/2006/main" noGrp="1"/>
          </p:cNvSpPr>
          <p:nvPr/>
        </p:nvSpPr>
        <p:spPr>
          <a:xfrm xmlns:a="http://schemas.openxmlformats.org/drawingml/2006/main">
            <a:off x="685800" y="419100"/>
            <a:ext cx="266700" cy="38100"/>
          </a:xfrm>
          <a:prstGeom xmlns:a="http://schemas.openxmlformats.org/drawingml/2006/main" prst="roundRect">
            <a:avLst>
              <a:gd name="adj" fmla="val 0"/>
            </a:avLst>
          </a:prstGeom>
          <a:solidFill xmlns:a="http://schemas.openxmlformats.org/drawingml/2006/main">
            <a:srgbClr val="167C8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4" name="AutoShape 4">
            <a:extLst xmlns:a="http://schemas.openxmlformats.org/drawingml/2006/main">
              <a:ext uri="{FF2B5EF4-FFF2-40B4-BE49-F238E27FC236}">
                <a16:creationId xmlns:a16="http://schemas.microsoft.com/office/drawing/2014/main" id="{3B312FC6-C03B-423F-AC50-FE2AC8B598E4}"/>
              </a:ext>
            </a:extLst>
          </p:cNvPr>
          <p:cNvSpPr>
            <a:spLocks xmlns:a="http://schemas.openxmlformats.org/drawingml/2006/main" noGrp="1"/>
          </p:cNvSpPr>
          <p:nvPr/>
        </p:nvSpPr>
        <p:spPr>
          <a:xfrm xmlns:a="http://schemas.openxmlformats.org/drawingml/2006/main">
            <a:off x="1066800" y="330200"/>
            <a:ext cx="4953000" cy="2540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r>
              <a:rPr sz="1000" b="1" i="0" u="none">
                <a:solidFill>
                  <a:srgbClr val="5E6975"/>
                </a:solidFill>
                <a:latin typeface="Aptos"/>
                <a:ea typeface="Aptos"/>
                <a:cs typeface="Aptos"/>
              </a:rPr>
              <a:t>TRAINING EVIDENCE</a:t>
            </a:r>
          </a:p>
        </p:txBody>
      </p:sp>
      <p:sp>
        <p:nvSpPr>
          <p:cNvPr id="5" name="AutoShape 5">
            <a:extLst xmlns:a="http://schemas.openxmlformats.org/drawingml/2006/main">
              <a:ext uri="{FF2B5EF4-FFF2-40B4-BE49-F238E27FC236}">
                <a16:creationId xmlns:a16="http://schemas.microsoft.com/office/drawing/2014/main" id="{25AB7389-D46A-44F7-AF7D-47B8F883AA3E}"/>
              </a:ext>
            </a:extLst>
          </p:cNvPr>
          <p:cNvSpPr>
            <a:spLocks xmlns:a="http://schemas.openxmlformats.org/drawingml/2006/main" noGrp="1"/>
          </p:cNvSpPr>
          <p:nvPr/>
        </p:nvSpPr>
        <p:spPr>
          <a:xfrm xmlns:a="http://schemas.openxmlformats.org/drawingml/2006/main">
            <a:off x="685800" y="723900"/>
            <a:ext cx="10241280" cy="694944"/>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2500"/>
            </a:pPr>
            <a:r>
              <a:rPr sz="2500" b="1" i="0" u="none">
                <a:solidFill>
                  <a:srgbClr val="1E252B"/>
                </a:solidFill>
                <a:latin typeface="Play"/>
                <a:ea typeface="Play"/>
                <a:cs typeface="Play"/>
              </a:rPr>
              <a:t>Held-out pseudo-token loss supports continued LoRA.</a:t>
            </a:r>
          </a:p>
        </p:txBody>
      </p:sp>
      <p:sp>
        <p:nvSpPr>
          <p:cNvPr id="6" name="AutoShape 6">
            <a:extLst xmlns:a="http://schemas.openxmlformats.org/drawingml/2006/main">
              <a:ext uri="{FF2B5EF4-FFF2-40B4-BE49-F238E27FC236}">
                <a16:creationId xmlns:a16="http://schemas.microsoft.com/office/drawing/2014/main" id="{09A32D96-B4C4-456A-95F6-813B6775DB9B}"/>
              </a:ext>
            </a:extLst>
          </p:cNvPr>
          <p:cNvSpPr>
            <a:spLocks xmlns:a="http://schemas.openxmlformats.org/drawingml/2006/main" noGrp="1"/>
          </p:cNvSpPr>
          <p:nvPr/>
        </p:nvSpPr>
        <p:spPr>
          <a:xfrm xmlns:a="http://schemas.openxmlformats.org/drawingml/2006/main">
            <a:off x="660400" y="1574800"/>
            <a:ext cx="6743700" cy="4038600"/>
          </a:xfrm>
          <a:prstGeom xmlns:a="http://schemas.openxmlformats.org/drawingml/2006/main" prst="roundRect">
            <a:avLst>
              <a:gd name="adj" fmla="val 0"/>
            </a:avLst>
          </a:prstGeom>
          <a:solidFill xmlns:a="http://schemas.openxmlformats.org/drawingml/2006/main">
            <a:srgbClr val="FFFFFF">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34" name="Picture 7"/>
          <p:cNvPicPr>
            <a:picLocks xmlns:a="http://schemas.openxmlformats.org/drawingml/2006/main" noChangeAspect="1"/>
          </p:cNvPicPr>
          <p:nvPr/>
        </p:nvPicPr>
        <p:blipFill>
          <a:blip xmlns:r="http://schemas.openxmlformats.org/officeDocument/2006/relationships" xmlns:a="http://schemas.openxmlformats.org/drawingml/2006/main" r:embed="R937a1df900f446e1"/>
          <a:srcRect xmlns:a="http://schemas.openxmlformats.org/drawingml/2006/main" l="0" t="3499" r="0" b="3499"/>
          <a:stretch xmlns:a="http://schemas.openxmlformats.org/drawingml/2006/main">
            <a:fillRect l="0" t="0" r="0" b="0"/>
          </a:stretch>
        </p:blipFill>
        <p:spPr>
          <a:xfrm xmlns:a="http://schemas.openxmlformats.org/drawingml/2006/main">
            <a:off x="841248" y="1737360"/>
            <a:ext cx="6355080" cy="3630168"/>
          </a:xfrm>
          <a:prstGeom xmlns:a="http://schemas.openxmlformats.org/drawingml/2006/main" prst="rect">
            <a:avLst/>
          </a:prstGeom>
          <a:ln xmlns:a="http://schemas.openxmlformats.org/drawingml/2006/main" w="25400" cap="flat" cmpd="sng">
            <a:noFill/>
            <a:prstDash val="solid"/>
            <a:round/>
          </a:ln>
        </p:spPr>
      </p:pic>
      <p:sp>
        <p:nvSpPr>
          <p:cNvPr id="8" name="AutoShape 8">
            <a:extLst xmlns:a="http://schemas.openxmlformats.org/drawingml/2006/main">
              <a:ext uri="{FF2B5EF4-FFF2-40B4-BE49-F238E27FC236}">
                <a16:creationId xmlns:a16="http://schemas.microsoft.com/office/drawing/2014/main" id="{0B109870-C001-4D78-A414-6CD5E1151A2A}"/>
              </a:ext>
            </a:extLst>
          </p:cNvPr>
          <p:cNvSpPr>
            <a:spLocks xmlns:a="http://schemas.openxmlformats.org/drawingml/2006/main" noGrp="1"/>
          </p:cNvSpPr>
          <p:nvPr/>
        </p:nvSpPr>
        <p:spPr>
          <a:xfrm xmlns:a="http://schemas.openxmlformats.org/drawingml/2006/main">
            <a:off x="7569200" y="1676400"/>
            <a:ext cx="3619500" cy="901700"/>
          </a:xfrm>
          <a:prstGeom xmlns:a="http://schemas.openxmlformats.org/drawingml/2006/main" prst="roundRect">
            <a:avLst>
              <a:gd name="adj" fmla="val 0"/>
            </a:avLst>
          </a:prstGeom>
          <a:solidFill xmlns:a="http://schemas.openxmlformats.org/drawingml/2006/main">
            <a:srgbClr val="FFFFFF">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9" name="AutoShape 9">
            <a:extLst xmlns:a="http://schemas.openxmlformats.org/drawingml/2006/main">
              <a:ext uri="{FF2B5EF4-FFF2-40B4-BE49-F238E27FC236}">
                <a16:creationId xmlns:a16="http://schemas.microsoft.com/office/drawing/2014/main" id="{091D16AC-4B14-4A4F-8208-E747C3E740F8}"/>
              </a:ext>
            </a:extLst>
          </p:cNvPr>
          <p:cNvSpPr>
            <a:spLocks xmlns:a="http://schemas.openxmlformats.org/drawingml/2006/main" noGrp="1"/>
          </p:cNvSpPr>
          <p:nvPr/>
        </p:nvSpPr>
        <p:spPr>
          <a:xfrm xmlns:a="http://schemas.openxmlformats.org/drawingml/2006/main">
            <a:off x="7569200" y="1676400"/>
            <a:ext cx="76200" cy="901700"/>
          </a:xfrm>
          <a:prstGeom xmlns:a="http://schemas.openxmlformats.org/drawingml/2006/main" prst="roundRect">
            <a:avLst>
              <a:gd name="adj" fmla="val 0"/>
            </a:avLst>
          </a:prstGeom>
          <a:solidFill xmlns:a="http://schemas.openxmlformats.org/drawingml/2006/main">
            <a:srgbClr val="2F7DE1">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0" name="AutoShape 10">
            <a:extLst xmlns:a="http://schemas.openxmlformats.org/drawingml/2006/main">
              <a:ext uri="{FF2B5EF4-FFF2-40B4-BE49-F238E27FC236}">
                <a16:creationId xmlns:a16="http://schemas.microsoft.com/office/drawing/2014/main" id="{18A64449-70F1-458B-A931-DCD9BF9F8736}"/>
              </a:ext>
            </a:extLst>
          </p:cNvPr>
          <p:cNvSpPr>
            <a:spLocks xmlns:a="http://schemas.openxmlformats.org/drawingml/2006/main" noGrp="1"/>
          </p:cNvSpPr>
          <p:nvPr/>
        </p:nvSpPr>
        <p:spPr>
          <a:xfrm xmlns:a="http://schemas.openxmlformats.org/drawingml/2006/main">
            <a:off x="7823200" y="1778000"/>
            <a:ext cx="3162300" cy="2921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600" b="1" i="0" u="none">
                <a:solidFill>
                  <a:srgbClr val="2F7DE1"/>
                </a:solidFill>
                <a:latin typeface="Play"/>
                <a:ea typeface="Play"/>
                <a:cs typeface="Play"/>
              </a:rPr>
              <a:t>0.1019 / 0.0693 -&gt; 0.0669 / 0.0669</a:t>
            </a:r>
          </a:p>
        </p:txBody>
      </p:sp>
      <p:sp>
        <p:nvSpPr>
          <p:cNvPr id="11" name="AutoShape 11">
            <a:extLst xmlns:a="http://schemas.openxmlformats.org/drawingml/2006/main">
              <a:ext uri="{FF2B5EF4-FFF2-40B4-BE49-F238E27FC236}">
                <a16:creationId xmlns:a16="http://schemas.microsoft.com/office/drawing/2014/main" id="{4B886A30-005D-4441-9737-FC37641AB3AC}"/>
              </a:ext>
            </a:extLst>
          </p:cNvPr>
          <p:cNvSpPr>
            <a:spLocks xmlns:a="http://schemas.openxmlformats.org/drawingml/2006/main" noGrp="1"/>
          </p:cNvSpPr>
          <p:nvPr/>
        </p:nvSpPr>
        <p:spPr>
          <a:xfrm xmlns:a="http://schemas.openxmlformats.org/drawingml/2006/main">
            <a:off x="7823200" y="2082800"/>
            <a:ext cx="3162300" cy="1778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000" b="1" i="0" u="none">
                <a:solidFill>
                  <a:srgbClr val="1E252B"/>
                </a:solidFill>
                <a:latin typeface="Aptos"/>
                <a:ea typeface="Aptos"/>
                <a:cs typeface="Aptos"/>
              </a:rPr>
              <a:t>Train / validation diagnostic</a:t>
            </a:r>
          </a:p>
        </p:txBody>
      </p:sp>
      <p:sp>
        <p:nvSpPr>
          <p:cNvPr id="12" name="AutoShape 12">
            <a:extLst xmlns:a="http://schemas.openxmlformats.org/drawingml/2006/main">
              <a:ext uri="{FF2B5EF4-FFF2-40B4-BE49-F238E27FC236}">
                <a16:creationId xmlns:a16="http://schemas.microsoft.com/office/drawing/2014/main" id="{249AB3BF-218D-4AF5-BA49-58EF05045272}"/>
              </a:ext>
            </a:extLst>
          </p:cNvPr>
          <p:cNvSpPr>
            <a:spLocks xmlns:a="http://schemas.openxmlformats.org/drawingml/2006/main" noGrp="1"/>
          </p:cNvSpPr>
          <p:nvPr/>
        </p:nvSpPr>
        <p:spPr>
          <a:xfrm xmlns:a="http://schemas.openxmlformats.org/drawingml/2006/main">
            <a:off x="7823200" y="2295144"/>
            <a:ext cx="3162300" cy="3048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800" b="0" i="0" u="none">
                <a:solidFill>
                  <a:srgbClr val="5E6975"/>
                </a:solidFill>
                <a:latin typeface="Aptos"/>
                <a:ea typeface="Aptos"/>
                <a:cs typeface="Aptos"/>
              </a:rPr>
              <a:t>Continued LoRA lowers both train and held-out validation loss.</a:t>
            </a:r>
          </a:p>
        </p:txBody>
      </p:sp>
      <p:sp>
        <p:nvSpPr>
          <p:cNvPr id="13" name="AutoShape 13">
            <a:extLst xmlns:a="http://schemas.openxmlformats.org/drawingml/2006/main">
              <a:ext uri="{FF2B5EF4-FFF2-40B4-BE49-F238E27FC236}">
                <a16:creationId xmlns:a16="http://schemas.microsoft.com/office/drawing/2014/main" id="{4245BFDA-CC98-4C0D-8A87-7267A032306B}"/>
              </a:ext>
            </a:extLst>
          </p:cNvPr>
          <p:cNvSpPr>
            <a:spLocks xmlns:a="http://schemas.openxmlformats.org/drawingml/2006/main" noGrp="1"/>
          </p:cNvSpPr>
          <p:nvPr/>
        </p:nvSpPr>
        <p:spPr>
          <a:xfrm xmlns:a="http://schemas.openxmlformats.org/drawingml/2006/main">
            <a:off x="7569200" y="2768600"/>
            <a:ext cx="3619500" cy="901700"/>
          </a:xfrm>
          <a:prstGeom xmlns:a="http://schemas.openxmlformats.org/drawingml/2006/main" prst="roundRect">
            <a:avLst>
              <a:gd name="adj" fmla="val 0"/>
            </a:avLst>
          </a:prstGeom>
          <a:solidFill xmlns:a="http://schemas.openxmlformats.org/drawingml/2006/main">
            <a:srgbClr val="FFFFFF">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4" name="AutoShape 14">
            <a:extLst xmlns:a="http://schemas.openxmlformats.org/drawingml/2006/main">
              <a:ext uri="{FF2B5EF4-FFF2-40B4-BE49-F238E27FC236}">
                <a16:creationId xmlns:a16="http://schemas.microsoft.com/office/drawing/2014/main" id="{9FC38649-8EF5-43C7-B831-E57B0A0838B4}"/>
              </a:ext>
            </a:extLst>
          </p:cNvPr>
          <p:cNvSpPr>
            <a:spLocks xmlns:a="http://schemas.openxmlformats.org/drawingml/2006/main" noGrp="1"/>
          </p:cNvSpPr>
          <p:nvPr/>
        </p:nvSpPr>
        <p:spPr>
          <a:xfrm xmlns:a="http://schemas.openxmlformats.org/drawingml/2006/main">
            <a:off x="7569200" y="2768600"/>
            <a:ext cx="76200" cy="901700"/>
          </a:xfrm>
          <a:prstGeom xmlns:a="http://schemas.openxmlformats.org/drawingml/2006/main" prst="roundRect">
            <a:avLst>
              <a:gd name="adj" fmla="val 0"/>
            </a:avLst>
          </a:prstGeom>
          <a:solidFill xmlns:a="http://schemas.openxmlformats.org/drawingml/2006/main">
            <a:srgbClr val="167C8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5" name="AutoShape 15">
            <a:extLst xmlns:a="http://schemas.openxmlformats.org/drawingml/2006/main">
              <a:ext uri="{FF2B5EF4-FFF2-40B4-BE49-F238E27FC236}">
                <a16:creationId xmlns:a16="http://schemas.microsoft.com/office/drawing/2014/main" id="{BA623E7A-AFC4-4BAF-A94E-F943B1137E63}"/>
              </a:ext>
            </a:extLst>
          </p:cNvPr>
          <p:cNvSpPr>
            <a:spLocks xmlns:a="http://schemas.openxmlformats.org/drawingml/2006/main" noGrp="1"/>
          </p:cNvSpPr>
          <p:nvPr/>
        </p:nvSpPr>
        <p:spPr>
          <a:xfrm xmlns:a="http://schemas.openxmlformats.org/drawingml/2006/main">
            <a:off x="7823200" y="2857500"/>
            <a:ext cx="3162300" cy="2921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600" b="1" i="0" u="none">
                <a:solidFill>
                  <a:srgbClr val="167C80"/>
                </a:solidFill>
                <a:latin typeface="Play"/>
                <a:ea typeface="Play"/>
                <a:cs typeface="Play"/>
              </a:rPr>
              <a:t>Teacher-token fit</a:t>
            </a:r>
          </a:p>
        </p:txBody>
      </p:sp>
      <p:sp>
        <p:nvSpPr>
          <p:cNvPr id="16" name="AutoShape 16">
            <a:extLst xmlns:a="http://schemas.openxmlformats.org/drawingml/2006/main">
              <a:ext uri="{FF2B5EF4-FFF2-40B4-BE49-F238E27FC236}">
                <a16:creationId xmlns:a16="http://schemas.microsoft.com/office/drawing/2014/main" id="{BAD75E85-A7FB-4684-A414-AAB45BDB2213}"/>
              </a:ext>
            </a:extLst>
          </p:cNvPr>
          <p:cNvSpPr>
            <a:spLocks xmlns:a="http://schemas.openxmlformats.org/drawingml/2006/main" noGrp="1"/>
          </p:cNvSpPr>
          <p:nvPr/>
        </p:nvSpPr>
        <p:spPr>
          <a:xfrm xmlns:a="http://schemas.openxmlformats.org/drawingml/2006/main">
            <a:off x="7823200" y="3144102"/>
            <a:ext cx="3162300" cy="1778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000" b="1" i="0" u="none">
                <a:solidFill>
                  <a:srgbClr val="1E252B"/>
                </a:solidFill>
                <a:latin typeface="Aptos"/>
                <a:ea typeface="Aptos"/>
                <a:cs typeface="Aptos"/>
              </a:rPr>
              <a:t>What this proves</a:t>
            </a:r>
          </a:p>
        </p:txBody>
      </p:sp>
      <p:sp>
        <p:nvSpPr>
          <p:cNvPr id="17" name="AutoShape 17">
            <a:extLst xmlns:a="http://schemas.openxmlformats.org/drawingml/2006/main">
              <a:ext uri="{FF2B5EF4-FFF2-40B4-BE49-F238E27FC236}">
                <a16:creationId xmlns:a16="http://schemas.microsoft.com/office/drawing/2014/main" id="{E3B67D2C-F191-4AA7-BDB4-10A99DC40361}"/>
              </a:ext>
            </a:extLst>
          </p:cNvPr>
          <p:cNvSpPr>
            <a:spLocks xmlns:a="http://schemas.openxmlformats.org/drawingml/2006/main" noGrp="1"/>
          </p:cNvSpPr>
          <p:nvPr/>
        </p:nvSpPr>
        <p:spPr>
          <a:xfrm xmlns:a="http://schemas.openxmlformats.org/drawingml/2006/main">
            <a:off x="7823200" y="3321902"/>
            <a:ext cx="3162300" cy="3048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980"/>
            </a:pPr>
            <a:r>
              <a:rPr sz="980" b="0" i="0" u="none">
                <a:solidFill>
                  <a:srgbClr val="5E6975"/>
                </a:solidFill>
                <a:latin typeface="Aptos"/>
                <a:ea typeface="Aptos"/>
                <a:cs typeface="Aptos"/>
              </a:rPr>
              <a:t>Adapter better matches teacher pseudo-token targets; not official HumanML3D fidelity.</a:t>
            </a:r>
          </a:p>
        </p:txBody>
      </p:sp>
      <p:sp>
        <p:nvSpPr>
          <p:cNvPr id="18" name="AutoShape 18">
            <a:extLst xmlns:a="http://schemas.openxmlformats.org/drawingml/2006/main">
              <a:ext uri="{FF2B5EF4-FFF2-40B4-BE49-F238E27FC236}">
                <a16:creationId xmlns:a16="http://schemas.microsoft.com/office/drawing/2014/main" id="{47D5AF6D-F0DD-48C6-B2A5-E600FFC1C8E5}"/>
              </a:ext>
            </a:extLst>
          </p:cNvPr>
          <p:cNvSpPr>
            <a:spLocks xmlns:a="http://schemas.openxmlformats.org/drawingml/2006/main" noGrp="1"/>
          </p:cNvSpPr>
          <p:nvPr/>
        </p:nvSpPr>
        <p:spPr>
          <a:xfrm xmlns:a="http://schemas.openxmlformats.org/drawingml/2006/main">
            <a:off x="7569200" y="3848100"/>
            <a:ext cx="3619500" cy="901700"/>
          </a:xfrm>
          <a:prstGeom xmlns:a="http://schemas.openxmlformats.org/drawingml/2006/main" prst="roundRect">
            <a:avLst>
              <a:gd name="adj" fmla="val 0"/>
            </a:avLst>
          </a:prstGeom>
          <a:solidFill xmlns:a="http://schemas.openxmlformats.org/drawingml/2006/main">
            <a:srgbClr val="FFFFFF">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9" name="AutoShape 19">
            <a:extLst xmlns:a="http://schemas.openxmlformats.org/drawingml/2006/main">
              <a:ext uri="{FF2B5EF4-FFF2-40B4-BE49-F238E27FC236}">
                <a16:creationId xmlns:a16="http://schemas.microsoft.com/office/drawing/2014/main" id="{E12A866E-65BE-4BC8-9782-4ED86532048E}"/>
              </a:ext>
            </a:extLst>
          </p:cNvPr>
          <p:cNvSpPr>
            <a:spLocks xmlns:a="http://schemas.openxmlformats.org/drawingml/2006/main" noGrp="1"/>
          </p:cNvSpPr>
          <p:nvPr/>
        </p:nvSpPr>
        <p:spPr>
          <a:xfrm xmlns:a="http://schemas.openxmlformats.org/drawingml/2006/main">
            <a:off x="7569200" y="3848100"/>
            <a:ext cx="76200" cy="901700"/>
          </a:xfrm>
          <a:prstGeom xmlns:a="http://schemas.openxmlformats.org/drawingml/2006/main" prst="roundRect">
            <a:avLst>
              <a:gd name="adj" fmla="val 0"/>
            </a:avLst>
          </a:prstGeom>
          <a:solidFill xmlns:a="http://schemas.openxmlformats.org/drawingml/2006/main">
            <a:srgbClr val="B15A35">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0" name="AutoShape 20">
            <a:extLst xmlns:a="http://schemas.openxmlformats.org/drawingml/2006/main">
              <a:ext uri="{FF2B5EF4-FFF2-40B4-BE49-F238E27FC236}">
                <a16:creationId xmlns:a16="http://schemas.microsoft.com/office/drawing/2014/main" id="{0C86EB2A-C68F-4746-9A7A-9EDE15461BE5}"/>
              </a:ext>
            </a:extLst>
          </p:cNvPr>
          <p:cNvSpPr>
            <a:spLocks xmlns:a="http://schemas.openxmlformats.org/drawingml/2006/main" noGrp="1"/>
          </p:cNvSpPr>
          <p:nvPr/>
        </p:nvSpPr>
        <p:spPr>
          <a:xfrm xmlns:a="http://schemas.openxmlformats.org/drawingml/2006/main">
            <a:off x="7823200" y="3949700"/>
            <a:ext cx="3162300" cy="2921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600" b="1" i="0" u="none">
                <a:solidFill>
                  <a:srgbClr val="B15A35"/>
                </a:solidFill>
                <a:latin typeface="Play"/>
                <a:ea typeface="Play"/>
                <a:cs typeface="Play"/>
              </a:rPr>
              <a:t>Visual check</a:t>
            </a:r>
          </a:p>
        </p:txBody>
      </p:sp>
      <p:sp>
        <p:nvSpPr>
          <p:cNvPr id="21" name="AutoShape 21">
            <a:extLst xmlns:a="http://schemas.openxmlformats.org/drawingml/2006/main">
              <a:ext uri="{FF2B5EF4-FFF2-40B4-BE49-F238E27FC236}">
                <a16:creationId xmlns:a16="http://schemas.microsoft.com/office/drawing/2014/main" id="{B84C7139-B963-46AD-BB1F-F2CB2F6E812F}"/>
              </a:ext>
            </a:extLst>
          </p:cNvPr>
          <p:cNvSpPr>
            <a:spLocks xmlns:a="http://schemas.openxmlformats.org/drawingml/2006/main" noGrp="1"/>
          </p:cNvSpPr>
          <p:nvPr/>
        </p:nvSpPr>
        <p:spPr>
          <a:xfrm xmlns:a="http://schemas.openxmlformats.org/drawingml/2006/main">
            <a:off x="7823200" y="4236727"/>
            <a:ext cx="3162300" cy="1778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000" b="1" i="0" u="none">
                <a:solidFill>
                  <a:srgbClr val="1E252B"/>
                </a:solidFill>
                <a:latin typeface="Aptos"/>
                <a:ea typeface="Aptos"/>
                <a:cs typeface="Aptos"/>
              </a:rPr>
              <a:t>Separate evidence</a:t>
            </a:r>
          </a:p>
        </p:txBody>
      </p:sp>
      <p:sp>
        <p:nvSpPr>
          <p:cNvPr id="22" name="AutoShape 22">
            <a:extLst xmlns:a="http://schemas.openxmlformats.org/drawingml/2006/main">
              <a:ext uri="{FF2B5EF4-FFF2-40B4-BE49-F238E27FC236}">
                <a16:creationId xmlns:a16="http://schemas.microsoft.com/office/drawing/2014/main" id="{6CAA036B-448C-45C9-AD7D-A1CF6DFEEFD7}"/>
              </a:ext>
            </a:extLst>
          </p:cNvPr>
          <p:cNvSpPr>
            <a:spLocks xmlns:a="http://schemas.openxmlformats.org/drawingml/2006/main" noGrp="1"/>
          </p:cNvSpPr>
          <p:nvPr/>
        </p:nvSpPr>
        <p:spPr>
          <a:xfrm xmlns:a="http://schemas.openxmlformats.org/drawingml/2006/main">
            <a:off x="7823200" y="4403852"/>
            <a:ext cx="3162300" cy="4191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000" b="0" i="0" u="none">
                <a:solidFill>
                  <a:srgbClr val="5E6975"/>
                </a:solidFill>
                <a:latin typeface="Aptos"/>
                <a:ea typeface="Aptos"/>
                <a:cs typeface="Aptos"/>
              </a:rPr>
              <a:t>Qualitative previews are inspection evidence, not benchmark scores.</a:t>
            </a:r>
          </a:p>
        </p:txBody>
      </p:sp>
      <p:sp>
        <p:nvSpPr>
          <p:cNvPr id="23" name="AutoShape 23">
            <a:extLst xmlns:a="http://schemas.openxmlformats.org/drawingml/2006/main">
              <a:ext uri="{FF2B5EF4-FFF2-40B4-BE49-F238E27FC236}">
                <a16:creationId xmlns:a16="http://schemas.microsoft.com/office/drawing/2014/main" id="{FED08491-4A32-45D7-AAEA-FECF2BD5E083}"/>
              </a:ext>
            </a:extLst>
          </p:cNvPr>
          <p:cNvSpPr>
            <a:spLocks xmlns:a="http://schemas.openxmlformats.org/drawingml/2006/main" noGrp="1"/>
          </p:cNvSpPr>
          <p:nvPr/>
        </p:nvSpPr>
        <p:spPr>
          <a:xfrm xmlns:a="http://schemas.openxmlformats.org/drawingml/2006/main">
            <a:off x="7569200" y="4902200"/>
            <a:ext cx="3619500" cy="749300"/>
          </a:xfrm>
          <a:prstGeom xmlns:a="http://schemas.openxmlformats.org/drawingml/2006/main" prst="roundRect">
            <a:avLst>
              <a:gd name="adj" fmla="val 0"/>
            </a:avLst>
          </a:prstGeom>
          <a:solidFill xmlns:a="http://schemas.openxmlformats.org/drawingml/2006/main">
            <a:srgbClr val="F7EFE8">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4" name="AutoShape 24">
            <a:extLst xmlns:a="http://schemas.openxmlformats.org/drawingml/2006/main">
              <a:ext uri="{FF2B5EF4-FFF2-40B4-BE49-F238E27FC236}">
                <a16:creationId xmlns:a16="http://schemas.microsoft.com/office/drawing/2014/main" id="{7168A21B-9D68-41BB-9559-7307925042D4}"/>
              </a:ext>
            </a:extLst>
          </p:cNvPr>
          <p:cNvSpPr>
            <a:spLocks xmlns:a="http://schemas.openxmlformats.org/drawingml/2006/main" noGrp="1"/>
          </p:cNvSpPr>
          <p:nvPr/>
        </p:nvSpPr>
        <p:spPr>
          <a:xfrm xmlns:a="http://schemas.openxmlformats.org/drawingml/2006/main">
            <a:off x="7785100" y="5102352"/>
            <a:ext cx="3200400" cy="4699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980"/>
            </a:pPr>
            <a:r>
              <a:rPr sz="980" b="1" i="0" u="none">
                <a:solidFill>
                  <a:srgbClr val="5C3927"/>
                </a:solidFill>
                <a:latin typeface="Aptos"/>
                <a:ea typeface="Aptos"/>
                <a:cs typeface="Aptos"/>
              </a:rPr>
              <a:t>Conclusion: loss supports adapter learning; motion claims rely on BVH proxy checks.</a:t>
            </a:r>
          </a:p>
        </p:txBody>
      </p:sp>
      <p:sp>
        <p:nvSpPr>
          <p:cNvPr id="25" name="AutoShape 25">
            <a:extLst xmlns:a="http://schemas.openxmlformats.org/drawingml/2006/main">
              <a:ext uri="{FF2B5EF4-FFF2-40B4-BE49-F238E27FC236}">
                <a16:creationId xmlns:a16="http://schemas.microsoft.com/office/drawing/2014/main" id="{8BDD162A-503F-4E07-A178-463425E0F8B3}"/>
              </a:ext>
            </a:extLst>
          </p:cNvPr>
          <p:cNvSpPr>
            <a:spLocks xmlns:a="http://schemas.openxmlformats.org/drawingml/2006/main" noGrp="1"/>
          </p:cNvSpPr>
          <p:nvPr/>
        </p:nvSpPr>
        <p:spPr>
          <a:xfrm xmlns:a="http://schemas.openxmlformats.org/drawingml/2006/main">
            <a:off x="685800" y="6350000"/>
            <a:ext cx="10820400" cy="12700"/>
          </a:xfrm>
          <a:prstGeom xmlns:a="http://schemas.openxmlformats.org/drawingml/2006/main" prst="roundRect">
            <a:avLst>
              <a:gd name="adj" fmla="val 0"/>
            </a:avLst>
          </a:prstGeom>
          <a:solidFill xmlns:a="http://schemas.openxmlformats.org/drawingml/2006/main">
            <a:srgbClr val="D8D0C2">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6" name="AutoShape 26">
            <a:extLst xmlns:a="http://schemas.openxmlformats.org/drawingml/2006/main">
              <a:ext uri="{FF2B5EF4-FFF2-40B4-BE49-F238E27FC236}">
                <a16:creationId xmlns:a16="http://schemas.microsoft.com/office/drawing/2014/main" id="{CAD9B516-2CC0-44C0-961E-64B10538694F}"/>
              </a:ext>
            </a:extLst>
          </p:cNvPr>
          <p:cNvSpPr>
            <a:spLocks xmlns:a="http://schemas.openxmlformats.org/drawingml/2006/main" noGrp="1"/>
          </p:cNvSpPr>
          <p:nvPr/>
        </p:nvSpPr>
        <p:spPr>
          <a:xfrm xmlns:a="http://schemas.openxmlformats.org/drawingml/2006/main">
            <a:off x="685800" y="6426200"/>
            <a:ext cx="5905500" cy="190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800" b="0" i="0" u="none">
                <a:solidFill>
                  <a:srgbClr val="7A746A"/>
                </a:solidFill>
                <a:latin typeface="Aptos"/>
                <a:ea typeface="Aptos"/>
                <a:cs typeface="Aptos"/>
              </a:rPr>
              <a:t>Source: LoRA Training Experiments; Loss Analysis; Motion Rendering Previews</a:t>
            </a:r>
          </a:p>
        </p:txBody>
      </p:sp>
      <p:sp>
        <p:nvSpPr>
          <p:cNvPr id="27" name="AutoShape 27">
            <a:extLst xmlns:a="http://schemas.openxmlformats.org/drawingml/2006/main">
              <a:ext uri="{FF2B5EF4-FFF2-40B4-BE49-F238E27FC236}">
                <a16:creationId xmlns:a16="http://schemas.microsoft.com/office/drawing/2014/main" id="{1FF91491-E2BC-4B00-AA12-AEB08937A6F2}"/>
              </a:ext>
            </a:extLst>
          </p:cNvPr>
          <p:cNvSpPr>
            <a:spLocks xmlns:a="http://schemas.openxmlformats.org/drawingml/2006/main" noGrp="1"/>
          </p:cNvSpPr>
          <p:nvPr/>
        </p:nvSpPr>
        <p:spPr>
          <a:xfrm xmlns:a="http://schemas.openxmlformats.org/drawingml/2006/main">
            <a:off x="9626600" y="6426200"/>
            <a:ext cx="1892300" cy="190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r">
              <a:lnSpc>
                <a:spcPct val="100000"/>
              </a:lnSpc>
              <a:buNone/>
            </a:pPr>
            <a:r>
              <a:rPr sz="800" b="0" i="0" u="none">
                <a:solidFill>
                  <a:srgbClr val="7A746A"/>
                </a:solidFill>
                <a:latin typeface="Aptos"/>
                <a:ea typeface="Aptos"/>
                <a:cs typeface="Aptos"/>
              </a:rPr>
              <a:t>6 / 8 - Training Evidence</a:t>
            </a:r>
          </a:p>
        </p:txBody>
      </p:sp>
    </p:spTree>
    <p:extLst>
      <p:ext uri="{BB962C8B-B14F-4D97-AF65-F5344CB8AC3E}">
        <p14:creationId xmlns:p14="http://schemas.microsoft.com/office/powerpoint/2010/main" val="1458152212"/>
      </p:ext>
    </p:extLst>
  </p:cSld>
</p:sld>
</file>

<file path=ppt/slides/slide7.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8407F793-5F30-4CAB-B1A7-83EE2DE33D6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oundRect">
            <a:avLst>
              <a:gd name="adj" fmla="val 0"/>
            </a:avLst>
          </a:prstGeom>
          <a:solidFill xmlns:a="http://schemas.openxmlformats.org/drawingml/2006/main">
            <a:srgbClr val="F7F4ED">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79FB886E-DD22-4367-9110-35E9411E0DD8}"/>
              </a:ext>
            </a:extLst>
          </p:cNvPr>
          <p:cNvSpPr>
            <a:spLocks xmlns:a="http://schemas.openxmlformats.org/drawingml/2006/main" noGrp="1"/>
          </p:cNvSpPr>
          <p:nvPr/>
        </p:nvSpPr>
        <p:spPr>
          <a:xfrm xmlns:a="http://schemas.openxmlformats.org/drawingml/2006/main">
            <a:off x="685800" y="419100"/>
            <a:ext cx="266700" cy="38100"/>
          </a:xfrm>
          <a:prstGeom xmlns:a="http://schemas.openxmlformats.org/drawingml/2006/main" prst="roundRect">
            <a:avLst>
              <a:gd name="adj" fmla="val 0"/>
            </a:avLst>
          </a:prstGeom>
          <a:solidFill xmlns:a="http://schemas.openxmlformats.org/drawingml/2006/main">
            <a:srgbClr val="167C8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4" name="AutoShape 4">
            <a:extLst xmlns:a="http://schemas.openxmlformats.org/drawingml/2006/main">
              <a:ext uri="{FF2B5EF4-FFF2-40B4-BE49-F238E27FC236}">
                <a16:creationId xmlns:a16="http://schemas.microsoft.com/office/drawing/2014/main" id="{B05CF443-DEFB-4263-BC03-BAB20DC8EB04}"/>
              </a:ext>
            </a:extLst>
          </p:cNvPr>
          <p:cNvSpPr>
            <a:spLocks xmlns:a="http://schemas.openxmlformats.org/drawingml/2006/main" noGrp="1"/>
          </p:cNvSpPr>
          <p:nvPr/>
        </p:nvSpPr>
        <p:spPr>
          <a:xfrm xmlns:a="http://schemas.openxmlformats.org/drawingml/2006/main">
            <a:off x="1066800" y="330200"/>
            <a:ext cx="4953000" cy="2540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r>
              <a:rPr sz="1000" b="1" i="0" u="none">
                <a:solidFill>
                  <a:srgbClr val="5E6975"/>
                </a:solidFill>
                <a:latin typeface="Aptos"/>
                <a:ea typeface="Aptos"/>
                <a:cs typeface="Aptos"/>
              </a:rPr>
              <a:t>RESULTS</a:t>
            </a:r>
          </a:p>
        </p:txBody>
      </p:sp>
      <p:sp>
        <p:nvSpPr>
          <p:cNvPr id="5" name="AutoShape 5">
            <a:extLst xmlns:a="http://schemas.openxmlformats.org/drawingml/2006/main">
              <a:ext uri="{FF2B5EF4-FFF2-40B4-BE49-F238E27FC236}">
                <a16:creationId xmlns:a16="http://schemas.microsoft.com/office/drawing/2014/main" id="{BF164388-B1BE-4454-8663-1628CCB4DFCF}"/>
              </a:ext>
            </a:extLst>
          </p:cNvPr>
          <p:cNvSpPr>
            <a:spLocks xmlns:a="http://schemas.openxmlformats.org/drawingml/2006/main" noGrp="1"/>
          </p:cNvSpPr>
          <p:nvPr/>
        </p:nvSpPr>
        <p:spPr>
          <a:xfrm xmlns:a="http://schemas.openxmlformats.org/drawingml/2006/main">
            <a:off x="685800" y="723900"/>
            <a:ext cx="10241280" cy="676656"/>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2500"/>
            </a:pPr>
            <a:r>
              <a:rPr sz="2500" b="1" i="0" u="none">
                <a:solidFill>
                  <a:srgbClr val="1E252B"/>
                </a:solidFill>
                <a:latin typeface="Play"/>
                <a:ea typeface="Play"/>
                <a:cs typeface="Play"/>
              </a:rPr>
              <a:t>Proxy metrics show coarse style steering on most prompts.</a:t>
            </a:r>
          </a:p>
        </p:txBody>
      </p:sp>
      <p:sp>
        <p:nvSpPr>
          <p:cNvPr id="6" name="AutoShape 6">
            <a:extLst xmlns:a="http://schemas.openxmlformats.org/drawingml/2006/main">
              <a:ext uri="{FF2B5EF4-FFF2-40B4-BE49-F238E27FC236}">
                <a16:creationId xmlns:a16="http://schemas.microsoft.com/office/drawing/2014/main" id="{68529FFD-1A54-4597-8F5F-1AF0EACD8E38}"/>
              </a:ext>
            </a:extLst>
          </p:cNvPr>
          <p:cNvSpPr>
            <a:spLocks xmlns:a="http://schemas.openxmlformats.org/drawingml/2006/main" noGrp="1"/>
          </p:cNvSpPr>
          <p:nvPr/>
        </p:nvSpPr>
        <p:spPr>
          <a:xfrm xmlns:a="http://schemas.openxmlformats.org/drawingml/2006/main">
            <a:off x="838200" y="1216152"/>
            <a:ext cx="7112000" cy="7620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cmpd="sng">
            <a:solidFill>
              <a:srgbClr val="000000">
                <a:alpha val="0"/>
              </a:srgbClr>
            </a:solidFill>
            <a:prstDash val="solid"/>
          </a:ln>
        </p:spPr>
        <p:txBody>
          <a:bodyPr xmlns:a="http://schemas.openxmlformats.org/drawingml/2006/main" vert="horz" wrap="square" lIns="0" tIns="63500" rIns="0" bIns="63500" anchor="t"/>
          <a:lstStyle xmlns:a="http://schemas.openxmlformats.org/drawingml/2006/main"/>
          <a:p xmlns:a="http://schemas.openxmlformats.org/drawingml/2006/main">
            <a:pPr marL="0" indent="0" algn="l">
              <a:lnSpc>
                <a:spcPct val="108000"/>
              </a:lnSpc>
              <a:buNone/>
              <a:defRPr sz="1020"/>
            </a:pPr>
            <a:r>
              <a:rPr sz="1020" b="0" i="0" u="none">
                <a:solidFill>
                  <a:srgbClr val="3C414B"/>
                </a:solidFill>
                <a:latin typeface="Noto Sans SC"/>
                <a:ea typeface="Noto Sans SC"/>
                <a:cs typeface="Noto Sans SC"/>
              </a:rPr>
              <a:t>Across 5 style prompts and 22 pre-defined proxy checks, </a:t>
            </a:r>
            <a:r>
              <a:rPr sz="1020" b="0" i="0" u="none">
                <a:solidFill>
                  <a:srgbClr val="3C414B"/>
                </a:solidFill>
                <a:latin typeface="Noto Sans SC"/>
                <a:ea typeface="Noto Sans SC"/>
                <a:cs typeface="Noto Sans SC"/>
              </a:rPr>
              <a:t>LoRA</a:t>
            </a:r>
            <a:r>
              <a:rPr sz="1020" b="0" i="0" u="none">
                <a:solidFill>
                  <a:srgbClr val="3C414B"/>
                </a:solidFill>
                <a:latin typeface="Noto Sans SC"/>
                <a:ea typeface="Noto Sans SC"/>
                <a:cs typeface="Noto Sans SC"/>
              </a:rPr>
              <a:t> moved in the expected style direction for 18 checks.</a:t>
            </a:r>
          </a:p>
        </p:txBody>
      </p:sp>
      <p:pic>
        <p:nvPicPr>
          <p:cNvPr id="27" name="Picture 7"/>
          <p:cNvPicPr>
            <a:picLocks xmlns:a="http://schemas.openxmlformats.org/drawingml/2006/main" noChangeAspect="1"/>
          </p:cNvPicPr>
          <p:nvPr/>
        </p:nvPicPr>
        <p:blipFill>
          <a:blip xmlns:r="http://schemas.openxmlformats.org/officeDocument/2006/relationships" xmlns:a="http://schemas.openxmlformats.org/drawingml/2006/main" r:embed="Rd6214eb16b984e6c"/>
          <a:srcRect xmlns:a="http://schemas.openxmlformats.org/drawingml/2006/main" l="6225" t="0" r="6225" b="0"/>
          <a:stretch xmlns:a="http://schemas.openxmlformats.org/drawingml/2006/main">
            <a:fillRect l="0" t="0" r="0" b="0"/>
          </a:stretch>
        </p:blipFill>
        <p:spPr>
          <a:xfrm xmlns:a="http://schemas.openxmlformats.org/drawingml/2006/main">
            <a:off x="819150" y="1729290"/>
            <a:ext cx="7223760" cy="3813048"/>
          </a:xfrm>
          <a:prstGeom xmlns:a="http://schemas.openxmlformats.org/drawingml/2006/main" prst="rect">
            <a:avLst/>
          </a:prstGeom>
          <a:ln xmlns:a="http://schemas.openxmlformats.org/drawingml/2006/main" w="25400" cap="flat" cmpd="sng">
            <a:noFill/>
            <a:prstDash val="solid"/>
            <a:round/>
          </a:ln>
        </p:spPr>
      </p:pic>
      <p:sp>
        <p:nvSpPr>
          <p:cNvPr id="8" name="AutoShape 8">
            <a:extLst xmlns:a="http://schemas.openxmlformats.org/drawingml/2006/main">
              <a:ext uri="{FF2B5EF4-FFF2-40B4-BE49-F238E27FC236}">
                <a16:creationId xmlns:a16="http://schemas.microsoft.com/office/drawing/2014/main" id="{46ECA24F-7BF7-485C-9A4F-B5133744DA80}"/>
              </a:ext>
            </a:extLst>
          </p:cNvPr>
          <p:cNvSpPr>
            <a:spLocks xmlns:a="http://schemas.openxmlformats.org/drawingml/2006/main" noGrp="1"/>
          </p:cNvSpPr>
          <p:nvPr/>
        </p:nvSpPr>
        <p:spPr>
          <a:xfrm xmlns:a="http://schemas.openxmlformats.org/drawingml/2006/main">
            <a:off x="838200" y="5737831"/>
            <a:ext cx="7112000" cy="10160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cmpd="sng">
            <a:solidFill>
              <a:srgbClr val="000000">
                <a:alpha val="0"/>
              </a:srgbClr>
            </a:solidFill>
            <a:prstDash val="solid"/>
          </a:ln>
        </p:spPr>
        <p:txBody>
          <a:bodyPr xmlns:a="http://schemas.openxmlformats.org/drawingml/2006/main" vert="horz" wrap="square" lIns="0" tIns="63500" rIns="0" bIns="63500" anchor="t"/>
          <a:lstStyle xmlns:a="http://schemas.openxmlformats.org/drawingml/2006/main"/>
          <a:p xmlns:a="http://schemas.openxmlformats.org/drawingml/2006/main">
            <a:pPr marL="0" indent="0" algn="l">
              <a:lnSpc>
                <a:spcPct val="117000"/>
              </a:lnSpc>
              <a:buNone/>
              <a:defRPr sz="1020"/>
            </a:pPr>
            <a:r>
              <a:rPr sz="1020" b="0" i="0" u="none">
                <a:solidFill>
                  <a:srgbClr val="5E6975"/>
                </a:solidFill>
                <a:latin typeface="Noto Sans SC"/>
                <a:ea typeface="Noto Sans SC"/>
                <a:cs typeface="Noto Sans SC"/>
              </a:rPr>
              <a:t>The scorecard highlights high-confidence cases and the weaker Tai Chi case without claiming official benchmark improvement.</a:t>
            </a:r>
          </a:p>
        </p:txBody>
      </p:sp>
      <p:cxnSp>
        <p:nvCxnSpPr>
          <p:cNvPr id="29" name="Connector 9"/>
          <p:cNvCxnSpPr/>
          <p:nvPr/>
        </p:nvCxnSpPr>
        <p:spPr>
          <a:xfrm xmlns:a="http://schemas.openxmlformats.org/drawingml/2006/main" rot="5389582">
            <a:off x="6286500" y="3867160"/>
            <a:ext cx="4191000" cy="12700"/>
          </a:xfrm>
          <a:prstGeom xmlns:a="http://schemas.openxmlformats.org/drawingml/2006/main" prst="straightConnector1">
            <a:avLst/>
          </a:prstGeom>
          <a:ln xmlns:a="http://schemas.openxmlformats.org/drawingml/2006/main" w="12700" cap="flat">
            <a:solidFill>
              <a:srgbClr val="D8D0C2">
                <a:alpha val="100000"/>
              </a:srgbClr>
            </a:solidFill>
            <a:prstDash val="solid"/>
            <a:round/>
            <a:headEnd type="none" w="med" len="med"/>
            <a:tailEnd type="none" w="med" len="med"/>
          </a:ln>
        </p:spPr>
      </p:cxnSp>
      <p:sp>
        <p:nvSpPr>
          <p:cNvPr id="10" name="AutoShape 10">
            <a:extLst xmlns:a="http://schemas.openxmlformats.org/drawingml/2006/main">
              <a:ext uri="{FF2B5EF4-FFF2-40B4-BE49-F238E27FC236}">
                <a16:creationId xmlns:a16="http://schemas.microsoft.com/office/drawing/2014/main" id="{B24FF313-8871-473A-BE74-199C0838DA8B}"/>
              </a:ext>
            </a:extLst>
          </p:cNvPr>
          <p:cNvSpPr>
            <a:spLocks xmlns:a="http://schemas.openxmlformats.org/drawingml/2006/main" noGrp="1"/>
          </p:cNvSpPr>
          <p:nvPr/>
        </p:nvSpPr>
        <p:spPr>
          <a:xfrm xmlns:a="http://schemas.openxmlformats.org/drawingml/2006/main">
            <a:off x="8636000" y="1778000"/>
            <a:ext cx="3048000" cy="1397000"/>
          </a:xfrm>
          <a:prstGeom xmlns:a="http://schemas.openxmlformats.org/drawingml/2006/main" prst="roundRect">
            <a:avLst>
              <a:gd name="adj" fmla="val 0"/>
            </a:avLst>
          </a:prstGeom>
          <a:solidFill xmlns:a="http://schemas.openxmlformats.org/drawingml/2006/main">
            <a:srgbClr val="1F2937">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1" name="AutoShape 11">
            <a:extLst xmlns:a="http://schemas.openxmlformats.org/drawingml/2006/main">
              <a:ext uri="{FF2B5EF4-FFF2-40B4-BE49-F238E27FC236}">
                <a16:creationId xmlns:a16="http://schemas.microsoft.com/office/drawing/2014/main" id="{FCBA5B91-6A05-4F1A-BE29-97B142E82915}"/>
              </a:ext>
            </a:extLst>
          </p:cNvPr>
          <p:cNvSpPr>
            <a:spLocks xmlns:a="http://schemas.openxmlformats.org/drawingml/2006/main" noGrp="1"/>
          </p:cNvSpPr>
          <p:nvPr/>
        </p:nvSpPr>
        <p:spPr>
          <a:xfrm xmlns:a="http://schemas.openxmlformats.org/drawingml/2006/main">
            <a:off x="8172450" y="4991100"/>
            <a:ext cx="2667000" cy="4953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cmpd="sng">
            <a:solidFill>
              <a:srgbClr val="000000">
                <a:alpha val="0"/>
              </a:srgbClr>
            </a:solid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defRPr sz="825">
                <a:solidFill>
                  <a:srgbClr val="4B5560"/>
                </a:solidFill>
              </a:defRPr>
            </a:pPr>
            <a:r>
              <a:rPr sz="825" b="1" i="0" u="none">
                <a:solidFill>
                  <a:srgbClr val="4B5560"/>
                </a:solidFill>
                <a:latin typeface="Play"/>
                <a:ea typeface="Play"/>
                <a:cs typeface="Play"/>
              </a:rPr>
              <a:t>Top-k fixes candidate diversity and slightly improves teacher-to-HumanML alignment, but it does not yet improve the final student style-proxy result.</a:t>
            </a:r>
          </a:p>
        </p:txBody>
      </p:sp>
      <p:sp>
        <p:nvSpPr>
          <p:cNvPr id="12" name="AutoShape 12">
            <a:extLst xmlns:a="http://schemas.openxmlformats.org/drawingml/2006/main">
              <a:ext uri="{FF2B5EF4-FFF2-40B4-BE49-F238E27FC236}">
                <a16:creationId xmlns:a16="http://schemas.microsoft.com/office/drawing/2014/main" id="{670C98E6-C192-441C-9AD2-20A398833882}"/>
              </a:ext>
            </a:extLst>
          </p:cNvPr>
          <p:cNvSpPr>
            <a:spLocks xmlns:a="http://schemas.openxmlformats.org/drawingml/2006/main" noGrp="1"/>
          </p:cNvSpPr>
          <p:nvPr/>
        </p:nvSpPr>
        <p:spPr>
          <a:xfrm xmlns:a="http://schemas.openxmlformats.org/drawingml/2006/main">
            <a:off x="8172450" y="3676650"/>
            <a:ext cx="3048000" cy="6858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975">
                <a:solidFill>
                  <a:srgbClr val="202832"/>
                </a:solidFill>
              </a:defRPr>
            </a:pPr>
            <a:r>
              <a:rPr sz="975" b="1" i="0" u="none">
                <a:solidFill>
                  <a:srgbClr val="202832"/>
                </a:solidFill>
                <a:latin typeface="Aptos"/>
                <a:ea typeface="Aptos"/>
                <a:cs typeface="Aptos"/>
              </a:rPr>
              <a:t>Metric CSVs:</a:t>
            </a:r>
          </a:p>
          <a:p xmlns:a="http://schemas.openxmlformats.org/drawingml/2006/main">
            <a:pPr marL="0" indent="0" algn="l">
              <a:lnSpc>
                <a:spcPct val="100000"/>
              </a:lnSpc>
              <a:buNone/>
              <a:defRPr sz="975">
                <a:solidFill>
                  <a:srgbClr val="202832"/>
                </a:solidFill>
              </a:defRPr>
            </a:pPr>
            <a:r>
              <a:rPr sz="975" b="1" i="0" u="none">
                <a:solidFill>
                  <a:srgbClr val="202832"/>
                </a:solidFill>
                <a:latin typeface="Aptos"/>
                <a:ea typeface="Aptos"/>
                <a:cs typeface="Aptos"/>
              </a:rPr>
              <a:t>humanml_alignment_topk_selected_teacher</a:t>
            </a:r>
          </a:p>
          <a:p xmlns:a="http://schemas.openxmlformats.org/drawingml/2006/main">
            <a:pPr marL="0" indent="0" algn="l">
              <a:lnSpc>
                <a:spcPct val="100000"/>
              </a:lnSpc>
              <a:buNone/>
              <a:defRPr sz="975">
                <a:solidFill>
                  <a:srgbClr val="202832"/>
                </a:solidFill>
              </a:defRPr>
            </a:pPr>
            <a:r>
              <a:rPr sz="975" b="1" i="0" u="none">
                <a:solidFill>
                  <a:srgbClr val="202832"/>
                </a:solidFill>
                <a:latin typeface="Aptos"/>
                <a:ea typeface="Aptos"/>
                <a:cs typeface="Aptos"/>
              </a:rPr>
              <a:t>humanml_alignment_deterministic_selected_teacher</a:t>
            </a:r>
          </a:p>
        </p:txBody>
      </p:sp>
      <p:sp>
        <p:nvSpPr>
          <p:cNvPr id="13" name="AutoShape 13">
            <a:extLst xmlns:a="http://schemas.openxmlformats.org/drawingml/2006/main">
              <a:ext uri="{FF2B5EF4-FFF2-40B4-BE49-F238E27FC236}">
                <a16:creationId xmlns:a16="http://schemas.microsoft.com/office/drawing/2014/main" id="{4D8AAE8B-E952-4492-B921-C6E944B09B19}"/>
              </a:ext>
            </a:extLst>
          </p:cNvPr>
          <p:cNvSpPr>
            <a:spLocks xmlns:a="http://schemas.openxmlformats.org/drawingml/2006/main" noGrp="1"/>
          </p:cNvSpPr>
          <p:nvPr/>
        </p:nvSpPr>
        <p:spPr>
          <a:xfrm xmlns:a="http://schemas.openxmlformats.org/drawingml/2006/main">
            <a:off x="8636000" y="3429000"/>
            <a:ext cx="3048000" cy="1206500"/>
          </a:xfrm>
          <a:prstGeom xmlns:a="http://schemas.openxmlformats.org/drawingml/2006/main" prst="roundRect">
            <a:avLst>
              <a:gd name="adj" fmla="val 0"/>
            </a:avLst>
          </a:prstGeom>
          <a:solidFill xmlns:a="http://schemas.openxmlformats.org/drawingml/2006/main">
            <a:srgbClr val="FFFFFF">
              <a:alpha val="100000"/>
            </a:srgbClr>
          </a:solidFill>
          <a:ln xmlns:a="http://schemas.openxmlformats.org/drawingml/2006/main" w="12700" cmpd="sng">
            <a:solidFill>
              <a:srgbClr val="167C8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4" name="AutoShape 14">
            <a:extLst xmlns:a="http://schemas.openxmlformats.org/drawingml/2006/main">
              <a:ext uri="{FF2B5EF4-FFF2-40B4-BE49-F238E27FC236}">
                <a16:creationId xmlns:a16="http://schemas.microsoft.com/office/drawing/2014/main" id="{E7407201-1A81-4C6A-88A5-621C9FC65E02}"/>
              </a:ext>
            </a:extLst>
          </p:cNvPr>
          <p:cNvSpPr>
            <a:spLocks xmlns:a="http://schemas.openxmlformats.org/drawingml/2006/main" noGrp="1"/>
          </p:cNvSpPr>
          <p:nvPr/>
        </p:nvSpPr>
        <p:spPr>
          <a:xfrm xmlns:a="http://schemas.openxmlformats.org/drawingml/2006/main">
            <a:off x="8172450" y="2819400"/>
            <a:ext cx="2952750" cy="55245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cmpd="sng">
            <a:solidFill>
              <a:srgbClr val="000000">
                <a:alpha val="0"/>
              </a:srgbClr>
            </a:solid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25000"/>
              </a:lnSpc>
              <a:buNone/>
              <a:defRPr sz="1050">
                <a:solidFill>
                  <a:srgbClr val="202832"/>
                </a:solidFill>
              </a:defRPr>
            </a:pPr>
            <a:r>
              <a:rPr sz="1050" b="1" i="0" u="none">
                <a:solidFill>
                  <a:srgbClr val="202832"/>
                </a:solidFill>
                <a:latin typeface="Aptos"/>
                <a:ea typeface="Aptos"/>
                <a:cs typeface="Aptos"/>
              </a:rPr>
              <a:t>Jump videos:</a:t>
            </a:r>
          </a:p>
          <a:p xmlns:a="http://schemas.openxmlformats.org/drawingml/2006/main">
            <a:pPr marL="0" indent="0" algn="l">
              <a:lnSpc>
                <a:spcPct val="125000"/>
              </a:lnSpc>
              <a:buNone/>
              <a:defRPr sz="1050">
                <a:solidFill>
                  <a:srgbClr val="202832"/>
                </a:solidFill>
              </a:defRPr>
            </a:pPr>
            <a:r>
              <a:rPr sz="1050" b="1" i="0" u="none">
                <a:solidFill>
                  <a:srgbClr val="202832"/>
                </a:solidFill>
                <a:latin typeface="Aptos"/>
                <a:ea typeface="Aptos"/>
                <a:cs typeface="Aptos"/>
              </a:rPr>
              <a:t>baseline_jump, original_lora_jump, topk_lora_jump</a:t>
            </a:r>
          </a:p>
        </p:txBody>
      </p:sp>
      <p:sp>
        <p:nvSpPr>
          <p:cNvPr id="15" name="AutoShape 15">
            <a:extLst xmlns:a="http://schemas.openxmlformats.org/drawingml/2006/main">
              <a:ext uri="{FF2B5EF4-FFF2-40B4-BE49-F238E27FC236}">
                <a16:creationId xmlns:a16="http://schemas.microsoft.com/office/drawing/2014/main" id="{7F542C9E-840D-4A71-B1E8-DBC5DF06456C}"/>
              </a:ext>
            </a:extLst>
          </p:cNvPr>
          <p:cNvSpPr>
            <a:spLocks xmlns:a="http://schemas.openxmlformats.org/drawingml/2006/main" noGrp="1"/>
          </p:cNvSpPr>
          <p:nvPr/>
        </p:nvSpPr>
        <p:spPr>
          <a:xfrm xmlns:a="http://schemas.openxmlformats.org/drawingml/2006/main">
            <a:off x="8763000" y="3873372"/>
            <a:ext cx="2794000" cy="571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cmpd="sng">
            <a:solidFill>
              <a:srgbClr val="000000">
                <a:alpha val="0"/>
              </a:srgbClr>
            </a:solid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8000"/>
              </a:lnSpc>
              <a:buNone/>
              <a:defRPr sz="1020"/>
            </a:pPr>
            <a:r>
              <a:rPr sz="1020" b="0" i="0" u="none">
                <a:solidFill>
                  <a:srgbClr val="374151"/>
                </a:solidFill>
                <a:latin typeface="Aptos"/>
                <a:ea typeface="Aptos"/>
                <a:cs typeface="Aptos"/>
              </a:rPr>
              <a:t>“Slow deliberate” and “heavy tired” styles achieved 100% alignment, showing strong capture of distinct kinematic signatures.</a:t>
            </a:r>
          </a:p>
        </p:txBody>
      </p:sp>
      <p:sp>
        <p:nvSpPr>
          <p:cNvPr id="16" name="AutoShape 16">
            <a:extLst xmlns:a="http://schemas.openxmlformats.org/drawingml/2006/main">
              <a:ext uri="{FF2B5EF4-FFF2-40B4-BE49-F238E27FC236}">
                <a16:creationId xmlns:a16="http://schemas.microsoft.com/office/drawing/2014/main" id="{96F4EEC3-E898-4DB0-857B-A9EB22EDE67B}"/>
              </a:ext>
            </a:extLst>
          </p:cNvPr>
          <p:cNvSpPr>
            <a:spLocks xmlns:a="http://schemas.openxmlformats.org/drawingml/2006/main" noGrp="1"/>
          </p:cNvSpPr>
          <p:nvPr/>
        </p:nvSpPr>
        <p:spPr>
          <a:xfrm xmlns:a="http://schemas.openxmlformats.org/drawingml/2006/main">
            <a:off x="8172450" y="2019300"/>
            <a:ext cx="2952750" cy="552450"/>
          </a:xfrm>
          <a:prstGeom xmlns:a="http://schemas.openxmlformats.org/drawingml/2006/main" prst="roundRect">
            <a:avLst>
              <a:gd name="adj" fmla="val 0"/>
            </a:avLst>
          </a:prstGeom>
          <a:solidFill xmlns:a="http://schemas.openxmlformats.org/drawingml/2006/main">
            <a:srgbClr val="FFF7ED">
              <a:alpha val="100000"/>
            </a:srgbClr>
          </a:solidFill>
          <a:ln xmlns:a="http://schemas.openxmlformats.org/drawingml/2006/main" w="12700" cmpd="sng">
            <a:solidFill>
              <a:srgbClr val="D97706">
                <a:alpha val="5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defRPr sz="1050">
                <a:solidFill>
                  <a:srgbClr val="202832"/>
                </a:solidFill>
              </a:defRPr>
            </a:pPr>
            <a:r>
              <a:rPr sz="1050">
                <a:solidFill>
                  <a:srgbClr val="202832"/>
                </a:solidFill>
              </a:rPr>
              <a:t>Slow walk videos:</a:t>
            </a:r>
          </a:p>
          <a:p xmlns:a="http://schemas.openxmlformats.org/drawingml/2006/main">
            <a:pPr algn="ctr">
              <a:buNone/>
              <a:defRPr sz="1050">
                <a:solidFill>
                  <a:srgbClr val="202832"/>
                </a:solidFill>
              </a:defRPr>
            </a:pPr>
            <a:r>
              <a:rPr sz="1050">
                <a:solidFill>
                  <a:srgbClr val="202832"/>
                </a:solidFill>
              </a:rPr>
              <a:t>baseline_slow, original_lora_slow, topk_lora_slow</a:t>
            </a:r>
          </a:p>
        </p:txBody>
      </p:sp>
      <p:sp>
        <p:nvSpPr>
          <p:cNvPr id="17" name="AutoShape 17">
            <a:extLst xmlns:a="http://schemas.openxmlformats.org/drawingml/2006/main">
              <a:ext uri="{FF2B5EF4-FFF2-40B4-BE49-F238E27FC236}">
                <a16:creationId xmlns:a16="http://schemas.microsoft.com/office/drawing/2014/main" id="{42BBD2A0-CA2A-44CD-8D41-F04911028576}"/>
              </a:ext>
            </a:extLst>
          </p:cNvPr>
          <p:cNvSpPr>
            <a:spLocks xmlns:a="http://schemas.openxmlformats.org/drawingml/2006/main" noGrp="1"/>
          </p:cNvSpPr>
          <p:nvPr/>
        </p:nvSpPr>
        <p:spPr>
          <a:xfrm xmlns:a="http://schemas.openxmlformats.org/drawingml/2006/main">
            <a:off x="8763000" y="4953000"/>
            <a:ext cx="2794000" cy="8890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cmpd="sng">
            <a:solidFill>
              <a:srgbClr val="000000">
                <a:alpha val="0"/>
              </a:srgbClr>
            </a:solid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8000"/>
              </a:lnSpc>
              <a:buNone/>
              <a:defRPr sz="1020"/>
            </a:pPr>
            <a:r>
              <a:rPr sz="1020" b="1" i="0" u="none">
                <a:solidFill>
                  <a:srgbClr val="B45309"/>
                </a:solidFill>
                <a:latin typeface="Aptos"/>
                <a:ea typeface="Aptos"/>
                <a:cs typeface="Aptos"/>
              </a:rPr>
              <a:t>Key Limitation: Tai Chi</a:t>
            </a:r>
            <a:br/>
            <a:r>
              <a:rPr sz="1020" b="0" i="0" u="none">
                <a:solidFill>
                  <a:srgbClr val="4B5563"/>
                </a:solidFill>
                <a:latin typeface="Aptos"/>
                <a:ea typeface="Aptos"/>
                <a:cs typeface="Aptos"/>
              </a:rPr>
              <a:t>Requires coordinated slow rotation beyond the scope of simple, isolated proxy metrics to fully capture its essence.</a:t>
            </a:r>
          </a:p>
        </p:txBody>
      </p:sp>
      <p:sp>
        <p:nvSpPr>
          <p:cNvPr id="18" name="AutoShape 18">
            <a:extLst xmlns:a="http://schemas.openxmlformats.org/drawingml/2006/main">
              <a:ext uri="{FF2B5EF4-FFF2-40B4-BE49-F238E27FC236}">
                <a16:creationId xmlns:a16="http://schemas.microsoft.com/office/drawing/2014/main" id="{CF94246A-8E16-4D58-A95E-3BEAD487E784}"/>
              </a:ext>
            </a:extLst>
          </p:cNvPr>
          <p:cNvSpPr>
            <a:spLocks xmlns:a="http://schemas.openxmlformats.org/drawingml/2006/main" noGrp="1"/>
          </p:cNvSpPr>
          <p:nvPr/>
        </p:nvSpPr>
        <p:spPr>
          <a:xfrm xmlns:a="http://schemas.openxmlformats.org/drawingml/2006/main">
            <a:off x="685800" y="6350000"/>
            <a:ext cx="10820400" cy="12700"/>
          </a:xfrm>
          <a:prstGeom xmlns:a="http://schemas.openxmlformats.org/drawingml/2006/main" prst="roundRect">
            <a:avLst>
              <a:gd name="adj" fmla="val 0"/>
            </a:avLst>
          </a:prstGeom>
          <a:solidFill xmlns:a="http://schemas.openxmlformats.org/drawingml/2006/main">
            <a:srgbClr val="D8D0C2">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9" name="AutoShape 19">
            <a:extLst xmlns:a="http://schemas.openxmlformats.org/drawingml/2006/main">
              <a:ext uri="{FF2B5EF4-FFF2-40B4-BE49-F238E27FC236}">
                <a16:creationId xmlns:a16="http://schemas.microsoft.com/office/drawing/2014/main" id="{38087DC3-A73E-4950-BF93-A77B173FDA85}"/>
              </a:ext>
            </a:extLst>
          </p:cNvPr>
          <p:cNvSpPr>
            <a:spLocks xmlns:a="http://schemas.openxmlformats.org/drawingml/2006/main" noGrp="1"/>
          </p:cNvSpPr>
          <p:nvPr/>
        </p:nvSpPr>
        <p:spPr>
          <a:xfrm xmlns:a="http://schemas.openxmlformats.org/drawingml/2006/main">
            <a:off x="685800" y="6426200"/>
            <a:ext cx="5905500" cy="190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800" b="0" i="0" u="none">
                <a:solidFill>
                  <a:srgbClr val="7A746A"/>
                </a:solidFill>
                <a:latin typeface="Aptos"/>
                <a:ea typeface="Aptos"/>
                <a:cs typeface="Aptos"/>
              </a:rPr>
              <a:t>Source: Quantitative analysis of LoRA adapter on 5 style prompts and 22 proxy metrics.</a:t>
            </a:r>
          </a:p>
        </p:txBody>
      </p:sp>
      <p:sp>
        <p:nvSpPr>
          <p:cNvPr id="20" name="AutoShape 20">
            <a:extLst xmlns:a="http://schemas.openxmlformats.org/drawingml/2006/main">
              <a:ext uri="{FF2B5EF4-FFF2-40B4-BE49-F238E27FC236}">
                <a16:creationId xmlns:a16="http://schemas.microsoft.com/office/drawing/2014/main" id="{28AC6CEF-5AED-4ED6-855C-621FB7CA5137}"/>
              </a:ext>
            </a:extLst>
          </p:cNvPr>
          <p:cNvSpPr>
            <a:spLocks xmlns:a="http://schemas.openxmlformats.org/drawingml/2006/main" noGrp="1"/>
          </p:cNvSpPr>
          <p:nvPr/>
        </p:nvSpPr>
        <p:spPr>
          <a:xfrm xmlns:a="http://schemas.openxmlformats.org/drawingml/2006/main">
            <a:off x="8382000" y="6426200"/>
            <a:ext cx="3048000" cy="190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r">
              <a:lnSpc>
                <a:spcPct val="100000"/>
              </a:lnSpc>
              <a:buNone/>
            </a:pPr>
            <a:r>
              <a:rPr sz="800" b="0" i="0" u="none">
                <a:solidFill>
                  <a:srgbClr val="7A746A"/>
                </a:solidFill>
                <a:latin typeface="Aptos"/>
                <a:ea typeface="Aptos"/>
                <a:cs typeface="Aptos"/>
              </a:rPr>
              <a:t>7 / 8 - Proxy Results</a:t>
            </a:r>
          </a:p>
        </p:txBody>
      </p:sp>
    </p:spTree>
    <p:extLst>
      <p:ext uri="{BB962C8B-B14F-4D97-AF65-F5344CB8AC3E}">
        <p14:creationId xmlns:p14="http://schemas.microsoft.com/office/powerpoint/2010/main" val="1895260809"/>
      </p:ext>
    </p:extLst>
  </p:cSld>
</p:sld>
</file>

<file path=ppt/slides/slide8.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33634CA1-F525-41D0-83D3-A7BB879D15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oundRect">
            <a:avLst>
              <a:gd name="adj" fmla="val 0"/>
            </a:avLst>
          </a:prstGeom>
          <a:solidFill xmlns:a="http://schemas.openxmlformats.org/drawingml/2006/main">
            <a:srgbClr val="F7F4ED">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1DE5199F-9CE0-41AD-9133-E92D1BC3F6CB}"/>
              </a:ext>
            </a:extLst>
          </p:cNvPr>
          <p:cNvSpPr>
            <a:spLocks xmlns:a="http://schemas.openxmlformats.org/drawingml/2006/main" noGrp="1"/>
          </p:cNvSpPr>
          <p:nvPr/>
        </p:nvSpPr>
        <p:spPr>
          <a:xfrm xmlns:a="http://schemas.openxmlformats.org/drawingml/2006/main">
            <a:off x="685800" y="419100"/>
            <a:ext cx="266700" cy="38100"/>
          </a:xfrm>
          <a:prstGeom xmlns:a="http://schemas.openxmlformats.org/drawingml/2006/main" prst="roundRect">
            <a:avLst>
              <a:gd name="adj" fmla="val 0"/>
            </a:avLst>
          </a:prstGeom>
          <a:solidFill xmlns:a="http://schemas.openxmlformats.org/drawingml/2006/main">
            <a:srgbClr val="167C8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4" name="AutoShape 4">
            <a:extLst xmlns:a="http://schemas.openxmlformats.org/drawingml/2006/main">
              <a:ext uri="{FF2B5EF4-FFF2-40B4-BE49-F238E27FC236}">
                <a16:creationId xmlns:a16="http://schemas.microsoft.com/office/drawing/2014/main" id="{AD6F85F2-ECC5-4631-8B78-FF35B1455446}"/>
              </a:ext>
            </a:extLst>
          </p:cNvPr>
          <p:cNvSpPr>
            <a:spLocks xmlns:a="http://schemas.openxmlformats.org/drawingml/2006/main" noGrp="1"/>
          </p:cNvSpPr>
          <p:nvPr/>
        </p:nvSpPr>
        <p:spPr>
          <a:xfrm xmlns:a="http://schemas.openxmlformats.org/drawingml/2006/main">
            <a:off x="1066800" y="330200"/>
            <a:ext cx="4953000" cy="2540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r>
              <a:rPr sz="1000" b="1" i="0" u="none">
                <a:solidFill>
                  <a:srgbClr val="5E6975"/>
                </a:solidFill>
                <a:latin typeface="Aptos"/>
                <a:ea typeface="Aptos"/>
                <a:cs typeface="Aptos"/>
              </a:rPr>
              <a:t>KEY ANALYSIS</a:t>
            </a:r>
          </a:p>
        </p:txBody>
      </p:sp>
      <p:sp>
        <p:nvSpPr>
          <p:cNvPr id="5" name="AutoShape 5">
            <a:extLst xmlns:a="http://schemas.openxmlformats.org/drawingml/2006/main">
              <a:ext uri="{FF2B5EF4-FFF2-40B4-BE49-F238E27FC236}">
                <a16:creationId xmlns:a16="http://schemas.microsoft.com/office/drawing/2014/main" id="{95F36AA2-90FA-4E15-A4DD-CC1BEDEC2BBA}"/>
              </a:ext>
            </a:extLst>
          </p:cNvPr>
          <p:cNvSpPr>
            <a:spLocks xmlns:a="http://schemas.openxmlformats.org/drawingml/2006/main" noGrp="1"/>
          </p:cNvSpPr>
          <p:nvPr/>
        </p:nvSpPr>
        <p:spPr>
          <a:xfrm xmlns:a="http://schemas.openxmlformats.org/drawingml/2006/main">
            <a:off x="685800" y="723900"/>
            <a:ext cx="9875520" cy="713232"/>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defRPr sz="2500"/>
            </a:pPr>
            <a:r>
              <a:rPr sz="2500" b="1" i="0" u="none">
                <a:solidFill>
                  <a:srgbClr val="1E252B"/>
                </a:solidFill>
                <a:latin typeface="Play"/>
                <a:ea typeface="Play"/>
                <a:cs typeface="Play"/>
              </a:rPr>
              <a:t>Interpretation: strong coarse styles, clear benchmark limits.</a:t>
            </a:r>
          </a:p>
        </p:txBody>
      </p:sp>
      <p:sp>
        <p:nvSpPr>
          <p:cNvPr id="6" name="AutoShape 6">
            <a:extLst xmlns:a="http://schemas.openxmlformats.org/drawingml/2006/main">
              <a:ext uri="{FF2B5EF4-FFF2-40B4-BE49-F238E27FC236}">
                <a16:creationId xmlns:a16="http://schemas.microsoft.com/office/drawing/2014/main" id="{657BC0CE-6FB3-4F73-98B8-0CF4AEF211BE}"/>
              </a:ext>
            </a:extLst>
          </p:cNvPr>
          <p:cNvSpPr>
            <a:spLocks xmlns:a="http://schemas.openxmlformats.org/drawingml/2006/main" noGrp="1"/>
          </p:cNvSpPr>
          <p:nvPr/>
        </p:nvSpPr>
        <p:spPr>
          <a:xfrm xmlns:a="http://schemas.openxmlformats.org/drawingml/2006/main">
            <a:off x="685800" y="1676400"/>
            <a:ext cx="3225800" cy="1892300"/>
          </a:xfrm>
          <a:prstGeom xmlns:a="http://schemas.openxmlformats.org/drawingml/2006/main" prst="roundRect">
            <a:avLst>
              <a:gd name="adj" fmla="val 0"/>
            </a:avLst>
          </a:prstGeom>
          <a:solidFill xmlns:a="http://schemas.openxmlformats.org/drawingml/2006/main">
            <a:srgbClr val="DDEBDD">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7" name="AutoShape 7">
            <a:extLst xmlns:a="http://schemas.openxmlformats.org/drawingml/2006/main">
              <a:ext uri="{FF2B5EF4-FFF2-40B4-BE49-F238E27FC236}">
                <a16:creationId xmlns:a16="http://schemas.microsoft.com/office/drawing/2014/main" id="{54BED9C0-1D2E-4585-8E3B-27148294B898}"/>
              </a:ext>
            </a:extLst>
          </p:cNvPr>
          <p:cNvSpPr>
            <a:spLocks xmlns:a="http://schemas.openxmlformats.org/drawingml/2006/main" noGrp="1"/>
          </p:cNvSpPr>
          <p:nvPr/>
        </p:nvSpPr>
        <p:spPr>
          <a:xfrm xmlns:a="http://schemas.openxmlformats.org/drawingml/2006/main">
            <a:off x="914400" y="1905000"/>
            <a:ext cx="2781300" cy="3683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900" b="1" i="0" u="none">
                <a:solidFill>
                  <a:srgbClr val="167C80"/>
                </a:solidFill>
                <a:latin typeface="Play"/>
                <a:ea typeface="Play"/>
                <a:cs typeface="Play"/>
              </a:rPr>
              <a:t>What is solid</a:t>
            </a:r>
          </a:p>
        </p:txBody>
      </p:sp>
      <p:sp>
        <p:nvSpPr>
          <p:cNvPr id="8" name="AutoShape 8">
            <a:extLst xmlns:a="http://schemas.openxmlformats.org/drawingml/2006/main">
              <a:ext uri="{FF2B5EF4-FFF2-40B4-BE49-F238E27FC236}">
                <a16:creationId xmlns:a16="http://schemas.microsoft.com/office/drawing/2014/main" id="{9A05E9E8-FC15-497C-8F2A-D224B68B5784}"/>
              </a:ext>
            </a:extLst>
          </p:cNvPr>
          <p:cNvSpPr>
            <a:spLocks xmlns:a="http://schemas.openxmlformats.org/drawingml/2006/main" noGrp="1"/>
          </p:cNvSpPr>
          <p:nvPr/>
        </p:nvSpPr>
        <p:spPr>
          <a:xfrm xmlns:a="http://schemas.openxmlformats.org/drawingml/2006/main">
            <a:off x="939800" y="2463800"/>
            <a:ext cx="88900" cy="88900"/>
          </a:xfrm>
          <a:prstGeom xmlns:a="http://schemas.openxmlformats.org/drawingml/2006/main" prst="roundRect">
            <a:avLst>
              <a:gd name="adj" fmla="val 0"/>
            </a:avLst>
          </a:prstGeom>
          <a:solidFill xmlns:a="http://schemas.openxmlformats.org/drawingml/2006/main">
            <a:srgbClr val="167C8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9" name="AutoShape 9">
            <a:extLst xmlns:a="http://schemas.openxmlformats.org/drawingml/2006/main">
              <a:ext uri="{FF2B5EF4-FFF2-40B4-BE49-F238E27FC236}">
                <a16:creationId xmlns:a16="http://schemas.microsoft.com/office/drawing/2014/main" id="{79B0D004-360E-44B6-9316-32987F3D026C}"/>
              </a:ext>
            </a:extLst>
          </p:cNvPr>
          <p:cNvSpPr>
            <a:spLocks xmlns:a="http://schemas.openxmlformats.org/drawingml/2006/main" noGrp="1"/>
          </p:cNvSpPr>
          <p:nvPr/>
        </p:nvSpPr>
        <p:spPr>
          <a:xfrm xmlns:a="http://schemas.openxmlformats.org/drawingml/2006/main">
            <a:off x="1168400" y="2387600"/>
            <a:ext cx="2425700" cy="3048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100" b="0" i="0" u="none">
                <a:solidFill>
                  <a:srgbClr val="1E252B"/>
                </a:solidFill>
                <a:latin typeface="Aptos"/>
                <a:ea typeface="Aptos"/>
                <a:cs typeface="Aptos"/>
              </a:rPr>
              <a:t>Kinematic control works for measurable physical styles (speed, smoothness).</a:t>
            </a:r>
          </a:p>
        </p:txBody>
      </p:sp>
      <p:sp>
        <p:nvSpPr>
          <p:cNvPr id="10" name="AutoShape 10">
            <a:extLst xmlns:a="http://schemas.openxmlformats.org/drawingml/2006/main">
              <a:ext uri="{FF2B5EF4-FFF2-40B4-BE49-F238E27FC236}">
                <a16:creationId xmlns:a16="http://schemas.microsoft.com/office/drawing/2014/main" id="{D65E6868-D2EF-474E-B6B8-DC90C7D03AB3}"/>
              </a:ext>
            </a:extLst>
          </p:cNvPr>
          <p:cNvSpPr>
            <a:spLocks xmlns:a="http://schemas.openxmlformats.org/drawingml/2006/main" noGrp="1"/>
          </p:cNvSpPr>
          <p:nvPr/>
        </p:nvSpPr>
        <p:spPr>
          <a:xfrm xmlns:a="http://schemas.openxmlformats.org/drawingml/2006/main">
            <a:off x="939800" y="2806700"/>
            <a:ext cx="88900" cy="88900"/>
          </a:xfrm>
          <a:prstGeom xmlns:a="http://schemas.openxmlformats.org/drawingml/2006/main" prst="roundRect">
            <a:avLst>
              <a:gd name="adj" fmla="val 0"/>
            </a:avLst>
          </a:prstGeom>
          <a:solidFill xmlns:a="http://schemas.openxmlformats.org/drawingml/2006/main">
            <a:srgbClr val="167C8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1" name="AutoShape 11">
            <a:extLst xmlns:a="http://schemas.openxmlformats.org/drawingml/2006/main">
              <a:ext uri="{FF2B5EF4-FFF2-40B4-BE49-F238E27FC236}">
                <a16:creationId xmlns:a16="http://schemas.microsoft.com/office/drawing/2014/main" id="{ECB897A8-D035-4D85-A7A0-EC3E4D1F093D}"/>
              </a:ext>
            </a:extLst>
          </p:cNvPr>
          <p:cNvSpPr>
            <a:spLocks xmlns:a="http://schemas.openxmlformats.org/drawingml/2006/main" noGrp="1"/>
          </p:cNvSpPr>
          <p:nvPr/>
        </p:nvSpPr>
        <p:spPr>
          <a:xfrm xmlns:a="http://schemas.openxmlformats.org/drawingml/2006/main">
            <a:off x="1168400" y="2730500"/>
            <a:ext cx="2425700" cy="3048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100" b="0" i="0" u="none">
                <a:solidFill>
                  <a:srgbClr val="1E252B"/>
                </a:solidFill>
                <a:latin typeface="Aptos"/>
                <a:ea typeface="Aptos"/>
                <a:cs typeface="Aptos"/>
              </a:rPr>
              <a:t>Distillation is a robust workaround for data compatibility challenges.</a:t>
            </a:r>
          </a:p>
        </p:txBody>
      </p:sp>
      <p:sp>
        <p:nvSpPr>
          <p:cNvPr id="12" name="AutoShape 12">
            <a:extLst xmlns:a="http://schemas.openxmlformats.org/drawingml/2006/main">
              <a:ext uri="{FF2B5EF4-FFF2-40B4-BE49-F238E27FC236}">
                <a16:creationId xmlns:a16="http://schemas.microsoft.com/office/drawing/2014/main" id="{83A05888-2E9D-44C7-A619-E0C05BF268A8}"/>
              </a:ext>
            </a:extLst>
          </p:cNvPr>
          <p:cNvSpPr>
            <a:spLocks xmlns:a="http://schemas.openxmlformats.org/drawingml/2006/main" noGrp="1"/>
          </p:cNvSpPr>
          <p:nvPr/>
        </p:nvSpPr>
        <p:spPr>
          <a:xfrm xmlns:a="http://schemas.openxmlformats.org/drawingml/2006/main">
            <a:off x="939800" y="3149600"/>
            <a:ext cx="88900" cy="88900"/>
          </a:xfrm>
          <a:prstGeom xmlns:a="http://schemas.openxmlformats.org/drawingml/2006/main" prst="roundRect">
            <a:avLst>
              <a:gd name="adj" fmla="val 0"/>
            </a:avLst>
          </a:prstGeom>
          <a:solidFill xmlns:a="http://schemas.openxmlformats.org/drawingml/2006/main">
            <a:srgbClr val="167C8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3" name="AutoShape 13">
            <a:extLst xmlns:a="http://schemas.openxmlformats.org/drawingml/2006/main">
              <a:ext uri="{FF2B5EF4-FFF2-40B4-BE49-F238E27FC236}">
                <a16:creationId xmlns:a16="http://schemas.microsoft.com/office/drawing/2014/main" id="{6E07D188-688F-4E4E-A0B1-9286E04A298B}"/>
              </a:ext>
            </a:extLst>
          </p:cNvPr>
          <p:cNvSpPr>
            <a:spLocks xmlns:a="http://schemas.openxmlformats.org/drawingml/2006/main" noGrp="1"/>
          </p:cNvSpPr>
          <p:nvPr/>
        </p:nvSpPr>
        <p:spPr>
          <a:xfrm xmlns:a="http://schemas.openxmlformats.org/drawingml/2006/main">
            <a:off x="1168400" y="3073400"/>
            <a:ext cx="2425700" cy="3048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100" b="0" i="0" u="none">
                <a:solidFill>
                  <a:srgbClr val="1E252B"/>
                </a:solidFill>
                <a:latin typeface="Aptos"/>
                <a:ea typeface="Aptos"/>
                <a:cs typeface="Aptos"/>
              </a:rPr>
              <a:t>Model consistently moves toward intended style per proxy measurements.</a:t>
            </a:r>
          </a:p>
        </p:txBody>
      </p:sp>
      <p:sp>
        <p:nvSpPr>
          <p:cNvPr id="14" name="AutoShape 14">
            <a:extLst xmlns:a="http://schemas.openxmlformats.org/drawingml/2006/main">
              <a:ext uri="{FF2B5EF4-FFF2-40B4-BE49-F238E27FC236}">
                <a16:creationId xmlns:a16="http://schemas.microsoft.com/office/drawing/2014/main" id="{596AC3B1-F68B-4550-A22F-91CF8EA4D8D3}"/>
              </a:ext>
            </a:extLst>
          </p:cNvPr>
          <p:cNvSpPr>
            <a:spLocks xmlns:a="http://schemas.openxmlformats.org/drawingml/2006/main" noGrp="1"/>
          </p:cNvSpPr>
          <p:nvPr/>
        </p:nvSpPr>
        <p:spPr>
          <a:xfrm xmlns:a="http://schemas.openxmlformats.org/drawingml/2006/main">
            <a:off x="685800" y="3835400"/>
            <a:ext cx="3225800" cy="1562100"/>
          </a:xfrm>
          <a:prstGeom xmlns:a="http://schemas.openxmlformats.org/drawingml/2006/main" prst="roundRect">
            <a:avLst>
              <a:gd name="adj" fmla="val 0"/>
            </a:avLst>
          </a:prstGeom>
          <a:solidFill xmlns:a="http://schemas.openxmlformats.org/drawingml/2006/main">
            <a:srgbClr val="F3E0D5">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5" name="AutoShape 15">
            <a:extLst xmlns:a="http://schemas.openxmlformats.org/drawingml/2006/main">
              <a:ext uri="{FF2B5EF4-FFF2-40B4-BE49-F238E27FC236}">
                <a16:creationId xmlns:a16="http://schemas.microsoft.com/office/drawing/2014/main" id="{A3053F5E-5BD2-4500-A3EE-E6A47F22D7E0}"/>
              </a:ext>
            </a:extLst>
          </p:cNvPr>
          <p:cNvSpPr>
            <a:spLocks xmlns:a="http://schemas.openxmlformats.org/drawingml/2006/main" noGrp="1"/>
          </p:cNvSpPr>
          <p:nvPr/>
        </p:nvSpPr>
        <p:spPr>
          <a:xfrm xmlns:a="http://schemas.openxmlformats.org/drawingml/2006/main">
            <a:off x="914400" y="4038600"/>
            <a:ext cx="2781300" cy="3302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800" b="1" i="0" u="none">
                <a:solidFill>
                  <a:srgbClr val="B15A35"/>
                </a:solidFill>
                <a:latin typeface="Play"/>
                <a:ea typeface="Play"/>
                <a:cs typeface="Play"/>
              </a:rPr>
              <a:t>What remains limited</a:t>
            </a:r>
          </a:p>
        </p:txBody>
      </p:sp>
      <p:sp>
        <p:nvSpPr>
          <p:cNvPr id="16" name="AutoShape 16">
            <a:extLst xmlns:a="http://schemas.openxmlformats.org/drawingml/2006/main">
              <a:ext uri="{FF2B5EF4-FFF2-40B4-BE49-F238E27FC236}">
                <a16:creationId xmlns:a16="http://schemas.microsoft.com/office/drawing/2014/main" id="{A1EFE8F5-E593-42D3-A59C-4F2EE1C52361}"/>
              </a:ext>
            </a:extLst>
          </p:cNvPr>
          <p:cNvSpPr>
            <a:spLocks xmlns:a="http://schemas.openxmlformats.org/drawingml/2006/main" noGrp="1"/>
          </p:cNvSpPr>
          <p:nvPr/>
        </p:nvSpPr>
        <p:spPr>
          <a:xfrm xmlns:a="http://schemas.openxmlformats.org/drawingml/2006/main">
            <a:off x="939800" y="4584700"/>
            <a:ext cx="88900" cy="88900"/>
          </a:xfrm>
          <a:prstGeom xmlns:a="http://schemas.openxmlformats.org/drawingml/2006/main" prst="roundRect">
            <a:avLst>
              <a:gd name="adj" fmla="val 0"/>
            </a:avLst>
          </a:prstGeom>
          <a:solidFill xmlns:a="http://schemas.openxmlformats.org/drawingml/2006/main">
            <a:srgbClr val="B15A35">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7" name="AutoShape 17">
            <a:extLst xmlns:a="http://schemas.openxmlformats.org/drawingml/2006/main">
              <a:ext uri="{FF2B5EF4-FFF2-40B4-BE49-F238E27FC236}">
                <a16:creationId xmlns:a16="http://schemas.microsoft.com/office/drawing/2014/main" id="{87C83A7A-57D8-4876-8AD9-0326C5B51174}"/>
              </a:ext>
            </a:extLst>
          </p:cNvPr>
          <p:cNvSpPr>
            <a:spLocks xmlns:a="http://schemas.openxmlformats.org/drawingml/2006/main" noGrp="1"/>
          </p:cNvSpPr>
          <p:nvPr/>
        </p:nvSpPr>
        <p:spPr>
          <a:xfrm xmlns:a="http://schemas.openxmlformats.org/drawingml/2006/main">
            <a:off x="1168400" y="4368800"/>
            <a:ext cx="2425700" cy="2540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100" b="0" i="0" u="none">
                <a:solidFill>
                  <a:srgbClr val="1E252B"/>
                </a:solidFill>
                <a:latin typeface="Aptos"/>
                <a:ea typeface="Aptos"/>
                <a:cs typeface="Aptos"/>
              </a:rPr>
              <a:t>No direct token labels force distillation over supervised learning.</a:t>
            </a:r>
          </a:p>
        </p:txBody>
      </p:sp>
      <p:sp>
        <p:nvSpPr>
          <p:cNvPr id="18" name="AutoShape 18">
            <a:extLst xmlns:a="http://schemas.openxmlformats.org/drawingml/2006/main">
              <a:ext uri="{FF2B5EF4-FFF2-40B4-BE49-F238E27FC236}">
                <a16:creationId xmlns:a16="http://schemas.microsoft.com/office/drawing/2014/main" id="{A33AB6E1-8C88-4EB5-B11E-DBAF2404164B}"/>
              </a:ext>
            </a:extLst>
          </p:cNvPr>
          <p:cNvSpPr>
            <a:spLocks xmlns:a="http://schemas.openxmlformats.org/drawingml/2006/main" noGrp="1"/>
          </p:cNvSpPr>
          <p:nvPr/>
        </p:nvSpPr>
        <p:spPr>
          <a:xfrm xmlns:a="http://schemas.openxmlformats.org/drawingml/2006/main">
            <a:off x="939800" y="4864100"/>
            <a:ext cx="88900" cy="88900"/>
          </a:xfrm>
          <a:prstGeom xmlns:a="http://schemas.openxmlformats.org/drawingml/2006/main" prst="roundRect">
            <a:avLst>
              <a:gd name="adj" fmla="val 0"/>
            </a:avLst>
          </a:prstGeom>
          <a:solidFill xmlns:a="http://schemas.openxmlformats.org/drawingml/2006/main">
            <a:srgbClr val="B15A35">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9" name="AutoShape 19">
            <a:extLst xmlns:a="http://schemas.openxmlformats.org/drawingml/2006/main">
              <a:ext uri="{FF2B5EF4-FFF2-40B4-BE49-F238E27FC236}">
                <a16:creationId xmlns:a16="http://schemas.microsoft.com/office/drawing/2014/main" id="{C8781577-D33B-475D-9584-7CC02EDB17A4}"/>
              </a:ext>
            </a:extLst>
          </p:cNvPr>
          <p:cNvSpPr>
            <a:spLocks xmlns:a="http://schemas.openxmlformats.org/drawingml/2006/main" noGrp="1"/>
          </p:cNvSpPr>
          <p:nvPr/>
        </p:nvSpPr>
        <p:spPr>
          <a:xfrm xmlns:a="http://schemas.openxmlformats.org/drawingml/2006/main">
            <a:off x="1168400" y="4699000"/>
            <a:ext cx="2425700" cy="2540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100" b="0" i="0" u="none">
                <a:solidFill>
                  <a:srgbClr val="1E252B"/>
                </a:solidFill>
                <a:latin typeface="Aptos"/>
                <a:ea typeface="Aptos"/>
                <a:cs typeface="Aptos"/>
              </a:rPr>
              <a:t>Cannot compute official FID/R-Precision due to evaluator limits.</a:t>
            </a:r>
          </a:p>
        </p:txBody>
      </p:sp>
      <p:sp>
        <p:nvSpPr>
          <p:cNvPr id="20" name="AutoShape 20">
            <a:extLst xmlns:a="http://schemas.openxmlformats.org/drawingml/2006/main">
              <a:ext uri="{FF2B5EF4-FFF2-40B4-BE49-F238E27FC236}">
                <a16:creationId xmlns:a16="http://schemas.microsoft.com/office/drawing/2014/main" id="{336A0B4E-9940-4FA1-B3A7-EE05FE73AB1A}"/>
              </a:ext>
            </a:extLst>
          </p:cNvPr>
          <p:cNvSpPr>
            <a:spLocks xmlns:a="http://schemas.openxmlformats.org/drawingml/2006/main" noGrp="1"/>
          </p:cNvSpPr>
          <p:nvPr/>
        </p:nvSpPr>
        <p:spPr>
          <a:xfrm xmlns:a="http://schemas.openxmlformats.org/drawingml/2006/main">
            <a:off x="939800" y="5156200"/>
            <a:ext cx="88900" cy="88900"/>
          </a:xfrm>
          <a:prstGeom xmlns:a="http://schemas.openxmlformats.org/drawingml/2006/main" prst="roundRect">
            <a:avLst>
              <a:gd name="adj" fmla="val 0"/>
            </a:avLst>
          </a:prstGeom>
          <a:solidFill xmlns:a="http://schemas.openxmlformats.org/drawingml/2006/main">
            <a:srgbClr val="B15A35">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1" name="AutoShape 21">
            <a:extLst xmlns:a="http://schemas.openxmlformats.org/drawingml/2006/main">
              <a:ext uri="{FF2B5EF4-FFF2-40B4-BE49-F238E27FC236}">
                <a16:creationId xmlns:a16="http://schemas.microsoft.com/office/drawing/2014/main" id="{BC9DB64C-8E32-434C-B523-FCC7DA2D6806}"/>
              </a:ext>
            </a:extLst>
          </p:cNvPr>
          <p:cNvSpPr>
            <a:spLocks xmlns:a="http://schemas.openxmlformats.org/drawingml/2006/main" noGrp="1"/>
          </p:cNvSpPr>
          <p:nvPr/>
        </p:nvSpPr>
        <p:spPr>
          <a:xfrm xmlns:a="http://schemas.openxmlformats.org/drawingml/2006/main">
            <a:off x="1168400" y="5048250"/>
            <a:ext cx="2425700" cy="2540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1100" b="0" i="0" u="none">
                <a:solidFill>
                  <a:srgbClr val="1E252B"/>
                </a:solidFill>
                <a:latin typeface="Aptos"/>
                <a:ea typeface="Aptos"/>
                <a:cs typeface="Aptos"/>
              </a:rPr>
              <a:t>Model can't generate motions the teacher is incapable of producing.</a:t>
            </a:r>
          </a:p>
        </p:txBody>
      </p:sp>
      <p:sp>
        <p:nvSpPr>
          <p:cNvPr id="22" name="AutoShape 22">
            <a:extLst xmlns:a="http://schemas.openxmlformats.org/drawingml/2006/main">
              <a:ext uri="{FF2B5EF4-FFF2-40B4-BE49-F238E27FC236}">
                <a16:creationId xmlns:a16="http://schemas.microsoft.com/office/drawing/2014/main" id="{5794DEE2-6C32-426D-9DDC-5497DC4F312D}"/>
              </a:ext>
            </a:extLst>
          </p:cNvPr>
          <p:cNvSpPr>
            <a:spLocks xmlns:a="http://schemas.openxmlformats.org/drawingml/2006/main" noGrp="1"/>
          </p:cNvSpPr>
          <p:nvPr/>
        </p:nvSpPr>
        <p:spPr>
          <a:xfrm xmlns:a="http://schemas.openxmlformats.org/drawingml/2006/main">
            <a:off x="4330700" y="1676400"/>
            <a:ext cx="2616200" cy="3721100"/>
          </a:xfrm>
          <a:prstGeom xmlns:a="http://schemas.openxmlformats.org/drawingml/2006/main" prst="roundRect">
            <a:avLst>
              <a:gd name="adj" fmla="val 0"/>
            </a:avLst>
          </a:prstGeom>
          <a:solidFill xmlns:a="http://schemas.openxmlformats.org/drawingml/2006/main">
            <a:srgbClr val="2D3440">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3" name="AutoShape 23">
            <a:extLst xmlns:a="http://schemas.openxmlformats.org/drawingml/2006/main">
              <a:ext uri="{FF2B5EF4-FFF2-40B4-BE49-F238E27FC236}">
                <a16:creationId xmlns:a16="http://schemas.microsoft.com/office/drawing/2014/main" id="{E7674B65-95FF-4FDC-8DE2-2DD29C0DB396}"/>
              </a:ext>
            </a:extLst>
          </p:cNvPr>
          <p:cNvSpPr>
            <a:spLocks xmlns:a="http://schemas.openxmlformats.org/drawingml/2006/main" noGrp="1"/>
          </p:cNvSpPr>
          <p:nvPr/>
        </p:nvSpPr>
        <p:spPr>
          <a:xfrm xmlns:a="http://schemas.openxmlformats.org/drawingml/2006/main">
            <a:off x="4635500" y="2006600"/>
            <a:ext cx="2006600" cy="7112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ctr">
              <a:lnSpc>
                <a:spcPct val="100000"/>
              </a:lnSpc>
              <a:buNone/>
            </a:pPr>
            <a:r>
              <a:rPr sz="2500" b="1" i="0" u="none">
                <a:solidFill>
                  <a:srgbClr val="FFFFFF"/>
                </a:solidFill>
                <a:latin typeface="Play"/>
                <a:ea typeface="Play"/>
                <a:cs typeface="Play"/>
              </a:rPr>
              <a:t>Best next step</a:t>
            </a:r>
          </a:p>
        </p:txBody>
      </p:sp>
      <p:sp>
        <p:nvSpPr>
          <p:cNvPr id="24" name="AutoShape 24">
            <a:extLst xmlns:a="http://schemas.openxmlformats.org/drawingml/2006/main">
              <a:ext uri="{FF2B5EF4-FFF2-40B4-BE49-F238E27FC236}">
                <a16:creationId xmlns:a16="http://schemas.microsoft.com/office/drawing/2014/main" id="{3DCC6F89-D037-42B8-8208-36C8988EAFE1}"/>
              </a:ext>
            </a:extLst>
          </p:cNvPr>
          <p:cNvSpPr>
            <a:spLocks xmlns:a="http://schemas.openxmlformats.org/drawingml/2006/main" noGrp="1"/>
          </p:cNvSpPr>
          <p:nvPr/>
        </p:nvSpPr>
        <p:spPr>
          <a:xfrm xmlns:a="http://schemas.openxmlformats.org/drawingml/2006/main">
            <a:off x="4635500" y="2895600"/>
            <a:ext cx="2006600" cy="16256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76200" tIns="152400" rIns="76200" bIns="152400" anchor="ctr"/>
          <a:lstStyle xmlns:a="http://schemas.openxmlformats.org/drawingml/2006/main"/>
          <a:p xmlns:a="http://schemas.openxmlformats.org/drawingml/2006/main">
            <a:pPr marL="0" indent="0" algn="ctr">
              <a:lnSpc>
                <a:spcPct val="100000"/>
              </a:lnSpc>
              <a:buNone/>
              <a:defRPr sz="1020"/>
            </a:pPr>
            <a:r>
              <a:rPr sz="1600" b="0" i="0" u="none">
                <a:solidFill>
                  <a:srgbClr val="EEF4F5"/>
                </a:solidFill>
                <a:latin typeface="Aptos"/>
                <a:ea typeface="Aptos"/>
                <a:cs typeface="Aptos"/>
              </a:rPr>
              <a:t>Build a verified representation or evaluator bridge so style control can be measured against true motion benchmarks, not only teacher tokens and proxies.</a:t>
            </a:r>
          </a:p>
        </p:txBody>
      </p:sp>
      <p:sp>
        <p:nvSpPr>
          <p:cNvPr id="25" name="AutoShape 25">
            <a:extLst xmlns:a="http://schemas.openxmlformats.org/drawingml/2006/main">
              <a:ext uri="{FF2B5EF4-FFF2-40B4-BE49-F238E27FC236}">
                <a16:creationId xmlns:a16="http://schemas.microsoft.com/office/drawing/2014/main" id="{2DCE438B-9FA3-4C6C-A95D-FB7E8098E10C}"/>
              </a:ext>
            </a:extLst>
          </p:cNvPr>
          <p:cNvSpPr>
            <a:spLocks xmlns:a="http://schemas.openxmlformats.org/drawingml/2006/main" noGrp="1"/>
          </p:cNvSpPr>
          <p:nvPr/>
        </p:nvSpPr>
        <p:spPr>
          <a:xfrm xmlns:a="http://schemas.openxmlformats.org/drawingml/2006/main">
            <a:off x="7340600" y="1676400"/>
            <a:ext cx="3721100" cy="3721100"/>
          </a:xfrm>
          <a:prstGeom xmlns:a="http://schemas.openxmlformats.org/drawingml/2006/main" prst="roundRect">
            <a:avLst>
              <a:gd name="adj" fmla="val 0"/>
            </a:avLst>
          </a:prstGeom>
          <a:solidFill xmlns:a="http://schemas.openxmlformats.org/drawingml/2006/main">
            <a:srgbClr val="FFFFFF">
              <a:alpha val="100000"/>
            </a:srgbClr>
          </a:solidFill>
          <a:ln xmlns:a="http://schemas.openxmlformats.org/drawingml/2006/main" w="12700" cmpd="sng">
            <a:solidFill>
              <a:srgbClr val="D6CEC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56" name="Picture 26"/>
          <p:cNvPicPr>
            <a:picLocks xmlns:a="http://schemas.openxmlformats.org/drawingml/2006/main" noChangeAspect="1"/>
          </p:cNvPicPr>
          <p:nvPr/>
        </p:nvPicPr>
        <p:blipFill>
          <a:blip xmlns:r="http://schemas.openxmlformats.org/officeDocument/2006/relationships" xmlns:a="http://schemas.openxmlformats.org/drawingml/2006/main" r:embed="Rd05fddb5c5a049cb"/>
          <a:srcRect xmlns:a="http://schemas.openxmlformats.org/drawingml/2006/main" l="28364" t="0" r="28364" b="0"/>
          <a:stretch xmlns:a="http://schemas.openxmlformats.org/drawingml/2006/main">
            <a:fillRect l="0" t="0" r="0" b="0"/>
          </a:stretch>
        </p:blipFill>
        <p:spPr>
          <a:xfrm xmlns:a="http://schemas.openxmlformats.org/drawingml/2006/main">
            <a:off x="7340600" y="1676400"/>
            <a:ext cx="3721100" cy="3340100"/>
          </a:xfrm>
          <a:prstGeom xmlns:a="http://schemas.openxmlformats.org/drawingml/2006/main" prst="rect">
            <a:avLst/>
          </a:prstGeom>
          <a:ln xmlns:a="http://schemas.openxmlformats.org/drawingml/2006/main" w="25400" cap="flat" cmpd="sng">
            <a:noFill/>
            <a:prstDash val="solid"/>
            <a:round/>
          </a:ln>
        </p:spPr>
      </p:pic>
      <p:sp>
        <p:nvSpPr>
          <p:cNvPr id="27" name="AutoShape 27">
            <a:extLst xmlns:a="http://schemas.openxmlformats.org/drawingml/2006/main">
              <a:ext uri="{FF2B5EF4-FFF2-40B4-BE49-F238E27FC236}">
                <a16:creationId xmlns:a16="http://schemas.microsoft.com/office/drawing/2014/main" id="{3259846A-3D62-441E-ABFA-CF1FA95731E3}"/>
              </a:ext>
            </a:extLst>
          </p:cNvPr>
          <p:cNvSpPr>
            <a:spLocks xmlns:a="http://schemas.openxmlformats.org/drawingml/2006/main" noGrp="1"/>
          </p:cNvSpPr>
          <p:nvPr/>
        </p:nvSpPr>
        <p:spPr>
          <a:xfrm xmlns:a="http://schemas.openxmlformats.org/drawingml/2006/main">
            <a:off x="7620000" y="5016500"/>
            <a:ext cx="3149600" cy="2286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ctr">
              <a:lnSpc>
                <a:spcPct val="100000"/>
              </a:lnSpc>
              <a:buNone/>
              <a:defRPr sz="950"/>
            </a:pPr>
            <a:r>
              <a:rPr sz="950" b="0" i="0" u="none">
                <a:solidFill>
                  <a:srgbClr val="5E6975"/>
                </a:solidFill>
                <a:latin typeface="Aptos"/>
                <a:ea typeface="Aptos"/>
                <a:cs typeface="Aptos"/>
              </a:rPr>
              <a:t>Heatmap: expected-direction proxy changes; blank cells are unused checks.</a:t>
            </a:r>
          </a:p>
        </p:txBody>
      </p:sp>
      <p:sp>
        <p:nvSpPr>
          <p:cNvPr id="28" name="AutoShape 28">
            <a:extLst xmlns:a="http://schemas.openxmlformats.org/drawingml/2006/main">
              <a:ext uri="{FF2B5EF4-FFF2-40B4-BE49-F238E27FC236}">
                <a16:creationId xmlns:a16="http://schemas.microsoft.com/office/drawing/2014/main" id="{FDC7F472-7973-40AE-B276-F43C3F0A6337}"/>
              </a:ext>
            </a:extLst>
          </p:cNvPr>
          <p:cNvSpPr>
            <a:spLocks xmlns:a="http://schemas.openxmlformats.org/drawingml/2006/main" noGrp="1"/>
          </p:cNvSpPr>
          <p:nvPr/>
        </p:nvSpPr>
        <p:spPr>
          <a:xfrm xmlns:a="http://schemas.openxmlformats.org/drawingml/2006/main">
            <a:off x="685800" y="6350000"/>
            <a:ext cx="10820400" cy="12700"/>
          </a:xfrm>
          <a:prstGeom xmlns:a="http://schemas.openxmlformats.org/drawingml/2006/main" prst="roundRect">
            <a:avLst>
              <a:gd name="adj" fmla="val 0"/>
            </a:avLst>
          </a:prstGeom>
          <a:solidFill xmlns:a="http://schemas.openxmlformats.org/drawingml/2006/main">
            <a:srgbClr val="D8D0C2">
              <a:alpha val="100000"/>
            </a:srgbClr>
          </a:solidFill>
          <a:ln xmlns:a="http://schemas.openxmlformats.org/drawingml/2006/main" w="12700" cmpd="sng">
            <a:solidFill>
              <a:srgbClr val="000000">
                <a:alpha val="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9" name="AutoShape 29">
            <a:extLst xmlns:a="http://schemas.openxmlformats.org/drawingml/2006/main">
              <a:ext uri="{FF2B5EF4-FFF2-40B4-BE49-F238E27FC236}">
                <a16:creationId xmlns:a16="http://schemas.microsoft.com/office/drawing/2014/main" id="{F726D0EA-E5F3-4EB4-832D-B3628B092F29}"/>
              </a:ext>
            </a:extLst>
          </p:cNvPr>
          <p:cNvSpPr>
            <a:spLocks xmlns:a="http://schemas.openxmlformats.org/drawingml/2006/main" noGrp="1"/>
          </p:cNvSpPr>
          <p:nvPr/>
        </p:nvSpPr>
        <p:spPr>
          <a:xfrm xmlns:a="http://schemas.openxmlformats.org/drawingml/2006/main">
            <a:off x="685800" y="6426200"/>
            <a:ext cx="5905500" cy="190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l">
              <a:lnSpc>
                <a:spcPct val="100000"/>
              </a:lnSpc>
              <a:buNone/>
            </a:pPr>
            <a:r>
              <a:rPr sz="800" b="0" i="0" u="none">
                <a:solidFill>
                  <a:srgbClr val="7A746A"/>
                </a:solidFill>
                <a:latin typeface="Aptos"/>
                <a:ea typeface="Aptos"/>
                <a:cs typeface="Aptos"/>
              </a:rPr>
              <a:t>Source: Model Evaluation Data; Proxy Metric Analysis; Research Limitations Review</a:t>
            </a:r>
          </a:p>
        </p:txBody>
      </p:sp>
      <p:sp>
        <p:nvSpPr>
          <p:cNvPr id="30" name="AutoShape 30">
            <a:extLst xmlns:a="http://schemas.openxmlformats.org/drawingml/2006/main">
              <a:ext uri="{FF2B5EF4-FFF2-40B4-BE49-F238E27FC236}">
                <a16:creationId xmlns:a16="http://schemas.microsoft.com/office/drawing/2014/main" id="{7985D796-FC21-4DFE-B538-C7E9B5CE030D}"/>
              </a:ext>
            </a:extLst>
          </p:cNvPr>
          <p:cNvSpPr>
            <a:spLocks xmlns:a="http://schemas.openxmlformats.org/drawingml/2006/main" noGrp="1"/>
          </p:cNvSpPr>
          <p:nvPr/>
        </p:nvSpPr>
        <p:spPr>
          <a:xfrm xmlns:a="http://schemas.openxmlformats.org/drawingml/2006/main">
            <a:off x="9626600" y="6426200"/>
            <a:ext cx="1892300" cy="190500"/>
          </a:xfrm>
          <a:prstGeom xmlns:a="http://schemas.openxmlformats.org/drawingml/2006/main" prst="roundRect">
            <a:avLst>
              <a:gd name="adj" fmla="val 0"/>
            </a:avLst>
          </a:prstGeom>
          <a:solidFill xmlns:a="http://schemas.openxmlformats.org/drawingml/2006/main">
            <a:srgbClr val="000000">
              <a:alpha val="0"/>
            </a:srgbClr>
          </a:solidFill>
          <a:ln xmlns:a="http://schemas.openxmlformats.org/drawingml/2006/main" w="12700" cmpd="sng">
            <a:solidFill>
              <a:srgbClr val="000000">
                <a:alpha val="0"/>
              </a:srgbClr>
            </a:solidFill>
            <a:prstDash val="solid"/>
          </a:ln>
        </p:spPr>
        <p:txBody>
          <a:bodyPr xmlns:a="http://schemas.openxmlformats.org/drawingml/2006/main" vert="horz" wrap="square" lIns="0" tIns="0" rIns="0" bIns="0" anchor="t"/>
          <a:lstStyle xmlns:a="http://schemas.openxmlformats.org/drawingml/2006/main"/>
          <a:p xmlns:a="http://schemas.openxmlformats.org/drawingml/2006/main">
            <a:pPr marL="0" indent="0" algn="r">
              <a:lnSpc>
                <a:spcPct val="100000"/>
              </a:lnSpc>
              <a:buNone/>
            </a:pPr>
            <a:r>
              <a:rPr sz="800" b="0" i="0" u="none">
                <a:solidFill>
                  <a:srgbClr val="7A746A"/>
                </a:solidFill>
                <a:latin typeface="Aptos"/>
                <a:ea typeface="Aptos"/>
                <a:cs typeface="Aptos"/>
              </a:rPr>
              <a:t>8 / 8 - Interpretation &amp; Next Steps</a:t>
            </a:r>
          </a:p>
        </p:txBody>
      </p:sp>
    </p:spTree>
    <p:extLst>
      <p:ext uri="{BB962C8B-B14F-4D97-AF65-F5344CB8AC3E}">
        <p14:creationId xmlns:p14="http://schemas.microsoft.com/office/powerpoint/2010/main" val="232706758"/>
      </p:ext>
    </p:extLst>
  </p:cSld>
</p:sld>
</file>

<file path=ppt/slides/slide9.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20E57A2-0D00-43ED-9814-3E4DE900D1B5}"/>
              </a:ext>
            </a:extLst>
          </p:cNvPr>
          <p:cNvSpPr>
            <a:spLocks xmlns:a="http://schemas.openxmlformats.org/drawingml/2006/main" noGrp="1"/>
          </p:cNvSpPr>
          <p:nvPr/>
        </p:nvSpPr>
        <p:spPr>
          <a:xfrm xmlns:a="http://schemas.openxmlformats.org/drawingml/2006/main">
            <a:off x="685800" y="419100"/>
            <a:ext cx="266700" cy="3810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2" name="kicker">
            <a:extLst xmlns:a="http://schemas.openxmlformats.org/drawingml/2006/main">
              <a:ext uri="{FF2B5EF4-FFF2-40B4-BE49-F238E27FC236}">
                <a16:creationId xmlns:a16="http://schemas.microsoft.com/office/drawing/2014/main" id="{1B40D2AC-DB07-43DC-B425-3D44A6358484}"/>
              </a:ext>
            </a:extLst>
          </p:cNvPr>
          <p:cNvSpPr>
            <a:spLocks xmlns:a="http://schemas.openxmlformats.org/drawingml/2006/main" noGrp="1"/>
          </p:cNvSpPr>
          <p:nvPr/>
        </p:nvSpPr>
        <p:spPr>
          <a:xfrm xmlns:a="http://schemas.openxmlformats.org/drawingml/2006/main">
            <a:off x="1066800" y="3238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4F5B63"/>
                </a:solidFill>
              </a:defRPr>
            </a:pPr>
            <a:r>
              <a:rPr sz="900" b="1">
                <a:solidFill>
                  <a:srgbClr val="4F5B63"/>
                </a:solidFill>
              </a:rPr>
              <a:t>UPDATED EVALUATION</a:t>
            </a:r>
          </a:p>
        </p:txBody>
      </p:sp>
      <p:sp>
        <p:nvSpPr>
          <p:cNvPr id="3" name="title">
            <a:extLst xmlns:a="http://schemas.openxmlformats.org/drawingml/2006/main">
              <a:ext uri="{FF2B5EF4-FFF2-40B4-BE49-F238E27FC236}">
                <a16:creationId xmlns:a16="http://schemas.microsoft.com/office/drawing/2014/main" id="{C5DCBF4B-5D9F-4DE0-8407-D02B3A5C37F7}"/>
              </a:ext>
            </a:extLst>
          </p:cNvPr>
          <p:cNvSpPr>
            <a:spLocks xmlns:a="http://schemas.openxmlformats.org/drawingml/2006/main" noGrp="1"/>
          </p:cNvSpPr>
          <p:nvPr/>
        </p:nvSpPr>
        <p:spPr>
          <a:xfrm xmlns:a="http://schemas.openxmlformats.org/drawingml/2006/main">
            <a:off x="685800" y="742950"/>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202832"/>
                </a:solidFill>
              </a:defRPr>
            </a:pPr>
            <a:r>
              <a:rPr sz="2550" b="1">
                <a:solidFill>
                  <a:srgbClr val="202832"/>
                </a:solidFill>
              </a:rPr>
              <a:t>HumanML alignment corrects the scoring target</a:t>
            </a:r>
          </a:p>
        </p:txBody>
      </p:sp>
      <p:sp>
        <p:nvSpPr>
          <p:cNvPr id="4" name="">
            <a:extLst xmlns:a="http://schemas.openxmlformats.org/drawingml/2006/main">
              <a:ext uri="{FF2B5EF4-FFF2-40B4-BE49-F238E27FC236}">
                <a16:creationId xmlns:a16="http://schemas.microsoft.com/office/drawing/2014/main" id="{68B34A41-99A3-4303-8FC9-E90B3B03159E}"/>
              </a:ext>
            </a:extLst>
          </p:cNvPr>
          <p:cNvSpPr>
            <a:spLocks xmlns:a="http://schemas.openxmlformats.org/drawingml/2006/main" noGrp="1"/>
          </p:cNvSpPr>
          <p:nvPr/>
        </p:nvSpPr>
        <p:spPr>
          <a:xfrm xmlns:a="http://schemas.openxmlformats.org/drawingml/2006/main">
            <a:off x="685800" y="6350032"/>
            <a:ext cx="10820400" cy="12668"/>
          </a:xfrm>
          <a:prstGeom xmlns:a="http://schemas.openxmlformats.org/drawingml/2006/main" prst="rect">
            <a:avLst/>
          </a:prstGeom>
          <a:solidFill xmlns:a="http://schemas.openxmlformats.org/drawingml/2006/main">
            <a:srgbClr val="CFC7BC"/>
          </a:solidFill>
          <a:ln xmlns:a="http://schemas.openxmlformats.org/drawingml/2006/main" w="0">
            <a:solidFill>
              <a:srgbClr val="CFC7BC"/>
            </a:solidFill>
            <a:prstDash val="solid"/>
          </a:ln>
        </p:spPr>
      </p:sp>
      <p:sp>
        <p:nvSpPr>
          <p:cNvPr id="5" name="source">
            <a:extLst xmlns:a="http://schemas.openxmlformats.org/drawingml/2006/main">
              <a:ext uri="{FF2B5EF4-FFF2-40B4-BE49-F238E27FC236}">
                <a16:creationId xmlns:a16="http://schemas.microsoft.com/office/drawing/2014/main" id="{33AAA863-FDDC-40E4-A7A0-DA0A2F4156DB}"/>
              </a:ext>
            </a:extLst>
          </p:cNvPr>
          <p:cNvSpPr>
            <a:spLocks xmlns:a="http://schemas.openxmlformats.org/drawingml/2006/main" noGrp="1"/>
          </p:cNvSpPr>
          <p:nvPr/>
        </p:nvSpPr>
        <p:spPr>
          <a:xfrm xmlns:a="http://schemas.openxmlformats.org/drawingml/2006/main">
            <a:off x="685800" y="6426232"/>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00">
                <a:solidFill>
                  <a:srgbClr val="6C7478"/>
                </a:solidFill>
              </a:defRPr>
            </a:pPr>
            <a:r>
              <a:rPr sz="600">
                <a:solidFill>
                  <a:srgbClr val="6C7478"/>
                </a:solidFill>
              </a:rPr>
              <a:t>Source: HumanML3D alignment rerun and MoConVQ LoRA experiments</a:t>
            </a:r>
          </a:p>
        </p:txBody>
      </p:sp>
      <p:sp>
        <p:nvSpPr>
          <p:cNvPr id="6" name="footer">
            <a:extLst xmlns:a="http://schemas.openxmlformats.org/drawingml/2006/main">
              <a:ext uri="{FF2B5EF4-FFF2-40B4-BE49-F238E27FC236}">
                <a16:creationId xmlns:a16="http://schemas.microsoft.com/office/drawing/2014/main" id="{F0272CF2-0398-4E9E-99CF-B4D219C0F7D1}"/>
              </a:ext>
            </a:extLst>
          </p:cNvPr>
          <p:cNvSpPr>
            <a:spLocks xmlns:a="http://schemas.openxmlformats.org/drawingml/2006/main" noGrp="1"/>
          </p:cNvSpPr>
          <p:nvPr/>
        </p:nvSpPr>
        <p:spPr>
          <a:xfrm xmlns:a="http://schemas.openxmlformats.org/drawingml/2006/main">
            <a:off x="9525000" y="6426232"/>
            <a:ext cx="1981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00">
                <a:solidFill>
                  <a:srgbClr val="6C7478"/>
                </a:solidFill>
              </a:defRPr>
            </a:pPr>
            <a:r>
              <a:rPr sz="600">
                <a:solidFill>
                  <a:srgbClr val="6C7478"/>
                </a:solidFill>
              </a:rPr>
              <a:t>9 / 10 - 5-Minute Thesis Report</a:t>
            </a:r>
          </a:p>
        </p:txBody>
      </p:sp>
      <p:sp>
        <p:nvSpPr>
          <p:cNvPr id="7" name="">
            <a:extLst xmlns:a="http://schemas.openxmlformats.org/drawingml/2006/main">
              <a:ext uri="{FF2B5EF4-FFF2-40B4-BE49-F238E27FC236}">
                <a16:creationId xmlns:a16="http://schemas.microsoft.com/office/drawing/2014/main" id="{06A9F7FE-FD3E-437A-B63B-8C87D1CE89DF}"/>
              </a:ext>
            </a:extLst>
          </p:cNvPr>
          <p:cNvSpPr>
            <a:spLocks xmlns:a="http://schemas.openxmlformats.org/drawingml/2006/main" noGrp="1"/>
          </p:cNvSpPr>
          <p:nvPr/>
        </p:nvSpPr>
        <p:spPr>
          <a:xfrm xmlns:a="http://schemas.openxmlformats.org/drawingml/2006/main">
            <a:off x="685800" y="1581150"/>
            <a:ext cx="10820400" cy="781050"/>
          </a:xfrm>
          <a:prstGeom xmlns:a="http://schemas.openxmlformats.org/drawingml/2006/main" prst="rect">
            <a:avLst/>
          </a:prstGeom>
          <a:solidFill xmlns:a="http://schemas.openxmlformats.org/drawingml/2006/main">
            <a:srgbClr val="29313F"/>
          </a:solidFill>
          <a:ln xmlns:a="http://schemas.openxmlformats.org/drawingml/2006/main" w="0">
            <a:solidFill>
              <a:srgbClr val="29313F"/>
            </a:solidFill>
            <a:prstDash val="solid"/>
          </a:ln>
        </p:spPr>
      </p:sp>
      <p:sp>
        <p:nvSpPr>
          <p:cNvPr id="8" name="takeaway">
            <a:extLst xmlns:a="http://schemas.openxmlformats.org/drawingml/2006/main">
              <a:ext uri="{FF2B5EF4-FFF2-40B4-BE49-F238E27FC236}">
                <a16:creationId xmlns:a16="http://schemas.microsoft.com/office/drawing/2014/main" id="{0FCBDF2E-6509-43B0-BAD3-25D2661B7417}"/>
              </a:ext>
            </a:extLst>
          </p:cNvPr>
          <p:cNvSpPr>
            <a:spLocks xmlns:a="http://schemas.openxmlformats.org/drawingml/2006/main" noGrp="1"/>
          </p:cNvSpPr>
          <p:nvPr/>
        </p:nvSpPr>
        <p:spPr>
          <a:xfrm xmlns:a="http://schemas.openxmlformats.org/drawingml/2006/main">
            <a:off x="1047750" y="17526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FFFFF"/>
                </a:solidFill>
              </a:defRPr>
            </a:pPr>
            <a:r>
              <a:rPr sz="1725" b="1">
                <a:solidFill>
                  <a:srgbClr val="FFFFFF"/>
                </a:solidFill>
              </a:rPr>
              <a:t>Old style proxy is directional; the new metric measures closeness to the paired HumanML3D motion.</a:t>
            </a:r>
          </a:p>
        </p:txBody>
      </p:sp>
      <p:sp>
        <p:nvSpPr>
          <p:cNvPr id="9" name="left-title">
            <a:extLst xmlns:a="http://schemas.openxmlformats.org/drawingml/2006/main">
              <a:ext uri="{FF2B5EF4-FFF2-40B4-BE49-F238E27FC236}">
                <a16:creationId xmlns:a16="http://schemas.microsoft.com/office/drawing/2014/main" id="{17F370A2-A08D-4823-963E-39139D203FB0}"/>
              </a:ext>
            </a:extLst>
          </p:cNvPr>
          <p:cNvSpPr>
            <a:spLocks xmlns:a="http://schemas.openxmlformats.org/drawingml/2006/main" noGrp="1"/>
          </p:cNvSpPr>
          <p:nvPr/>
        </p:nvSpPr>
        <p:spPr>
          <a:xfrm xmlns:a="http://schemas.openxmlformats.org/drawingml/2006/main">
            <a:off x="685800" y="26479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202832"/>
                </a:solidFill>
              </a:defRPr>
            </a:pPr>
            <a:r>
              <a:rPr sz="1500" b="1">
                <a:solidFill>
                  <a:srgbClr val="202832"/>
                </a:solidFill>
              </a:rPr>
              <a:t>Why the old score can mislead</a:t>
            </a:r>
          </a:p>
        </p:txBody>
      </p:sp>
      <p:sp>
        <p:nvSpPr>
          <p:cNvPr id="10" name="">
            <a:extLst xmlns:a="http://schemas.openxmlformats.org/drawingml/2006/main">
              <a:ext uri="{FF2B5EF4-FFF2-40B4-BE49-F238E27FC236}">
                <a16:creationId xmlns:a16="http://schemas.microsoft.com/office/drawing/2014/main" id="{1D498555-6711-48E3-A736-DF8020994371}"/>
              </a:ext>
            </a:extLst>
          </p:cNvPr>
          <p:cNvSpPr>
            <a:spLocks xmlns:a="http://schemas.openxmlformats.org/drawingml/2006/main" noGrp="1"/>
          </p:cNvSpPr>
          <p:nvPr/>
        </p:nvSpPr>
        <p:spPr>
          <a:xfrm xmlns:a="http://schemas.openxmlformats.org/drawingml/2006/main">
            <a:off x="723900" y="3171825"/>
            <a:ext cx="85725" cy="85725"/>
          </a:xfrm>
          <a:prstGeom xmlns:a="http://schemas.openxmlformats.org/drawingml/2006/main" prst="ellipse">
            <a:avLst/>
          </a:prstGeom>
          <a:solidFill xmlns:a="http://schemas.openxmlformats.org/drawingml/2006/main">
            <a:srgbClr val="B9673B"/>
          </a:solidFill>
          <a:ln xmlns:a="http://schemas.openxmlformats.org/drawingml/2006/main" w="0">
            <a:solidFill>
              <a:srgbClr val="B9673B"/>
            </a:solidFill>
            <a:prstDash val="solid"/>
          </a:ln>
        </p:spPr>
      </p:sp>
      <p:sp>
        <p:nvSpPr>
          <p:cNvPr id="11" name="bullet">
            <a:extLst xmlns:a="http://schemas.openxmlformats.org/drawingml/2006/main">
              <a:ext uri="{FF2B5EF4-FFF2-40B4-BE49-F238E27FC236}">
                <a16:creationId xmlns:a16="http://schemas.microsoft.com/office/drawing/2014/main" id="{D6ACACDB-F116-49FF-BDDE-A214C85FEFDC}"/>
              </a:ext>
            </a:extLst>
          </p:cNvPr>
          <p:cNvSpPr>
            <a:spLocks xmlns:a="http://schemas.openxmlformats.org/drawingml/2006/main" noGrp="1"/>
          </p:cNvSpPr>
          <p:nvPr/>
        </p:nvSpPr>
        <p:spPr>
          <a:xfrm xmlns:a="http://schemas.openxmlformats.org/drawingml/2006/main">
            <a:off x="914400" y="31051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202832"/>
                </a:solidFill>
              </a:defRPr>
            </a:pPr>
            <a:r>
              <a:rPr sz="1200">
                <a:solidFill>
                  <a:srgbClr val="202832"/>
                </a:solidFill>
              </a:rPr>
              <a:t>For a lower-is-better rule, an extreme collapse such as speed near zero can still win that proxy item.</a:t>
            </a:r>
          </a:p>
        </p:txBody>
      </p:sp>
      <p:sp>
        <p:nvSpPr>
          <p:cNvPr id="12" name="">
            <a:extLst xmlns:a="http://schemas.openxmlformats.org/drawingml/2006/main">
              <a:ext uri="{FF2B5EF4-FFF2-40B4-BE49-F238E27FC236}">
                <a16:creationId xmlns:a16="http://schemas.microsoft.com/office/drawing/2014/main" id="{622EB826-1558-44FE-80AF-2115FEA86797}"/>
              </a:ext>
            </a:extLst>
          </p:cNvPr>
          <p:cNvSpPr>
            <a:spLocks xmlns:a="http://schemas.openxmlformats.org/drawingml/2006/main" noGrp="1"/>
          </p:cNvSpPr>
          <p:nvPr/>
        </p:nvSpPr>
        <p:spPr>
          <a:xfrm xmlns:a="http://schemas.openxmlformats.org/drawingml/2006/main">
            <a:off x="723900" y="3743325"/>
            <a:ext cx="85725" cy="85725"/>
          </a:xfrm>
          <a:prstGeom xmlns:a="http://schemas.openxmlformats.org/drawingml/2006/main" prst="ellipse">
            <a:avLst/>
          </a:prstGeom>
          <a:solidFill xmlns:a="http://schemas.openxmlformats.org/drawingml/2006/main">
            <a:srgbClr val="087F7F"/>
          </a:solidFill>
          <a:ln xmlns:a="http://schemas.openxmlformats.org/drawingml/2006/main" w="0">
            <a:solidFill>
              <a:srgbClr val="087F7F"/>
            </a:solidFill>
            <a:prstDash val="solid"/>
          </a:ln>
        </p:spPr>
      </p:sp>
      <p:sp>
        <p:nvSpPr>
          <p:cNvPr id="13" name="bullet">
            <a:extLst xmlns:a="http://schemas.openxmlformats.org/drawingml/2006/main">
              <a:ext uri="{FF2B5EF4-FFF2-40B4-BE49-F238E27FC236}">
                <a16:creationId xmlns:a16="http://schemas.microsoft.com/office/drawing/2014/main" id="{0ED1EE7F-4BBA-48C8-B4CE-1554A8DAC705}"/>
              </a:ext>
            </a:extLst>
          </p:cNvPr>
          <p:cNvSpPr>
            <a:spLocks xmlns:a="http://schemas.openxmlformats.org/drawingml/2006/main" noGrp="1"/>
          </p:cNvSpPr>
          <p:nvPr/>
        </p:nvSpPr>
        <p:spPr>
          <a:xfrm xmlns:a="http://schemas.openxmlformats.org/drawingml/2006/main">
            <a:off x="914400" y="36766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202832"/>
                </a:solidFill>
              </a:defRPr>
            </a:pPr>
            <a:r>
              <a:rPr sz="1200">
                <a:solidFill>
                  <a:srgbClr val="202832"/>
                </a:solidFill>
              </a:rPr>
              <a:t>HumanML alignment instead asks whether generated motion statistics match the paired HumanML3D motion.</a:t>
            </a:r>
          </a:p>
        </p:txBody>
      </p:sp>
      <p:sp>
        <p:nvSpPr>
          <p:cNvPr id="14" name="">
            <a:extLst xmlns:a="http://schemas.openxmlformats.org/drawingml/2006/main">
              <a:ext uri="{FF2B5EF4-FFF2-40B4-BE49-F238E27FC236}">
                <a16:creationId xmlns:a16="http://schemas.microsoft.com/office/drawing/2014/main" id="{3985CB83-E7AE-4645-BC4D-3135A8E6C6B0}"/>
              </a:ext>
            </a:extLst>
          </p:cNvPr>
          <p:cNvSpPr>
            <a:spLocks xmlns:a="http://schemas.openxmlformats.org/drawingml/2006/main" noGrp="1"/>
          </p:cNvSpPr>
          <p:nvPr/>
        </p:nvSpPr>
        <p:spPr>
          <a:xfrm xmlns:a="http://schemas.openxmlformats.org/drawingml/2006/main">
            <a:off x="723900" y="4314825"/>
            <a:ext cx="85725" cy="85725"/>
          </a:xfrm>
          <a:prstGeom xmlns:a="http://schemas.openxmlformats.org/drawingml/2006/main" prst="ellipse">
            <a:avLst/>
          </a:prstGeom>
          <a:solidFill xmlns:a="http://schemas.openxmlformats.org/drawingml/2006/main">
            <a:srgbClr val="2D8BE8"/>
          </a:solidFill>
          <a:ln xmlns:a="http://schemas.openxmlformats.org/drawingml/2006/main" w="0">
            <a:solidFill>
              <a:srgbClr val="2D8BE8"/>
            </a:solidFill>
            <a:prstDash val="solid"/>
          </a:ln>
        </p:spPr>
      </p:sp>
      <p:sp>
        <p:nvSpPr>
          <p:cNvPr id="15" name="bullet">
            <a:extLst xmlns:a="http://schemas.openxmlformats.org/drawingml/2006/main">
              <a:ext uri="{FF2B5EF4-FFF2-40B4-BE49-F238E27FC236}">
                <a16:creationId xmlns:a16="http://schemas.microsoft.com/office/drawing/2014/main" id="{EFBA6EAB-78FD-4768-91CA-A37612F6FAB0}"/>
              </a:ext>
            </a:extLst>
          </p:cNvPr>
          <p:cNvSpPr>
            <a:spLocks xmlns:a="http://schemas.openxmlformats.org/drawingml/2006/main" noGrp="1"/>
          </p:cNvSpPr>
          <p:nvPr/>
        </p:nvSpPr>
        <p:spPr>
          <a:xfrm xmlns:a="http://schemas.openxmlformats.org/drawingml/2006/main">
            <a:off x="914400" y="42481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202832"/>
                </a:solidFill>
              </a:defRPr>
            </a:pPr>
            <a:r>
              <a:rPr sz="1200">
                <a:solidFill>
                  <a:srgbClr val="202832"/>
                </a:solidFill>
              </a:rPr>
              <a:t>Top-k candidate sampling improved teacher diversity, but final style proxy dropped because the targets are different.</a:t>
            </a:r>
          </a:p>
        </p:txBody>
      </p:sp>
      <p:sp>
        <p:nvSpPr>
          <p:cNvPr id="16" name="card">
            <a:extLst xmlns:a="http://schemas.openxmlformats.org/drawingml/2006/main">
              <a:ext uri="{FF2B5EF4-FFF2-40B4-BE49-F238E27FC236}">
                <a16:creationId xmlns:a16="http://schemas.microsoft.com/office/drawing/2014/main" id="{3C420EDB-16A8-48C5-93DF-BB4AAE5CC548}"/>
              </a:ext>
            </a:extLst>
          </p:cNvPr>
          <p:cNvSpPr>
            <a:spLocks xmlns:a="http://schemas.openxmlformats.org/drawingml/2006/main" noGrp="1"/>
          </p:cNvSpPr>
          <p:nvPr/>
        </p:nvSpPr>
        <p:spPr>
          <a:xfrm xmlns:a="http://schemas.openxmlformats.org/drawingml/2006/main">
            <a:off x="5810250" y="2724150"/>
            <a:ext cx="24765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7D0C5"/>
            </a:solidFill>
            <a:prstDash val="solid"/>
          </a:ln>
        </p:spPr>
      </p:sp>
      <p:sp>
        <p:nvSpPr>
          <p:cNvPr id="17" name="card-accent">
            <a:extLst xmlns:a="http://schemas.openxmlformats.org/drawingml/2006/main">
              <a:ext uri="{FF2B5EF4-FFF2-40B4-BE49-F238E27FC236}">
                <a16:creationId xmlns:a16="http://schemas.microsoft.com/office/drawing/2014/main" id="{6A9E5802-FD1E-43A2-9D18-8419712A0828}"/>
              </a:ext>
            </a:extLst>
          </p:cNvPr>
          <p:cNvSpPr>
            <a:spLocks xmlns:a="http://schemas.openxmlformats.org/drawingml/2006/main" noGrp="1"/>
          </p:cNvSpPr>
          <p:nvPr/>
        </p:nvSpPr>
        <p:spPr>
          <a:xfrm xmlns:a="http://schemas.openxmlformats.org/drawingml/2006/main">
            <a:off x="5810250" y="2724150"/>
            <a:ext cx="76200" cy="1066800"/>
          </a:xfrm>
          <a:prstGeom xmlns:a="http://schemas.openxmlformats.org/drawingml/2006/main" prst="rect">
            <a:avLst/>
          </a:prstGeom>
          <a:solidFill xmlns:a="http://schemas.openxmlformats.org/drawingml/2006/main">
            <a:srgbClr val="B9673B"/>
          </a:solidFill>
          <a:ln xmlns:a="http://schemas.openxmlformats.org/drawingml/2006/main" w="0">
            <a:solidFill>
              <a:srgbClr val="B9673B"/>
            </a:solidFill>
            <a:prstDash val="solid"/>
          </a:ln>
        </p:spPr>
      </p:sp>
      <p:sp>
        <p:nvSpPr>
          <p:cNvPr id="18" name="card-headline">
            <a:extLst xmlns:a="http://schemas.openxmlformats.org/drawingml/2006/main">
              <a:ext uri="{FF2B5EF4-FFF2-40B4-BE49-F238E27FC236}">
                <a16:creationId xmlns:a16="http://schemas.microsoft.com/office/drawing/2014/main" id="{DC5F3187-6DCA-4F47-A5B5-8D9D5A31A0BF}"/>
              </a:ext>
            </a:extLst>
          </p:cNvPr>
          <p:cNvSpPr>
            <a:spLocks xmlns:a="http://schemas.openxmlformats.org/drawingml/2006/main" noGrp="1"/>
          </p:cNvSpPr>
          <p:nvPr/>
        </p:nvSpPr>
        <p:spPr>
          <a:xfrm xmlns:a="http://schemas.openxmlformats.org/drawingml/2006/main">
            <a:off x="6038850" y="285750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B9673B"/>
                </a:solidFill>
              </a:defRPr>
            </a:pPr>
            <a:r>
              <a:rPr sz="1800" b="1">
                <a:solidFill>
                  <a:srgbClr val="B9673B"/>
                </a:solidFill>
              </a:rPr>
              <a:t>12/22</a:t>
            </a:r>
          </a:p>
        </p:txBody>
      </p:sp>
      <p:sp>
        <p:nvSpPr>
          <p:cNvPr id="19" name="card-label">
            <a:extLst xmlns:a="http://schemas.openxmlformats.org/drawingml/2006/main">
              <a:ext uri="{FF2B5EF4-FFF2-40B4-BE49-F238E27FC236}">
                <a16:creationId xmlns:a16="http://schemas.microsoft.com/office/drawing/2014/main" id="{924717A4-D741-4A18-BBAD-E3868A888841}"/>
              </a:ext>
            </a:extLst>
          </p:cNvPr>
          <p:cNvSpPr>
            <a:spLocks xmlns:a="http://schemas.openxmlformats.org/drawingml/2006/main" noGrp="1"/>
          </p:cNvSpPr>
          <p:nvPr/>
        </p:nvSpPr>
        <p:spPr>
          <a:xfrm xmlns:a="http://schemas.openxmlformats.org/drawingml/2006/main">
            <a:off x="6038850" y="3152775"/>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202832"/>
                </a:solidFill>
              </a:defRPr>
            </a:pPr>
            <a:r>
              <a:rPr sz="900" b="1">
                <a:solidFill>
                  <a:srgbClr val="202832"/>
                </a:solidFill>
              </a:rPr>
              <a:t>Top-k style proxy</a:t>
            </a:r>
          </a:p>
        </p:txBody>
      </p:sp>
      <p:sp>
        <p:nvSpPr>
          <p:cNvPr id="20" name="card-body">
            <a:extLst xmlns:a="http://schemas.openxmlformats.org/drawingml/2006/main">
              <a:ext uri="{FF2B5EF4-FFF2-40B4-BE49-F238E27FC236}">
                <a16:creationId xmlns:a16="http://schemas.microsoft.com/office/drawing/2014/main" id="{3E02B0FC-A7C5-452F-B8E0-C526D30046C4}"/>
              </a:ext>
            </a:extLst>
          </p:cNvPr>
          <p:cNvSpPr>
            <a:spLocks xmlns:a="http://schemas.openxmlformats.org/drawingml/2006/main" noGrp="1"/>
          </p:cNvSpPr>
          <p:nvPr/>
        </p:nvSpPr>
        <p:spPr>
          <a:xfrm xmlns:a="http://schemas.openxmlformats.org/drawingml/2006/main">
            <a:off x="6038850" y="335280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4B5560"/>
                </a:solidFill>
              </a:defRPr>
            </a:pPr>
            <a:r>
              <a:rPr sz="750">
                <a:solidFill>
                  <a:srgbClr val="4B5560"/>
                </a:solidFill>
              </a:rPr>
              <a:t>54.5% directional win rate; lower than original LoRA 18/22.</a:t>
            </a:r>
          </a:p>
        </p:txBody>
      </p:sp>
      <p:sp>
        <p:nvSpPr>
          <p:cNvPr id="21" name="card">
            <a:extLst xmlns:a="http://schemas.openxmlformats.org/drawingml/2006/main">
              <a:ext uri="{FF2B5EF4-FFF2-40B4-BE49-F238E27FC236}">
                <a16:creationId xmlns:a16="http://schemas.microsoft.com/office/drawing/2014/main" id="{B01B31A3-032E-4258-953E-4B03D2993201}"/>
              </a:ext>
            </a:extLst>
          </p:cNvPr>
          <p:cNvSpPr>
            <a:spLocks xmlns:a="http://schemas.openxmlformats.org/drawingml/2006/main" noGrp="1"/>
          </p:cNvSpPr>
          <p:nvPr/>
        </p:nvSpPr>
        <p:spPr>
          <a:xfrm xmlns:a="http://schemas.openxmlformats.org/drawingml/2006/main">
            <a:off x="8572500" y="2724150"/>
            <a:ext cx="24765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7D0C5"/>
            </a:solidFill>
            <a:prstDash val="solid"/>
          </a:ln>
        </p:spPr>
      </p:sp>
      <p:sp>
        <p:nvSpPr>
          <p:cNvPr id="22" name="card-accent">
            <a:extLst xmlns:a="http://schemas.openxmlformats.org/drawingml/2006/main">
              <a:ext uri="{FF2B5EF4-FFF2-40B4-BE49-F238E27FC236}">
                <a16:creationId xmlns:a16="http://schemas.microsoft.com/office/drawing/2014/main" id="{8F160F66-6F1F-4412-97F0-75510BBEBA2D}"/>
              </a:ext>
            </a:extLst>
          </p:cNvPr>
          <p:cNvSpPr>
            <a:spLocks xmlns:a="http://schemas.openxmlformats.org/drawingml/2006/main" noGrp="1"/>
          </p:cNvSpPr>
          <p:nvPr/>
        </p:nvSpPr>
        <p:spPr>
          <a:xfrm xmlns:a="http://schemas.openxmlformats.org/drawingml/2006/main">
            <a:off x="8572500" y="2724150"/>
            <a:ext cx="76200" cy="106680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23" name="card-headline">
            <a:extLst xmlns:a="http://schemas.openxmlformats.org/drawingml/2006/main">
              <a:ext uri="{FF2B5EF4-FFF2-40B4-BE49-F238E27FC236}">
                <a16:creationId xmlns:a16="http://schemas.microsoft.com/office/drawing/2014/main" id="{44B38E93-4833-4A21-AA71-BF5D2A58E650}"/>
              </a:ext>
            </a:extLst>
          </p:cNvPr>
          <p:cNvSpPr>
            <a:spLocks xmlns:a="http://schemas.openxmlformats.org/drawingml/2006/main" noGrp="1"/>
          </p:cNvSpPr>
          <p:nvPr/>
        </p:nvSpPr>
        <p:spPr>
          <a:xfrm xmlns:a="http://schemas.openxmlformats.org/drawingml/2006/main">
            <a:off x="8801100" y="285750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87F7F"/>
                </a:solidFill>
              </a:defRPr>
            </a:pPr>
            <a:r>
              <a:rPr sz="1800" b="1">
                <a:solidFill>
                  <a:srgbClr val="087F7F"/>
                </a:solidFill>
              </a:rPr>
              <a:t>0.1477</a:t>
            </a:r>
          </a:p>
        </p:txBody>
      </p:sp>
      <p:sp>
        <p:nvSpPr>
          <p:cNvPr id="24" name="card-label">
            <a:extLst xmlns:a="http://schemas.openxmlformats.org/drawingml/2006/main">
              <a:ext uri="{FF2B5EF4-FFF2-40B4-BE49-F238E27FC236}">
                <a16:creationId xmlns:a16="http://schemas.microsoft.com/office/drawing/2014/main" id="{0DCFE14D-BE64-4572-932C-4E8F5A2195EC}"/>
              </a:ext>
            </a:extLst>
          </p:cNvPr>
          <p:cNvSpPr>
            <a:spLocks xmlns:a="http://schemas.openxmlformats.org/drawingml/2006/main" noGrp="1"/>
          </p:cNvSpPr>
          <p:nvPr/>
        </p:nvSpPr>
        <p:spPr>
          <a:xfrm xmlns:a="http://schemas.openxmlformats.org/drawingml/2006/main">
            <a:off x="8801100" y="3152775"/>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202832"/>
                </a:solidFill>
              </a:defRPr>
            </a:pPr>
            <a:r>
              <a:rPr sz="900" b="1">
                <a:solidFill>
                  <a:srgbClr val="202832"/>
                </a:solidFill>
              </a:rPr>
              <a:t>Top-k HumanML score</a:t>
            </a:r>
          </a:p>
        </p:txBody>
      </p:sp>
      <p:sp>
        <p:nvSpPr>
          <p:cNvPr id="25" name="card-body">
            <a:extLst xmlns:a="http://schemas.openxmlformats.org/drawingml/2006/main">
              <a:ext uri="{FF2B5EF4-FFF2-40B4-BE49-F238E27FC236}">
                <a16:creationId xmlns:a16="http://schemas.microsoft.com/office/drawing/2014/main" id="{631CE844-1502-4AB5-8C27-7AEE381A5D03}"/>
              </a:ext>
            </a:extLst>
          </p:cNvPr>
          <p:cNvSpPr>
            <a:spLocks xmlns:a="http://schemas.openxmlformats.org/drawingml/2006/main" noGrp="1"/>
          </p:cNvSpPr>
          <p:nvPr/>
        </p:nvSpPr>
        <p:spPr>
          <a:xfrm xmlns:a="http://schemas.openxmlformats.org/drawingml/2006/main">
            <a:off x="8801100" y="335280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4B5560"/>
                </a:solidFill>
              </a:defRPr>
            </a:pPr>
            <a:r>
              <a:rPr sz="750">
                <a:solidFill>
                  <a:srgbClr val="4B5560"/>
                </a:solidFill>
              </a:rPr>
              <a:t>Selected teacher candidates, 200 paired HumanML samples.</a:t>
            </a:r>
          </a:p>
        </p:txBody>
      </p:sp>
      <p:sp>
        <p:nvSpPr>
          <p:cNvPr id="26" name="card">
            <a:extLst xmlns:a="http://schemas.openxmlformats.org/drawingml/2006/main">
              <a:ext uri="{FF2B5EF4-FFF2-40B4-BE49-F238E27FC236}">
                <a16:creationId xmlns:a16="http://schemas.microsoft.com/office/drawing/2014/main" id="{C628CCE7-9164-457E-A559-79FAC1590FE9}"/>
              </a:ext>
            </a:extLst>
          </p:cNvPr>
          <p:cNvSpPr>
            <a:spLocks xmlns:a="http://schemas.openxmlformats.org/drawingml/2006/main" noGrp="1"/>
          </p:cNvSpPr>
          <p:nvPr/>
        </p:nvSpPr>
        <p:spPr>
          <a:xfrm xmlns:a="http://schemas.openxmlformats.org/drawingml/2006/main">
            <a:off x="5810250" y="4076700"/>
            <a:ext cx="24765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7D0C5"/>
            </a:solidFill>
            <a:prstDash val="solid"/>
          </a:ln>
        </p:spPr>
      </p:sp>
      <p:sp>
        <p:nvSpPr>
          <p:cNvPr id="27" name="card-accent">
            <a:extLst xmlns:a="http://schemas.openxmlformats.org/drawingml/2006/main">
              <a:ext uri="{FF2B5EF4-FFF2-40B4-BE49-F238E27FC236}">
                <a16:creationId xmlns:a16="http://schemas.microsoft.com/office/drawing/2014/main" id="{5FFB4297-2BF7-47A1-B12E-72F8B736B32D}"/>
              </a:ext>
            </a:extLst>
          </p:cNvPr>
          <p:cNvSpPr>
            <a:spLocks xmlns:a="http://schemas.openxmlformats.org/drawingml/2006/main" noGrp="1"/>
          </p:cNvSpPr>
          <p:nvPr/>
        </p:nvSpPr>
        <p:spPr>
          <a:xfrm xmlns:a="http://schemas.openxmlformats.org/drawingml/2006/main">
            <a:off x="5810250" y="4076700"/>
            <a:ext cx="76200" cy="1066800"/>
          </a:xfrm>
          <a:prstGeom xmlns:a="http://schemas.openxmlformats.org/drawingml/2006/main" prst="rect">
            <a:avLst/>
          </a:prstGeom>
          <a:solidFill xmlns:a="http://schemas.openxmlformats.org/drawingml/2006/main">
            <a:srgbClr val="2D8BE8"/>
          </a:solidFill>
          <a:ln xmlns:a="http://schemas.openxmlformats.org/drawingml/2006/main" w="0">
            <a:solidFill>
              <a:srgbClr val="2D8BE8"/>
            </a:solidFill>
            <a:prstDash val="solid"/>
          </a:ln>
        </p:spPr>
      </p:sp>
      <p:sp>
        <p:nvSpPr>
          <p:cNvPr id="28" name="card-headline">
            <a:extLst xmlns:a="http://schemas.openxmlformats.org/drawingml/2006/main">
              <a:ext uri="{FF2B5EF4-FFF2-40B4-BE49-F238E27FC236}">
                <a16:creationId xmlns:a16="http://schemas.microsoft.com/office/drawing/2014/main" id="{FB575AE3-5D3C-42AA-B4B6-9F61ACF66833}"/>
              </a:ext>
            </a:extLst>
          </p:cNvPr>
          <p:cNvSpPr>
            <a:spLocks xmlns:a="http://schemas.openxmlformats.org/drawingml/2006/main" noGrp="1"/>
          </p:cNvSpPr>
          <p:nvPr/>
        </p:nvSpPr>
        <p:spPr>
          <a:xfrm xmlns:a="http://schemas.openxmlformats.org/drawingml/2006/main">
            <a:off x="6038850" y="42100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2D8BE8"/>
                </a:solidFill>
              </a:defRPr>
            </a:pPr>
            <a:r>
              <a:rPr sz="1800" b="1">
                <a:solidFill>
                  <a:srgbClr val="2D8BE8"/>
                </a:solidFill>
              </a:rPr>
              <a:t>86/200</a:t>
            </a:r>
          </a:p>
        </p:txBody>
      </p:sp>
      <p:sp>
        <p:nvSpPr>
          <p:cNvPr id="29" name="card-label">
            <a:extLst xmlns:a="http://schemas.openxmlformats.org/drawingml/2006/main">
              <a:ext uri="{FF2B5EF4-FFF2-40B4-BE49-F238E27FC236}">
                <a16:creationId xmlns:a16="http://schemas.microsoft.com/office/drawing/2014/main" id="{986AD6E1-AAAF-4681-A41C-F8F4C3EC1430}"/>
              </a:ext>
            </a:extLst>
          </p:cNvPr>
          <p:cNvSpPr>
            <a:spLocks xmlns:a="http://schemas.openxmlformats.org/drawingml/2006/main" noGrp="1"/>
          </p:cNvSpPr>
          <p:nvPr/>
        </p:nvSpPr>
        <p:spPr>
          <a:xfrm xmlns:a="http://schemas.openxmlformats.org/drawingml/2006/main">
            <a:off x="6038850" y="4505325"/>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202832"/>
                </a:solidFill>
              </a:defRPr>
            </a:pPr>
            <a:r>
              <a:rPr sz="900" b="1">
                <a:solidFill>
                  <a:srgbClr val="202832"/>
                </a:solidFill>
              </a:rPr>
              <a:t>Non-first candidates</a:t>
            </a:r>
          </a:p>
        </p:txBody>
      </p:sp>
      <p:sp>
        <p:nvSpPr>
          <p:cNvPr id="30" name="card-body">
            <a:extLst xmlns:a="http://schemas.openxmlformats.org/drawingml/2006/main">
              <a:ext uri="{FF2B5EF4-FFF2-40B4-BE49-F238E27FC236}">
                <a16:creationId xmlns:a16="http://schemas.microsoft.com/office/drawing/2014/main" id="{06324984-5A18-43A7-8D3B-86112E3AB13A}"/>
              </a:ext>
            </a:extLst>
          </p:cNvPr>
          <p:cNvSpPr>
            <a:spLocks xmlns:a="http://schemas.openxmlformats.org/drawingml/2006/main" noGrp="1"/>
          </p:cNvSpPr>
          <p:nvPr/>
        </p:nvSpPr>
        <p:spPr>
          <a:xfrm xmlns:a="http://schemas.openxmlformats.org/drawingml/2006/main">
            <a:off x="6038850" y="47053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4B5560"/>
                </a:solidFill>
              </a:defRPr>
            </a:pPr>
            <a:r>
              <a:rPr sz="750">
                <a:solidFill>
                  <a:srgbClr val="4B5560"/>
                </a:solidFill>
              </a:rPr>
              <a:t>Candidate indices 1/2/3 were selected after stochastic top-k sampling.</a:t>
            </a:r>
          </a:p>
        </p:txBody>
      </p:sp>
      <p:sp>
        <p:nvSpPr>
          <p:cNvPr id="31" name="card">
            <a:extLst xmlns:a="http://schemas.openxmlformats.org/drawingml/2006/main">
              <a:ext uri="{FF2B5EF4-FFF2-40B4-BE49-F238E27FC236}">
                <a16:creationId xmlns:a16="http://schemas.microsoft.com/office/drawing/2014/main" id="{637BB65F-8D6C-4749-82D5-0DBADB216880}"/>
              </a:ext>
            </a:extLst>
          </p:cNvPr>
          <p:cNvSpPr>
            <a:spLocks xmlns:a="http://schemas.openxmlformats.org/drawingml/2006/main" noGrp="1"/>
          </p:cNvSpPr>
          <p:nvPr/>
        </p:nvSpPr>
        <p:spPr>
          <a:xfrm xmlns:a="http://schemas.openxmlformats.org/drawingml/2006/main">
            <a:off x="8572500" y="4076700"/>
            <a:ext cx="24765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7D0C5"/>
            </a:solidFill>
            <a:prstDash val="solid"/>
          </a:ln>
        </p:spPr>
      </p:sp>
      <p:sp>
        <p:nvSpPr>
          <p:cNvPr id="32" name="card-accent">
            <a:extLst xmlns:a="http://schemas.openxmlformats.org/drawingml/2006/main">
              <a:ext uri="{FF2B5EF4-FFF2-40B4-BE49-F238E27FC236}">
                <a16:creationId xmlns:a16="http://schemas.microsoft.com/office/drawing/2014/main" id="{A9D61E9F-5C1D-4D95-82A5-189AFC52B6B8}"/>
              </a:ext>
            </a:extLst>
          </p:cNvPr>
          <p:cNvSpPr>
            <a:spLocks xmlns:a="http://schemas.openxmlformats.org/drawingml/2006/main" noGrp="1"/>
          </p:cNvSpPr>
          <p:nvPr/>
        </p:nvSpPr>
        <p:spPr>
          <a:xfrm xmlns:a="http://schemas.openxmlformats.org/drawingml/2006/main">
            <a:off x="8572500" y="4076700"/>
            <a:ext cx="76200" cy="106680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33" name="card-headline">
            <a:extLst xmlns:a="http://schemas.openxmlformats.org/drawingml/2006/main">
              <a:ext uri="{FF2B5EF4-FFF2-40B4-BE49-F238E27FC236}">
                <a16:creationId xmlns:a16="http://schemas.microsoft.com/office/drawing/2014/main" id="{F75FC5C3-0F34-4F77-9441-CF7948854990}"/>
              </a:ext>
            </a:extLst>
          </p:cNvPr>
          <p:cNvSpPr>
            <a:spLocks xmlns:a="http://schemas.openxmlformats.org/drawingml/2006/main" noGrp="1"/>
          </p:cNvSpPr>
          <p:nvPr/>
        </p:nvSpPr>
        <p:spPr>
          <a:xfrm xmlns:a="http://schemas.openxmlformats.org/drawingml/2006/main">
            <a:off x="8801100" y="42100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87F7F"/>
                </a:solidFill>
              </a:defRPr>
            </a:pPr>
            <a:r>
              <a:rPr sz="1800" b="1">
                <a:solidFill>
                  <a:srgbClr val="087F7F"/>
                </a:solidFill>
              </a:rPr>
              <a:t>-1.3%</a:t>
            </a:r>
          </a:p>
        </p:txBody>
      </p:sp>
      <p:sp>
        <p:nvSpPr>
          <p:cNvPr id="34" name="card-label">
            <a:extLst xmlns:a="http://schemas.openxmlformats.org/drawingml/2006/main">
              <a:ext uri="{FF2B5EF4-FFF2-40B4-BE49-F238E27FC236}">
                <a16:creationId xmlns:a16="http://schemas.microsoft.com/office/drawing/2014/main" id="{29D35A9A-7B12-483F-95AF-F9E1CB779709}"/>
              </a:ext>
            </a:extLst>
          </p:cNvPr>
          <p:cNvSpPr>
            <a:spLocks xmlns:a="http://schemas.openxmlformats.org/drawingml/2006/main" noGrp="1"/>
          </p:cNvSpPr>
          <p:nvPr/>
        </p:nvSpPr>
        <p:spPr>
          <a:xfrm xmlns:a="http://schemas.openxmlformats.org/drawingml/2006/main">
            <a:off x="8801100" y="4505325"/>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202832"/>
                </a:solidFill>
              </a:defRPr>
            </a:pPr>
            <a:r>
              <a:rPr sz="900" b="1">
                <a:solidFill>
                  <a:srgbClr val="202832"/>
                </a:solidFill>
              </a:rPr>
              <a:t>Distance reduction</a:t>
            </a:r>
          </a:p>
        </p:txBody>
      </p:sp>
      <p:sp>
        <p:nvSpPr>
          <p:cNvPr id="35" name="card-body">
            <a:extLst xmlns:a="http://schemas.openxmlformats.org/drawingml/2006/main">
              <a:ext uri="{FF2B5EF4-FFF2-40B4-BE49-F238E27FC236}">
                <a16:creationId xmlns:a16="http://schemas.microsoft.com/office/drawing/2014/main" id="{428B98FD-BBE8-4877-BCFD-FDC5805DAB2D}"/>
              </a:ext>
            </a:extLst>
          </p:cNvPr>
          <p:cNvSpPr>
            <a:spLocks xmlns:a="http://schemas.openxmlformats.org/drawingml/2006/main" noGrp="1"/>
          </p:cNvSpPr>
          <p:nvPr/>
        </p:nvSpPr>
        <p:spPr>
          <a:xfrm xmlns:a="http://schemas.openxmlformats.org/drawingml/2006/main">
            <a:off x="8801100" y="47053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4B5560"/>
                </a:solidFill>
              </a:defRPr>
            </a:pPr>
            <a:r>
              <a:rPr sz="750">
                <a:solidFill>
                  <a:srgbClr val="4B5560"/>
                </a:solidFill>
              </a:rPr>
              <a:t>1.9666 to 1.9419 vs deterministic selected teacher.</a:t>
            </a:r>
          </a:p>
        </p:txBody>
      </p:sp>
      <p:sp>
        <p:nvSpPr>
          <p:cNvPr id="36" name="bar-label">
            <a:extLst xmlns:a="http://schemas.openxmlformats.org/drawingml/2006/main">
              <a:ext uri="{FF2B5EF4-FFF2-40B4-BE49-F238E27FC236}">
                <a16:creationId xmlns:a16="http://schemas.microsoft.com/office/drawing/2014/main" id="{9BAB0165-96D3-4D5D-AD12-5C076B68D685}"/>
              </a:ext>
            </a:extLst>
          </p:cNvPr>
          <p:cNvSpPr>
            <a:spLocks xmlns:a="http://schemas.openxmlformats.org/drawingml/2006/main" noGrp="1"/>
          </p:cNvSpPr>
          <p:nvPr/>
        </p:nvSpPr>
        <p:spPr>
          <a:xfrm xmlns:a="http://schemas.openxmlformats.org/drawingml/2006/main">
            <a:off x="685800" y="5429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202832"/>
                </a:solidFill>
              </a:defRPr>
            </a:pPr>
            <a:r>
              <a:rPr sz="900" b="1">
                <a:solidFill>
                  <a:srgbClr val="202832"/>
                </a:solidFill>
              </a:rPr>
              <a:t>Original LoRA style proxy</a:t>
            </a:r>
          </a:p>
        </p:txBody>
      </p:sp>
      <p:sp>
        <p:nvSpPr>
          <p:cNvPr id="37" name="">
            <a:extLst xmlns:a="http://schemas.openxmlformats.org/drawingml/2006/main">
              <a:ext uri="{FF2B5EF4-FFF2-40B4-BE49-F238E27FC236}">
                <a16:creationId xmlns:a16="http://schemas.microsoft.com/office/drawing/2014/main" id="{FEDFB598-FC7D-4969-AD89-E0B705811268}"/>
              </a:ext>
            </a:extLst>
          </p:cNvPr>
          <p:cNvSpPr>
            <a:spLocks xmlns:a="http://schemas.openxmlformats.org/drawingml/2006/main" noGrp="1"/>
          </p:cNvSpPr>
          <p:nvPr/>
        </p:nvSpPr>
        <p:spPr>
          <a:xfrm xmlns:a="http://schemas.openxmlformats.org/drawingml/2006/main">
            <a:off x="685800" y="5695950"/>
            <a:ext cx="2476500" cy="152400"/>
          </a:xfrm>
          <a:prstGeom xmlns:a="http://schemas.openxmlformats.org/drawingml/2006/main" prst="rect">
            <a:avLst/>
          </a:prstGeom>
          <a:solidFill xmlns:a="http://schemas.openxmlformats.org/drawingml/2006/main">
            <a:srgbClr val="E8E0D6"/>
          </a:solidFill>
          <a:ln xmlns:a="http://schemas.openxmlformats.org/drawingml/2006/main" w="0">
            <a:solidFill>
              <a:srgbClr val="E8E0D6"/>
            </a:solidFill>
            <a:prstDash val="solid"/>
          </a:ln>
        </p:spPr>
      </p:sp>
      <p:sp>
        <p:nvSpPr>
          <p:cNvPr id="38" name="">
            <a:extLst xmlns:a="http://schemas.openxmlformats.org/drawingml/2006/main">
              <a:ext uri="{FF2B5EF4-FFF2-40B4-BE49-F238E27FC236}">
                <a16:creationId xmlns:a16="http://schemas.microsoft.com/office/drawing/2014/main" id="{5A0C7630-2A71-42C3-9225-6E00512E10FD}"/>
              </a:ext>
            </a:extLst>
          </p:cNvPr>
          <p:cNvSpPr>
            <a:spLocks xmlns:a="http://schemas.openxmlformats.org/drawingml/2006/main" noGrp="1"/>
          </p:cNvSpPr>
          <p:nvPr/>
        </p:nvSpPr>
        <p:spPr>
          <a:xfrm xmlns:a="http://schemas.openxmlformats.org/drawingml/2006/main">
            <a:off x="685800" y="5695950"/>
            <a:ext cx="2026227" cy="152400"/>
          </a:xfrm>
          <a:prstGeom xmlns:a="http://schemas.openxmlformats.org/drawingml/2006/main" prst="rect">
            <a:avLst/>
          </a:prstGeom>
          <a:solidFill xmlns:a="http://schemas.openxmlformats.org/drawingml/2006/main">
            <a:srgbClr val="4C78A8"/>
          </a:solidFill>
          <a:ln xmlns:a="http://schemas.openxmlformats.org/drawingml/2006/main" w="0">
            <a:solidFill>
              <a:srgbClr val="4C78A8"/>
            </a:solidFill>
            <a:prstDash val="solid"/>
          </a:ln>
        </p:spPr>
      </p:sp>
      <p:sp>
        <p:nvSpPr>
          <p:cNvPr id="39" name="bar-note">
            <a:extLst xmlns:a="http://schemas.openxmlformats.org/drawingml/2006/main">
              <a:ext uri="{FF2B5EF4-FFF2-40B4-BE49-F238E27FC236}">
                <a16:creationId xmlns:a16="http://schemas.microsoft.com/office/drawing/2014/main" id="{5E4AE50B-FE75-4477-807E-2B256412EA78}"/>
              </a:ext>
            </a:extLst>
          </p:cNvPr>
          <p:cNvSpPr>
            <a:spLocks xmlns:a="http://schemas.openxmlformats.org/drawingml/2006/main" noGrp="1"/>
          </p:cNvSpPr>
          <p:nvPr/>
        </p:nvSpPr>
        <p:spPr>
          <a:xfrm xmlns:a="http://schemas.openxmlformats.org/drawingml/2006/main">
            <a:off x="3257550" y="5648325"/>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02832"/>
                </a:solidFill>
              </a:defRPr>
            </a:pPr>
            <a:r>
              <a:rPr sz="1050" b="1">
                <a:solidFill>
                  <a:srgbClr val="202832"/>
                </a:solidFill>
              </a:rPr>
              <a:t>18/22</a:t>
            </a:r>
          </a:p>
        </p:txBody>
      </p:sp>
      <p:sp>
        <p:nvSpPr>
          <p:cNvPr id="40" name="bar-label">
            <a:extLst xmlns:a="http://schemas.openxmlformats.org/drawingml/2006/main">
              <a:ext uri="{FF2B5EF4-FFF2-40B4-BE49-F238E27FC236}">
                <a16:creationId xmlns:a16="http://schemas.microsoft.com/office/drawing/2014/main" id="{B33D3B93-1988-44C5-8382-8B0D5CACFCDA}"/>
              </a:ext>
            </a:extLst>
          </p:cNvPr>
          <p:cNvSpPr>
            <a:spLocks xmlns:a="http://schemas.openxmlformats.org/drawingml/2006/main" noGrp="1"/>
          </p:cNvSpPr>
          <p:nvPr/>
        </p:nvSpPr>
        <p:spPr>
          <a:xfrm xmlns:a="http://schemas.openxmlformats.org/drawingml/2006/main">
            <a:off x="4495800" y="5429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202832"/>
                </a:solidFill>
              </a:defRPr>
            </a:pPr>
            <a:r>
              <a:rPr sz="900" b="1">
                <a:solidFill>
                  <a:srgbClr val="202832"/>
                </a:solidFill>
              </a:rPr>
              <a:t>Deterministic selected</a:t>
            </a:r>
          </a:p>
        </p:txBody>
      </p:sp>
      <p:sp>
        <p:nvSpPr>
          <p:cNvPr id="41" name="">
            <a:extLst xmlns:a="http://schemas.openxmlformats.org/drawingml/2006/main">
              <a:ext uri="{FF2B5EF4-FFF2-40B4-BE49-F238E27FC236}">
                <a16:creationId xmlns:a16="http://schemas.microsoft.com/office/drawing/2014/main" id="{AAD1790B-CFC7-4561-95F7-AB7407F265DF}"/>
              </a:ext>
            </a:extLst>
          </p:cNvPr>
          <p:cNvSpPr>
            <a:spLocks xmlns:a="http://schemas.openxmlformats.org/drawingml/2006/main" noGrp="1"/>
          </p:cNvSpPr>
          <p:nvPr/>
        </p:nvSpPr>
        <p:spPr>
          <a:xfrm xmlns:a="http://schemas.openxmlformats.org/drawingml/2006/main">
            <a:off x="4495800" y="5695950"/>
            <a:ext cx="2476500" cy="152400"/>
          </a:xfrm>
          <a:prstGeom xmlns:a="http://schemas.openxmlformats.org/drawingml/2006/main" prst="rect">
            <a:avLst/>
          </a:prstGeom>
          <a:solidFill xmlns:a="http://schemas.openxmlformats.org/drawingml/2006/main">
            <a:srgbClr val="E8E0D6"/>
          </a:solidFill>
          <a:ln xmlns:a="http://schemas.openxmlformats.org/drawingml/2006/main" w="0">
            <a:solidFill>
              <a:srgbClr val="E8E0D6"/>
            </a:solidFill>
            <a:prstDash val="solid"/>
          </a:ln>
        </p:spPr>
      </p:sp>
      <p:sp>
        <p:nvSpPr>
          <p:cNvPr id="42" name="">
            <a:extLst xmlns:a="http://schemas.openxmlformats.org/drawingml/2006/main">
              <a:ext uri="{FF2B5EF4-FFF2-40B4-BE49-F238E27FC236}">
                <a16:creationId xmlns:a16="http://schemas.microsoft.com/office/drawing/2014/main" id="{59210635-99C8-4650-B112-559F2136080C}"/>
              </a:ext>
            </a:extLst>
          </p:cNvPr>
          <p:cNvSpPr>
            <a:spLocks xmlns:a="http://schemas.openxmlformats.org/drawingml/2006/main" noGrp="1"/>
          </p:cNvSpPr>
          <p:nvPr/>
        </p:nvSpPr>
        <p:spPr>
          <a:xfrm xmlns:a="http://schemas.openxmlformats.org/drawingml/2006/main">
            <a:off x="4495800" y="5695950"/>
            <a:ext cx="1688523" cy="152400"/>
          </a:xfrm>
          <a:prstGeom xmlns:a="http://schemas.openxmlformats.org/drawingml/2006/main" prst="rect">
            <a:avLst/>
          </a:prstGeom>
          <a:solidFill xmlns:a="http://schemas.openxmlformats.org/drawingml/2006/main">
            <a:srgbClr val="F58518"/>
          </a:solidFill>
          <a:ln xmlns:a="http://schemas.openxmlformats.org/drawingml/2006/main" w="0">
            <a:solidFill>
              <a:srgbClr val="F58518"/>
            </a:solidFill>
            <a:prstDash val="solid"/>
          </a:ln>
        </p:spPr>
      </p:sp>
      <p:sp>
        <p:nvSpPr>
          <p:cNvPr id="43" name="bar-note">
            <a:extLst xmlns:a="http://schemas.openxmlformats.org/drawingml/2006/main">
              <a:ext uri="{FF2B5EF4-FFF2-40B4-BE49-F238E27FC236}">
                <a16:creationId xmlns:a16="http://schemas.microsoft.com/office/drawing/2014/main" id="{C0319682-1A6B-47F0-854C-C318817CDF2D}"/>
              </a:ext>
            </a:extLst>
          </p:cNvPr>
          <p:cNvSpPr>
            <a:spLocks xmlns:a="http://schemas.openxmlformats.org/drawingml/2006/main" noGrp="1"/>
          </p:cNvSpPr>
          <p:nvPr/>
        </p:nvSpPr>
        <p:spPr>
          <a:xfrm xmlns:a="http://schemas.openxmlformats.org/drawingml/2006/main">
            <a:off x="7067550" y="5648325"/>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02832"/>
                </a:solidFill>
              </a:defRPr>
            </a:pPr>
            <a:r>
              <a:rPr sz="1050" b="1">
                <a:solidFill>
                  <a:srgbClr val="202832"/>
                </a:solidFill>
              </a:rPr>
              <a:t>15/22</a:t>
            </a:r>
          </a:p>
        </p:txBody>
      </p:sp>
      <p:sp>
        <p:nvSpPr>
          <p:cNvPr id="44" name="bar-label">
            <a:extLst xmlns:a="http://schemas.openxmlformats.org/drawingml/2006/main">
              <a:ext uri="{FF2B5EF4-FFF2-40B4-BE49-F238E27FC236}">
                <a16:creationId xmlns:a16="http://schemas.microsoft.com/office/drawing/2014/main" id="{D60690C0-29E3-4465-B0C4-434E82F4C7FB}"/>
              </a:ext>
            </a:extLst>
          </p:cNvPr>
          <p:cNvSpPr>
            <a:spLocks xmlns:a="http://schemas.openxmlformats.org/drawingml/2006/main" noGrp="1"/>
          </p:cNvSpPr>
          <p:nvPr/>
        </p:nvSpPr>
        <p:spPr>
          <a:xfrm xmlns:a="http://schemas.openxmlformats.org/drawingml/2006/main">
            <a:off x="8305800" y="5429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202832"/>
                </a:solidFill>
              </a:defRPr>
            </a:pPr>
            <a:r>
              <a:rPr sz="900" b="1">
                <a:solidFill>
                  <a:srgbClr val="202832"/>
                </a:solidFill>
              </a:rPr>
              <a:t>Top-k selected</a:t>
            </a:r>
          </a:p>
        </p:txBody>
      </p:sp>
      <p:sp>
        <p:nvSpPr>
          <p:cNvPr id="45" name="">
            <a:extLst xmlns:a="http://schemas.openxmlformats.org/drawingml/2006/main">
              <a:ext uri="{FF2B5EF4-FFF2-40B4-BE49-F238E27FC236}">
                <a16:creationId xmlns:a16="http://schemas.microsoft.com/office/drawing/2014/main" id="{63EEA22D-B66C-4319-AF66-007C73B0F5CB}"/>
              </a:ext>
            </a:extLst>
          </p:cNvPr>
          <p:cNvSpPr>
            <a:spLocks xmlns:a="http://schemas.openxmlformats.org/drawingml/2006/main" noGrp="1"/>
          </p:cNvSpPr>
          <p:nvPr/>
        </p:nvSpPr>
        <p:spPr>
          <a:xfrm xmlns:a="http://schemas.openxmlformats.org/drawingml/2006/main">
            <a:off x="8305800" y="5695950"/>
            <a:ext cx="2476500" cy="152400"/>
          </a:xfrm>
          <a:prstGeom xmlns:a="http://schemas.openxmlformats.org/drawingml/2006/main" prst="rect">
            <a:avLst/>
          </a:prstGeom>
          <a:solidFill xmlns:a="http://schemas.openxmlformats.org/drawingml/2006/main">
            <a:srgbClr val="E8E0D6"/>
          </a:solidFill>
          <a:ln xmlns:a="http://schemas.openxmlformats.org/drawingml/2006/main" w="0">
            <a:solidFill>
              <a:srgbClr val="E8E0D6"/>
            </a:solidFill>
            <a:prstDash val="solid"/>
          </a:ln>
        </p:spPr>
      </p:sp>
      <p:sp>
        <p:nvSpPr>
          <p:cNvPr id="46" name="">
            <a:extLst xmlns:a="http://schemas.openxmlformats.org/drawingml/2006/main">
              <a:ext uri="{FF2B5EF4-FFF2-40B4-BE49-F238E27FC236}">
                <a16:creationId xmlns:a16="http://schemas.microsoft.com/office/drawing/2014/main" id="{0C72234D-6A57-426D-993E-ABFC7292B324}"/>
              </a:ext>
            </a:extLst>
          </p:cNvPr>
          <p:cNvSpPr>
            <a:spLocks xmlns:a="http://schemas.openxmlformats.org/drawingml/2006/main" noGrp="1"/>
          </p:cNvSpPr>
          <p:nvPr/>
        </p:nvSpPr>
        <p:spPr>
          <a:xfrm xmlns:a="http://schemas.openxmlformats.org/drawingml/2006/main">
            <a:off x="8305800" y="5695950"/>
            <a:ext cx="1350818" cy="152400"/>
          </a:xfrm>
          <a:prstGeom xmlns:a="http://schemas.openxmlformats.org/drawingml/2006/main" prst="rect">
            <a:avLst/>
          </a:prstGeom>
          <a:solidFill xmlns:a="http://schemas.openxmlformats.org/drawingml/2006/main">
            <a:srgbClr val="54A24B"/>
          </a:solidFill>
          <a:ln xmlns:a="http://schemas.openxmlformats.org/drawingml/2006/main" w="0">
            <a:solidFill>
              <a:srgbClr val="54A24B"/>
            </a:solidFill>
            <a:prstDash val="solid"/>
          </a:ln>
        </p:spPr>
      </p:sp>
      <p:sp>
        <p:nvSpPr>
          <p:cNvPr id="47" name="bar-note">
            <a:extLst xmlns:a="http://schemas.openxmlformats.org/drawingml/2006/main">
              <a:ext uri="{FF2B5EF4-FFF2-40B4-BE49-F238E27FC236}">
                <a16:creationId xmlns:a16="http://schemas.microsoft.com/office/drawing/2014/main" id="{E3EE2780-3318-456E-9445-59148A0DA341}"/>
              </a:ext>
            </a:extLst>
          </p:cNvPr>
          <p:cNvSpPr>
            <a:spLocks xmlns:a="http://schemas.openxmlformats.org/drawingml/2006/main" noGrp="1"/>
          </p:cNvSpPr>
          <p:nvPr/>
        </p:nvSpPr>
        <p:spPr>
          <a:xfrm xmlns:a="http://schemas.openxmlformats.org/drawingml/2006/main">
            <a:off x="10877550" y="5648325"/>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02832"/>
                </a:solidFill>
              </a:defRPr>
            </a:pPr>
            <a:r>
              <a:rPr sz="1050" b="1">
                <a:solidFill>
                  <a:srgbClr val="202832"/>
                </a:solidFill>
              </a:rPr>
              <a:t>12/22</a:t>
            </a:r>
          </a:p>
        </p:txBody>
      </p:sp>
    </p:spTree>
    <p:extLst>
      <p:ext uri="{BB962C8B-B14F-4D97-AF65-F5344CB8AC3E}">
        <p14:creationId xmlns:p14="http://schemas.microsoft.com/office/powerpoint/2010/main" val="2044431915"/>
      </p:ext>
    </p:extLst>
  </p:cSld>
</p:sld>
</file>

<file path=ppt/slides/slide10.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109B8F0-4FAF-4282-A0E7-CDC39DB1361A}"/>
              </a:ext>
            </a:extLst>
          </p:cNvPr>
          <p:cNvSpPr>
            <a:spLocks xmlns:a="http://schemas.openxmlformats.org/drawingml/2006/main" noGrp="1"/>
          </p:cNvSpPr>
          <p:nvPr/>
        </p:nvSpPr>
        <p:spPr>
          <a:xfrm xmlns:a="http://schemas.openxmlformats.org/drawingml/2006/main">
            <a:off x="685800" y="419100"/>
            <a:ext cx="266700" cy="38100"/>
          </a:xfrm>
          <a:prstGeom xmlns:a="http://schemas.openxmlformats.org/drawingml/2006/main" prst="rect">
            <a:avLst/>
          </a:prstGeom>
          <a:solidFill xmlns:a="http://schemas.openxmlformats.org/drawingml/2006/main">
            <a:srgbClr val="087F7F"/>
          </a:solidFill>
          <a:ln xmlns:a="http://schemas.openxmlformats.org/drawingml/2006/main" w="0">
            <a:solidFill>
              <a:srgbClr val="087F7F"/>
            </a:solidFill>
            <a:prstDash val="solid"/>
          </a:ln>
        </p:spPr>
      </p:sp>
      <p:sp>
        <p:nvSpPr>
          <p:cNvPr id="2" name="kicker">
            <a:extLst xmlns:a="http://schemas.openxmlformats.org/drawingml/2006/main">
              <a:ext uri="{FF2B5EF4-FFF2-40B4-BE49-F238E27FC236}">
                <a16:creationId xmlns:a16="http://schemas.microsoft.com/office/drawing/2014/main" id="{E4E7CF03-8B29-4160-8C70-9F4C554A7CF2}"/>
              </a:ext>
            </a:extLst>
          </p:cNvPr>
          <p:cNvSpPr>
            <a:spLocks xmlns:a="http://schemas.openxmlformats.org/drawingml/2006/main" noGrp="1"/>
          </p:cNvSpPr>
          <p:nvPr/>
        </p:nvSpPr>
        <p:spPr>
          <a:xfrm xmlns:a="http://schemas.openxmlformats.org/drawingml/2006/main">
            <a:off x="1066800" y="3238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4F5B63"/>
                </a:solidFill>
              </a:defRPr>
            </a:pPr>
            <a:r>
              <a:rPr sz="900" b="1">
                <a:solidFill>
                  <a:srgbClr val="4F5B63"/>
                </a:solidFill>
              </a:rPr>
              <a:t>VISUAL CHECKPOINT</a:t>
            </a:r>
          </a:p>
        </p:txBody>
      </p:sp>
      <p:sp>
        <p:nvSpPr>
          <p:cNvPr id="3" name="title">
            <a:extLst xmlns:a="http://schemas.openxmlformats.org/drawingml/2006/main">
              <a:ext uri="{FF2B5EF4-FFF2-40B4-BE49-F238E27FC236}">
                <a16:creationId xmlns:a16="http://schemas.microsoft.com/office/drawing/2014/main" id="{F86098B8-34F7-42B5-9F92-DF895A81E3D3}"/>
              </a:ext>
            </a:extLst>
          </p:cNvPr>
          <p:cNvSpPr>
            <a:spLocks xmlns:a="http://schemas.openxmlformats.org/drawingml/2006/main" noGrp="1"/>
          </p:cNvSpPr>
          <p:nvPr/>
        </p:nvSpPr>
        <p:spPr>
          <a:xfrm xmlns:a="http://schemas.openxmlformats.org/drawingml/2006/main">
            <a:off x="685800" y="742950"/>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202832"/>
                </a:solidFill>
              </a:defRPr>
            </a:pPr>
            <a:r>
              <a:rPr sz="2550" b="1">
                <a:solidFill>
                  <a:srgbClr val="202832"/>
                </a:solidFill>
              </a:rPr>
              <a:t>Rendered outputs and rerun artifacts</a:t>
            </a:r>
          </a:p>
        </p:txBody>
      </p:sp>
      <p:sp>
        <p:nvSpPr>
          <p:cNvPr id="4" name="">
            <a:extLst xmlns:a="http://schemas.openxmlformats.org/drawingml/2006/main">
              <a:ext uri="{FF2B5EF4-FFF2-40B4-BE49-F238E27FC236}">
                <a16:creationId xmlns:a16="http://schemas.microsoft.com/office/drawing/2014/main" id="{8BAA27DA-1DD0-4DF6-A59B-AF4B956BE42C}"/>
              </a:ext>
            </a:extLst>
          </p:cNvPr>
          <p:cNvSpPr>
            <a:spLocks xmlns:a="http://schemas.openxmlformats.org/drawingml/2006/main" noGrp="1"/>
          </p:cNvSpPr>
          <p:nvPr/>
        </p:nvSpPr>
        <p:spPr>
          <a:xfrm xmlns:a="http://schemas.openxmlformats.org/drawingml/2006/main">
            <a:off x="685800" y="6350032"/>
            <a:ext cx="10820400" cy="12668"/>
          </a:xfrm>
          <a:prstGeom xmlns:a="http://schemas.openxmlformats.org/drawingml/2006/main" prst="rect">
            <a:avLst/>
          </a:prstGeom>
          <a:solidFill xmlns:a="http://schemas.openxmlformats.org/drawingml/2006/main">
            <a:srgbClr val="CFC7BC"/>
          </a:solidFill>
          <a:ln xmlns:a="http://schemas.openxmlformats.org/drawingml/2006/main" w="0">
            <a:solidFill>
              <a:srgbClr val="CFC7BC"/>
            </a:solidFill>
            <a:prstDash val="solid"/>
          </a:ln>
        </p:spPr>
      </p:sp>
      <p:sp>
        <p:nvSpPr>
          <p:cNvPr id="5" name="source">
            <a:extLst xmlns:a="http://schemas.openxmlformats.org/drawingml/2006/main">
              <a:ext uri="{FF2B5EF4-FFF2-40B4-BE49-F238E27FC236}">
                <a16:creationId xmlns:a16="http://schemas.microsoft.com/office/drawing/2014/main" id="{39B8CD3C-56D7-42DD-9682-C043FA09CD25}"/>
              </a:ext>
            </a:extLst>
          </p:cNvPr>
          <p:cNvSpPr>
            <a:spLocks xmlns:a="http://schemas.openxmlformats.org/drawingml/2006/main" noGrp="1"/>
          </p:cNvSpPr>
          <p:nvPr/>
        </p:nvSpPr>
        <p:spPr>
          <a:xfrm xmlns:a="http://schemas.openxmlformats.org/drawingml/2006/main">
            <a:off x="685800" y="6426232"/>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00">
                <a:solidFill>
                  <a:srgbClr val="6C7478"/>
                </a:solidFill>
              </a:defRPr>
            </a:pPr>
            <a:r>
              <a:rPr sz="600">
                <a:solidFill>
                  <a:srgbClr val="6C7478"/>
                </a:solidFill>
              </a:rPr>
              <a:t>Source: HumanML3D alignment rerun and MoConVQ LoRA experiments</a:t>
            </a:r>
          </a:p>
        </p:txBody>
      </p:sp>
      <p:sp>
        <p:nvSpPr>
          <p:cNvPr id="6" name="footer">
            <a:extLst xmlns:a="http://schemas.openxmlformats.org/drawingml/2006/main">
              <a:ext uri="{FF2B5EF4-FFF2-40B4-BE49-F238E27FC236}">
                <a16:creationId xmlns:a16="http://schemas.microsoft.com/office/drawing/2014/main" id="{C44EA277-85D4-48D9-922E-CB4392D99D33}"/>
              </a:ext>
            </a:extLst>
          </p:cNvPr>
          <p:cNvSpPr>
            <a:spLocks xmlns:a="http://schemas.openxmlformats.org/drawingml/2006/main" noGrp="1"/>
          </p:cNvSpPr>
          <p:nvPr/>
        </p:nvSpPr>
        <p:spPr>
          <a:xfrm xmlns:a="http://schemas.openxmlformats.org/drawingml/2006/main">
            <a:off x="9525000" y="6426232"/>
            <a:ext cx="1981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00">
                <a:solidFill>
                  <a:srgbClr val="6C7478"/>
                </a:solidFill>
              </a:defRPr>
            </a:pPr>
            <a:r>
              <a:rPr sz="600">
                <a:solidFill>
                  <a:srgbClr val="6C7478"/>
                </a:solidFill>
              </a:rPr>
              <a:t>10 / 10 - 5-Minute Thesis Report</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85676ec22f1475e"/>
          <a:stretch xmlns:a="http://schemas.openxmlformats.org/drawingml/2006/main"/>
        </p:blipFill>
        <p:spPr>
          <a:xfrm xmlns:a="http://schemas.openxmlformats.org/drawingml/2006/main">
            <a:off x="685800" y="1561115"/>
            <a:ext cx="6858000" cy="3831021"/>
          </a:xfrm>
          <a:prstGeom xmlns:a="http://schemas.openxmlformats.org/drawingml/2006/main" prst="rect">
            <a:avLst/>
          </a:prstGeom>
        </p:spPr>
      </p:pic>
      <p:sp>
        <p:nvSpPr>
          <p:cNvPr id="8" name="video-title">
            <a:extLst xmlns:a="http://schemas.openxmlformats.org/drawingml/2006/main">
              <a:ext uri="{FF2B5EF4-FFF2-40B4-BE49-F238E27FC236}">
                <a16:creationId xmlns:a16="http://schemas.microsoft.com/office/drawing/2014/main" id="{7C103E2C-BCB1-4D64-A478-56D9F90B8192}"/>
              </a:ext>
            </a:extLst>
          </p:cNvPr>
          <p:cNvSpPr>
            <a:spLocks xmlns:a="http://schemas.openxmlformats.org/drawingml/2006/main" noGrp="1"/>
          </p:cNvSpPr>
          <p:nvPr/>
        </p:nvSpPr>
        <p:spPr>
          <a:xfrm xmlns:a="http://schemas.openxmlformats.org/drawingml/2006/main">
            <a:off x="7953375" y="15049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202832"/>
                </a:solidFill>
              </a:defRPr>
            </a:pPr>
            <a:r>
              <a:rPr sz="1500" b="1">
                <a:solidFill>
                  <a:srgbClr val="202832"/>
                </a:solidFill>
              </a:rPr>
              <a:t>What to open for motion review</a:t>
            </a:r>
          </a:p>
        </p:txBody>
      </p:sp>
      <p:sp>
        <p:nvSpPr>
          <p:cNvPr id="9" name="">
            <a:extLst xmlns:a="http://schemas.openxmlformats.org/drawingml/2006/main">
              <a:ext uri="{FF2B5EF4-FFF2-40B4-BE49-F238E27FC236}">
                <a16:creationId xmlns:a16="http://schemas.microsoft.com/office/drawing/2014/main" id="{DE73E185-E933-4A81-8AD6-3651BD4C2DD2}"/>
              </a:ext>
            </a:extLst>
          </p:cNvPr>
          <p:cNvSpPr>
            <a:spLocks xmlns:a="http://schemas.openxmlformats.org/drawingml/2006/main" noGrp="1"/>
          </p:cNvSpPr>
          <p:nvPr/>
        </p:nvSpPr>
        <p:spPr>
          <a:xfrm xmlns:a="http://schemas.openxmlformats.org/drawingml/2006/main">
            <a:off x="7981950" y="2085975"/>
            <a:ext cx="85725" cy="85725"/>
          </a:xfrm>
          <a:prstGeom xmlns:a="http://schemas.openxmlformats.org/drawingml/2006/main" prst="ellipse">
            <a:avLst/>
          </a:prstGeom>
          <a:solidFill xmlns:a="http://schemas.openxmlformats.org/drawingml/2006/main">
            <a:srgbClr val="087F7F"/>
          </a:solidFill>
          <a:ln xmlns:a="http://schemas.openxmlformats.org/drawingml/2006/main" w="0">
            <a:solidFill>
              <a:srgbClr val="087F7F"/>
            </a:solidFill>
            <a:prstDash val="solid"/>
          </a:ln>
        </p:spPr>
      </p:sp>
      <p:sp>
        <p:nvSpPr>
          <p:cNvPr id="10" name="bullet">
            <a:extLst xmlns:a="http://schemas.openxmlformats.org/drawingml/2006/main">
              <a:ext uri="{FF2B5EF4-FFF2-40B4-BE49-F238E27FC236}">
                <a16:creationId xmlns:a16="http://schemas.microsoft.com/office/drawing/2014/main" id="{1E60A418-46F1-4978-8CAC-B6AB7536FAA3}"/>
              </a:ext>
            </a:extLst>
          </p:cNvPr>
          <p:cNvSpPr>
            <a:spLocks xmlns:a="http://schemas.openxmlformats.org/drawingml/2006/main" noGrp="1"/>
          </p:cNvSpPr>
          <p:nvPr/>
        </p:nvSpPr>
        <p:spPr>
          <a:xfrm xmlns:a="http://schemas.openxmlformats.org/drawingml/2006/main">
            <a:off x="8172450" y="201930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202832"/>
                </a:solidFill>
              </a:defRPr>
            </a:pPr>
            <a:r>
              <a:rPr sz="1050">
                <a:solidFill>
                  <a:srgbClr val="202832"/>
                </a:solidFill>
              </a:rPr>
              <a:t>Slow walk videos:</a:t>
            </a:r>
          </a:p>
          <a:p xmlns:a="http://schemas.openxmlformats.org/drawingml/2006/main">
            <a:pPr>
              <a:defRPr sz="1050">
                <a:solidFill>
                  <a:srgbClr val="202832"/>
                </a:solidFill>
              </a:defRPr>
            </a:pPr>
            <a:r>
              <a:rPr sz="1050">
                <a:solidFill>
                  <a:srgbClr val="202832"/>
                </a:solidFill>
              </a:rPr>
              <a:t>baseline_slow, original_lora_slow, topk_lora_slow</a:t>
            </a:r>
          </a:p>
        </p:txBody>
      </p:sp>
      <p:sp>
        <p:nvSpPr>
          <p:cNvPr id="11" name="">
            <a:extLst xmlns:a="http://schemas.openxmlformats.org/drawingml/2006/main">
              <a:ext uri="{FF2B5EF4-FFF2-40B4-BE49-F238E27FC236}">
                <a16:creationId xmlns:a16="http://schemas.microsoft.com/office/drawing/2014/main" id="{78034CF5-7756-4F23-91C2-17336FCB9E8E}"/>
              </a:ext>
            </a:extLst>
          </p:cNvPr>
          <p:cNvSpPr>
            <a:spLocks xmlns:a="http://schemas.openxmlformats.org/drawingml/2006/main" noGrp="1"/>
          </p:cNvSpPr>
          <p:nvPr/>
        </p:nvSpPr>
        <p:spPr>
          <a:xfrm xmlns:a="http://schemas.openxmlformats.org/drawingml/2006/main">
            <a:off x="7981950" y="2828925"/>
            <a:ext cx="85725" cy="85725"/>
          </a:xfrm>
          <a:prstGeom xmlns:a="http://schemas.openxmlformats.org/drawingml/2006/main" prst="ellipse">
            <a:avLst/>
          </a:prstGeom>
          <a:solidFill xmlns:a="http://schemas.openxmlformats.org/drawingml/2006/main">
            <a:srgbClr val="B9673B"/>
          </a:solidFill>
          <a:ln xmlns:a="http://schemas.openxmlformats.org/drawingml/2006/main" w="0">
            <a:solidFill>
              <a:srgbClr val="B9673B"/>
            </a:solidFill>
            <a:prstDash val="solid"/>
          </a:ln>
        </p:spPr>
      </p:sp>
      <p:sp>
        <p:nvSpPr>
          <p:cNvPr id="12" name="bullet">
            <a:extLst xmlns:a="http://schemas.openxmlformats.org/drawingml/2006/main">
              <a:ext uri="{FF2B5EF4-FFF2-40B4-BE49-F238E27FC236}">
                <a16:creationId xmlns:a16="http://schemas.microsoft.com/office/drawing/2014/main" id="{A728DD2C-6EF2-4461-9EBE-0B3D2094A096}"/>
              </a:ext>
            </a:extLst>
          </p:cNvPr>
          <p:cNvSpPr>
            <a:spLocks xmlns:a="http://schemas.openxmlformats.org/drawingml/2006/main" noGrp="1"/>
          </p:cNvSpPr>
          <p:nvPr/>
        </p:nvSpPr>
        <p:spPr>
          <a:xfrm xmlns:a="http://schemas.openxmlformats.org/drawingml/2006/main">
            <a:off x="8172450" y="281940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202832"/>
                </a:solidFill>
              </a:defRPr>
            </a:pPr>
            <a:r>
              <a:rPr sz="1050">
                <a:solidFill>
                  <a:srgbClr val="202832"/>
                </a:solidFill>
              </a:rPr>
              <a:t>Jump videos:</a:t>
            </a:r>
          </a:p>
          <a:p xmlns:a="http://schemas.openxmlformats.org/drawingml/2006/main">
            <a:pPr>
              <a:defRPr sz="1050">
                <a:solidFill>
                  <a:srgbClr val="202832"/>
                </a:solidFill>
              </a:defRPr>
            </a:pPr>
            <a:r>
              <a:rPr sz="1050">
                <a:solidFill>
                  <a:srgbClr val="202832"/>
                </a:solidFill>
              </a:rPr>
              <a:t>baseline_jump, original_lora_jump, topk_lora_jump</a:t>
            </a:r>
          </a:p>
        </p:txBody>
      </p:sp>
      <p:sp>
        <p:nvSpPr>
          <p:cNvPr id="13" name="">
            <a:extLst xmlns:a="http://schemas.openxmlformats.org/drawingml/2006/main">
              <a:ext uri="{FF2B5EF4-FFF2-40B4-BE49-F238E27FC236}">
                <a16:creationId xmlns:a16="http://schemas.microsoft.com/office/drawing/2014/main" id="{F968A179-ED77-4651-BD4E-FDB249F6D42E}"/>
              </a:ext>
            </a:extLst>
          </p:cNvPr>
          <p:cNvSpPr>
            <a:spLocks xmlns:a="http://schemas.openxmlformats.org/drawingml/2006/main" noGrp="1"/>
          </p:cNvSpPr>
          <p:nvPr/>
        </p:nvSpPr>
        <p:spPr>
          <a:xfrm xmlns:a="http://schemas.openxmlformats.org/drawingml/2006/main">
            <a:off x="7981950" y="3571875"/>
            <a:ext cx="85725" cy="85725"/>
          </a:xfrm>
          <a:prstGeom xmlns:a="http://schemas.openxmlformats.org/drawingml/2006/main" prst="ellipse">
            <a:avLst/>
          </a:prstGeom>
          <a:solidFill xmlns:a="http://schemas.openxmlformats.org/drawingml/2006/main">
            <a:srgbClr val="2D8BE8"/>
          </a:solidFill>
          <a:ln xmlns:a="http://schemas.openxmlformats.org/drawingml/2006/main" w="0">
            <a:solidFill>
              <a:srgbClr val="2D8BE8"/>
            </a:solidFill>
            <a:prstDash val="solid"/>
          </a:ln>
        </p:spPr>
      </p:sp>
      <p:sp>
        <p:nvSpPr>
          <p:cNvPr id="14" name="bullet">
            <a:extLst xmlns:a="http://schemas.openxmlformats.org/drawingml/2006/main">
              <a:ext uri="{FF2B5EF4-FFF2-40B4-BE49-F238E27FC236}">
                <a16:creationId xmlns:a16="http://schemas.microsoft.com/office/drawing/2014/main" id="{B52F4BA7-BF42-48BB-8E0F-917F3E6A8B08}"/>
              </a:ext>
            </a:extLst>
          </p:cNvPr>
          <p:cNvSpPr>
            <a:spLocks xmlns:a="http://schemas.openxmlformats.org/drawingml/2006/main" noGrp="1"/>
          </p:cNvSpPr>
          <p:nvPr/>
        </p:nvSpPr>
        <p:spPr>
          <a:xfrm xmlns:a="http://schemas.openxmlformats.org/drawingml/2006/main">
            <a:off x="8172450" y="377190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202832"/>
                </a:solidFill>
              </a:defRPr>
            </a:pPr>
            <a:r>
              <a:rPr sz="1050">
                <a:solidFill>
                  <a:srgbClr val="202832"/>
                </a:solidFill>
              </a:rPr>
              <a:t>Metric CSVs:</a:t>
            </a:r>
          </a:p>
          <a:p xmlns:a="http://schemas.openxmlformats.org/drawingml/2006/main">
            <a:pPr>
              <a:defRPr sz="1050">
                <a:solidFill>
                  <a:srgbClr val="202832"/>
                </a:solidFill>
              </a:defRPr>
            </a:pPr>
            <a:r>
              <a:rPr sz="1050">
                <a:solidFill>
                  <a:srgbClr val="202832"/>
                </a:solidFill>
              </a:rPr>
              <a:t>see outputs/humanml_alignment_* folders</a:t>
            </a:r>
          </a:p>
        </p:txBody>
      </p:sp>
      <p:sp>
        <p:nvSpPr>
          <p:cNvPr id="15" name="">
            <a:extLst xmlns:a="http://schemas.openxmlformats.org/drawingml/2006/main">
              <a:ext uri="{FF2B5EF4-FFF2-40B4-BE49-F238E27FC236}">
                <a16:creationId xmlns:a16="http://schemas.microsoft.com/office/drawing/2014/main" id="{53ADE5A2-39CF-4BE0-A45D-E45F84EC8A3E}"/>
              </a:ext>
            </a:extLst>
          </p:cNvPr>
          <p:cNvSpPr>
            <a:spLocks xmlns:a="http://schemas.openxmlformats.org/drawingml/2006/main" noGrp="1"/>
          </p:cNvSpPr>
          <p:nvPr/>
        </p:nvSpPr>
        <p:spPr>
          <a:xfrm xmlns:a="http://schemas.openxmlformats.org/drawingml/2006/main">
            <a:off x="7953375" y="4629150"/>
            <a:ext cx="3143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7D0C5"/>
            </a:solidFill>
            <a:prstDash val="solid"/>
          </a:ln>
        </p:spPr>
      </p:sp>
      <p:sp>
        <p:nvSpPr>
          <p:cNvPr id="16" name="interpretation-title">
            <a:extLst xmlns:a="http://schemas.openxmlformats.org/drawingml/2006/main">
              <a:ext uri="{FF2B5EF4-FFF2-40B4-BE49-F238E27FC236}">
                <a16:creationId xmlns:a16="http://schemas.microsoft.com/office/drawing/2014/main" id="{B5DAAA58-077E-47FA-8336-32F0EFE5043E}"/>
              </a:ext>
            </a:extLst>
          </p:cNvPr>
          <p:cNvSpPr>
            <a:spLocks xmlns:a="http://schemas.openxmlformats.org/drawingml/2006/main" noGrp="1"/>
          </p:cNvSpPr>
          <p:nvPr/>
        </p:nvSpPr>
        <p:spPr>
          <a:xfrm xmlns:a="http://schemas.openxmlformats.org/drawingml/2006/main">
            <a:off x="8172450" y="47625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202832"/>
                </a:solidFill>
              </a:defRPr>
            </a:pPr>
            <a:r>
              <a:rPr sz="1050" b="1">
                <a:solidFill>
                  <a:srgbClr val="202832"/>
                </a:solidFill>
              </a:rPr>
              <a:t>Interpretation</a:t>
            </a:r>
          </a:p>
        </p:txBody>
      </p:sp>
      <p:sp>
        <p:nvSpPr>
          <p:cNvPr id="17" name="interpretation-body">
            <a:extLst xmlns:a="http://schemas.openxmlformats.org/drawingml/2006/main">
              <a:ext uri="{FF2B5EF4-FFF2-40B4-BE49-F238E27FC236}">
                <a16:creationId xmlns:a16="http://schemas.microsoft.com/office/drawing/2014/main" id="{C8DE553A-98D9-44D5-A120-845922251391}"/>
              </a:ext>
            </a:extLst>
          </p:cNvPr>
          <p:cNvSpPr>
            <a:spLocks xmlns:a="http://schemas.openxmlformats.org/drawingml/2006/main" noGrp="1"/>
          </p:cNvSpPr>
          <p:nvPr/>
        </p:nvSpPr>
        <p:spPr>
          <a:xfrm xmlns:a="http://schemas.openxmlformats.org/drawingml/2006/main">
            <a:off x="8172450" y="499110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4B5560"/>
                </a:solidFill>
              </a:defRPr>
            </a:pPr>
            <a:r>
              <a:rPr sz="825">
                <a:solidFill>
                  <a:srgbClr val="4B5560"/>
                </a:solidFill>
              </a:rPr>
              <a:t>Top-k fixes candidate diversity and slightly improves teacher-to-HumanML alignment, but final student style-proxy still drops.</a:t>
            </a:r>
          </a:p>
        </p:txBody>
      </p:sp>
    </p:spTree>
    <p:extLst>
      <p:ext uri="{BB962C8B-B14F-4D97-AF65-F5344CB8AC3E}">
        <p14:creationId xmlns:p14="http://schemas.microsoft.com/office/powerpoint/2010/main" val="421632474"/>
      </p:ext>
    </p:extLst>
  </p:cSld>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2026-06-15T11:37:31.7710000Z</dcterms:created>
  <dcterms:modified xsi:type="dcterms:W3CDTF">2026-06-15T11:37:31.7710000Z</dcterms:modified>
</coreProperties>
</file>