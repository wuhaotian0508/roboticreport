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5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各位老师、同学们好，我汇报的题目是</a:t>
            </a:r>
            <a:r>
              <a:rPr lang="zh-CN" altLang="en-US">
                <a:ea typeface="SimSun" panose="02010600030101010101" pitchFamily="2" charset="-122"/>
              </a:rPr>
              <a:t>语</a:t>
            </a:r>
            <a:r>
              <a:rPr lang="zh-CN" altLang="en-US"/>
              <a:t>言驱动人形运动生成的风格感知自适应方法</a:t>
            </a:r>
            <a:r>
              <a:rPr lang="en-US"/>
              <a:t>。这个工作的目标是基于humanml3d数据集改进 MoConVQ对形容词不敏感的问题。核心思想是：HumanML3D 的真实动作不直接作为 token 标签，而是作为选择依据，帮助我们从多个 teacher 生成的候选 token 序列中选出更符合配对动作统计特征的训练目标。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本报告按照五个问题展开。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这里需要先说明表示层的差异，也是本工作的出发点。HumanML3D motion 是连续动作特征，以矩阵形式存储；MoConVQ 得到的结果则是bvh文件。由于特征不完全匹配，并且机器人的结构也不能保证完全一致，本工作不把 HumanML3D motion 直接转成 token 标签，而是只抽取两边都能计算的共享统计特征子集。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研究对象包含三部分。HumanML3D 提供自然语言描述以及与描述配对的动作序列；MoConVQ teacher 能根据文本生成合法的离散 motion token；LoRA student 则用少量可训练参数学习这些 token target。关键问题是，配对动作中包含的真实运动信息，怎样在不破坏 token 空间合法性的前提下参与训练目标构造。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基本蒸馏流程可以概括为：输入humanml的caption（标注），冻结从动作token到bvh文件的转换，而用lora让student学习 MoConVQ teacher的caption到动作token的转换 这个流程可以训练，也能产生可复现的 loss 曲线。但 只用到了humanml的 caption ，没有充分利用数据集。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本方法加入一个 motion-guided selection bridge。对同一个 HumanML3D 样本，teacher 先生成多个 token candidate；每个 candidate 被解码成 BVH motion；然后从 BVH 中提取 duration、root speed、path length、joint velocity、acceleration、jerk 和 vertical range 等可以提取的特征。HumanML3D motion 也被转成同一组统计特征。最后只在这个共享特征子集上计算距离，选择最接近的 token candidate。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这一页进一步明确每一层的转化关系。文本 caption 作为生成条件；teacher candidate 位于离散 token 空间；candidate 解码为 BVH 后，可以计算 root speed、path length、velocity、jerk 等统计特征；HumanML3D 的 263 维 motion feature 不直接对齐 token，而是同样转成 duration、acceleration、vertical range 等统计特征。也就是说，比较发生在共享 feature subset，而不是完整表示空间。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选择分数采用平均绝对 log-ratio distance。这样可以更好地表明生成的动作与标准动作之间的差异。x_m 表示 BVH candidate 的第 m 个统计特征，h_m 表示 HumanML3D paired motion 转换后的同类统计特征。这里有一个关键限制：由于特征不匹配，我们只匹配可比较的一部分特征，例如速度、路径长度、加速度、jerk 和垂直范围，而不是宣称完成了 HumanML3D 到 MoConVQ token 的完整特征转换。这个设计让比较更稳妥，也更容易解释。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在实现中，首先需要保证候选集合真的有差异。若 teacher 采样过于确定，200 个样本中几乎全部都会选择第一个 candidate，此时 selection rule 形式上存在，但无法真正改变 cache。因此，候选生成阶段必须提供足够的多样性，选择机制才有实际意义。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采用 top-k stochastic sampling 后，候选分布变得更有区分度。200 个样本中，candidate 0、1、2、3 的选中次数分别为 114、31、32 和 23，也就是说 86 个 selected targets 来自非第一个 candidate。这说明 HumanML motion-distance selector 确实改变了 teacher target cache。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训练损失用于检查 selected cache 是否可学习。top-k selected run 从 0.4184 降到 0.3396。两个曲线都下降，说明 LoRA student 可以学习这些 selected token targets。top-k loss 更高，反映出目标分布更丰富、拟合难度更大。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实验解读需要区分三个视角。第一，training loss 衡量 student 是否学会 selected token。第二，style-direction proxy 衡量生成动作是否符合预设风格方向。第三，HumanML alignment 衡量 selected teacher candidate 是否更接近配对 HumanML3D motion。这三个指标对应不同问题，不能合并成单一结论。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主要结果显示，top-k selection 让 teacher target alignment 有轻微提升：mean alignment distance 从 1.9666 降到 1.9419，alignment score 从 0.1443 提高到 0.1477。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这一页展示最终 top-k selected LoRA 模型的两个 qualitative video examples。左边是 slow deliberate walk，对应 caption 是 A person walks forward slowly and deliberately。右边是 energetic jump，对应 caption 是 A person jumps energetically。可以看到模型确实理解了slow和energetic等形容词的含义。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因此，本工作的提出数据驱动的 target selection bridge。它证明 HumanML3D motion 可以作为共享特征子集下参与 MoConVQ LoRA 蒸馏目标构造。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最后总结一下。本报告识别了 HumanML3D 连续动作特征与 MoConVQ 离散 token 之间的表示差异，并提出用 decoded BVH statistics 和 HumanML3D motion statistics 连接两者。由于完整特征转换不可用，方法只匹配 duration、root speed、path length、velocity、acceleration、jerk、vertical range 等共享特征。top-k sampling 提供候选多样性，HumanML distance 完成 target selection。后续工作需要进一步评估 student 生成 BVH 与配对 HumanML3D motion 的直接对齐程度。我的汇报结束，谢谢大家。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.xml"/><Relationship Id="rId6" Type="http://schemas.microsoft.com/office/2007/relationships/media" Target="../media/media2.mp4"/><Relationship Id="rId5" Type="http://schemas.openxmlformats.org/officeDocument/2006/relationships/video" Target="../media/media2.mp4"/><Relationship Id="rId4" Type="http://schemas.microsoft.com/office/2007/relationships/media" Target="../media/media1.mp4"/><Relationship Id="rId3" Type="http://schemas.openxmlformats.org/officeDocument/2006/relationships/video" Target="../media/media1.mp4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>
            <a:spLocks noGrp="1"/>
          </p:cNvSpPr>
          <p:nvPr/>
        </p:nvSpPr>
        <p:spPr>
          <a:xfrm>
            <a:off x="685800" y="457200"/>
            <a:ext cx="342900" cy="47625"/>
          </a:xfrm>
          <a:prstGeom prst="rect">
            <a:avLst/>
          </a:prstGeom>
          <a:solidFill>
            <a:srgbClr val="0D8B8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1181100" y="361950"/>
            <a:ext cx="419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D8B8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D8B8B"/>
                </a:solidFill>
                <a:latin typeface="Aptos Display"/>
                <a:ea typeface="Aptos Display"/>
                <a:cs typeface="Aptos Display"/>
              </a:rPr>
              <a:t>INDEPENDENT DEFENSE DECK</a:t>
            </a:r>
            <a:endParaRPr sz="975" b="1">
              <a:solidFill>
                <a:srgbClr val="0D8B8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104900"/>
            <a:ext cx="9982835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39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altLang="zh-CN" sz="39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Style-Aware Adaptation for Language-Conditioned Humanoid Motion Generation</a:t>
            </a:r>
            <a:endParaRPr lang="en-US" altLang="zh-CN" sz="39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2609850"/>
            <a:ext cx="885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65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A bridge from paired motion evidence to MoConVQ LoRA pseudo-token targets</a:t>
            </a:r>
            <a:endParaRPr sz="1650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: 圆角 4"/>
          <p:cNvSpPr>
            <a:spLocks noGrp="1"/>
          </p:cNvSpPr>
          <p:nvPr/>
        </p:nvSpPr>
        <p:spPr>
          <a:xfrm>
            <a:off x="685800" y="3333750"/>
            <a:ext cx="10820400" cy="1066800"/>
          </a:xfrm>
          <a:prstGeom prst="roundRect">
            <a:avLst>
              <a:gd name="adj" fmla="val 7143"/>
            </a:avLst>
          </a:prstGeom>
          <a:solidFill>
            <a:srgbClr val="17324D"/>
          </a:solidFill>
          <a:ln w="9525">
            <a:solidFill>
              <a:srgbClr val="17324D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47750" y="35623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B7E5E4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B7E5E4"/>
                </a:solidFill>
                <a:latin typeface="Aptos"/>
                <a:ea typeface="Aptos"/>
                <a:cs typeface="Aptos"/>
              </a:rPr>
              <a:t>Core message</a:t>
            </a:r>
            <a:endParaRPr sz="1200" b="1" dirty="0">
              <a:solidFill>
                <a:srgbClr val="B7E5E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47750" y="3848100"/>
            <a:ext cx="971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HumanML3D motion is not a MoConVQ token label.</a:t>
            </a:r>
            <a:endParaRPr sz="15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It chooses which teacher-generated token sequence becomes the student target.</a:t>
            </a:r>
            <a:endParaRPr sz="15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: 圆角 7"/>
          <p:cNvSpPr>
            <a:spLocks noGrp="1"/>
          </p:cNvSpPr>
          <p:nvPr/>
        </p:nvSpPr>
        <p:spPr>
          <a:xfrm>
            <a:off x="914400" y="4876800"/>
            <a:ext cx="3067050" cy="1287780"/>
          </a:xfrm>
          <a:prstGeom prst="roundRect">
            <a:avLst>
              <a:gd name="adj" fmla="val 8333"/>
            </a:avLst>
          </a:prstGeom>
          <a:solidFill>
            <a:srgbClr val="FCEBEB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4876800"/>
            <a:ext cx="76200" cy="1287780"/>
          </a:xfrm>
          <a:prstGeom prst="rect">
            <a:avLst/>
          </a:prstGeom>
          <a:solidFill>
            <a:srgbClr val="B64B4B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143000" y="5067300"/>
            <a:ext cx="2609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Problem</a:t>
            </a:r>
            <a:endParaRPr sz="15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43000" y="5429250"/>
            <a:ext cx="2609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caption-only distillation leaves paired motion unused</a:t>
            </a:r>
            <a:endParaRPr sz="1350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: 圆角 11"/>
          <p:cNvSpPr>
            <a:spLocks noGrp="1"/>
          </p:cNvSpPr>
          <p:nvPr/>
        </p:nvSpPr>
        <p:spPr>
          <a:xfrm>
            <a:off x="4572000" y="4876800"/>
            <a:ext cx="3067050" cy="1287780"/>
          </a:xfrm>
          <a:prstGeom prst="roundRect">
            <a:avLst>
              <a:gd name="adj" fmla="val 8333"/>
            </a:avLst>
          </a:prstGeom>
          <a:solidFill>
            <a:srgbClr val="E8F6F3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572000" y="4876800"/>
            <a:ext cx="76200" cy="1276350"/>
          </a:xfrm>
          <a:prstGeom prst="rect">
            <a:avLst/>
          </a:prstGeom>
          <a:solidFill>
            <a:srgbClr val="0D8B8B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800600" y="5067300"/>
            <a:ext cx="2609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Method</a:t>
            </a:r>
            <a:endParaRPr sz="15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800600" y="5429250"/>
            <a:ext cx="2609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generate candidates, decode them, score against HumanML motion</a:t>
            </a:r>
            <a:endParaRPr sz="1350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: 圆角 15"/>
          <p:cNvSpPr>
            <a:spLocks noGrp="1"/>
          </p:cNvSpPr>
          <p:nvPr/>
        </p:nvSpPr>
        <p:spPr>
          <a:xfrm>
            <a:off x="8229600" y="4876800"/>
            <a:ext cx="3067050" cy="1287780"/>
          </a:xfrm>
          <a:prstGeom prst="roundRect">
            <a:avLst>
              <a:gd name="adj" fmla="val 8333"/>
            </a:avLst>
          </a:prstGeom>
          <a:solidFill>
            <a:srgbClr val="FFF4E1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229600" y="4876800"/>
            <a:ext cx="79780" cy="1276350"/>
          </a:xfrm>
          <a:prstGeom prst="rect">
            <a:avLst/>
          </a:prstGeom>
          <a:solidFill>
            <a:srgbClr val="C98216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458200" y="5067300"/>
            <a:ext cx="2609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Finding</a:t>
            </a:r>
            <a:endParaRPr sz="15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458200" y="5429250"/>
            <a:ext cx="2609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top-k makes selection real; alignment improves slightly</a:t>
            </a:r>
            <a:endParaRPr sz="1350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685800" y="6343650"/>
            <a:ext cx="10820400" cy="11430"/>
          </a:xfrm>
          <a:prstGeom prst="line">
            <a:avLst/>
          </a:prstGeom>
          <a:noFill/>
          <a:ln w="11430">
            <a:solidFill>
              <a:srgbClr val="CDD5D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85800" y="6419850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7180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08E"/>
                </a:solidFill>
                <a:latin typeface="Aptos"/>
                <a:ea typeface="Aptos"/>
                <a:cs typeface="Aptos"/>
              </a:rPr>
              <a:t>HumanML3D Motion-Guided Teacher Selection</a:t>
            </a:r>
            <a:endParaRPr sz="900" b="0">
              <a:solidFill>
                <a:srgbClr val="7180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810875" y="6419850"/>
            <a:ext cx="714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0">
                <a:solidFill>
                  <a:srgbClr val="7180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08E"/>
                </a:solidFill>
                <a:latin typeface="Aptos"/>
                <a:ea typeface="Aptos"/>
                <a:cs typeface="Aptos"/>
              </a:rPr>
              <a:t>1 / 16</a:t>
            </a:r>
            <a:endParaRPr sz="900" b="0">
              <a:solidFill>
                <a:srgbClr val="71808E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>
            <a:spLocks noGrp="1"/>
          </p:cNvSpPr>
          <p:nvPr/>
        </p:nvSpPr>
        <p:spPr>
          <a:xfrm>
            <a:off x="685800" y="400050"/>
            <a:ext cx="266700" cy="38100"/>
          </a:xfrm>
          <a:prstGeom prst="rect">
            <a:avLst/>
          </a:prstGeom>
          <a:solidFill>
            <a:srgbClr val="0D8B8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1104900" y="30480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D8B8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D8B8B"/>
                </a:solidFill>
                <a:latin typeface="Aptos Display"/>
                <a:ea typeface="Aptos Display"/>
                <a:cs typeface="Aptos Display"/>
              </a:rPr>
              <a:t>TALK STRUCTURE</a:t>
            </a:r>
            <a:endParaRPr sz="975" b="1">
              <a:solidFill>
                <a:srgbClr val="0D8B8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9906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24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A standalone story: missing evidence -&gt; bridge -&gt; measured tradeoff</a:t>
            </a:r>
            <a:endParaRPr sz="24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295400"/>
            <a:ext cx="904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51606D"/>
                </a:solidFill>
                <a:latin typeface="Aptos"/>
                <a:ea typeface="Aptos"/>
                <a:cs typeface="Aptos"/>
              </a:rPr>
              <a:t>Each section answers one question, so the audience does not need the previous deck.</a:t>
            </a:r>
            <a:endParaRPr sz="1350" b="0" dirty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85800" y="6343650"/>
            <a:ext cx="10820400" cy="11430"/>
          </a:xfrm>
          <a:prstGeom prst="line">
            <a:avLst/>
          </a:prstGeom>
          <a:noFill/>
          <a:ln w="11430">
            <a:solidFill>
              <a:srgbClr val="CDD5DF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419850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7180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08E"/>
                </a:solidFill>
                <a:latin typeface="Aptos"/>
                <a:ea typeface="Aptos"/>
                <a:cs typeface="Aptos"/>
              </a:rPr>
              <a:t>HumanML3D Motion-Guided Teacher Selection</a:t>
            </a:r>
            <a:endParaRPr sz="900" b="0">
              <a:solidFill>
                <a:srgbClr val="7180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810875" y="6419850"/>
            <a:ext cx="714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0">
                <a:solidFill>
                  <a:srgbClr val="7180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08E"/>
                </a:solidFill>
                <a:latin typeface="Aptos"/>
                <a:ea typeface="Aptos"/>
                <a:cs typeface="Aptos"/>
              </a:rPr>
              <a:t>2 / 16</a:t>
            </a:r>
            <a:endParaRPr sz="900" b="0">
              <a:solidFill>
                <a:srgbClr val="7180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: 圆角 7"/>
          <p:cNvSpPr>
            <a:spLocks noGrp="1"/>
          </p:cNvSpPr>
          <p:nvPr/>
        </p:nvSpPr>
        <p:spPr>
          <a:xfrm>
            <a:off x="895350" y="1733550"/>
            <a:ext cx="609600" cy="457200"/>
          </a:xfrm>
          <a:prstGeom prst="roundRect">
            <a:avLst>
              <a:gd name="adj" fmla="val 16667"/>
            </a:avLst>
          </a:prstGeom>
          <a:solidFill>
            <a:srgbClr val="FCEBEB"/>
          </a:solidFill>
          <a:ln w="9525">
            <a:solidFill>
              <a:srgbClr val="B64B4B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57275" y="18478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425" b="1">
                <a:solidFill>
                  <a:srgbClr val="B64B4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64B4B"/>
                </a:solidFill>
                <a:latin typeface="Aptos"/>
                <a:ea typeface="Aptos"/>
                <a:cs typeface="Aptos"/>
              </a:rPr>
              <a:t>01</a:t>
            </a:r>
            <a:endParaRPr sz="1425" b="1">
              <a:solidFill>
                <a:srgbClr val="B64B4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828800" y="17145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6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What is missing?</a:t>
            </a:r>
            <a:endParaRPr sz="165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828800" y="2019300"/>
            <a:ext cx="8001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Original LoRA distillation uses captions and teacher tokens, but not paired HumanML3D motion.</a:t>
            </a:r>
            <a:endParaRPr sz="1275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1200150" y="2257425"/>
            <a:ext cx="1200150" cy="190500"/>
          </a:xfrm>
          <a:prstGeom prst="line">
            <a:avLst/>
          </a:prstGeom>
          <a:noFill/>
          <a:ln w="19050">
            <a:solidFill>
              <a:srgbClr val="C9D1DB"/>
            </a:solidFill>
            <a:prstDash val="solid"/>
          </a:ln>
        </p:spPr>
      </p:sp>
      <p:sp>
        <p:nvSpPr>
          <p:cNvPr id="13" name="矩形: 圆角 12"/>
          <p:cNvSpPr>
            <a:spLocks noGrp="1"/>
          </p:cNvSpPr>
          <p:nvPr/>
        </p:nvSpPr>
        <p:spPr>
          <a:xfrm>
            <a:off x="895350" y="2514600"/>
            <a:ext cx="609600" cy="457200"/>
          </a:xfrm>
          <a:prstGeom prst="roundRect">
            <a:avLst>
              <a:gd name="adj" fmla="val 16667"/>
            </a:avLst>
          </a:prstGeom>
          <a:solidFill>
            <a:srgbClr val="FFF4E1"/>
          </a:solidFill>
          <a:ln w="9525">
            <a:solidFill>
              <a:srgbClr val="C98216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057275" y="262890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425" b="1">
                <a:solidFill>
                  <a:srgbClr val="C982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98216"/>
                </a:solidFill>
                <a:latin typeface="Aptos"/>
                <a:ea typeface="Aptos"/>
                <a:cs typeface="Aptos"/>
              </a:rPr>
              <a:t>02</a:t>
            </a:r>
            <a:endParaRPr sz="1425" b="1">
              <a:solidFill>
                <a:srgbClr val="C9821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828800" y="24955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6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Why is direct conversion unsafe?</a:t>
            </a:r>
            <a:endParaRPr sz="165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828800" y="2800350"/>
            <a:ext cx="8001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HumanML3D motion features and MoConVQ discrete tokens live in different representation layers.</a:t>
            </a:r>
            <a:endParaRPr sz="1275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1200150" y="3038475"/>
            <a:ext cx="1200150" cy="190500"/>
          </a:xfrm>
          <a:prstGeom prst="line">
            <a:avLst/>
          </a:prstGeom>
          <a:noFill/>
          <a:ln w="19050">
            <a:solidFill>
              <a:srgbClr val="C9D1DB"/>
            </a:solidFill>
            <a:prstDash val="solid"/>
          </a:ln>
        </p:spPr>
      </p:sp>
      <p:sp>
        <p:nvSpPr>
          <p:cNvPr id="18" name="矩形: 圆角 17"/>
          <p:cNvSpPr>
            <a:spLocks noGrp="1"/>
          </p:cNvSpPr>
          <p:nvPr/>
        </p:nvSpPr>
        <p:spPr>
          <a:xfrm>
            <a:off x="895350" y="3295650"/>
            <a:ext cx="609600" cy="457200"/>
          </a:xfrm>
          <a:prstGeom prst="roundRect">
            <a:avLst>
              <a:gd name="adj" fmla="val 16667"/>
            </a:avLst>
          </a:prstGeom>
          <a:solidFill>
            <a:srgbClr val="E8F6F3"/>
          </a:solidFill>
          <a:ln w="9525">
            <a:solidFill>
              <a:srgbClr val="0D8B8B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057275" y="34099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425" b="1">
                <a:solidFill>
                  <a:srgbClr val="0D8B8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D8B8B"/>
                </a:solidFill>
                <a:latin typeface="Aptos"/>
                <a:ea typeface="Aptos"/>
                <a:cs typeface="Aptos"/>
              </a:rPr>
              <a:t>03</a:t>
            </a:r>
            <a:endParaRPr sz="1425" b="1">
              <a:solidFill>
                <a:srgbClr val="0D8B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828800" y="32766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6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What bridge do I add?</a:t>
            </a:r>
            <a:endParaRPr sz="165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828800" y="3581400"/>
            <a:ext cx="8001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Decode teacher candidates, compare their motion statistics with paired HumanML motion, then select targets.</a:t>
            </a:r>
            <a:endParaRPr sz="1275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1200150" y="3819525"/>
            <a:ext cx="1200150" cy="190500"/>
          </a:xfrm>
          <a:prstGeom prst="line">
            <a:avLst/>
          </a:prstGeom>
          <a:noFill/>
          <a:ln w="19050">
            <a:solidFill>
              <a:srgbClr val="C9D1DB"/>
            </a:solidFill>
            <a:prstDash val="solid"/>
          </a:ln>
        </p:spPr>
      </p:sp>
      <p:sp>
        <p:nvSpPr>
          <p:cNvPr id="23" name="矩形: 圆角 22"/>
          <p:cNvSpPr>
            <a:spLocks noGrp="1"/>
          </p:cNvSpPr>
          <p:nvPr/>
        </p:nvSpPr>
        <p:spPr>
          <a:xfrm>
            <a:off x="895350" y="4076700"/>
            <a:ext cx="609600" cy="457200"/>
          </a:xfrm>
          <a:prstGeom prst="roundRect">
            <a:avLst>
              <a:gd name="adj" fmla="val 16667"/>
            </a:avLst>
          </a:prstGeom>
          <a:solidFill>
            <a:srgbClr val="EAF4FA"/>
          </a:solidFill>
          <a:ln w="9525">
            <a:solidFill>
              <a:srgbClr val="1E6B9E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057275" y="419100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425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04</a:t>
            </a:r>
            <a:endParaRPr sz="1425" b="1">
              <a:solidFill>
                <a:srgbClr val="1E6B9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828800" y="40576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6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How do I evaluate it?</a:t>
            </a:r>
            <a:endParaRPr sz="165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828800" y="4362450"/>
            <a:ext cx="8001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Separate token learning, old style-direction proxy, and HumanML motion alignment.</a:t>
            </a:r>
            <a:endParaRPr sz="1275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1200150" y="4600575"/>
            <a:ext cx="1200150" cy="190500"/>
          </a:xfrm>
          <a:prstGeom prst="line">
            <a:avLst/>
          </a:prstGeom>
          <a:noFill/>
          <a:ln w="19050">
            <a:solidFill>
              <a:srgbClr val="C9D1DB"/>
            </a:solidFill>
            <a:prstDash val="solid"/>
          </a:ln>
        </p:spPr>
      </p:sp>
      <p:sp>
        <p:nvSpPr>
          <p:cNvPr id="28" name="矩形: 圆角 27"/>
          <p:cNvSpPr>
            <a:spLocks noGrp="1"/>
          </p:cNvSpPr>
          <p:nvPr/>
        </p:nvSpPr>
        <p:spPr>
          <a:xfrm>
            <a:off x="895350" y="4857750"/>
            <a:ext cx="609600" cy="457200"/>
          </a:xfrm>
          <a:prstGeom prst="roundRect">
            <a:avLst>
              <a:gd name="adj" fmla="val 16667"/>
            </a:avLst>
          </a:prstGeom>
          <a:solidFill>
            <a:srgbClr val="EFEFFC"/>
          </a:solidFill>
          <a:ln w="9525">
            <a:solidFill>
              <a:srgbClr val="5E5AA8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057275" y="49720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425" b="1">
                <a:solidFill>
                  <a:srgbClr val="5E5AA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E5AA8"/>
                </a:solidFill>
                <a:latin typeface="Aptos"/>
                <a:ea typeface="Aptos"/>
                <a:cs typeface="Aptos"/>
              </a:rPr>
              <a:t>05</a:t>
            </a:r>
            <a:endParaRPr sz="1425" b="1">
              <a:solidFill>
                <a:srgbClr val="5E5AA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828800" y="48387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6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What should we conclude?</a:t>
            </a:r>
            <a:endParaRPr sz="165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828800" y="5143500"/>
            <a:ext cx="8001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Teacher target selection becomes more data-grounded, but final student evaluation still needs a paired-motion loop.</a:t>
            </a:r>
            <a:endParaRPr sz="1275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>
            <a:spLocks noGrp="1"/>
          </p:cNvSpPr>
          <p:nvPr/>
        </p:nvSpPr>
        <p:spPr>
          <a:xfrm>
            <a:off x="685800" y="400050"/>
            <a:ext cx="266700" cy="38100"/>
          </a:xfrm>
          <a:prstGeom prst="rect">
            <a:avLst/>
          </a:prstGeom>
          <a:solidFill>
            <a:srgbClr val="0D8B8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1104900" y="30480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D8B8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D8B8B"/>
                </a:solidFill>
                <a:latin typeface="Aptos Display"/>
                <a:ea typeface="Aptos Display"/>
                <a:cs typeface="Aptos Display"/>
              </a:rPr>
              <a:t>REPRESENTATION GAP</a:t>
            </a:r>
            <a:endParaRPr sz="975" b="1">
              <a:solidFill>
                <a:srgbClr val="0D8B8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9906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24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HumanML3D motion and MoConVQ GPT tokens are different layers</a:t>
            </a:r>
            <a:endParaRPr sz="24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333500"/>
            <a:ext cx="904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51606D"/>
                </a:solidFill>
                <a:latin typeface="Aptos"/>
                <a:ea typeface="Aptos"/>
                <a:cs typeface="Aptos"/>
              </a:rPr>
              <a:t>The safest method is selection across layers, not pretending the labels already match.</a:t>
            </a:r>
            <a:endParaRPr sz="1350" b="0" dirty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85800" y="6343650"/>
            <a:ext cx="10820400" cy="11430"/>
          </a:xfrm>
          <a:prstGeom prst="line">
            <a:avLst/>
          </a:prstGeom>
          <a:noFill/>
          <a:ln w="11430">
            <a:solidFill>
              <a:srgbClr val="CDD5DF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419850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7180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08E"/>
                </a:solidFill>
                <a:latin typeface="Aptos"/>
                <a:ea typeface="Aptos"/>
                <a:cs typeface="Aptos"/>
              </a:rPr>
              <a:t>HumanML3D Motion-Guided Teacher Selection</a:t>
            </a:r>
            <a:endParaRPr sz="900" b="0">
              <a:solidFill>
                <a:srgbClr val="7180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810875" y="6419850"/>
            <a:ext cx="714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0">
                <a:solidFill>
                  <a:srgbClr val="7180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08E"/>
                </a:solidFill>
                <a:latin typeface="Aptos"/>
                <a:ea typeface="Aptos"/>
                <a:cs typeface="Aptos"/>
              </a:rPr>
              <a:t>4 / 16</a:t>
            </a:r>
            <a:endParaRPr sz="900" b="0">
              <a:solidFill>
                <a:srgbClr val="7180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: 圆角 7"/>
          <p:cNvSpPr>
            <a:spLocks noGrp="1"/>
          </p:cNvSpPr>
          <p:nvPr/>
        </p:nvSpPr>
        <p:spPr>
          <a:xfrm>
            <a:off x="762000" y="2000250"/>
            <a:ext cx="3143250" cy="2190750"/>
          </a:xfrm>
          <a:prstGeom prst="roundRect">
            <a:avLst>
              <a:gd name="adj" fmla="val 3478"/>
            </a:avLst>
          </a:prstGeom>
          <a:solidFill>
            <a:srgbClr val="EAF6ED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62000" y="2000250"/>
            <a:ext cx="76200" cy="2190750"/>
          </a:xfrm>
          <a:prstGeom prst="rect">
            <a:avLst/>
          </a:prstGeom>
          <a:solidFill>
            <a:srgbClr val="3E8A52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90600" y="2190750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HumanML3D motion layer</a:t>
            </a:r>
            <a:endParaRPr sz="15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90600" y="2552700"/>
            <a:ext cx="2686050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A sequence of continuous 263-D motion features. Time is discrete by frames, but values are real-valued positions, rotations, and velocities.</a:t>
            </a:r>
            <a:endParaRPr sz="1350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: 圆角 11"/>
          <p:cNvSpPr>
            <a:spLocks noGrp="1"/>
          </p:cNvSpPr>
          <p:nvPr/>
        </p:nvSpPr>
        <p:spPr>
          <a:xfrm>
            <a:off x="4524375" y="2000250"/>
            <a:ext cx="3143250" cy="2190750"/>
          </a:xfrm>
          <a:prstGeom prst="roundRect">
            <a:avLst>
              <a:gd name="adj" fmla="val 3478"/>
            </a:avLst>
          </a:prstGeom>
          <a:solidFill>
            <a:srgbClr val="EAF4FA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524375" y="2000250"/>
            <a:ext cx="76200" cy="2190750"/>
          </a:xfrm>
          <a:prstGeom prst="rect">
            <a:avLst/>
          </a:prstGeom>
          <a:solidFill>
            <a:srgbClr val="1E6B9E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752975" y="2190750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MoConVQ token layer</a:t>
            </a:r>
            <a:endParaRPr sz="15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752975" y="2552700"/>
            <a:ext cx="2686050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A sequence of discrete codebook IDs predicted by the GPT module. Cross-entropy expects integer token labels.</a:t>
            </a:r>
            <a:endParaRPr sz="1350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: 圆角 15"/>
          <p:cNvSpPr>
            <a:spLocks noGrp="1"/>
          </p:cNvSpPr>
          <p:nvPr/>
        </p:nvSpPr>
        <p:spPr>
          <a:xfrm>
            <a:off x="8286750" y="2000250"/>
            <a:ext cx="3143250" cy="2190750"/>
          </a:xfrm>
          <a:prstGeom prst="roundRect">
            <a:avLst>
              <a:gd name="adj" fmla="val 3478"/>
            </a:avLst>
          </a:prstGeom>
          <a:solidFill>
            <a:srgbClr val="FFF4E1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286750" y="2000250"/>
            <a:ext cx="76200" cy="2190750"/>
          </a:xfrm>
          <a:prstGeom prst="rect">
            <a:avLst/>
          </a:prstGeom>
          <a:solidFill>
            <a:srgbClr val="C98216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515350" y="2190750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Student training layer</a:t>
            </a:r>
            <a:endParaRPr sz="15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515350" y="2552700"/>
            <a:ext cx="2686050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LoRA updates only a small part of the generator, and it learns whichever pseudo-token target we cache.</a:t>
            </a:r>
            <a:endParaRPr sz="1350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962150" y="468630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350" b="1">
                <a:solidFill>
                  <a:srgbClr val="B64B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64B4B"/>
                </a:solidFill>
                <a:latin typeface="Aptos"/>
                <a:ea typeface="Aptos"/>
                <a:cs typeface="Aptos"/>
              </a:rPr>
              <a:t>Unsafe shortcut: continuous HumanML motion -&gt; pretend it is token label</a:t>
            </a:r>
            <a:endParaRPr sz="1350" b="1">
              <a:solidFill>
                <a:srgbClr val="B64B4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5619750" y="4924425"/>
            <a:ext cx="952500" cy="0"/>
          </a:xfrm>
          <a:prstGeom prst="line">
            <a:avLst/>
          </a:prstGeom>
          <a:noFill/>
          <a:ln w="28575">
            <a:solidFill>
              <a:srgbClr val="B64B4B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705600" y="4686300"/>
            <a:ext cx="3771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350" b="1">
                <a:solidFill>
                  <a:srgbClr val="0D8B8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D8B8B"/>
                </a:solidFill>
                <a:latin typeface="Aptos"/>
                <a:ea typeface="Aptos"/>
                <a:cs typeface="Aptos"/>
              </a:rPr>
              <a:t>Safe bridge: both sides -&gt; shared feature subset -&gt; select token</a:t>
            </a:r>
            <a:endParaRPr sz="1350" b="1">
              <a:solidFill>
                <a:srgbClr val="0D8B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705600" y="5067300"/>
            <a:ext cx="3771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125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Matched features: duration, root speed, path length, velocity, acceleration, jerk, vertical range.</a:t>
            </a:r>
            <a:endParaRPr sz="1125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>
            <a:spLocks noGrp="1"/>
          </p:cNvSpPr>
          <p:nvPr/>
        </p:nvSpPr>
        <p:spPr>
          <a:xfrm>
            <a:off x="685800" y="400050"/>
            <a:ext cx="266700" cy="38100"/>
          </a:xfrm>
          <a:prstGeom prst="rect">
            <a:avLst/>
          </a:prstGeom>
          <a:solidFill>
            <a:srgbClr val="0D8B8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1104900" y="30480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D8B8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D8B8B"/>
                </a:solidFill>
                <a:latin typeface="Aptos Display"/>
                <a:ea typeface="Aptos Display"/>
                <a:cs typeface="Aptos Display"/>
              </a:rPr>
              <a:t>STARTING POINT</a:t>
            </a:r>
            <a:endParaRPr sz="975" b="1">
              <a:solidFill>
                <a:srgbClr val="0D8B8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9906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24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The baseline learns from the teacher, but not from paired motion</a:t>
            </a:r>
            <a:endParaRPr sz="24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327785"/>
            <a:ext cx="904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51606D"/>
                </a:solidFill>
                <a:latin typeface="Aptos"/>
                <a:ea typeface="Aptos"/>
                <a:cs typeface="Aptos"/>
              </a:rPr>
              <a:t>This is the gap that makes the new deck independent from the previous report.</a:t>
            </a:r>
            <a:endParaRPr sz="1350" b="0" dirty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85800" y="6343650"/>
            <a:ext cx="10820400" cy="11430"/>
          </a:xfrm>
          <a:prstGeom prst="line">
            <a:avLst/>
          </a:prstGeom>
          <a:noFill/>
          <a:ln w="11430">
            <a:solidFill>
              <a:srgbClr val="CDD5DF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419850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7180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08E"/>
                </a:solidFill>
                <a:latin typeface="Aptos"/>
                <a:ea typeface="Aptos"/>
                <a:cs typeface="Aptos"/>
              </a:rPr>
              <a:t>HumanML3D Motion-Guided Teacher Selection</a:t>
            </a:r>
            <a:endParaRPr sz="900" b="0">
              <a:solidFill>
                <a:srgbClr val="7180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810875" y="6419850"/>
            <a:ext cx="714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0">
                <a:solidFill>
                  <a:srgbClr val="7180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08E"/>
                </a:solidFill>
                <a:latin typeface="Aptos"/>
                <a:ea typeface="Aptos"/>
                <a:cs typeface="Aptos"/>
              </a:rPr>
              <a:t>3 / 16</a:t>
            </a:r>
            <a:endParaRPr sz="900" b="0">
              <a:solidFill>
                <a:srgbClr val="7180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: 圆角 7"/>
          <p:cNvSpPr>
            <a:spLocks noGrp="1"/>
          </p:cNvSpPr>
          <p:nvPr/>
        </p:nvSpPr>
        <p:spPr>
          <a:xfrm>
            <a:off x="857250" y="2000250"/>
            <a:ext cx="2952750" cy="2190750"/>
          </a:xfrm>
          <a:prstGeom prst="roundRect">
            <a:avLst>
              <a:gd name="adj" fmla="val 3478"/>
            </a:avLst>
          </a:prstGeom>
          <a:solidFill>
            <a:srgbClr val="EAF6ED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57250" y="2000250"/>
            <a:ext cx="76200" cy="2190750"/>
          </a:xfrm>
          <a:prstGeom prst="rect">
            <a:avLst/>
          </a:prstGeom>
          <a:solidFill>
            <a:srgbClr val="3E8A52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85850" y="2190750"/>
            <a:ext cx="2495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Available data</a:t>
            </a:r>
            <a:endParaRPr sz="15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85850" y="2552700"/>
            <a:ext cx="2495550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425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HumanML3D gives each row a caption and a paired motion sequence. The motion is not just decoration; it is the strongest evidence of what the caption means.</a:t>
            </a:r>
            <a:endParaRPr sz="1425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: 圆角 11"/>
          <p:cNvSpPr>
            <a:spLocks noGrp="1"/>
          </p:cNvSpPr>
          <p:nvPr/>
        </p:nvSpPr>
        <p:spPr>
          <a:xfrm>
            <a:off x="4619625" y="2000250"/>
            <a:ext cx="2952750" cy="2190750"/>
          </a:xfrm>
          <a:prstGeom prst="roundRect">
            <a:avLst>
              <a:gd name="adj" fmla="val 3478"/>
            </a:avLst>
          </a:prstGeom>
          <a:solidFill>
            <a:srgbClr val="EAF4FA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619625" y="2000250"/>
            <a:ext cx="76200" cy="2190750"/>
          </a:xfrm>
          <a:prstGeom prst="rect">
            <a:avLst/>
          </a:prstGeom>
          <a:solidFill>
            <a:srgbClr val="1E6B9E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848225" y="2190750"/>
            <a:ext cx="2495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Original target</a:t>
            </a:r>
            <a:endParaRPr sz="15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848225" y="2552700"/>
            <a:ext cx="2495550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425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The teacher generates pseudo-token IDs from the caption. The LoRA student copies those IDs with cross-entropy loss.</a:t>
            </a:r>
            <a:endParaRPr sz="1425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: 圆角 15"/>
          <p:cNvSpPr>
            <a:spLocks noGrp="1"/>
          </p:cNvSpPr>
          <p:nvPr/>
        </p:nvSpPr>
        <p:spPr>
          <a:xfrm>
            <a:off x="8382000" y="2000250"/>
            <a:ext cx="2952750" cy="2190750"/>
          </a:xfrm>
          <a:prstGeom prst="roundRect">
            <a:avLst>
              <a:gd name="adj" fmla="val 3478"/>
            </a:avLst>
          </a:prstGeom>
          <a:solidFill>
            <a:srgbClr val="FCEBEB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382000" y="2000250"/>
            <a:ext cx="76200" cy="2190750"/>
          </a:xfrm>
          <a:prstGeom prst="rect">
            <a:avLst/>
          </a:prstGeom>
          <a:solidFill>
            <a:srgbClr val="B64B4B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610600" y="2190750"/>
            <a:ext cx="2495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Missing link</a:t>
            </a:r>
            <a:endParaRPr sz="15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10600" y="2552700"/>
            <a:ext cx="2495550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425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The paired HumanML3D motion does not decide which teacher target is chosen, so the target may be valid but weakly data-grounded.</a:t>
            </a:r>
            <a:endParaRPr sz="1425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3829050" y="3095625"/>
            <a:ext cx="695325" cy="0"/>
          </a:xfrm>
          <a:prstGeom prst="line">
            <a:avLst/>
          </a:prstGeom>
          <a:noFill/>
          <a:ln w="19050">
            <a:solidFill>
              <a:srgbClr val="51606D"/>
            </a:solidFill>
            <a:prstDash val="solid"/>
          </a:ln>
        </p:spPr>
      </p:sp>
      <p:sp>
        <p:nvSpPr>
          <p:cNvPr id="21" name="任意多边形: 形状 20"/>
          <p:cNvSpPr>
            <a:spLocks noGrp="1"/>
          </p:cNvSpPr>
          <p:nvPr/>
        </p:nvSpPr>
        <p:spPr>
          <a:xfrm>
            <a:off x="4455721" y="3062563"/>
            <a:ext cx="76200" cy="76200"/>
          </a:xfrm>
          <a:custGeom>
            <a:avLst/>
            <a:gdLst/>
            <a:ahLst/>
            <a:cxnLst/>
            <a:rect l="0" t="0" r="0" b="0"/>
            <a:pathLst>
              <a:path w="152400" h="152400">
                <a:moveTo>
                  <a:pt x="15240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51606D"/>
          </a:solidFill>
          <a:ln w="9525">
            <a:solidFill>
              <a:srgbClr val="51606D"/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7591425" y="3095625"/>
            <a:ext cx="695325" cy="0"/>
          </a:xfrm>
          <a:prstGeom prst="line">
            <a:avLst/>
          </a:prstGeom>
          <a:noFill/>
          <a:ln w="19050">
            <a:solidFill>
              <a:srgbClr val="51606D"/>
            </a:solidFill>
            <a:prstDash val="solid"/>
          </a:ln>
        </p:spPr>
      </p:sp>
      <p:sp>
        <p:nvSpPr>
          <p:cNvPr id="23" name="任意多边形: 形状 22"/>
          <p:cNvSpPr>
            <a:spLocks noGrp="1"/>
          </p:cNvSpPr>
          <p:nvPr/>
        </p:nvSpPr>
        <p:spPr>
          <a:xfrm>
            <a:off x="8218096" y="3062563"/>
            <a:ext cx="76200" cy="76200"/>
          </a:xfrm>
          <a:custGeom>
            <a:avLst/>
            <a:gdLst/>
            <a:ahLst/>
            <a:cxnLst/>
            <a:rect l="0" t="0" r="0" b="0"/>
            <a:pathLst>
              <a:path w="152400" h="152400">
                <a:moveTo>
                  <a:pt x="15240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51606D"/>
          </a:solidFill>
          <a:ln w="9525">
            <a:solidFill>
              <a:srgbClr val="51606D"/>
            </a:solidFill>
            <a:prstDash val="solid"/>
          </a:ln>
        </p:spPr>
      </p:sp>
      <p:sp>
        <p:nvSpPr>
          <p:cNvPr id="24" name="矩形: 圆角 23"/>
          <p:cNvSpPr>
            <a:spLocks noGrp="1"/>
          </p:cNvSpPr>
          <p:nvPr/>
        </p:nvSpPr>
        <p:spPr>
          <a:xfrm>
            <a:off x="2000250" y="4762500"/>
            <a:ext cx="8191500" cy="685800"/>
          </a:xfrm>
          <a:prstGeom prst="roundRect">
            <a:avLst>
              <a:gd name="adj" fmla="val 11111"/>
            </a:avLst>
          </a:prstGeom>
          <a:solidFill>
            <a:srgbClr val="17324D"/>
          </a:solidFill>
          <a:ln w="9525">
            <a:solidFill>
              <a:srgbClr val="17324D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324100" y="4895850"/>
            <a:ext cx="7543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Independent focus: redesign teacher target selection,</a:t>
            </a:r>
            <a:endParaRPr sz="16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 the whole motion generator.</a:t>
            </a:r>
            <a:endParaRPr sz="16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>
            <a:spLocks noGrp="1"/>
          </p:cNvSpPr>
          <p:nvPr/>
        </p:nvSpPr>
        <p:spPr>
          <a:xfrm>
            <a:off x="685800" y="400050"/>
            <a:ext cx="266700" cy="38100"/>
          </a:xfrm>
          <a:prstGeom prst="rect">
            <a:avLst/>
          </a:prstGeom>
          <a:solidFill>
            <a:srgbClr val="0D8B8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1104900" y="30480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D8B8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D8B8B"/>
                </a:solidFill>
                <a:latin typeface="Aptos Display"/>
                <a:ea typeface="Aptos Display"/>
                <a:cs typeface="Aptos Display"/>
              </a:rPr>
              <a:t>BASELINE FLOW</a:t>
            </a:r>
            <a:endParaRPr sz="975" b="1">
              <a:solidFill>
                <a:srgbClr val="0D8B8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9906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24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Caption-only distillation optimizes imitation, not motion-grounded selection</a:t>
            </a:r>
            <a:endParaRPr sz="24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619250"/>
            <a:ext cx="904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The baseline is useful, but its target source is narrow.</a:t>
            </a:r>
            <a:endParaRPr sz="1350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85800" y="6343650"/>
            <a:ext cx="10820400" cy="11430"/>
          </a:xfrm>
          <a:prstGeom prst="line">
            <a:avLst/>
          </a:prstGeom>
          <a:noFill/>
          <a:ln w="11430">
            <a:solidFill>
              <a:srgbClr val="CDD5DF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419850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7180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08E"/>
                </a:solidFill>
                <a:latin typeface="Aptos"/>
                <a:ea typeface="Aptos"/>
                <a:cs typeface="Aptos"/>
              </a:rPr>
              <a:t>HumanML3D Motion-Guided Teacher Selection</a:t>
            </a:r>
            <a:endParaRPr sz="900" b="0">
              <a:solidFill>
                <a:srgbClr val="7180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810875" y="6419850"/>
            <a:ext cx="714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0">
                <a:solidFill>
                  <a:srgbClr val="7180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08E"/>
                </a:solidFill>
                <a:latin typeface="Aptos"/>
                <a:ea typeface="Aptos"/>
                <a:cs typeface="Aptos"/>
              </a:rPr>
              <a:t>5 / 16</a:t>
            </a:r>
            <a:endParaRPr sz="900" b="0">
              <a:solidFill>
                <a:srgbClr val="7180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: 圆角 7"/>
          <p:cNvSpPr>
            <a:spLocks noGrp="1"/>
          </p:cNvSpPr>
          <p:nvPr/>
        </p:nvSpPr>
        <p:spPr>
          <a:xfrm>
            <a:off x="857250" y="2400300"/>
            <a:ext cx="1428750" cy="952500"/>
          </a:xfrm>
          <a:prstGeom prst="roundRect">
            <a:avLst>
              <a:gd name="adj" fmla="val 8000"/>
            </a:avLst>
          </a:prstGeom>
          <a:solidFill>
            <a:srgbClr val="EAF6ED"/>
          </a:solidFill>
          <a:ln w="14288">
            <a:solidFill>
              <a:srgbClr val="3E8A52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90600" y="2638425"/>
            <a:ext cx="1162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4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HumanML3D</a:t>
            </a:r>
            <a:endParaRPr sz="1425" b="1">
              <a:solidFill>
                <a:srgbClr val="16202A"/>
              </a:solidFill>
              <a:latin typeface="Aptos"/>
              <a:ea typeface="Aptos"/>
              <a:cs typeface="Aptos"/>
            </a:endParaRPr>
          </a:p>
          <a:p>
            <a:pPr algn="ctr">
              <a:defRPr sz="14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caption</a:t>
            </a:r>
            <a:endParaRPr sz="1425" b="1">
              <a:solidFill>
                <a:srgbClr val="16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: 圆角 9"/>
          <p:cNvSpPr>
            <a:spLocks noGrp="1"/>
          </p:cNvSpPr>
          <p:nvPr/>
        </p:nvSpPr>
        <p:spPr>
          <a:xfrm>
            <a:off x="3095625" y="2400300"/>
            <a:ext cx="1428750" cy="952500"/>
          </a:xfrm>
          <a:prstGeom prst="roundRect">
            <a:avLst>
              <a:gd name="adj" fmla="val 8000"/>
            </a:avLst>
          </a:prstGeom>
          <a:solidFill>
            <a:srgbClr val="EAF4FA"/>
          </a:solidFill>
          <a:ln w="14288">
            <a:solidFill>
              <a:srgbClr val="1E6B9E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228975" y="2638425"/>
            <a:ext cx="1162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4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Frozen</a:t>
            </a:r>
            <a:endParaRPr sz="1425" b="1">
              <a:solidFill>
                <a:srgbClr val="16202A"/>
              </a:solidFill>
              <a:latin typeface="Aptos"/>
              <a:ea typeface="Aptos"/>
              <a:cs typeface="Aptos"/>
            </a:endParaRPr>
          </a:p>
          <a:p>
            <a:pPr algn="ctr">
              <a:defRPr sz="14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MoConVQ teacher</a:t>
            </a:r>
            <a:endParaRPr sz="1425" b="1">
              <a:solidFill>
                <a:srgbClr val="16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: 圆角 11"/>
          <p:cNvSpPr>
            <a:spLocks noGrp="1"/>
          </p:cNvSpPr>
          <p:nvPr/>
        </p:nvSpPr>
        <p:spPr>
          <a:xfrm>
            <a:off x="5334000" y="2400300"/>
            <a:ext cx="1428750" cy="952500"/>
          </a:xfrm>
          <a:prstGeom prst="roundRect">
            <a:avLst>
              <a:gd name="adj" fmla="val 8000"/>
            </a:avLst>
          </a:prstGeom>
          <a:solidFill>
            <a:srgbClr val="FFF4E1"/>
          </a:solidFill>
          <a:ln w="14288">
            <a:solidFill>
              <a:srgbClr val="C9821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467350" y="2638425"/>
            <a:ext cx="1162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4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Pseudo-token</a:t>
            </a:r>
            <a:endParaRPr sz="1425" b="1">
              <a:solidFill>
                <a:srgbClr val="16202A"/>
              </a:solidFill>
              <a:latin typeface="Aptos"/>
              <a:ea typeface="Aptos"/>
              <a:cs typeface="Aptos"/>
            </a:endParaRPr>
          </a:p>
          <a:p>
            <a:pPr algn="ctr">
              <a:defRPr sz="14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cache</a:t>
            </a:r>
            <a:endParaRPr sz="1425" b="1">
              <a:solidFill>
                <a:srgbClr val="16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: 圆角 13"/>
          <p:cNvSpPr>
            <a:spLocks noGrp="1"/>
          </p:cNvSpPr>
          <p:nvPr/>
        </p:nvSpPr>
        <p:spPr>
          <a:xfrm>
            <a:off x="7572375" y="2400300"/>
            <a:ext cx="1428750" cy="952500"/>
          </a:xfrm>
          <a:prstGeom prst="roundRect">
            <a:avLst>
              <a:gd name="adj" fmla="val 8000"/>
            </a:avLst>
          </a:prstGeom>
          <a:solidFill>
            <a:srgbClr val="EFEFFC"/>
          </a:solidFill>
          <a:ln w="14288">
            <a:solidFill>
              <a:srgbClr val="5E5AA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705725" y="2638425"/>
            <a:ext cx="1162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4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LoRA student</a:t>
            </a:r>
            <a:endParaRPr sz="1425" b="1">
              <a:solidFill>
                <a:srgbClr val="16202A"/>
              </a:solidFill>
              <a:latin typeface="Aptos"/>
              <a:ea typeface="Aptos"/>
              <a:cs typeface="Aptos"/>
            </a:endParaRPr>
          </a:p>
          <a:p>
            <a:pPr algn="ctr">
              <a:defRPr sz="14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training</a:t>
            </a:r>
            <a:endParaRPr sz="1425" b="1">
              <a:solidFill>
                <a:srgbClr val="16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: 圆角 15"/>
          <p:cNvSpPr>
            <a:spLocks noGrp="1"/>
          </p:cNvSpPr>
          <p:nvPr/>
        </p:nvSpPr>
        <p:spPr>
          <a:xfrm>
            <a:off x="9810750" y="2400300"/>
            <a:ext cx="14287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51606D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944100" y="2638425"/>
            <a:ext cx="1162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4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Generated</a:t>
            </a:r>
            <a:endParaRPr sz="1425" b="1">
              <a:solidFill>
                <a:srgbClr val="16202A"/>
              </a:solidFill>
              <a:latin typeface="Aptos"/>
              <a:ea typeface="Aptos"/>
              <a:cs typeface="Aptos"/>
            </a:endParaRPr>
          </a:p>
          <a:p>
            <a:pPr algn="ctr">
              <a:defRPr sz="14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BVH output</a:t>
            </a:r>
            <a:endParaRPr sz="1425" b="1">
              <a:solidFill>
                <a:srgbClr val="16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2333625" y="2876550"/>
            <a:ext cx="666750" cy="0"/>
          </a:xfrm>
          <a:prstGeom prst="line">
            <a:avLst/>
          </a:prstGeom>
          <a:noFill/>
          <a:ln w="19050">
            <a:solidFill>
              <a:srgbClr val="51606D"/>
            </a:solidFill>
            <a:prstDash val="solid"/>
          </a:ln>
        </p:spPr>
      </p:sp>
      <p:sp>
        <p:nvSpPr>
          <p:cNvPr id="19" name="任意多边形: 形状 18"/>
          <p:cNvSpPr>
            <a:spLocks noGrp="1"/>
          </p:cNvSpPr>
          <p:nvPr/>
        </p:nvSpPr>
        <p:spPr>
          <a:xfrm>
            <a:off x="2931721" y="2843488"/>
            <a:ext cx="76200" cy="76200"/>
          </a:xfrm>
          <a:custGeom>
            <a:avLst/>
            <a:gdLst/>
            <a:ahLst/>
            <a:cxnLst/>
            <a:rect l="0" t="0" r="0" b="0"/>
            <a:pathLst>
              <a:path w="152400" h="152400">
                <a:moveTo>
                  <a:pt x="15240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51606D"/>
          </a:solidFill>
          <a:ln w="9525">
            <a:solidFill>
              <a:srgbClr val="51606D"/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4572000" y="2876550"/>
            <a:ext cx="666750" cy="0"/>
          </a:xfrm>
          <a:prstGeom prst="line">
            <a:avLst/>
          </a:prstGeom>
          <a:noFill/>
          <a:ln w="19050">
            <a:solidFill>
              <a:srgbClr val="51606D"/>
            </a:solidFill>
            <a:prstDash val="solid"/>
          </a:ln>
        </p:spPr>
      </p:sp>
      <p:sp>
        <p:nvSpPr>
          <p:cNvPr id="21" name="任意多边形: 形状 20"/>
          <p:cNvSpPr>
            <a:spLocks noGrp="1"/>
          </p:cNvSpPr>
          <p:nvPr/>
        </p:nvSpPr>
        <p:spPr>
          <a:xfrm>
            <a:off x="5170096" y="2843488"/>
            <a:ext cx="76200" cy="76200"/>
          </a:xfrm>
          <a:custGeom>
            <a:avLst/>
            <a:gdLst/>
            <a:ahLst/>
            <a:cxnLst/>
            <a:rect l="0" t="0" r="0" b="0"/>
            <a:pathLst>
              <a:path w="152400" h="152400">
                <a:moveTo>
                  <a:pt x="15240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51606D"/>
          </a:solidFill>
          <a:ln w="9525">
            <a:solidFill>
              <a:srgbClr val="51606D"/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6810375" y="2876550"/>
            <a:ext cx="666750" cy="0"/>
          </a:xfrm>
          <a:prstGeom prst="line">
            <a:avLst/>
          </a:prstGeom>
          <a:noFill/>
          <a:ln w="19050">
            <a:solidFill>
              <a:srgbClr val="51606D"/>
            </a:solidFill>
            <a:prstDash val="solid"/>
          </a:ln>
        </p:spPr>
      </p:sp>
      <p:sp>
        <p:nvSpPr>
          <p:cNvPr id="23" name="任意多边形: 形状 22"/>
          <p:cNvSpPr>
            <a:spLocks noGrp="1"/>
          </p:cNvSpPr>
          <p:nvPr/>
        </p:nvSpPr>
        <p:spPr>
          <a:xfrm>
            <a:off x="7408471" y="2843488"/>
            <a:ext cx="76200" cy="76200"/>
          </a:xfrm>
          <a:custGeom>
            <a:avLst/>
            <a:gdLst/>
            <a:ahLst/>
            <a:cxnLst/>
            <a:rect l="0" t="0" r="0" b="0"/>
            <a:pathLst>
              <a:path w="152400" h="152400">
                <a:moveTo>
                  <a:pt x="15240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51606D"/>
          </a:solidFill>
          <a:ln w="9525">
            <a:solidFill>
              <a:srgbClr val="51606D"/>
            </a:solidFill>
            <a:prstDash val="solid"/>
          </a:ln>
        </p:spPr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9048750" y="2876550"/>
            <a:ext cx="666750" cy="0"/>
          </a:xfrm>
          <a:prstGeom prst="line">
            <a:avLst/>
          </a:prstGeom>
          <a:noFill/>
          <a:ln w="19050">
            <a:solidFill>
              <a:srgbClr val="51606D"/>
            </a:solidFill>
            <a:prstDash val="solid"/>
          </a:ln>
        </p:spPr>
      </p:sp>
      <p:sp>
        <p:nvSpPr>
          <p:cNvPr id="25" name="任意多边形: 形状 24"/>
          <p:cNvSpPr>
            <a:spLocks noGrp="1"/>
          </p:cNvSpPr>
          <p:nvPr/>
        </p:nvSpPr>
        <p:spPr>
          <a:xfrm>
            <a:off x="9646846" y="2843488"/>
            <a:ext cx="76200" cy="76200"/>
          </a:xfrm>
          <a:custGeom>
            <a:avLst/>
            <a:gdLst/>
            <a:ahLst/>
            <a:cxnLst/>
            <a:rect l="0" t="0" r="0" b="0"/>
            <a:pathLst>
              <a:path w="152400" h="152400">
                <a:moveTo>
                  <a:pt x="15240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51606D"/>
          </a:solidFill>
          <a:ln w="9525">
            <a:solidFill>
              <a:srgbClr val="51606D"/>
            </a:solidFill>
            <a:prstDash val="solid"/>
          </a:ln>
        </p:spPr>
      </p:sp>
      <p:sp>
        <p:nvSpPr>
          <p:cNvPr id="26" name="矩形: 圆角 25"/>
          <p:cNvSpPr>
            <a:spLocks noGrp="1"/>
          </p:cNvSpPr>
          <p:nvPr/>
        </p:nvSpPr>
        <p:spPr>
          <a:xfrm>
            <a:off x="876300" y="4095749"/>
            <a:ext cx="10439400" cy="1142997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181100" y="43053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75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What the loss proves</a:t>
            </a:r>
            <a:endParaRPr sz="1575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181100" y="4629150"/>
            <a:ext cx="9791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Low cross-entropy means the student copies the cached teacher tokens. It does not by itself prove that the cached tokens are the best match for paired HumanML3D motion.</a:t>
            </a:r>
            <a:endParaRPr sz="1500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/>
          <p:cNvSpPr>
            <a:spLocks noGrp="1"/>
          </p:cNvSpPr>
          <p:nvPr/>
        </p:nvSpPr>
        <p:spPr>
          <a:xfrm>
            <a:off x="685800" y="400050"/>
            <a:ext cx="266700" cy="38100"/>
          </a:xfrm>
          <a:prstGeom prst="rect">
            <a:avLst/>
          </a:prstGeom>
          <a:solidFill>
            <a:srgbClr val="0D8B8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1104900" y="30480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D8B8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D8B8B"/>
                </a:solidFill>
                <a:latin typeface="Aptos Display"/>
                <a:ea typeface="Aptos Display"/>
                <a:cs typeface="Aptos Display"/>
              </a:rPr>
              <a:t>PROPOSED BRIDGE</a:t>
            </a:r>
            <a:endParaRPr sz="975" b="1">
              <a:solidFill>
                <a:srgbClr val="0D8B8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9906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24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Use HumanML3D motion to choose among valid teacher token candidates</a:t>
            </a:r>
            <a:endParaRPr sz="24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619250"/>
            <a:ext cx="904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The motion never becomes a token label; it selects among tokens that the teacher can already generate.</a:t>
            </a:r>
            <a:endParaRPr sz="1350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85800" y="6343650"/>
            <a:ext cx="10820400" cy="11430"/>
          </a:xfrm>
          <a:prstGeom prst="line">
            <a:avLst/>
          </a:prstGeom>
          <a:noFill/>
          <a:ln w="11430">
            <a:solidFill>
              <a:srgbClr val="CDD5DF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419850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7180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08E"/>
                </a:solidFill>
                <a:latin typeface="Aptos"/>
                <a:ea typeface="Aptos"/>
                <a:cs typeface="Aptos"/>
              </a:rPr>
              <a:t>HumanML3D Motion-Guided Teacher Selection</a:t>
            </a:r>
            <a:endParaRPr sz="900" b="0">
              <a:solidFill>
                <a:srgbClr val="7180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810875" y="6419850"/>
            <a:ext cx="714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0">
                <a:solidFill>
                  <a:srgbClr val="7180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08E"/>
                </a:solidFill>
                <a:latin typeface="Aptos"/>
                <a:ea typeface="Aptos"/>
                <a:cs typeface="Aptos"/>
              </a:rPr>
              <a:t>6 / 16</a:t>
            </a:r>
            <a:endParaRPr sz="900" b="0">
              <a:solidFill>
                <a:srgbClr val="7180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: 圆角 7"/>
          <p:cNvSpPr>
            <a:spLocks noGrp="1"/>
          </p:cNvSpPr>
          <p:nvPr/>
        </p:nvSpPr>
        <p:spPr>
          <a:xfrm>
            <a:off x="704850" y="2190750"/>
            <a:ext cx="1504950" cy="1466850"/>
          </a:xfrm>
          <a:prstGeom prst="roundRect">
            <a:avLst>
              <a:gd name="adj" fmla="val 5195"/>
            </a:avLst>
          </a:prstGeom>
          <a:solidFill>
            <a:srgbClr val="EAF6ED"/>
          </a:solidFill>
          <a:ln w="11430">
            <a:solidFill>
              <a:srgbClr val="3E8A52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57250" y="23241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800" b="1">
                <a:solidFill>
                  <a:srgbClr val="3E8A5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E8A52"/>
                </a:solidFill>
                <a:latin typeface="Aptos"/>
                <a:ea typeface="Aptos"/>
                <a:cs typeface="Aptos"/>
              </a:rPr>
              <a:t>1</a:t>
            </a:r>
            <a:endParaRPr sz="1800" b="1">
              <a:solidFill>
                <a:srgbClr val="3E8A5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57250" y="2667000"/>
            <a:ext cx="1200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20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HumanML row</a:t>
            </a:r>
            <a:endParaRPr sz="1200" b="1">
              <a:solidFill>
                <a:srgbClr val="16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38200" y="3086100"/>
            <a:ext cx="1238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90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1606D"/>
                </a:solidFill>
                <a:latin typeface="Aptos"/>
                <a:ea typeface="Aptos"/>
                <a:cs typeface="Aptos"/>
              </a:rPr>
              <a:t>caption + paired motion</a:t>
            </a:r>
            <a:endParaRPr sz="1200" b="0" dirty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2286000" y="2924175"/>
            <a:ext cx="152400" cy="0"/>
          </a:xfrm>
          <a:prstGeom prst="line">
            <a:avLst/>
          </a:prstGeom>
          <a:noFill/>
          <a:ln w="19050">
            <a:solidFill>
              <a:srgbClr val="51606D"/>
            </a:solidFill>
            <a:prstDash val="solid"/>
          </a:ln>
        </p:spPr>
      </p:sp>
      <p:sp>
        <p:nvSpPr>
          <p:cNvPr id="13" name="任意多边形: 形状 12"/>
          <p:cNvSpPr>
            <a:spLocks noGrp="1"/>
          </p:cNvSpPr>
          <p:nvPr/>
        </p:nvSpPr>
        <p:spPr>
          <a:xfrm>
            <a:off x="2369746" y="2891113"/>
            <a:ext cx="76200" cy="76200"/>
          </a:xfrm>
          <a:custGeom>
            <a:avLst/>
            <a:gdLst/>
            <a:ahLst/>
            <a:cxnLst/>
            <a:rect l="0" t="0" r="0" b="0"/>
            <a:pathLst>
              <a:path w="152400" h="152400">
                <a:moveTo>
                  <a:pt x="15240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51606D"/>
          </a:solidFill>
          <a:ln w="9525">
            <a:solidFill>
              <a:srgbClr val="51606D"/>
            </a:solidFill>
            <a:prstDash val="solid"/>
          </a:ln>
        </p:spPr>
      </p:sp>
      <p:sp>
        <p:nvSpPr>
          <p:cNvPr id="14" name="矩形: 圆角 13"/>
          <p:cNvSpPr>
            <a:spLocks noGrp="1"/>
          </p:cNvSpPr>
          <p:nvPr/>
        </p:nvSpPr>
        <p:spPr>
          <a:xfrm>
            <a:off x="2514600" y="2190750"/>
            <a:ext cx="1504950" cy="1466850"/>
          </a:xfrm>
          <a:prstGeom prst="roundRect">
            <a:avLst>
              <a:gd name="adj" fmla="val 5195"/>
            </a:avLst>
          </a:prstGeom>
          <a:solidFill>
            <a:srgbClr val="EAF4FA"/>
          </a:solidFill>
          <a:ln w="11430">
            <a:solidFill>
              <a:srgbClr val="1E6B9E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667000" y="23241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8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2</a:t>
            </a:r>
            <a:endParaRPr sz="1800" b="1">
              <a:solidFill>
                <a:srgbClr val="1E6B9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667000" y="2667000"/>
            <a:ext cx="1200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20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16202A"/>
                </a:solidFill>
                <a:latin typeface="Aptos"/>
                <a:ea typeface="Aptos"/>
                <a:cs typeface="Aptos"/>
              </a:rPr>
              <a:t>Teacher samples</a:t>
            </a:r>
            <a:endParaRPr sz="1200" b="1" dirty="0">
              <a:solidFill>
                <a:srgbClr val="16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647950" y="3086100"/>
            <a:ext cx="1238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90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1606D"/>
                </a:solidFill>
                <a:latin typeface="Aptos"/>
                <a:ea typeface="Aptos"/>
                <a:cs typeface="Aptos"/>
              </a:rPr>
              <a:t>multiple token candidates</a:t>
            </a:r>
            <a:endParaRPr sz="1200" b="0" dirty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4095750" y="2924175"/>
            <a:ext cx="152400" cy="0"/>
          </a:xfrm>
          <a:prstGeom prst="line">
            <a:avLst/>
          </a:prstGeom>
          <a:noFill/>
          <a:ln w="19050">
            <a:solidFill>
              <a:srgbClr val="51606D"/>
            </a:solidFill>
            <a:prstDash val="solid"/>
          </a:ln>
        </p:spPr>
      </p:sp>
      <p:sp>
        <p:nvSpPr>
          <p:cNvPr id="19" name="任意多边形: 形状 18"/>
          <p:cNvSpPr>
            <a:spLocks noGrp="1"/>
          </p:cNvSpPr>
          <p:nvPr/>
        </p:nvSpPr>
        <p:spPr>
          <a:xfrm>
            <a:off x="4179496" y="2891113"/>
            <a:ext cx="76200" cy="76200"/>
          </a:xfrm>
          <a:custGeom>
            <a:avLst/>
            <a:gdLst/>
            <a:ahLst/>
            <a:cxnLst/>
            <a:rect l="0" t="0" r="0" b="0"/>
            <a:pathLst>
              <a:path w="152400" h="152400">
                <a:moveTo>
                  <a:pt x="15240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51606D"/>
          </a:solidFill>
          <a:ln w="9525">
            <a:solidFill>
              <a:srgbClr val="51606D"/>
            </a:solidFill>
            <a:prstDash val="solid"/>
          </a:ln>
        </p:spPr>
      </p:sp>
      <p:sp>
        <p:nvSpPr>
          <p:cNvPr id="20" name="矩形: 圆角 19"/>
          <p:cNvSpPr>
            <a:spLocks noGrp="1"/>
          </p:cNvSpPr>
          <p:nvPr/>
        </p:nvSpPr>
        <p:spPr>
          <a:xfrm>
            <a:off x="4324350" y="2190750"/>
            <a:ext cx="1504950" cy="1466850"/>
          </a:xfrm>
          <a:prstGeom prst="roundRect">
            <a:avLst>
              <a:gd name="adj" fmla="val 5195"/>
            </a:avLst>
          </a:prstGeom>
          <a:solidFill>
            <a:srgbClr val="FFF4E1"/>
          </a:solidFill>
          <a:ln w="11430">
            <a:solidFill>
              <a:srgbClr val="C98216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476750" y="23241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800" b="1">
                <a:solidFill>
                  <a:srgbClr val="C9821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98216"/>
                </a:solidFill>
                <a:latin typeface="Aptos"/>
                <a:ea typeface="Aptos"/>
                <a:cs typeface="Aptos"/>
              </a:rPr>
              <a:t>3</a:t>
            </a:r>
            <a:endParaRPr sz="1800" b="1">
              <a:solidFill>
                <a:srgbClr val="C9821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476750" y="2667000"/>
            <a:ext cx="1200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20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Decode candidates</a:t>
            </a:r>
            <a:endParaRPr sz="1200" b="1">
              <a:solidFill>
                <a:srgbClr val="16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457700" y="3086100"/>
            <a:ext cx="1238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90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1606D"/>
                </a:solidFill>
                <a:latin typeface="Aptos"/>
                <a:ea typeface="Aptos"/>
                <a:cs typeface="Aptos"/>
              </a:rPr>
              <a:t>token -&gt; BVH motion</a:t>
            </a:r>
            <a:endParaRPr sz="1200" b="0" dirty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5905500" y="2924175"/>
            <a:ext cx="152400" cy="0"/>
          </a:xfrm>
          <a:prstGeom prst="line">
            <a:avLst/>
          </a:prstGeom>
          <a:noFill/>
          <a:ln w="19050">
            <a:solidFill>
              <a:srgbClr val="51606D"/>
            </a:solidFill>
            <a:prstDash val="solid"/>
          </a:ln>
        </p:spPr>
      </p:sp>
      <p:sp>
        <p:nvSpPr>
          <p:cNvPr id="25" name="任意多边形: 形状 24"/>
          <p:cNvSpPr>
            <a:spLocks noGrp="1"/>
          </p:cNvSpPr>
          <p:nvPr/>
        </p:nvSpPr>
        <p:spPr>
          <a:xfrm>
            <a:off x="5989246" y="2891113"/>
            <a:ext cx="76200" cy="76200"/>
          </a:xfrm>
          <a:custGeom>
            <a:avLst/>
            <a:gdLst/>
            <a:ahLst/>
            <a:cxnLst/>
            <a:rect l="0" t="0" r="0" b="0"/>
            <a:pathLst>
              <a:path w="152400" h="152400">
                <a:moveTo>
                  <a:pt x="15240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51606D"/>
          </a:solidFill>
          <a:ln w="9525">
            <a:solidFill>
              <a:srgbClr val="51606D"/>
            </a:solidFill>
            <a:prstDash val="solid"/>
          </a:ln>
        </p:spPr>
      </p:sp>
      <p:sp>
        <p:nvSpPr>
          <p:cNvPr id="26" name="矩形: 圆角 25"/>
          <p:cNvSpPr>
            <a:spLocks noGrp="1"/>
          </p:cNvSpPr>
          <p:nvPr/>
        </p:nvSpPr>
        <p:spPr>
          <a:xfrm>
            <a:off x="6134100" y="2190750"/>
            <a:ext cx="1504950" cy="1466850"/>
          </a:xfrm>
          <a:prstGeom prst="roundRect">
            <a:avLst>
              <a:gd name="adj" fmla="val 5195"/>
            </a:avLst>
          </a:prstGeom>
          <a:solidFill>
            <a:srgbClr val="E8F6F3"/>
          </a:solidFill>
          <a:ln w="11430">
            <a:solidFill>
              <a:srgbClr val="0D8B8B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286500" y="23241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800" b="1">
                <a:solidFill>
                  <a:srgbClr val="0D8B8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D8B8B"/>
                </a:solidFill>
                <a:latin typeface="Aptos"/>
                <a:ea typeface="Aptos"/>
                <a:cs typeface="Aptos"/>
              </a:rPr>
              <a:t>4</a:t>
            </a:r>
            <a:endParaRPr sz="1800" b="1">
              <a:solidFill>
                <a:srgbClr val="0D8B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286500" y="2667000"/>
            <a:ext cx="1200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20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Extract shared features</a:t>
            </a:r>
            <a:endParaRPr sz="1200" b="1">
              <a:solidFill>
                <a:srgbClr val="16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267450" y="3086100"/>
            <a:ext cx="1238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90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1606D"/>
                </a:solidFill>
                <a:latin typeface="Aptos"/>
                <a:ea typeface="Aptos"/>
                <a:cs typeface="Aptos"/>
              </a:rPr>
              <a:t>speed, range, jerk, duration</a:t>
            </a:r>
            <a:endParaRPr sz="1200" b="0" dirty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7715250" y="2924175"/>
            <a:ext cx="152400" cy="0"/>
          </a:xfrm>
          <a:prstGeom prst="line">
            <a:avLst/>
          </a:prstGeom>
          <a:noFill/>
          <a:ln w="19050">
            <a:solidFill>
              <a:srgbClr val="51606D"/>
            </a:solidFill>
            <a:prstDash val="solid"/>
          </a:ln>
        </p:spPr>
      </p:sp>
      <p:sp>
        <p:nvSpPr>
          <p:cNvPr id="31" name="任意多边形: 形状 30"/>
          <p:cNvSpPr>
            <a:spLocks noGrp="1"/>
          </p:cNvSpPr>
          <p:nvPr/>
        </p:nvSpPr>
        <p:spPr>
          <a:xfrm>
            <a:off x="7798996" y="2891113"/>
            <a:ext cx="76200" cy="76200"/>
          </a:xfrm>
          <a:custGeom>
            <a:avLst/>
            <a:gdLst/>
            <a:ahLst/>
            <a:cxnLst/>
            <a:rect l="0" t="0" r="0" b="0"/>
            <a:pathLst>
              <a:path w="152400" h="152400">
                <a:moveTo>
                  <a:pt x="15240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51606D"/>
          </a:solidFill>
          <a:ln w="9525">
            <a:solidFill>
              <a:srgbClr val="51606D"/>
            </a:solidFill>
            <a:prstDash val="solid"/>
          </a:ln>
        </p:spPr>
      </p:sp>
      <p:sp>
        <p:nvSpPr>
          <p:cNvPr id="32" name="矩形: 圆角 31"/>
          <p:cNvSpPr>
            <a:spLocks noGrp="1"/>
          </p:cNvSpPr>
          <p:nvPr/>
        </p:nvSpPr>
        <p:spPr>
          <a:xfrm>
            <a:off x="7943850" y="2190750"/>
            <a:ext cx="1504950" cy="1466850"/>
          </a:xfrm>
          <a:prstGeom prst="roundRect">
            <a:avLst>
              <a:gd name="adj" fmla="val 5195"/>
            </a:avLst>
          </a:prstGeom>
          <a:solidFill>
            <a:srgbClr val="FCEBEB"/>
          </a:solidFill>
          <a:ln w="11430">
            <a:solidFill>
              <a:srgbClr val="B64B4B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096250" y="23241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800" b="1">
                <a:solidFill>
                  <a:srgbClr val="B64B4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64B4B"/>
                </a:solidFill>
                <a:latin typeface="Aptos"/>
                <a:ea typeface="Aptos"/>
                <a:cs typeface="Aptos"/>
              </a:rPr>
              <a:t>5</a:t>
            </a:r>
            <a:endParaRPr sz="1800" b="1">
              <a:solidFill>
                <a:srgbClr val="B64B4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096250" y="2667000"/>
            <a:ext cx="1200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20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Select target</a:t>
            </a:r>
            <a:endParaRPr sz="1200" b="1">
              <a:solidFill>
                <a:srgbClr val="16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077200" y="3086100"/>
            <a:ext cx="1238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90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1606D"/>
                </a:solidFill>
                <a:latin typeface="Aptos"/>
                <a:ea typeface="Aptos"/>
                <a:cs typeface="Aptos"/>
              </a:rPr>
              <a:t>closest to paired </a:t>
            </a:r>
            <a:r>
              <a:rPr sz="1200" b="0" dirty="0" err="1">
                <a:solidFill>
                  <a:srgbClr val="51606D"/>
                </a:solidFill>
                <a:latin typeface="Aptos"/>
                <a:ea typeface="Aptos"/>
                <a:cs typeface="Aptos"/>
              </a:rPr>
              <a:t>HumanML</a:t>
            </a:r>
            <a:r>
              <a:rPr sz="1200" b="0" dirty="0">
                <a:solidFill>
                  <a:srgbClr val="51606D"/>
                </a:solidFill>
                <a:latin typeface="Aptos"/>
                <a:ea typeface="Aptos"/>
                <a:cs typeface="Aptos"/>
              </a:rPr>
              <a:t> stats</a:t>
            </a:r>
            <a:endParaRPr sz="1200" b="0" dirty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9525000" y="2924175"/>
            <a:ext cx="152400" cy="0"/>
          </a:xfrm>
          <a:prstGeom prst="line">
            <a:avLst/>
          </a:prstGeom>
          <a:noFill/>
          <a:ln w="19050">
            <a:solidFill>
              <a:srgbClr val="51606D"/>
            </a:solidFill>
            <a:prstDash val="solid"/>
          </a:ln>
        </p:spPr>
      </p:sp>
      <p:sp>
        <p:nvSpPr>
          <p:cNvPr id="37" name="任意多边形: 形状 36"/>
          <p:cNvSpPr>
            <a:spLocks noGrp="1"/>
          </p:cNvSpPr>
          <p:nvPr/>
        </p:nvSpPr>
        <p:spPr>
          <a:xfrm>
            <a:off x="9608746" y="2891113"/>
            <a:ext cx="76200" cy="76200"/>
          </a:xfrm>
          <a:custGeom>
            <a:avLst/>
            <a:gdLst/>
            <a:ahLst/>
            <a:cxnLst/>
            <a:rect l="0" t="0" r="0" b="0"/>
            <a:pathLst>
              <a:path w="152400" h="152400">
                <a:moveTo>
                  <a:pt x="15240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51606D"/>
          </a:solidFill>
          <a:ln w="9525">
            <a:solidFill>
              <a:srgbClr val="51606D"/>
            </a:solidFill>
            <a:prstDash val="solid"/>
          </a:ln>
        </p:spPr>
      </p:sp>
      <p:sp>
        <p:nvSpPr>
          <p:cNvPr id="38" name="矩形: 圆角 37"/>
          <p:cNvSpPr>
            <a:spLocks noGrp="1"/>
          </p:cNvSpPr>
          <p:nvPr/>
        </p:nvSpPr>
        <p:spPr>
          <a:xfrm>
            <a:off x="9753600" y="2190750"/>
            <a:ext cx="1504950" cy="1466850"/>
          </a:xfrm>
          <a:prstGeom prst="roundRect">
            <a:avLst>
              <a:gd name="adj" fmla="val 5195"/>
            </a:avLst>
          </a:prstGeom>
          <a:solidFill>
            <a:srgbClr val="EFEFFC"/>
          </a:solidFill>
          <a:ln w="11430">
            <a:solidFill>
              <a:srgbClr val="5E5AA8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9906000" y="23241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800" b="1">
                <a:solidFill>
                  <a:srgbClr val="5E5AA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5AA8"/>
                </a:solidFill>
                <a:latin typeface="Aptos"/>
                <a:ea typeface="Aptos"/>
                <a:cs typeface="Aptos"/>
              </a:rPr>
              <a:t>6</a:t>
            </a:r>
            <a:endParaRPr sz="1800" b="1">
              <a:solidFill>
                <a:srgbClr val="5E5AA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9906000" y="2667000"/>
            <a:ext cx="1200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20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Train student</a:t>
            </a:r>
            <a:endParaRPr sz="1200" b="1">
              <a:solidFill>
                <a:srgbClr val="16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9886950" y="3086100"/>
            <a:ext cx="1238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90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200" b="0" dirty="0" err="1">
                <a:solidFill>
                  <a:srgbClr val="51606D"/>
                </a:solidFill>
                <a:latin typeface="Aptos"/>
                <a:ea typeface="Aptos"/>
                <a:cs typeface="Aptos"/>
              </a:rPr>
              <a:t>LoRA</a:t>
            </a:r>
            <a:r>
              <a:rPr sz="1200" b="0" dirty="0">
                <a:solidFill>
                  <a:srgbClr val="51606D"/>
                </a:solidFill>
                <a:latin typeface="Aptos"/>
                <a:ea typeface="Aptos"/>
                <a:cs typeface="Aptos"/>
              </a:rPr>
              <a:t> learns selected tokens</a:t>
            </a:r>
            <a:endParaRPr sz="1200" b="0" dirty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" name="直接连接符 41"/>
          <p:cNvSpPr>
            <a:spLocks noGrp="1"/>
          </p:cNvSpPr>
          <p:nvPr/>
        </p:nvSpPr>
        <p:spPr>
          <a:xfrm>
            <a:off x="11334750" y="2924175"/>
            <a:ext cx="152400" cy="0"/>
          </a:xfrm>
          <a:prstGeom prst="line">
            <a:avLst/>
          </a:prstGeom>
          <a:noFill/>
          <a:ln w="19050">
            <a:solidFill>
              <a:srgbClr val="51606D"/>
            </a:solidFill>
            <a:prstDash val="solid"/>
          </a:ln>
        </p:spPr>
      </p:sp>
      <p:sp>
        <p:nvSpPr>
          <p:cNvPr id="43" name="任意多边形: 形状 42"/>
          <p:cNvSpPr>
            <a:spLocks noGrp="1"/>
          </p:cNvSpPr>
          <p:nvPr/>
        </p:nvSpPr>
        <p:spPr>
          <a:xfrm>
            <a:off x="11418496" y="2891113"/>
            <a:ext cx="76200" cy="76200"/>
          </a:xfrm>
          <a:custGeom>
            <a:avLst/>
            <a:gdLst/>
            <a:ahLst/>
            <a:cxnLst/>
            <a:rect l="0" t="0" r="0" b="0"/>
            <a:pathLst>
              <a:path w="152400" h="152400">
                <a:moveTo>
                  <a:pt x="15240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51606D"/>
          </a:solidFill>
          <a:ln w="9525">
            <a:solidFill>
              <a:srgbClr val="51606D"/>
            </a:solidFill>
            <a:prstDash val="solid"/>
          </a:ln>
        </p:spPr>
      </p:sp>
      <p:sp>
        <p:nvSpPr>
          <p:cNvPr id="44" name="矩形: 圆角 43"/>
          <p:cNvSpPr>
            <a:spLocks noGrp="1"/>
          </p:cNvSpPr>
          <p:nvPr/>
        </p:nvSpPr>
        <p:spPr>
          <a:xfrm>
            <a:off x="1485900" y="4362450"/>
            <a:ext cx="9220200" cy="781050"/>
          </a:xfrm>
          <a:prstGeom prst="roundRect">
            <a:avLst>
              <a:gd name="adj" fmla="val 9756"/>
            </a:avLst>
          </a:prstGeom>
          <a:solidFill>
            <a:srgbClr val="17324D"/>
          </a:solidFill>
          <a:ln w="9525">
            <a:solidFill>
              <a:srgbClr val="17324D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828800" y="45910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Key conversion: BVH and HumanML3D are both mapped to the same partial feature set; the selected token then goes back into LoRA training.</a:t>
            </a:r>
            <a:endParaRPr sz="15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>
            <a:spLocks noGrp="1"/>
          </p:cNvSpPr>
          <p:nvPr/>
        </p:nvSpPr>
        <p:spPr>
          <a:xfrm>
            <a:off x="685800" y="400050"/>
            <a:ext cx="266700" cy="38100"/>
          </a:xfrm>
          <a:prstGeom prst="rect">
            <a:avLst/>
          </a:prstGeom>
          <a:solidFill>
            <a:srgbClr val="0D8B8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1104900" y="30480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D8B8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D8B8B"/>
                </a:solidFill>
                <a:latin typeface="Aptos Display"/>
                <a:ea typeface="Aptos Display"/>
                <a:cs typeface="Aptos Display"/>
              </a:rPr>
              <a:t>LAYER-BY-LAYER CONVERSION</a:t>
            </a:r>
            <a:endParaRPr sz="975" b="1">
              <a:solidFill>
                <a:srgbClr val="0D8B8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9906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24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What changes representation, and what stays in the same space?</a:t>
            </a:r>
            <a:endParaRPr sz="24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295400"/>
            <a:ext cx="904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51606D"/>
                </a:solidFill>
                <a:latin typeface="Aptos"/>
                <a:ea typeface="Aptos"/>
                <a:cs typeface="Aptos"/>
              </a:rPr>
              <a:t>This table makes the pipeline explicit enough to explain aloud.</a:t>
            </a:r>
            <a:endParaRPr sz="1350" b="0" dirty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85800" y="6343650"/>
            <a:ext cx="10820400" cy="11430"/>
          </a:xfrm>
          <a:prstGeom prst="line">
            <a:avLst/>
          </a:prstGeom>
          <a:noFill/>
          <a:ln w="11430">
            <a:solidFill>
              <a:srgbClr val="CDD5DF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419850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7180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08E"/>
                </a:solidFill>
                <a:latin typeface="Aptos"/>
                <a:ea typeface="Aptos"/>
                <a:cs typeface="Aptos"/>
              </a:rPr>
              <a:t>HumanML3D Motion-Guided Teacher Selection</a:t>
            </a:r>
            <a:endParaRPr sz="900" b="0">
              <a:solidFill>
                <a:srgbClr val="7180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810875" y="6419850"/>
            <a:ext cx="714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0">
                <a:solidFill>
                  <a:srgbClr val="7180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08E"/>
                </a:solidFill>
                <a:latin typeface="Aptos"/>
                <a:ea typeface="Aptos"/>
                <a:cs typeface="Aptos"/>
              </a:rPr>
              <a:t>7 / 16</a:t>
            </a:r>
            <a:endParaRPr sz="900" b="0">
              <a:solidFill>
                <a:srgbClr val="7180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1809750"/>
            <a:ext cx="2381250" cy="419100"/>
          </a:xfrm>
          <a:prstGeom prst="rect">
            <a:avLst/>
          </a:prstGeom>
          <a:solidFill>
            <a:srgbClr val="17324D"/>
          </a:solidFill>
          <a:ln w="9525">
            <a:solidFill>
              <a:srgbClr val="17324D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76300" y="1924050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Object</a:t>
            </a:r>
            <a:endParaRPr sz="1200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143250" y="1809750"/>
            <a:ext cx="2857500" cy="419100"/>
          </a:xfrm>
          <a:prstGeom prst="rect">
            <a:avLst/>
          </a:prstGeom>
          <a:solidFill>
            <a:srgbClr val="17324D"/>
          </a:solidFill>
          <a:ln w="9525">
            <a:solidFill>
              <a:srgbClr val="17324D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257550" y="1924050"/>
            <a:ext cx="2628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Representation layer</a:t>
            </a:r>
            <a:endParaRPr sz="1200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00750" y="1809750"/>
            <a:ext cx="2952750" cy="419100"/>
          </a:xfrm>
          <a:prstGeom prst="rect">
            <a:avLst/>
          </a:prstGeom>
          <a:solidFill>
            <a:srgbClr val="17324D"/>
          </a:solidFill>
          <a:ln w="9525">
            <a:solidFill>
              <a:srgbClr val="17324D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115050" y="1924050"/>
            <a:ext cx="2724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Role in method</a:t>
            </a:r>
            <a:endParaRPr sz="1200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953500" y="1809750"/>
            <a:ext cx="2095500" cy="419100"/>
          </a:xfrm>
          <a:prstGeom prst="rect">
            <a:avLst/>
          </a:prstGeom>
          <a:solidFill>
            <a:srgbClr val="17324D"/>
          </a:solidFill>
          <a:ln w="9525">
            <a:solidFill>
              <a:srgbClr val="17324D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067800" y="1924050"/>
            <a:ext cx="1866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Conversion</a:t>
            </a:r>
            <a:endParaRPr sz="1200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62000" y="2228850"/>
            <a:ext cx="23812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76300" y="2362200"/>
            <a:ext cx="2152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16202A"/>
                </a:solidFill>
                <a:latin typeface="Aptos"/>
                <a:ea typeface="Aptos"/>
                <a:cs typeface="Aptos"/>
              </a:rPr>
              <a:t>Caption text</a:t>
            </a:r>
            <a:endParaRPr sz="1200" b="1" dirty="0">
              <a:solidFill>
                <a:srgbClr val="16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143250" y="2228850"/>
            <a:ext cx="2857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3257550" y="2362200"/>
            <a:ext cx="2628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16202A"/>
                </a:solidFill>
                <a:latin typeface="Aptos"/>
                <a:ea typeface="Aptos"/>
                <a:cs typeface="Aptos"/>
              </a:rPr>
              <a:t>Natural language</a:t>
            </a:r>
            <a:endParaRPr sz="1200" b="0" dirty="0">
              <a:solidFill>
                <a:srgbClr val="16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00750" y="2228850"/>
            <a:ext cx="29527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115050" y="2362200"/>
            <a:ext cx="2724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Condition teacher generation</a:t>
            </a:r>
            <a:endParaRPr sz="1200" b="0">
              <a:solidFill>
                <a:srgbClr val="16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953500" y="2228850"/>
            <a:ext cx="2095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067800" y="2362200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text stays text</a:t>
            </a:r>
            <a:endParaRPr sz="1200" b="0">
              <a:solidFill>
                <a:srgbClr val="16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62000" y="2895600"/>
            <a:ext cx="2381250" cy="666750"/>
          </a:xfrm>
          <a:prstGeom prst="rect">
            <a:avLst/>
          </a:prstGeom>
          <a:solidFill>
            <a:srgbClr val="F0F4F7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76300" y="3028950"/>
            <a:ext cx="2152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16202A"/>
                </a:solidFill>
                <a:latin typeface="Aptos"/>
                <a:ea typeface="Aptos"/>
                <a:cs typeface="Aptos"/>
              </a:rPr>
              <a:t>Teacher candidates</a:t>
            </a:r>
            <a:endParaRPr sz="1200" b="1" dirty="0">
              <a:solidFill>
                <a:srgbClr val="16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143250" y="2895600"/>
            <a:ext cx="2857500" cy="666750"/>
          </a:xfrm>
          <a:prstGeom prst="rect">
            <a:avLst/>
          </a:prstGeom>
          <a:solidFill>
            <a:srgbClr val="F0F4F7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3257550" y="3028950"/>
            <a:ext cx="2628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16202A"/>
                </a:solidFill>
                <a:latin typeface="Aptos"/>
                <a:ea typeface="Aptos"/>
                <a:cs typeface="Aptos"/>
              </a:rPr>
              <a:t>Discrete </a:t>
            </a:r>
            <a:r>
              <a:rPr sz="1200" b="0" dirty="0" err="1">
                <a:solidFill>
                  <a:srgbClr val="16202A"/>
                </a:solidFill>
                <a:latin typeface="Aptos"/>
                <a:ea typeface="Aptos"/>
                <a:cs typeface="Aptos"/>
              </a:rPr>
              <a:t>MoConVQ</a:t>
            </a:r>
            <a:r>
              <a:rPr sz="1200" b="0" dirty="0">
                <a:solidFill>
                  <a:srgbClr val="16202A"/>
                </a:solidFill>
                <a:latin typeface="Aptos"/>
                <a:ea typeface="Aptos"/>
                <a:cs typeface="Aptos"/>
              </a:rPr>
              <a:t> token IDs</a:t>
            </a:r>
            <a:endParaRPr sz="1200" b="0" dirty="0">
              <a:solidFill>
                <a:srgbClr val="16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000750" y="2895600"/>
            <a:ext cx="2952750" cy="666750"/>
          </a:xfrm>
          <a:prstGeom prst="rect">
            <a:avLst/>
          </a:prstGeom>
          <a:solidFill>
            <a:srgbClr val="F0F4F7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115050" y="3028950"/>
            <a:ext cx="2724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Legal pseudo-label candidates</a:t>
            </a:r>
            <a:endParaRPr sz="1200" b="0">
              <a:solidFill>
                <a:srgbClr val="16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953500" y="2895600"/>
            <a:ext cx="2095500" cy="666750"/>
          </a:xfrm>
          <a:prstGeom prst="rect">
            <a:avLst/>
          </a:prstGeom>
          <a:solidFill>
            <a:srgbClr val="F0F4F7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067800" y="3028950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token space</a:t>
            </a:r>
            <a:endParaRPr sz="1200" b="0">
              <a:solidFill>
                <a:srgbClr val="16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62000" y="3562350"/>
            <a:ext cx="23812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76300" y="3695700"/>
            <a:ext cx="2152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16202A"/>
                </a:solidFill>
                <a:latin typeface="Aptos"/>
                <a:ea typeface="Aptos"/>
                <a:cs typeface="Aptos"/>
              </a:rPr>
              <a:t>Decoded candidates</a:t>
            </a:r>
            <a:endParaRPr sz="1200" b="1" dirty="0">
              <a:solidFill>
                <a:srgbClr val="16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143250" y="3562350"/>
            <a:ext cx="2857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3257550" y="3695700"/>
            <a:ext cx="2628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BVH -&gt; feature subset</a:t>
            </a:r>
            <a:endParaRPr sz="1200" b="0">
              <a:solidFill>
                <a:srgbClr val="16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000750" y="3562350"/>
            <a:ext cx="29527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115050" y="3695700"/>
            <a:ext cx="2724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root speed, path length, velocity, jerk</a:t>
            </a:r>
            <a:endParaRPr sz="1200" b="0">
              <a:solidFill>
                <a:srgbClr val="16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953500" y="3562350"/>
            <a:ext cx="2095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9067800" y="3695700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0D8B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D8B8B"/>
                </a:solidFill>
                <a:latin typeface="Aptos"/>
                <a:ea typeface="Aptos"/>
                <a:cs typeface="Aptos"/>
              </a:rPr>
              <a:t>BVH -&gt; stats</a:t>
            </a:r>
            <a:endParaRPr sz="1200" b="0">
              <a:solidFill>
                <a:srgbClr val="0D8B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62000" y="4229100"/>
            <a:ext cx="2381250" cy="666750"/>
          </a:xfrm>
          <a:prstGeom prst="rect">
            <a:avLst/>
          </a:prstGeom>
          <a:solidFill>
            <a:srgbClr val="F0F4F7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76300" y="4362450"/>
            <a:ext cx="2152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16202A"/>
                </a:solidFill>
                <a:latin typeface="Aptos"/>
                <a:ea typeface="Aptos"/>
                <a:cs typeface="Aptos"/>
              </a:rPr>
              <a:t>HumanML3D paired motion</a:t>
            </a:r>
            <a:endParaRPr sz="1200" b="1" dirty="0">
              <a:solidFill>
                <a:srgbClr val="16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3143250" y="4229100"/>
            <a:ext cx="2857500" cy="666750"/>
          </a:xfrm>
          <a:prstGeom prst="rect">
            <a:avLst/>
          </a:prstGeom>
          <a:solidFill>
            <a:srgbClr val="F0F4F7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3257550" y="4362450"/>
            <a:ext cx="2628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263-D motion -&gt; same subset</a:t>
            </a:r>
            <a:endParaRPr sz="1200" b="0">
              <a:solidFill>
                <a:srgbClr val="16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000750" y="4229100"/>
            <a:ext cx="2952750" cy="666750"/>
          </a:xfrm>
          <a:prstGeom prst="rect">
            <a:avLst/>
          </a:prstGeom>
          <a:solidFill>
            <a:srgbClr val="F0F4F7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6115050" y="4362450"/>
            <a:ext cx="2724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duration, acceleration, vertical range</a:t>
            </a:r>
            <a:endParaRPr sz="1200" b="0">
              <a:solidFill>
                <a:srgbClr val="16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8953500" y="4229100"/>
            <a:ext cx="2095500" cy="666750"/>
          </a:xfrm>
          <a:prstGeom prst="rect">
            <a:avLst/>
          </a:prstGeom>
          <a:solidFill>
            <a:srgbClr val="F0F4F7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9067800" y="4362450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0D8B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D8B8B"/>
                </a:solidFill>
                <a:latin typeface="Aptos"/>
                <a:ea typeface="Aptos"/>
                <a:cs typeface="Aptos"/>
              </a:rPr>
              <a:t>HumanML -&gt; stats</a:t>
            </a:r>
            <a:endParaRPr sz="1200" b="0">
              <a:solidFill>
                <a:srgbClr val="0D8B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762000" y="4895850"/>
            <a:ext cx="23812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876300" y="5029200"/>
            <a:ext cx="2152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16202A"/>
                </a:solidFill>
                <a:latin typeface="Aptos"/>
                <a:ea typeface="Aptos"/>
                <a:cs typeface="Aptos"/>
              </a:rPr>
              <a:t>Selected target</a:t>
            </a:r>
            <a:endParaRPr sz="1200" b="1" dirty="0">
              <a:solidFill>
                <a:srgbClr val="16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3143250" y="4895850"/>
            <a:ext cx="2857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3257550" y="5029200"/>
            <a:ext cx="2628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Discrete token IDs</a:t>
            </a:r>
            <a:endParaRPr sz="1200" b="0">
              <a:solidFill>
                <a:srgbClr val="16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6000750" y="4895850"/>
            <a:ext cx="29527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6115050" y="5029200"/>
            <a:ext cx="2724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LoRA training label</a:t>
            </a:r>
            <a:endParaRPr sz="1200" b="0">
              <a:solidFill>
                <a:srgbClr val="16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8953500" y="4895850"/>
            <a:ext cx="2095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9067800" y="5029200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back to token space</a:t>
            </a:r>
            <a:endParaRPr sz="1200" b="0">
              <a:solidFill>
                <a:srgbClr val="16202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>
            <a:spLocks noGrp="1"/>
          </p:cNvSpPr>
          <p:nvPr/>
        </p:nvSpPr>
        <p:spPr>
          <a:xfrm>
            <a:off x="685800" y="400050"/>
            <a:ext cx="266700" cy="38100"/>
          </a:xfrm>
          <a:prstGeom prst="rect">
            <a:avLst/>
          </a:prstGeom>
          <a:solidFill>
            <a:srgbClr val="0D8B8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1104900" y="30480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D8B8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D8B8B"/>
                </a:solidFill>
                <a:latin typeface="Aptos Display"/>
                <a:ea typeface="Aptos Display"/>
                <a:cs typeface="Aptos Display"/>
              </a:rPr>
              <a:t>SELECTION SCORE</a:t>
            </a:r>
            <a:endParaRPr sz="975" b="1">
              <a:solidFill>
                <a:srgbClr val="0D8B8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990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27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The score compares only the shared motion-feature subset</a:t>
            </a:r>
            <a:endParaRPr sz="27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390650"/>
            <a:ext cx="904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Because full representation conversion is unavailable, selection uses robust partial features.</a:t>
            </a:r>
            <a:endParaRPr sz="1350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85800" y="6343650"/>
            <a:ext cx="10820400" cy="11430"/>
          </a:xfrm>
          <a:prstGeom prst="line">
            <a:avLst/>
          </a:prstGeom>
          <a:noFill/>
          <a:ln w="11430">
            <a:solidFill>
              <a:srgbClr val="CDD5DF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419850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7180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08E"/>
                </a:solidFill>
                <a:latin typeface="Aptos"/>
                <a:ea typeface="Aptos"/>
                <a:cs typeface="Aptos"/>
              </a:rPr>
              <a:t>HumanML3D Motion-Guided Teacher Selection</a:t>
            </a:r>
            <a:endParaRPr sz="900" b="0">
              <a:solidFill>
                <a:srgbClr val="7180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810875" y="6419850"/>
            <a:ext cx="714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0">
                <a:solidFill>
                  <a:srgbClr val="7180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08E"/>
                </a:solidFill>
                <a:latin typeface="Aptos"/>
                <a:ea typeface="Aptos"/>
                <a:cs typeface="Aptos"/>
              </a:rPr>
              <a:t>8 / 16</a:t>
            </a:r>
            <a:endParaRPr sz="900" b="0">
              <a:solidFill>
                <a:srgbClr val="7180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: 圆角 7"/>
          <p:cNvSpPr>
            <a:spLocks noGrp="1"/>
          </p:cNvSpPr>
          <p:nvPr/>
        </p:nvSpPr>
        <p:spPr>
          <a:xfrm>
            <a:off x="1066800" y="2000250"/>
            <a:ext cx="1005840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428750" y="2324100"/>
            <a:ext cx="9334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2250" b="1">
                <a:solidFill>
                  <a:srgbClr val="17324D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2250" b="1" dirty="0" err="1">
                <a:solidFill>
                  <a:srgbClr val="17324D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d_HML</a:t>
            </a:r>
            <a:r>
              <a:rPr sz="2250" b="1" dirty="0">
                <a:solidFill>
                  <a:srgbClr val="17324D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(x, h) = </a:t>
            </a:r>
            <a:r>
              <a:rPr sz="2250" b="1" dirty="0" err="1">
                <a:solidFill>
                  <a:srgbClr val="17324D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mean_m</a:t>
            </a:r>
            <a:r>
              <a:rPr sz="2250" b="1" dirty="0">
                <a:solidFill>
                  <a:srgbClr val="17324D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| log((</a:t>
            </a:r>
            <a:r>
              <a:rPr sz="2250" b="1" dirty="0" err="1">
                <a:solidFill>
                  <a:srgbClr val="17324D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x_m</a:t>
            </a:r>
            <a:r>
              <a:rPr sz="2250" b="1" dirty="0">
                <a:solidFill>
                  <a:srgbClr val="17324D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+ epsilon) / (</a:t>
            </a:r>
            <a:r>
              <a:rPr sz="2250" b="1" dirty="0" err="1">
                <a:solidFill>
                  <a:srgbClr val="17324D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h_m</a:t>
            </a:r>
            <a:r>
              <a:rPr sz="2250" b="1" dirty="0">
                <a:solidFill>
                  <a:srgbClr val="17324D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+ epsilon)) |</a:t>
            </a:r>
            <a:endParaRPr sz="2250" b="1" dirty="0">
              <a:solidFill>
                <a:srgbClr val="17324D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10" name="矩形: 圆角 9"/>
          <p:cNvSpPr>
            <a:spLocks noGrp="1"/>
          </p:cNvSpPr>
          <p:nvPr/>
        </p:nvSpPr>
        <p:spPr>
          <a:xfrm>
            <a:off x="1257300" y="3714750"/>
            <a:ext cx="2762250" cy="1200150"/>
          </a:xfrm>
          <a:prstGeom prst="roundRect">
            <a:avLst>
              <a:gd name="adj" fmla="val 6349"/>
            </a:avLst>
          </a:prstGeom>
          <a:solidFill>
            <a:srgbClr val="EAF4FA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257300" y="3714750"/>
            <a:ext cx="76200" cy="1200150"/>
          </a:xfrm>
          <a:prstGeom prst="rect">
            <a:avLst/>
          </a:prstGeom>
          <a:solidFill>
            <a:srgbClr val="1E6B9E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485900" y="3905250"/>
            <a:ext cx="2305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dirty="0" err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x_m</a:t>
            </a:r>
            <a:endParaRPr sz="1500" b="1" dirty="0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485900" y="4267200"/>
            <a:ext cx="2305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metric from a decoded teacher candidate</a:t>
            </a:r>
            <a:endParaRPr sz="1350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: 圆角 13"/>
          <p:cNvSpPr>
            <a:spLocks noGrp="1"/>
          </p:cNvSpPr>
          <p:nvPr/>
        </p:nvSpPr>
        <p:spPr>
          <a:xfrm>
            <a:off x="4714875" y="3714750"/>
            <a:ext cx="2762250" cy="1200150"/>
          </a:xfrm>
          <a:prstGeom prst="roundRect">
            <a:avLst>
              <a:gd name="adj" fmla="val 6349"/>
            </a:avLst>
          </a:prstGeom>
          <a:solidFill>
            <a:srgbClr val="EAF6ED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714875" y="3714750"/>
            <a:ext cx="76200" cy="1200150"/>
          </a:xfrm>
          <a:prstGeom prst="rect">
            <a:avLst/>
          </a:prstGeom>
          <a:solidFill>
            <a:srgbClr val="3E8A52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943475" y="3905250"/>
            <a:ext cx="2305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h_m</a:t>
            </a:r>
            <a:endParaRPr sz="15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943475" y="4267200"/>
            <a:ext cx="2305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matching metric from paired HumanML3D motion</a:t>
            </a:r>
            <a:endParaRPr sz="1350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: 圆角 17"/>
          <p:cNvSpPr>
            <a:spLocks noGrp="1"/>
          </p:cNvSpPr>
          <p:nvPr/>
        </p:nvSpPr>
        <p:spPr>
          <a:xfrm>
            <a:off x="8172450" y="3714750"/>
            <a:ext cx="2762250" cy="1200150"/>
          </a:xfrm>
          <a:prstGeom prst="roundRect">
            <a:avLst>
              <a:gd name="adj" fmla="val 6349"/>
            </a:avLst>
          </a:prstGeom>
          <a:solidFill>
            <a:srgbClr val="E8F6F3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172450" y="3714750"/>
            <a:ext cx="76200" cy="1200150"/>
          </a:xfrm>
          <a:prstGeom prst="rect">
            <a:avLst/>
          </a:prstGeom>
          <a:solidFill>
            <a:srgbClr val="0D8B8B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401050" y="3905250"/>
            <a:ext cx="2305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minimum distance</a:t>
            </a:r>
            <a:endParaRPr sz="15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401050" y="4267200"/>
            <a:ext cx="2305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candidate selected as the pseudo-token target</a:t>
            </a:r>
            <a:endParaRPr sz="1350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238250" y="5334000"/>
            <a:ext cx="971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425" b="1">
                <a:solidFill>
                  <a:srgbClr val="B64B4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64B4B"/>
                </a:solidFill>
                <a:latin typeface="Aptos"/>
                <a:ea typeface="Aptos"/>
                <a:cs typeface="Aptos"/>
              </a:rPr>
              <a:t>Important: only comparable statistics are matched. This avoids pretending that HumanML3D features can be converted into exact MoConVQ token labels.</a:t>
            </a:r>
            <a:endParaRPr sz="1425" b="1">
              <a:solidFill>
                <a:srgbClr val="B64B4B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>
            <a:spLocks noGrp="1"/>
          </p:cNvSpPr>
          <p:nvPr/>
        </p:nvSpPr>
        <p:spPr>
          <a:xfrm>
            <a:off x="685800" y="400050"/>
            <a:ext cx="266700" cy="38100"/>
          </a:xfrm>
          <a:prstGeom prst="rect">
            <a:avLst/>
          </a:prstGeom>
          <a:solidFill>
            <a:srgbClr val="0D8B8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1104900" y="30480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D8B8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D8B8B"/>
                </a:solidFill>
                <a:latin typeface="Aptos Display"/>
                <a:ea typeface="Aptos Display"/>
                <a:cs typeface="Aptos Display"/>
              </a:rPr>
              <a:t>FAILED FIRST ATTEMPT</a:t>
            </a:r>
            <a:endParaRPr sz="975" b="1">
              <a:solidFill>
                <a:srgbClr val="0D8B8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9906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24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Deterministic teacher candidates made selection almost meaningless</a:t>
            </a:r>
            <a:endParaRPr sz="24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423987"/>
            <a:ext cx="904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51606D"/>
                </a:solidFill>
                <a:latin typeface="Aptos"/>
                <a:ea typeface="Aptos"/>
                <a:cs typeface="Aptos"/>
              </a:rPr>
              <a:t>Before top-k, the selector technically ran but rarely had real alternatives.</a:t>
            </a:r>
            <a:endParaRPr sz="1350" b="0" dirty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85800" y="6343650"/>
            <a:ext cx="10820400" cy="11430"/>
          </a:xfrm>
          <a:prstGeom prst="line">
            <a:avLst/>
          </a:prstGeom>
          <a:noFill/>
          <a:ln w="11430">
            <a:solidFill>
              <a:srgbClr val="CDD5DF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419850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7180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08E"/>
                </a:solidFill>
                <a:latin typeface="Aptos"/>
                <a:ea typeface="Aptos"/>
                <a:cs typeface="Aptos"/>
              </a:rPr>
              <a:t>HumanML3D Motion-Guided Teacher Selection</a:t>
            </a:r>
            <a:endParaRPr sz="900" b="0">
              <a:solidFill>
                <a:srgbClr val="7180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810875" y="6419850"/>
            <a:ext cx="714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0">
                <a:solidFill>
                  <a:srgbClr val="7180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08E"/>
                </a:solidFill>
                <a:latin typeface="Aptos"/>
                <a:ea typeface="Aptos"/>
                <a:cs typeface="Aptos"/>
              </a:rPr>
              <a:t>9 / 16</a:t>
            </a:r>
            <a:endParaRPr sz="900" b="0">
              <a:solidFill>
                <a:srgbClr val="7180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828800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8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dirty="0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Selected candidate counts on 200 samples</a:t>
            </a:r>
            <a:endParaRPr sz="1800" b="1" dirty="0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38250" y="2891791"/>
            <a:ext cx="685800" cy="2085023"/>
          </a:xfrm>
          <a:prstGeom prst="rect">
            <a:avLst/>
          </a:prstGeom>
          <a:solidFill>
            <a:srgbClr val="B64B4B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238250" y="2548892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500" b="1">
                <a:solidFill>
                  <a:srgbClr val="B64B4B"/>
                </a:solidFill>
                <a:latin typeface="Aptos"/>
                <a:ea typeface="Aptos"/>
                <a:cs typeface="Aptos"/>
              </a:defRPr>
            </a:pPr>
            <a:r>
              <a:rPr sz="1500" b="1" dirty="0">
                <a:solidFill>
                  <a:srgbClr val="B64B4B"/>
                </a:solidFill>
                <a:latin typeface="Aptos"/>
                <a:ea typeface="Aptos"/>
                <a:cs typeface="Aptos"/>
              </a:rPr>
              <a:t>199</a:t>
            </a:r>
            <a:endParaRPr sz="1500" b="1" dirty="0">
              <a:solidFill>
                <a:srgbClr val="B64B4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23950" y="5091113"/>
            <a:ext cx="914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05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candidate 0</a:t>
            </a:r>
            <a:endParaRPr sz="1050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381250" y="4966336"/>
            <a:ext cx="685800" cy="10478"/>
          </a:xfrm>
          <a:prstGeom prst="rect">
            <a:avLst/>
          </a:prstGeom>
          <a:solidFill>
            <a:srgbClr val="D7DEE6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381250" y="4699636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500" b="1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1606D"/>
                </a:solidFill>
                <a:latin typeface="Aptos"/>
                <a:ea typeface="Aptos"/>
                <a:cs typeface="Aptos"/>
              </a:rPr>
              <a:t>1</a:t>
            </a:r>
            <a:endParaRPr sz="1500" b="1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266950" y="5091113"/>
            <a:ext cx="914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05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candidate 1</a:t>
            </a:r>
            <a:endParaRPr sz="1050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524250" y="4967288"/>
            <a:ext cx="685800" cy="9525"/>
          </a:xfrm>
          <a:prstGeom prst="rect">
            <a:avLst/>
          </a:prstGeom>
          <a:solidFill>
            <a:srgbClr val="D7DEE6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524250" y="4700588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500" b="1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1606D"/>
                </a:solidFill>
                <a:latin typeface="Aptos"/>
                <a:ea typeface="Aptos"/>
                <a:cs typeface="Aptos"/>
              </a:rPr>
              <a:t>0</a:t>
            </a:r>
            <a:endParaRPr sz="1500" b="1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409950" y="5091113"/>
            <a:ext cx="914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05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candidate 2</a:t>
            </a:r>
            <a:endParaRPr sz="1050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667250" y="4967288"/>
            <a:ext cx="685800" cy="9525"/>
          </a:xfrm>
          <a:prstGeom prst="rect">
            <a:avLst/>
          </a:prstGeom>
          <a:solidFill>
            <a:srgbClr val="D7DEE6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667250" y="4700588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500" b="1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1606D"/>
                </a:solidFill>
                <a:latin typeface="Aptos"/>
                <a:ea typeface="Aptos"/>
                <a:cs typeface="Aptos"/>
              </a:rPr>
              <a:t>0</a:t>
            </a:r>
            <a:endParaRPr sz="1500" b="1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552950" y="5091113"/>
            <a:ext cx="914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05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candidate 3</a:t>
            </a:r>
            <a:endParaRPr sz="1050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: 圆角 20"/>
          <p:cNvSpPr>
            <a:spLocks noGrp="1"/>
          </p:cNvSpPr>
          <p:nvPr/>
        </p:nvSpPr>
        <p:spPr>
          <a:xfrm>
            <a:off x="6572250" y="2305050"/>
            <a:ext cx="4000500" cy="1809750"/>
          </a:xfrm>
          <a:prstGeom prst="roundRect">
            <a:avLst>
              <a:gd name="adj" fmla="val 4211"/>
            </a:avLst>
          </a:prstGeom>
          <a:solidFill>
            <a:srgbClr val="FCEBEB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572250" y="2305050"/>
            <a:ext cx="76200" cy="1809750"/>
          </a:xfrm>
          <a:prstGeom prst="rect">
            <a:avLst/>
          </a:prstGeom>
          <a:solidFill>
            <a:srgbClr val="B64B4B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800850" y="2495550"/>
            <a:ext cx="3543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Diagnosis</a:t>
            </a:r>
            <a:endParaRPr sz="15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800850" y="2857500"/>
            <a:ext cx="35433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If candidate 0 is selected 199 times out of 200, the selection rule cannot visibly change the target cache. The issue is lack of candidate diversity.</a:t>
            </a:r>
            <a:endParaRPr sz="1500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: 圆角 24"/>
          <p:cNvSpPr>
            <a:spLocks noGrp="1"/>
          </p:cNvSpPr>
          <p:nvPr/>
        </p:nvSpPr>
        <p:spPr>
          <a:xfrm>
            <a:off x="6572250" y="4476749"/>
            <a:ext cx="4000500" cy="957263"/>
          </a:xfrm>
          <a:prstGeom prst="roundRect">
            <a:avLst>
              <a:gd name="adj" fmla="val 10526"/>
            </a:avLst>
          </a:prstGeom>
          <a:solidFill>
            <a:srgbClr val="17324D"/>
          </a:solidFill>
          <a:ln w="9525">
            <a:solidFill>
              <a:srgbClr val="17324D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858000" y="4604386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Fix: make teacher sampling stochastic with top-k, so the selector gets real choices.</a:t>
            </a:r>
            <a:endParaRPr sz="1575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>
            <a:spLocks noGrp="1"/>
          </p:cNvSpPr>
          <p:nvPr/>
        </p:nvSpPr>
        <p:spPr>
          <a:xfrm>
            <a:off x="685800" y="400050"/>
            <a:ext cx="266700" cy="38100"/>
          </a:xfrm>
          <a:prstGeom prst="rect">
            <a:avLst/>
          </a:prstGeom>
          <a:solidFill>
            <a:srgbClr val="0D8B8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1104900" y="30480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D8B8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D8B8B"/>
                </a:solidFill>
                <a:latin typeface="Aptos Display"/>
                <a:ea typeface="Aptos Display"/>
                <a:cs typeface="Aptos Display"/>
              </a:rPr>
              <a:t>TOP-K FIX</a:t>
            </a:r>
            <a:endParaRPr sz="975" b="1">
              <a:solidFill>
                <a:srgbClr val="0D8B8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990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27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Top-k sampling gives the selector real alternatives</a:t>
            </a:r>
            <a:endParaRPr sz="27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390650"/>
            <a:ext cx="904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After top-k, 86 of 200 selected targets came from non-first candidates.</a:t>
            </a:r>
            <a:endParaRPr sz="1350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85800" y="6343650"/>
            <a:ext cx="10820400" cy="11430"/>
          </a:xfrm>
          <a:prstGeom prst="line">
            <a:avLst/>
          </a:prstGeom>
          <a:noFill/>
          <a:ln w="11430">
            <a:solidFill>
              <a:srgbClr val="CDD5DF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419850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7180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08E"/>
                </a:solidFill>
                <a:latin typeface="Aptos"/>
                <a:ea typeface="Aptos"/>
                <a:cs typeface="Aptos"/>
              </a:rPr>
              <a:t>HumanML3D Motion-Guided Teacher Selection</a:t>
            </a:r>
            <a:endParaRPr sz="900" b="0">
              <a:solidFill>
                <a:srgbClr val="7180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810875" y="6419850"/>
            <a:ext cx="714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0">
                <a:solidFill>
                  <a:srgbClr val="7180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08E"/>
                </a:solidFill>
                <a:latin typeface="Aptos"/>
                <a:ea typeface="Aptos"/>
                <a:cs typeface="Aptos"/>
              </a:rPr>
              <a:t>10 / 16</a:t>
            </a:r>
            <a:endParaRPr sz="900" b="0">
              <a:solidFill>
                <a:srgbClr val="7180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1809750"/>
            <a:ext cx="581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8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Selected candidate counts after top-k</a:t>
            </a:r>
            <a:endParaRPr sz="18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38250" y="2509838"/>
            <a:ext cx="742950" cy="2081213"/>
          </a:xfrm>
          <a:prstGeom prst="rect">
            <a:avLst/>
          </a:prstGeom>
          <a:solidFill>
            <a:srgbClr val="1E6B9E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238250" y="2243138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5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114</a:t>
            </a:r>
            <a:endParaRPr sz="1500" b="1">
              <a:solidFill>
                <a:srgbClr val="1E6B9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04900" y="4705350"/>
            <a:ext cx="1009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05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candidate 0</a:t>
            </a:r>
            <a:endParaRPr sz="1050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438400" y="4025106"/>
            <a:ext cx="742950" cy="565944"/>
          </a:xfrm>
          <a:prstGeom prst="rect">
            <a:avLst/>
          </a:prstGeom>
          <a:solidFill>
            <a:srgbClr val="0D8B8B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438400" y="3758406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500" b="1">
                <a:solidFill>
                  <a:srgbClr val="0D8B8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D8B8B"/>
                </a:solidFill>
                <a:latin typeface="Aptos"/>
                <a:ea typeface="Aptos"/>
                <a:cs typeface="Aptos"/>
              </a:rPr>
              <a:t>31</a:t>
            </a:r>
            <a:endParaRPr sz="1500" b="1">
              <a:solidFill>
                <a:srgbClr val="0D8B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305050" y="4705350"/>
            <a:ext cx="1009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05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candidate 1</a:t>
            </a:r>
            <a:endParaRPr sz="1050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638550" y="4006850"/>
            <a:ext cx="742950" cy="584200"/>
          </a:xfrm>
          <a:prstGeom prst="rect">
            <a:avLst/>
          </a:prstGeom>
          <a:solidFill>
            <a:srgbClr val="C98216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638550" y="374015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500" b="1">
                <a:solidFill>
                  <a:srgbClr val="C982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98216"/>
                </a:solidFill>
                <a:latin typeface="Aptos"/>
                <a:ea typeface="Aptos"/>
                <a:cs typeface="Aptos"/>
              </a:rPr>
              <a:t>32</a:t>
            </a:r>
            <a:endParaRPr sz="1500" b="1">
              <a:solidFill>
                <a:srgbClr val="C9821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505200" y="4705350"/>
            <a:ext cx="1009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05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candidate 2</a:t>
            </a:r>
            <a:endParaRPr sz="1050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838700" y="4171156"/>
            <a:ext cx="742950" cy="419894"/>
          </a:xfrm>
          <a:prstGeom prst="rect">
            <a:avLst/>
          </a:prstGeom>
          <a:solidFill>
            <a:srgbClr val="5E5AA8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838700" y="3904456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500" b="1">
                <a:solidFill>
                  <a:srgbClr val="5E5AA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E5AA8"/>
                </a:solidFill>
                <a:latin typeface="Aptos"/>
                <a:ea typeface="Aptos"/>
                <a:cs typeface="Aptos"/>
              </a:rPr>
              <a:t>23</a:t>
            </a:r>
            <a:endParaRPr sz="1500" b="1">
              <a:solidFill>
                <a:srgbClr val="5E5AA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705350" y="4705350"/>
            <a:ext cx="1009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05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candidate 3</a:t>
            </a:r>
            <a:endParaRPr sz="1050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: 圆角 20"/>
          <p:cNvSpPr>
            <a:spLocks noGrp="1"/>
          </p:cNvSpPr>
          <p:nvPr/>
        </p:nvSpPr>
        <p:spPr>
          <a:xfrm>
            <a:off x="6858000" y="2190750"/>
            <a:ext cx="3524250" cy="1352550"/>
          </a:xfrm>
          <a:prstGeom prst="roundRect">
            <a:avLst>
              <a:gd name="adj" fmla="val 5634"/>
            </a:avLst>
          </a:prstGeom>
          <a:solidFill>
            <a:srgbClr val="E8F6F3"/>
          </a:solidFill>
          <a:ln w="11430">
            <a:solidFill>
              <a:srgbClr val="0D8B8B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239000" y="2362200"/>
            <a:ext cx="2762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3750" b="1">
                <a:solidFill>
                  <a:srgbClr val="0D8B8B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0D8B8B"/>
                </a:solidFill>
                <a:latin typeface="Aptos Display"/>
                <a:ea typeface="Aptos Display"/>
                <a:cs typeface="Aptos Display"/>
              </a:rPr>
              <a:t>86 / 200</a:t>
            </a:r>
            <a:endParaRPr sz="3750" b="1">
              <a:solidFill>
                <a:srgbClr val="0D8B8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239000" y="295275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50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selected targets were non-first candidates</a:t>
            </a:r>
            <a:endParaRPr sz="1500" b="1">
              <a:solidFill>
                <a:srgbClr val="1620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矩形: 圆角 23"/>
          <p:cNvSpPr>
            <a:spLocks noGrp="1"/>
          </p:cNvSpPr>
          <p:nvPr/>
        </p:nvSpPr>
        <p:spPr>
          <a:xfrm>
            <a:off x="6858000" y="3905250"/>
            <a:ext cx="3524250" cy="15621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858000" y="3905250"/>
            <a:ext cx="64438" cy="1562100"/>
          </a:xfrm>
          <a:prstGeom prst="rect">
            <a:avLst/>
          </a:prstGeom>
          <a:solidFill>
            <a:srgbClr val="0D8B8B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086600" y="4095750"/>
            <a:ext cx="3067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Interpretation</a:t>
            </a:r>
            <a:endParaRPr sz="15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086600" y="4457700"/>
            <a:ext cx="3067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425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This confirms that HumanML motion-distance selection actually changes the cached teacher targets after top-k sampling.</a:t>
            </a:r>
            <a:endParaRPr sz="1425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Grp="1"/>
          </p:cNvSpPr>
          <p:nvPr/>
        </p:nvSpPr>
        <p:spPr>
          <a:xfrm>
            <a:off x="685800" y="400050"/>
            <a:ext cx="266700" cy="38100"/>
          </a:xfrm>
          <a:prstGeom prst="rect">
            <a:avLst/>
          </a:prstGeom>
          <a:solidFill>
            <a:srgbClr val="0D8B8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1104900" y="30480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D8B8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D8B8B"/>
                </a:solidFill>
                <a:latin typeface="Aptos Display"/>
                <a:ea typeface="Aptos Display"/>
                <a:cs typeface="Aptos Display"/>
              </a:rPr>
              <a:t>TRAINING BEHAVIOR</a:t>
            </a:r>
            <a:endParaRPr sz="975" b="1">
              <a:solidFill>
                <a:srgbClr val="0D8B8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9906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24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The selected cache remains learnable, but top-k targets are harder</a:t>
            </a:r>
            <a:endParaRPr sz="24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400175"/>
            <a:ext cx="904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51606D"/>
                </a:solidFill>
                <a:latin typeface="Aptos"/>
                <a:ea typeface="Aptos"/>
                <a:cs typeface="Aptos"/>
              </a:rPr>
              <a:t>Training loss shows imitation is possible; it is not the final motion-quality metric.</a:t>
            </a:r>
            <a:endParaRPr sz="1350" b="0" dirty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85800" y="6343650"/>
            <a:ext cx="10820400" cy="11430"/>
          </a:xfrm>
          <a:prstGeom prst="line">
            <a:avLst/>
          </a:prstGeom>
          <a:noFill/>
          <a:ln w="11430">
            <a:solidFill>
              <a:srgbClr val="CDD5DF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419850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7180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08E"/>
                </a:solidFill>
                <a:latin typeface="Aptos"/>
                <a:ea typeface="Aptos"/>
                <a:cs typeface="Aptos"/>
              </a:rPr>
              <a:t>HumanML3D Motion-Guided Teacher Selection</a:t>
            </a:r>
            <a:endParaRPr sz="900" b="0">
              <a:solidFill>
                <a:srgbClr val="7180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810875" y="6419850"/>
            <a:ext cx="714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0">
                <a:solidFill>
                  <a:srgbClr val="7180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08E"/>
                </a:solidFill>
                <a:latin typeface="Aptos"/>
                <a:ea typeface="Aptos"/>
                <a:cs typeface="Aptos"/>
              </a:rPr>
              <a:t>11 / 16</a:t>
            </a:r>
            <a:endParaRPr sz="900" b="0">
              <a:solidFill>
                <a:srgbClr val="71808E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829753"/>
            <a:ext cx="6286500" cy="3436620"/>
          </a:xfrm>
          <a:prstGeom prst="rect">
            <a:avLst/>
          </a:prstGeom>
        </p:spPr>
      </p:pic>
      <p:sp>
        <p:nvSpPr>
          <p:cNvPr id="9" name="矩形: 圆角 8"/>
          <p:cNvSpPr>
            <a:spLocks noGrp="1"/>
          </p:cNvSpPr>
          <p:nvPr/>
        </p:nvSpPr>
        <p:spPr>
          <a:xfrm>
            <a:off x="7620000" y="2066925"/>
            <a:ext cx="3143250" cy="1009650"/>
          </a:xfrm>
          <a:prstGeom prst="roundRect">
            <a:avLst>
              <a:gd name="adj" fmla="val 7547"/>
            </a:avLst>
          </a:prstGeom>
          <a:solidFill>
            <a:srgbClr val="EAF4FA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619233" y="2066925"/>
            <a:ext cx="76200" cy="1009650"/>
          </a:xfrm>
          <a:prstGeom prst="rect">
            <a:avLst/>
          </a:prstGeom>
          <a:solidFill>
            <a:srgbClr val="1E6B9E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848600" y="2209800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Deterministic selected</a:t>
            </a:r>
            <a:endParaRPr sz="15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48600" y="257175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0.3749 -&gt; 0.2721 over five epochs</a:t>
            </a:r>
            <a:endParaRPr sz="1500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: 圆角 12"/>
          <p:cNvSpPr>
            <a:spLocks noGrp="1"/>
          </p:cNvSpPr>
          <p:nvPr/>
        </p:nvSpPr>
        <p:spPr>
          <a:xfrm>
            <a:off x="7620000" y="3390900"/>
            <a:ext cx="3143250" cy="1009650"/>
          </a:xfrm>
          <a:prstGeom prst="roundRect">
            <a:avLst>
              <a:gd name="adj" fmla="val 7547"/>
            </a:avLst>
          </a:prstGeom>
          <a:solidFill>
            <a:srgbClr val="FFF4E1"/>
          </a:solidFill>
          <a:ln w="9525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19233" y="3390900"/>
            <a:ext cx="76200" cy="1009650"/>
          </a:xfrm>
          <a:prstGeom prst="rect">
            <a:avLst/>
          </a:prstGeom>
          <a:solidFill>
            <a:srgbClr val="C9821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848600" y="3505200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Top-k selected</a:t>
            </a:r>
            <a:endParaRPr sz="15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848600" y="386715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0.4184 -&gt; 0.3396 over five epochs</a:t>
            </a:r>
            <a:endParaRPr sz="1500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: 圆角 16"/>
          <p:cNvSpPr>
            <a:spLocks noGrp="1"/>
          </p:cNvSpPr>
          <p:nvPr/>
        </p:nvSpPr>
        <p:spPr>
          <a:xfrm>
            <a:off x="7620000" y="4705350"/>
            <a:ext cx="3143250" cy="1009650"/>
          </a:xfrm>
          <a:prstGeom prst="roundRect">
            <a:avLst>
              <a:gd name="adj" fmla="val 9091"/>
            </a:avLst>
          </a:prstGeom>
          <a:solidFill>
            <a:srgbClr val="E8F6F3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619233" y="4705350"/>
            <a:ext cx="76200" cy="1009649"/>
          </a:xfrm>
          <a:prstGeom prst="rect">
            <a:avLst/>
          </a:prstGeom>
          <a:solidFill>
            <a:srgbClr val="0D8B8B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848600" y="4800600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Reading</a:t>
            </a:r>
            <a:endParaRPr sz="15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848600" y="5162550"/>
            <a:ext cx="2686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425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Top-k introduces more diverse and harder pseudo-targets.</a:t>
            </a:r>
            <a:endParaRPr sz="1425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>
            <a:spLocks noGrp="1"/>
          </p:cNvSpPr>
          <p:nvPr/>
        </p:nvSpPr>
        <p:spPr>
          <a:xfrm>
            <a:off x="685800" y="400050"/>
            <a:ext cx="266700" cy="38100"/>
          </a:xfrm>
          <a:prstGeom prst="rect">
            <a:avLst/>
          </a:prstGeom>
          <a:solidFill>
            <a:srgbClr val="0D8B8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1104900" y="30480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D8B8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D8B8B"/>
                </a:solidFill>
                <a:latin typeface="Aptos Display"/>
                <a:ea typeface="Aptos Display"/>
                <a:cs typeface="Aptos Display"/>
              </a:rPr>
              <a:t>EVALUATION LENSES</a:t>
            </a:r>
            <a:endParaRPr sz="975" b="1">
              <a:solidFill>
                <a:srgbClr val="0D8B8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990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27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Three metrics answer three different questions</a:t>
            </a:r>
            <a:endParaRPr sz="27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390650"/>
            <a:ext cx="904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Keeping them separate makes the final tradeoff understandable.</a:t>
            </a:r>
            <a:endParaRPr sz="1350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85800" y="6343650"/>
            <a:ext cx="10820400" cy="11430"/>
          </a:xfrm>
          <a:prstGeom prst="line">
            <a:avLst/>
          </a:prstGeom>
          <a:noFill/>
          <a:ln w="11430">
            <a:solidFill>
              <a:srgbClr val="CDD5DF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419850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7180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08E"/>
                </a:solidFill>
                <a:latin typeface="Aptos"/>
                <a:ea typeface="Aptos"/>
                <a:cs typeface="Aptos"/>
              </a:rPr>
              <a:t>HumanML3D Motion-Guided Teacher Selection</a:t>
            </a:r>
            <a:endParaRPr sz="900" b="0">
              <a:solidFill>
                <a:srgbClr val="7180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810875" y="6419850"/>
            <a:ext cx="714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0">
                <a:solidFill>
                  <a:srgbClr val="7180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08E"/>
                </a:solidFill>
                <a:latin typeface="Aptos"/>
                <a:ea typeface="Aptos"/>
                <a:cs typeface="Aptos"/>
              </a:rPr>
              <a:t>12 / 16</a:t>
            </a:r>
            <a:endParaRPr sz="900" b="0">
              <a:solidFill>
                <a:srgbClr val="7180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: 圆角 7"/>
          <p:cNvSpPr>
            <a:spLocks noGrp="1"/>
          </p:cNvSpPr>
          <p:nvPr/>
        </p:nvSpPr>
        <p:spPr>
          <a:xfrm>
            <a:off x="857250" y="1952625"/>
            <a:ext cx="3143250" cy="2324100"/>
          </a:xfrm>
          <a:prstGeom prst="roundRect">
            <a:avLst>
              <a:gd name="adj" fmla="val 3279"/>
            </a:avLst>
          </a:prstGeom>
          <a:solidFill>
            <a:srgbClr val="EAF4FA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57250" y="1952625"/>
            <a:ext cx="76200" cy="2324100"/>
          </a:xfrm>
          <a:prstGeom prst="rect">
            <a:avLst/>
          </a:prstGeom>
          <a:solidFill>
            <a:srgbClr val="1E6B9E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85850" y="2143125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1. Token learning</a:t>
            </a:r>
            <a:endParaRPr sz="15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85850" y="2505075"/>
            <a:ext cx="2686050" cy="163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Measured by training cross-entropy. Question: can the LoRA student imitate the selected teacher pseudo-token sequence?</a:t>
            </a:r>
            <a:endParaRPr sz="1500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: 圆角 11"/>
          <p:cNvSpPr>
            <a:spLocks noGrp="1"/>
          </p:cNvSpPr>
          <p:nvPr/>
        </p:nvSpPr>
        <p:spPr>
          <a:xfrm>
            <a:off x="4524375" y="1952625"/>
            <a:ext cx="3143250" cy="2324100"/>
          </a:xfrm>
          <a:prstGeom prst="roundRect">
            <a:avLst>
              <a:gd name="adj" fmla="val 3279"/>
            </a:avLst>
          </a:prstGeom>
          <a:solidFill>
            <a:srgbClr val="FFF4E1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524375" y="1952625"/>
            <a:ext cx="76200" cy="2324100"/>
          </a:xfrm>
          <a:prstGeom prst="rect">
            <a:avLst/>
          </a:prstGeom>
          <a:solidFill>
            <a:srgbClr val="C98216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752975" y="2143125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2. Style-direction proxy</a:t>
            </a:r>
            <a:endParaRPr sz="15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752975" y="2505075"/>
            <a:ext cx="2686050" cy="163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Measured by direction checks such as lower speed for slow walking or higher vertical range for jumping.</a:t>
            </a:r>
            <a:endParaRPr sz="1500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: 圆角 15"/>
          <p:cNvSpPr>
            <a:spLocks noGrp="1"/>
          </p:cNvSpPr>
          <p:nvPr/>
        </p:nvSpPr>
        <p:spPr>
          <a:xfrm>
            <a:off x="8191500" y="1952625"/>
            <a:ext cx="3143250" cy="2324100"/>
          </a:xfrm>
          <a:prstGeom prst="roundRect">
            <a:avLst>
              <a:gd name="adj" fmla="val 3279"/>
            </a:avLst>
          </a:prstGeom>
          <a:solidFill>
            <a:srgbClr val="E8F6F3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191500" y="1952625"/>
            <a:ext cx="76200" cy="2324100"/>
          </a:xfrm>
          <a:prstGeom prst="rect">
            <a:avLst/>
          </a:prstGeom>
          <a:solidFill>
            <a:srgbClr val="0D8B8B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420100" y="2143125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3. HumanML alignment</a:t>
            </a:r>
            <a:endParaRPr sz="15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420100" y="2505075"/>
            <a:ext cx="2686050" cy="163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Measured by closeness between selected teacher candidate statistics and paired HumanML3D motion statistics.</a:t>
            </a:r>
            <a:endParaRPr sz="1500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: 圆角 19"/>
          <p:cNvSpPr>
            <a:spLocks noGrp="1"/>
          </p:cNvSpPr>
          <p:nvPr/>
        </p:nvSpPr>
        <p:spPr>
          <a:xfrm>
            <a:off x="2000250" y="4819650"/>
            <a:ext cx="8191500" cy="980576"/>
          </a:xfrm>
          <a:prstGeom prst="roundRect">
            <a:avLst>
              <a:gd name="adj" fmla="val 11111"/>
            </a:avLst>
          </a:prstGeom>
          <a:solidFill>
            <a:srgbClr val="17324D"/>
          </a:solidFill>
          <a:ln w="9525">
            <a:solidFill>
              <a:srgbClr val="17324D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2381250" y="5029200"/>
            <a:ext cx="742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method is designed to improve target selection alignment, not every style-direction check.</a:t>
            </a:r>
            <a:endParaRPr sz="1650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Grp="1"/>
          </p:cNvSpPr>
          <p:nvPr/>
        </p:nvSpPr>
        <p:spPr>
          <a:xfrm>
            <a:off x="685800" y="400050"/>
            <a:ext cx="266700" cy="38100"/>
          </a:xfrm>
          <a:prstGeom prst="rect">
            <a:avLst/>
          </a:prstGeom>
          <a:solidFill>
            <a:srgbClr val="0D8B8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1104900" y="30480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D8B8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D8B8B"/>
                </a:solidFill>
                <a:latin typeface="Aptos Display"/>
                <a:ea typeface="Aptos Display"/>
                <a:cs typeface="Aptos Display"/>
              </a:rPr>
              <a:t>MAIN RESULT</a:t>
            </a:r>
            <a:endParaRPr sz="975" b="1">
              <a:solidFill>
                <a:srgbClr val="0D8B8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9906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24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Target alignment improves slightly, while style-direction scores vary</a:t>
            </a:r>
            <a:endParaRPr sz="24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619250"/>
            <a:ext cx="904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The result supports data-grounded target selection, not finished benchmark improvement.</a:t>
            </a:r>
            <a:endParaRPr sz="1350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85800" y="6343650"/>
            <a:ext cx="10820400" cy="11430"/>
          </a:xfrm>
          <a:prstGeom prst="line">
            <a:avLst/>
          </a:prstGeom>
          <a:noFill/>
          <a:ln w="11430">
            <a:solidFill>
              <a:srgbClr val="CDD5DF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419850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7180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08E"/>
                </a:solidFill>
                <a:latin typeface="Aptos"/>
                <a:ea typeface="Aptos"/>
                <a:cs typeface="Aptos"/>
              </a:rPr>
              <a:t>HumanML3D Motion-Guided Teacher Selection</a:t>
            </a:r>
            <a:endParaRPr sz="900" b="0">
              <a:solidFill>
                <a:srgbClr val="7180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810875" y="6419850"/>
            <a:ext cx="714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0">
                <a:solidFill>
                  <a:srgbClr val="7180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08E"/>
                </a:solidFill>
                <a:latin typeface="Aptos"/>
                <a:ea typeface="Aptos"/>
                <a:cs typeface="Aptos"/>
              </a:rPr>
              <a:t>13 / 16</a:t>
            </a:r>
            <a:endParaRPr sz="900" b="0">
              <a:solidFill>
                <a:srgbClr val="71808E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" y="2657475"/>
            <a:ext cx="6667500" cy="2133600"/>
          </a:xfrm>
          <a:prstGeom prst="rect">
            <a:avLst/>
          </a:prstGeom>
        </p:spPr>
      </p:pic>
      <p:sp>
        <p:nvSpPr>
          <p:cNvPr id="9" name="矩形: 圆角 8"/>
          <p:cNvSpPr>
            <a:spLocks noGrp="1"/>
          </p:cNvSpPr>
          <p:nvPr/>
        </p:nvSpPr>
        <p:spPr>
          <a:xfrm>
            <a:off x="7810500" y="1885950"/>
            <a:ext cx="3048000" cy="914400"/>
          </a:xfrm>
          <a:prstGeom prst="roundRect">
            <a:avLst>
              <a:gd name="adj" fmla="val 8333"/>
            </a:avLst>
          </a:prstGeom>
          <a:solidFill>
            <a:srgbClr val="FCEBEB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810500" y="1885950"/>
            <a:ext cx="76200" cy="914400"/>
          </a:xfrm>
          <a:prstGeom prst="rect">
            <a:avLst/>
          </a:prstGeom>
          <a:solidFill>
            <a:srgbClr val="B64B4B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039100" y="2076450"/>
            <a:ext cx="2590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Style-direction score</a:t>
            </a:r>
            <a:endParaRPr sz="15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039100" y="2438400"/>
            <a:ext cx="2590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65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18/22 -&gt; 15/22 -&gt; 12/22</a:t>
            </a:r>
            <a:endParaRPr sz="1650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: 圆角 12"/>
          <p:cNvSpPr>
            <a:spLocks noGrp="1"/>
          </p:cNvSpPr>
          <p:nvPr/>
        </p:nvSpPr>
        <p:spPr>
          <a:xfrm>
            <a:off x="7810500" y="3086100"/>
            <a:ext cx="3048000" cy="914400"/>
          </a:xfrm>
          <a:prstGeom prst="roundRect">
            <a:avLst>
              <a:gd name="adj" fmla="val 8333"/>
            </a:avLst>
          </a:prstGeom>
          <a:solidFill>
            <a:srgbClr val="E8F6F3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810500" y="3086100"/>
            <a:ext cx="76200" cy="914400"/>
          </a:xfrm>
          <a:prstGeom prst="rect">
            <a:avLst/>
          </a:prstGeom>
          <a:solidFill>
            <a:srgbClr val="0D8B8B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039100" y="3276600"/>
            <a:ext cx="2590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Alignment distance</a:t>
            </a:r>
            <a:endParaRPr sz="15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039100" y="3638550"/>
            <a:ext cx="2590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65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1.9666 -&gt; 1.9419</a:t>
            </a:r>
            <a:endParaRPr sz="1650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: 圆角 16"/>
          <p:cNvSpPr>
            <a:spLocks noGrp="1"/>
          </p:cNvSpPr>
          <p:nvPr/>
        </p:nvSpPr>
        <p:spPr>
          <a:xfrm>
            <a:off x="7810500" y="4286250"/>
            <a:ext cx="3048000" cy="914400"/>
          </a:xfrm>
          <a:prstGeom prst="roundRect">
            <a:avLst>
              <a:gd name="adj" fmla="val 8333"/>
            </a:avLst>
          </a:prstGeom>
          <a:solidFill>
            <a:srgbClr val="EAF6ED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810500" y="4286250"/>
            <a:ext cx="76200" cy="914400"/>
          </a:xfrm>
          <a:prstGeom prst="rect">
            <a:avLst/>
          </a:prstGeom>
          <a:solidFill>
            <a:srgbClr val="3E8A52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039100" y="4476750"/>
            <a:ext cx="2590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Alignment score</a:t>
            </a:r>
            <a:endParaRPr sz="15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039100" y="4838700"/>
            <a:ext cx="2590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65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0.1443 -&gt; 0.1477</a:t>
            </a:r>
            <a:endParaRPr sz="1650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Grp="1"/>
          </p:cNvSpPr>
          <p:nvPr/>
        </p:nvSpPr>
        <p:spPr>
          <a:xfrm>
            <a:off x="685800" y="400050"/>
            <a:ext cx="266700" cy="38100"/>
          </a:xfrm>
          <a:prstGeom prst="rect">
            <a:avLst/>
          </a:prstGeom>
          <a:solidFill>
            <a:srgbClr val="0D8B8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1104900" y="30480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D8B8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D8B8B"/>
                </a:solidFill>
                <a:latin typeface="Aptos Display"/>
                <a:ea typeface="Aptos Display"/>
                <a:cs typeface="Aptos Display"/>
              </a:rPr>
              <a:t>TOP-K VIDEO EXAMPLES</a:t>
            </a:r>
            <a:endParaRPr sz="975" b="1">
              <a:solidFill>
                <a:srgbClr val="0D8B8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9906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24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Final qualitative examples from the top-k selected LoRA model</a:t>
            </a:r>
            <a:endParaRPr sz="24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619250"/>
            <a:ext cx="904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Only the final top-k results are shown here.</a:t>
            </a:r>
            <a:endParaRPr sz="1350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85800" y="6343650"/>
            <a:ext cx="10820400" cy="11430"/>
          </a:xfrm>
          <a:prstGeom prst="line">
            <a:avLst/>
          </a:prstGeom>
          <a:noFill/>
          <a:ln w="11430">
            <a:solidFill>
              <a:srgbClr val="CDD5DF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419850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7180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08E"/>
                </a:solidFill>
                <a:latin typeface="Aptos"/>
                <a:ea typeface="Aptos"/>
                <a:cs typeface="Aptos"/>
              </a:rPr>
              <a:t>HumanML3D Motion-Guided Teacher Selection</a:t>
            </a:r>
            <a:endParaRPr sz="900" b="0">
              <a:solidFill>
                <a:srgbClr val="7180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810875" y="6419850"/>
            <a:ext cx="714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0">
                <a:solidFill>
                  <a:srgbClr val="7180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08E"/>
                </a:solidFill>
                <a:latin typeface="Aptos"/>
                <a:ea typeface="Aptos"/>
                <a:cs typeface="Aptos"/>
              </a:rPr>
              <a:t>14 / 16</a:t>
            </a:r>
            <a:endParaRPr sz="900" b="0">
              <a:solidFill>
                <a:srgbClr val="71808E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6662" y="1952625"/>
            <a:ext cx="3543676" cy="285750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662" y="1952625"/>
            <a:ext cx="3543676" cy="2857500"/>
          </a:xfrm>
          <a:prstGeom prst="rect">
            <a:avLst/>
          </a:prstGeom>
        </p:spPr>
      </p:pic>
      <p:sp>
        <p:nvSpPr>
          <p:cNvPr id="10" name="矩形: 圆角 9"/>
          <p:cNvSpPr>
            <a:spLocks noGrp="1"/>
          </p:cNvSpPr>
          <p:nvPr/>
        </p:nvSpPr>
        <p:spPr>
          <a:xfrm>
            <a:off x="857250" y="4953000"/>
            <a:ext cx="4762500" cy="1245282"/>
          </a:xfrm>
          <a:prstGeom prst="roundRect">
            <a:avLst>
              <a:gd name="adj" fmla="val 10256"/>
            </a:avLst>
          </a:prstGeom>
          <a:solidFill>
            <a:srgbClr val="E8F6F3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57250" y="4953000"/>
            <a:ext cx="76200" cy="1233852"/>
          </a:xfrm>
          <a:prstGeom prst="rect">
            <a:avLst/>
          </a:prstGeom>
          <a:solidFill>
            <a:srgbClr val="0D8B8B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85850" y="5143500"/>
            <a:ext cx="430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Slow deliberate walk</a:t>
            </a:r>
            <a:endParaRPr sz="15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85850" y="5505450"/>
            <a:ext cx="4305300" cy="5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Caption: A person walks forward slowly and deliberately.</a:t>
            </a:r>
            <a:endParaRPr sz="1275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Video: outputs/videos_humanml_alignment/topk_lora_slow.mp4</a:t>
            </a:r>
            <a:endParaRPr sz="1275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: 圆角 13"/>
          <p:cNvSpPr>
            <a:spLocks noGrp="1"/>
          </p:cNvSpPr>
          <p:nvPr/>
        </p:nvSpPr>
        <p:spPr>
          <a:xfrm>
            <a:off x="6572250" y="4953000"/>
            <a:ext cx="4762500" cy="1245282"/>
          </a:xfrm>
          <a:prstGeom prst="roundRect">
            <a:avLst>
              <a:gd name="adj" fmla="val 10256"/>
            </a:avLst>
          </a:prstGeom>
          <a:solidFill>
            <a:srgbClr val="FFF4E1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572250" y="4953000"/>
            <a:ext cx="86300" cy="1233852"/>
          </a:xfrm>
          <a:prstGeom prst="rect">
            <a:avLst/>
          </a:prstGeom>
          <a:solidFill>
            <a:srgbClr val="C98216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800850" y="5143500"/>
            <a:ext cx="430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Energetic jump</a:t>
            </a:r>
            <a:endParaRPr sz="15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00850" y="5505450"/>
            <a:ext cx="4305300" cy="5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Caption: A person jumps energetically.</a:t>
            </a:r>
            <a:endParaRPr sz="1275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Video: outputs/videos_humanml_alignment/topk_lora_jump.mp4</a:t>
            </a:r>
            <a:endParaRPr sz="1275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7" name="topk_lora_slow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857250" y="1952624"/>
            <a:ext cx="4762500" cy="2857500"/>
          </a:xfrm>
          <a:prstGeom prst="rect">
            <a:avLst/>
          </a:prstGeom>
        </p:spPr>
      </p:pic>
      <p:pic>
        <p:nvPicPr>
          <p:cNvPr id="28" name="topk_lora_jump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6572250" y="1952624"/>
            <a:ext cx="4762500" cy="2857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7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28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>
            <a:spLocks noGrp="1"/>
          </p:cNvSpPr>
          <p:nvPr/>
        </p:nvSpPr>
        <p:spPr>
          <a:xfrm>
            <a:off x="685800" y="400050"/>
            <a:ext cx="266700" cy="38100"/>
          </a:xfrm>
          <a:prstGeom prst="rect">
            <a:avLst/>
          </a:prstGeom>
          <a:solidFill>
            <a:srgbClr val="0D8B8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1104900" y="30480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D8B8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D8B8B"/>
                </a:solidFill>
                <a:latin typeface="Aptos Display"/>
                <a:ea typeface="Aptos Display"/>
                <a:cs typeface="Aptos Display"/>
              </a:rPr>
              <a:t>WHAT THE RESULT MEANS</a:t>
            </a:r>
            <a:endParaRPr sz="975" b="1">
              <a:solidFill>
                <a:srgbClr val="0D8B8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9906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24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The contribution is a bridge and a diagnosis, not a finished evaluator</a:t>
            </a:r>
            <a:endParaRPr sz="24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297765"/>
            <a:ext cx="904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51606D"/>
                </a:solidFill>
                <a:latin typeface="Aptos"/>
                <a:ea typeface="Aptos"/>
                <a:cs typeface="Aptos"/>
              </a:rPr>
              <a:t>This framing keeps the defense honest and focused.</a:t>
            </a:r>
            <a:endParaRPr sz="1350" b="0" dirty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85800" y="6343650"/>
            <a:ext cx="10820400" cy="11430"/>
          </a:xfrm>
          <a:prstGeom prst="line">
            <a:avLst/>
          </a:prstGeom>
          <a:noFill/>
          <a:ln w="11430">
            <a:solidFill>
              <a:srgbClr val="CDD5DF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419850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7180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08E"/>
                </a:solidFill>
                <a:latin typeface="Aptos"/>
                <a:ea typeface="Aptos"/>
                <a:cs typeface="Aptos"/>
              </a:rPr>
              <a:t>HumanML3D Motion-Guided Teacher Selection</a:t>
            </a:r>
            <a:endParaRPr sz="900" b="0">
              <a:solidFill>
                <a:srgbClr val="7180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810875" y="6419850"/>
            <a:ext cx="714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0">
                <a:solidFill>
                  <a:srgbClr val="7180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08E"/>
                </a:solidFill>
                <a:latin typeface="Aptos"/>
                <a:ea typeface="Aptos"/>
                <a:cs typeface="Aptos"/>
              </a:rPr>
              <a:t>15 / 16</a:t>
            </a:r>
            <a:endParaRPr sz="900" b="0">
              <a:solidFill>
                <a:srgbClr val="7180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: 圆角 7"/>
          <p:cNvSpPr>
            <a:spLocks noGrp="1"/>
          </p:cNvSpPr>
          <p:nvPr/>
        </p:nvSpPr>
        <p:spPr>
          <a:xfrm>
            <a:off x="857250" y="1809750"/>
            <a:ext cx="3143250" cy="2476500"/>
          </a:xfrm>
          <a:prstGeom prst="roundRect">
            <a:avLst>
              <a:gd name="adj" fmla="val 3077"/>
            </a:avLst>
          </a:prstGeom>
          <a:solidFill>
            <a:srgbClr val="EAF6ED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57250" y="1809750"/>
            <a:ext cx="76200" cy="2476500"/>
          </a:xfrm>
          <a:prstGeom prst="rect">
            <a:avLst/>
          </a:prstGeom>
          <a:solidFill>
            <a:srgbClr val="3E8A52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85850" y="2000250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What improved</a:t>
            </a:r>
            <a:endParaRPr sz="15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85850" y="2362200"/>
            <a:ext cx="268605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Candidate selection became meaningful after top-k. HumanML paired motion now influences which teacher token sequence enters the LoRA cache.</a:t>
            </a:r>
            <a:endParaRPr sz="1500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: 圆角 11"/>
          <p:cNvSpPr>
            <a:spLocks noGrp="1"/>
          </p:cNvSpPr>
          <p:nvPr/>
        </p:nvSpPr>
        <p:spPr>
          <a:xfrm>
            <a:off x="4524375" y="1809750"/>
            <a:ext cx="3143250" cy="2476500"/>
          </a:xfrm>
          <a:prstGeom prst="roundRect">
            <a:avLst>
              <a:gd name="adj" fmla="val 3077"/>
            </a:avLst>
          </a:prstGeom>
          <a:solidFill>
            <a:srgbClr val="FCEBEB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524375" y="1809750"/>
            <a:ext cx="76200" cy="2476500"/>
          </a:xfrm>
          <a:prstGeom prst="rect">
            <a:avLst/>
          </a:prstGeom>
          <a:solidFill>
            <a:srgbClr val="B64B4B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752975" y="2000250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What remains limited</a:t>
            </a:r>
            <a:endParaRPr sz="15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752975" y="2362200"/>
            <a:ext cx="268605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The style-direction proxy does not improve together with HumanML alignment. The two metrics measure different objectives.</a:t>
            </a:r>
            <a:endParaRPr sz="1500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: 圆角 15"/>
          <p:cNvSpPr>
            <a:spLocks noGrp="1"/>
          </p:cNvSpPr>
          <p:nvPr/>
        </p:nvSpPr>
        <p:spPr>
          <a:xfrm>
            <a:off x="8191500" y="1809750"/>
            <a:ext cx="3143250" cy="2476500"/>
          </a:xfrm>
          <a:prstGeom prst="roundRect">
            <a:avLst>
              <a:gd name="adj" fmla="val 3077"/>
            </a:avLst>
          </a:prstGeom>
          <a:solidFill>
            <a:srgbClr val="EAF4FA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191500" y="1809750"/>
            <a:ext cx="76200" cy="2476500"/>
          </a:xfrm>
          <a:prstGeom prst="rect">
            <a:avLst/>
          </a:prstGeom>
          <a:solidFill>
            <a:srgbClr val="1E6B9E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420100" y="2000250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What comes next</a:t>
            </a:r>
            <a:endParaRPr sz="15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420100" y="2362200"/>
            <a:ext cx="268605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Close the loop by evaluating generated student BVHs against paired HumanML3D motion IDs, not only against teacher candidates.</a:t>
            </a:r>
            <a:endParaRPr sz="1500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143000" y="4953000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Defense sentence to say aloud:</a:t>
            </a:r>
            <a:endParaRPr sz="15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000500" y="4953000"/>
            <a:ext cx="695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6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method improves how teacher targets are chosen; it does not yet prove that the final student is better under every style metric.</a:t>
            </a:r>
            <a:endParaRPr sz="16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>
            <a:spLocks noGrp="1"/>
          </p:cNvSpPr>
          <p:nvPr/>
        </p:nvSpPr>
        <p:spPr>
          <a:xfrm>
            <a:off x="685800" y="400050"/>
            <a:ext cx="266700" cy="38100"/>
          </a:xfrm>
          <a:prstGeom prst="rect">
            <a:avLst/>
          </a:prstGeom>
          <a:solidFill>
            <a:srgbClr val="0D8B8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1104900" y="30480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D8B8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D8B8B"/>
                </a:solidFill>
                <a:latin typeface="Aptos Display"/>
                <a:ea typeface="Aptos Display"/>
                <a:cs typeface="Aptos Display"/>
              </a:rPr>
              <a:t>CONCLUSION</a:t>
            </a:r>
            <a:endParaRPr sz="975" b="1">
              <a:solidFill>
                <a:srgbClr val="0D8B8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9906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24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From caption-only distillation to motion-grounded target selection</a:t>
            </a:r>
            <a:endParaRPr sz="2400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371600"/>
            <a:ext cx="904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51606D"/>
                </a:solidFill>
                <a:latin typeface="Aptos"/>
                <a:ea typeface="Aptos"/>
                <a:cs typeface="Aptos"/>
              </a:rPr>
              <a:t>The most important idea is the bridge between representation layers.</a:t>
            </a:r>
            <a:endParaRPr sz="1350" b="0" dirty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85800" y="6343650"/>
            <a:ext cx="10820400" cy="11430"/>
          </a:xfrm>
          <a:prstGeom prst="line">
            <a:avLst/>
          </a:prstGeom>
          <a:noFill/>
          <a:ln w="11430">
            <a:solidFill>
              <a:srgbClr val="CDD5DF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419850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7180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08E"/>
                </a:solidFill>
                <a:latin typeface="Aptos"/>
                <a:ea typeface="Aptos"/>
                <a:cs typeface="Aptos"/>
              </a:rPr>
              <a:t>HumanML3D Motion-Guided Teacher Selection</a:t>
            </a:r>
            <a:endParaRPr sz="900" b="0">
              <a:solidFill>
                <a:srgbClr val="7180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810875" y="6419850"/>
            <a:ext cx="714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0">
                <a:solidFill>
                  <a:srgbClr val="7180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08E"/>
                </a:solidFill>
                <a:latin typeface="Aptos"/>
                <a:ea typeface="Aptos"/>
                <a:cs typeface="Aptos"/>
              </a:rPr>
              <a:t>16 / 16</a:t>
            </a:r>
            <a:endParaRPr sz="900" b="0">
              <a:solidFill>
                <a:srgbClr val="71808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: 圆角 7"/>
          <p:cNvSpPr>
            <a:spLocks noGrp="1"/>
          </p:cNvSpPr>
          <p:nvPr/>
        </p:nvSpPr>
        <p:spPr>
          <a:xfrm>
            <a:off x="952500" y="1809750"/>
            <a:ext cx="10287000" cy="895350"/>
          </a:xfrm>
          <a:prstGeom prst="roundRect">
            <a:avLst>
              <a:gd name="adj" fmla="val 8511"/>
            </a:avLst>
          </a:prstGeom>
          <a:solidFill>
            <a:srgbClr val="17324D"/>
          </a:solidFill>
          <a:ln w="9525">
            <a:solidFill>
              <a:srgbClr val="17324D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333500" y="2057400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HumanML3D motion is not used as a fake token label. It is used as evidence to select among valid MoConVQ teacher tokens.</a:t>
            </a:r>
            <a:endParaRPr sz="187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: 圆角 9"/>
          <p:cNvSpPr>
            <a:spLocks noGrp="1"/>
          </p:cNvSpPr>
          <p:nvPr/>
        </p:nvSpPr>
        <p:spPr>
          <a:xfrm>
            <a:off x="1238250" y="3143250"/>
            <a:ext cx="514350" cy="419100"/>
          </a:xfrm>
          <a:prstGeom prst="roundRect">
            <a:avLst>
              <a:gd name="adj" fmla="val 18182"/>
            </a:avLst>
          </a:prstGeom>
          <a:solidFill>
            <a:srgbClr val="E8F6F3"/>
          </a:solidFill>
          <a:ln w="9525">
            <a:solidFill>
              <a:srgbClr val="0D8B8B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390650" y="3238500"/>
            <a:ext cx="209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350" b="1">
                <a:solidFill>
                  <a:srgbClr val="0D8B8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D8B8B"/>
                </a:solidFill>
                <a:latin typeface="Aptos"/>
                <a:ea typeface="Aptos"/>
                <a:cs typeface="Aptos"/>
              </a:rPr>
              <a:t>1</a:t>
            </a:r>
            <a:endParaRPr sz="1350" b="1">
              <a:solidFill>
                <a:srgbClr val="0D8B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000250" y="3124200"/>
            <a:ext cx="361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75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Representation gap identified</a:t>
            </a:r>
            <a:endParaRPr sz="1575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000250" y="3409950"/>
            <a:ext cx="790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continuous HumanML motion cannot directly supervise discrete MoConVQ GPT tokens</a:t>
            </a:r>
            <a:endParaRPr sz="1275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: 圆角 13"/>
          <p:cNvSpPr>
            <a:spLocks noGrp="1"/>
          </p:cNvSpPr>
          <p:nvPr/>
        </p:nvSpPr>
        <p:spPr>
          <a:xfrm>
            <a:off x="1238250" y="3848100"/>
            <a:ext cx="514350" cy="419100"/>
          </a:xfrm>
          <a:prstGeom prst="roundRect">
            <a:avLst>
              <a:gd name="adj" fmla="val 18182"/>
            </a:avLst>
          </a:prstGeom>
          <a:solidFill>
            <a:srgbClr val="E8F6F3"/>
          </a:solidFill>
          <a:ln w="9525">
            <a:solidFill>
              <a:srgbClr val="0D8B8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390650" y="3943350"/>
            <a:ext cx="209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350" b="1">
                <a:solidFill>
                  <a:srgbClr val="0D8B8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D8B8B"/>
                </a:solidFill>
                <a:latin typeface="Aptos"/>
                <a:ea typeface="Aptos"/>
                <a:cs typeface="Aptos"/>
              </a:rPr>
              <a:t>2</a:t>
            </a:r>
            <a:endParaRPr sz="1350" b="1">
              <a:solidFill>
                <a:srgbClr val="0D8B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000250" y="3829050"/>
            <a:ext cx="361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75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Bridge implemented</a:t>
            </a:r>
            <a:endParaRPr sz="1575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000250" y="4114800"/>
            <a:ext cx="790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teacher candidates are decoded and compared against paired HumanML motion statistics</a:t>
            </a:r>
            <a:endParaRPr sz="1275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: 圆角 17"/>
          <p:cNvSpPr>
            <a:spLocks noGrp="1"/>
          </p:cNvSpPr>
          <p:nvPr/>
        </p:nvSpPr>
        <p:spPr>
          <a:xfrm>
            <a:off x="1238250" y="4552950"/>
            <a:ext cx="514350" cy="419100"/>
          </a:xfrm>
          <a:prstGeom prst="roundRect">
            <a:avLst>
              <a:gd name="adj" fmla="val 18182"/>
            </a:avLst>
          </a:prstGeom>
          <a:solidFill>
            <a:srgbClr val="E8F6F3"/>
          </a:solidFill>
          <a:ln w="9525">
            <a:solidFill>
              <a:srgbClr val="0D8B8B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390650" y="4648200"/>
            <a:ext cx="209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350" b="1">
                <a:solidFill>
                  <a:srgbClr val="0D8B8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D8B8B"/>
                </a:solidFill>
                <a:latin typeface="Aptos"/>
                <a:ea typeface="Aptos"/>
                <a:cs typeface="Aptos"/>
              </a:rPr>
              <a:t>3</a:t>
            </a:r>
            <a:endParaRPr sz="1350" b="1">
              <a:solidFill>
                <a:srgbClr val="0D8B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000250" y="4533900"/>
            <a:ext cx="361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75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Top-k fix verified</a:t>
            </a:r>
            <a:endParaRPr sz="1575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000250" y="4819650"/>
            <a:ext cx="790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86/200 selected targets come from non-first candidates after stochastic sampling</a:t>
            </a:r>
            <a:endParaRPr sz="1275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: 圆角 21"/>
          <p:cNvSpPr>
            <a:spLocks noGrp="1"/>
          </p:cNvSpPr>
          <p:nvPr/>
        </p:nvSpPr>
        <p:spPr>
          <a:xfrm>
            <a:off x="1238250" y="5257800"/>
            <a:ext cx="514350" cy="419100"/>
          </a:xfrm>
          <a:prstGeom prst="roundRect">
            <a:avLst>
              <a:gd name="adj" fmla="val 18182"/>
            </a:avLst>
          </a:prstGeom>
          <a:solidFill>
            <a:srgbClr val="E8F6F3"/>
          </a:solidFill>
          <a:ln w="9525">
            <a:solidFill>
              <a:srgbClr val="0D8B8B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390650" y="5353050"/>
            <a:ext cx="209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350" b="1">
                <a:solidFill>
                  <a:srgbClr val="0D8B8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D8B8B"/>
                </a:solidFill>
                <a:latin typeface="Aptos"/>
                <a:ea typeface="Aptos"/>
                <a:cs typeface="Aptos"/>
              </a:rPr>
              <a:t>4</a:t>
            </a:r>
            <a:endParaRPr sz="1350" b="1">
              <a:solidFill>
                <a:srgbClr val="0D8B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000250" y="5238750"/>
            <a:ext cx="361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575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Honest result</a:t>
            </a:r>
            <a:endParaRPr sz="1575" b="1">
              <a:solidFill>
                <a:srgbClr val="16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000250" y="5524500"/>
            <a:ext cx="790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0">
                <a:solidFill>
                  <a:srgbClr val="5160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1606D"/>
                </a:solidFill>
                <a:latin typeface="Aptos"/>
                <a:ea typeface="Aptos"/>
                <a:cs typeface="Aptos"/>
              </a:rPr>
              <a:t>alignment improves slightly; paired student evaluation remains future work</a:t>
            </a:r>
            <a:endParaRPr sz="1275" b="0">
              <a:solidFill>
                <a:srgbClr val="51606D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9545</Words>
  <Application>WPS 演示</Application>
  <PresentationFormat>宽屏</PresentationFormat>
  <Paragraphs>501</Paragraphs>
  <Slides>16</Slides>
  <Notes>16</Notes>
  <HiddenSlides>0</HiddenSlides>
  <MMClips>2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SimSun</vt:lpstr>
      <vt:lpstr>Wingdings</vt:lpstr>
      <vt:lpstr>Aptos Display</vt:lpstr>
      <vt:lpstr>Segoe UI Variable Display</vt:lpstr>
      <vt:lpstr>Aptos</vt:lpstr>
      <vt:lpstr>Cambria Math</vt:lpstr>
      <vt:lpstr>Segoe UI</vt:lpstr>
      <vt:lpstr>Microsoft YaHei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平常</cp:lastModifiedBy>
  <cp:revision>6</cp:revision>
  <dcterms:created xsi:type="dcterms:W3CDTF">2026-06-15T16:00:00Z</dcterms:created>
  <dcterms:modified xsi:type="dcterms:W3CDTF">2026-06-16T04:22:00Z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EDDF9FAB018A4120BB7FA26E54676FFC_13</vt:lpwstr>
  </property>
  <property fmtid="{D5CDD505-2E9C-101B-9397-08002B2CF9AE}" pid="3" name="KSOProductBuildVer">
    <vt:lpwstr>2052-12.1.0.23542</vt:lpwstr>
  </property>
</Properties>
</file>